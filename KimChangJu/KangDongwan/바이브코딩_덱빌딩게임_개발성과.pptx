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f02b5eedec4bf3" /><Relationship Type="http://schemas.openxmlformats.org/officeDocument/2006/relationships/extended-properties" Target="/docProps/app.xml" Id="Rf0e3a162452a4c5a" /><Relationship Type="http://schemas.openxmlformats.org/officeDocument/2006/relationships/officeDocument" Target="/ppt/presentation.xml" Id="R3b5644f227414c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77418b29e34b00"/>
  </p:sldMasterIdLst>
  <p:notesMasterIdLst>
    <p:notesMasterId xmlns:r="http://schemas.openxmlformats.org/officeDocument/2006/relationships" r:id="R2c0b9693fdcc4e1a"/>
  </p:notesMasterIdLst>
  <p:sldIdLst>
    <p:sldId xmlns:r="http://schemas.openxmlformats.org/officeDocument/2006/relationships" id="256" r:id="R6e24fd7063e24276"/>
    <p:sldId xmlns:r="http://schemas.openxmlformats.org/officeDocument/2006/relationships" id="257" r:id="Rf4bbb26b158b4d8e"/>
    <p:sldId xmlns:r="http://schemas.openxmlformats.org/officeDocument/2006/relationships" id="258" r:id="R979e901129354fb5"/>
    <p:sldId xmlns:r="http://schemas.openxmlformats.org/officeDocument/2006/relationships" id="259" r:id="R40bc7f1fd7d9415c"/>
    <p:sldId xmlns:r="http://schemas.openxmlformats.org/officeDocument/2006/relationships" id="260" r:id="R08a07de96545413a"/>
    <p:sldId xmlns:r="http://schemas.openxmlformats.org/officeDocument/2006/relationships" id="261" r:id="R3b9027f7d247420b"/>
    <p:sldId xmlns:r="http://schemas.openxmlformats.org/officeDocument/2006/relationships" id="262" r:id="R5b82140994a944ca"/>
    <p:sldId xmlns:r="http://schemas.openxmlformats.org/officeDocument/2006/relationships" id="263" r:id="R85e0885ca1fa4e9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21d6de6548400b" /><Relationship Type="http://schemas.openxmlformats.org/officeDocument/2006/relationships/slideMaster" Target="/ppt/slideMasters/slideMaster1.xml" Id="Rfe77418b29e34b00" /><Relationship Type="http://schemas.openxmlformats.org/officeDocument/2006/relationships/notesMaster" Target="/ppt/notesMasters/notesMaster1.xml" Id="R2c0b9693fdcc4e1a" /><Relationship Type="http://schemas.openxmlformats.org/officeDocument/2006/relationships/presProps" Target="/ppt/presProps.xml" Id="R8f82f6da20ca4c6e" /><Relationship Type="http://schemas.openxmlformats.org/officeDocument/2006/relationships/tableStyles" Target="/ppt/tableStyles.xml" Id="R545e63cfa5ac4819" /><Relationship Type="http://schemas.openxmlformats.org/officeDocument/2006/relationships/slide" Target="/ppt/slides/slide1.xml" Id="R6e24fd7063e24276" /><Relationship Type="http://schemas.openxmlformats.org/officeDocument/2006/relationships/slide" Target="/ppt/slides/slide2.xml" Id="Rf4bbb26b158b4d8e" /><Relationship Type="http://schemas.openxmlformats.org/officeDocument/2006/relationships/slide" Target="/ppt/slides/slide3.xml" Id="R979e901129354fb5" /><Relationship Type="http://schemas.openxmlformats.org/officeDocument/2006/relationships/slide" Target="/ppt/slides/slide4.xml" Id="R40bc7f1fd7d9415c" /><Relationship Type="http://schemas.openxmlformats.org/officeDocument/2006/relationships/slide" Target="/ppt/slides/slide5.xml" Id="R08a07de96545413a" /><Relationship Type="http://schemas.openxmlformats.org/officeDocument/2006/relationships/slide" Target="/ppt/slides/slide6.xml" Id="R3b9027f7d247420b" /><Relationship Type="http://schemas.openxmlformats.org/officeDocument/2006/relationships/slide" Target="/ppt/slides/slide7.xml" Id="R5b82140994a944ca" /><Relationship Type="http://schemas.openxmlformats.org/officeDocument/2006/relationships/slide" Target="/ppt/slides/slide8.xml" Id="R85e0885ca1fa4e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437996c1084e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ca6bf121e44e39" /><Relationship Type="http://schemas.openxmlformats.org/officeDocument/2006/relationships/notesMaster" Target="/ppt/notesMasters/notesMaster1.xml" Id="R4fef332ba90e43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027f030e9440a4" /><Relationship Type="http://schemas.openxmlformats.org/officeDocument/2006/relationships/notesMaster" Target="/ppt/notesMasters/notesMaster1.xml" Id="R91db51858c8944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369fe74f3894f65" /><Relationship Type="http://schemas.openxmlformats.org/officeDocument/2006/relationships/notesMaster" Target="/ppt/notesMasters/notesMaster1.xml" Id="Re00abe09376947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19054947154754" /><Relationship Type="http://schemas.openxmlformats.org/officeDocument/2006/relationships/notesMaster" Target="/ppt/notesMasters/notesMaster1.xml" Id="R66996ca0a13040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3cecc989e734f90" /><Relationship Type="http://schemas.openxmlformats.org/officeDocument/2006/relationships/notesMaster" Target="/ppt/notesMasters/notesMaster1.xml" Id="R94ecbb026a6545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ceb1a5e57048ae" /><Relationship Type="http://schemas.openxmlformats.org/officeDocument/2006/relationships/notesMaster" Target="/ppt/notesMasters/notesMaster1.xml" Id="R5661ffe004634f4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af60befbefa40b8" /><Relationship Type="http://schemas.openxmlformats.org/officeDocument/2006/relationships/notesMaster" Target="/ppt/notesMasters/notesMaster1.xml" Id="Rb034e407ae1243f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0a6e800feb4ed0" /><Relationship Type="http://schemas.openxmlformats.org/officeDocument/2006/relationships/notesMaster" Target="/ppt/notesMasters/notesMaster1.xml" Id="Rc268faab95e343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짧은 일정 안에서 AI와 자연어로 요구사항을 구체화하고, 실제로 한 판을 끝까지 플레이할 수 있는 덱빌딩 로그라이크를 완성했습니다.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rendered UI screenshot: last-gate start/oath selection screen, captured 2026-09-04.</a:t>
            </a:r>
          </a:p>
          <a:p xmlns:a="http://schemas.openxmlformats.org/drawingml/2006/main">
            <a:r>
              <a:t>- ChatGPT project conversation: 성과보고용 도구 추천.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처음 계획은 2–3주였지만 일정이 2–3일로 줄었습니다. 그래서 여러 기능을 얕게 넣기보다, 한 번의 플레이가 완결되는 핵심 루프에 범위를 집중했습니다.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ChatGPT continuation thread: user revised schedule from 2–3 weeks to 2–3 days.</a:t>
            </a:r>
          </a:p>
          <a:p xmlns:a="http://schemas.openxmlformats.org/drawingml/2006/main">
            <a:r>
              <a:t>- Local project implementation: last-gate/app/page.tsx.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개발 방향은 한 번에 확정된 것이 아니라, 매 단계의 결과를 직접 보고 다음 요구를 선택하면서 구체화되었습니다. 이 변화 자체가 바이브코딩의 핵심 과정입니다.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ChatGPT project conversation and continuation thread, chronological requests and feedback.</a:t>
            </a:r>
          </a:p>
          <a:p xmlns:a="http://schemas.openxmlformats.org/drawingml/2006/main">
            <a:r>
              <a:t>- Local project commit history through mobile swipe refinement.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요구사항 생성, 구현, 플레이, 피드백의 네 단계를 반복했습니다. 공격 일변도의 전투와 모바일 스와이프 문제처럼 체감형 문제는 직접 사용해야 발견할 수 있었습니다.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ChatGPT continuation thread: attack-only strategy feedback and mobile swipe feedback.</a:t>
            </a:r>
          </a:p>
          <a:p xmlns:a="http://schemas.openxmlformats.org/drawingml/2006/main">
            <a:r>
              <a:t>- Local implementation: last-gate/app/page.tsx and app/globals.css.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공격 카드만 반복하면 승리하는 초기 문제를 해결하기 위해, 적의 행동을 예측하고 이번 턴과 다음 턴의 자원을 함께 고민하도록 전투 규칙을 확장했습니다.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rendered UI screenshot: battle screen, captured 2026-09-04.</a:t>
            </a:r>
          </a:p>
          <a:p xmlns:a="http://schemas.openxmlformats.org/drawingml/2006/main">
            <a:r>
              <a:t>- Local source: last-gate/app/page.tsx, MAX_ENERGY_CARRY=1 and RETAIN_COST=1.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전투만 반복하는 구조에서 분기형 지도로 확장했습니다. 각 원정마다 사건과 휴식이 다르게 배치되고, 모바일에서는 손패를 좌우로 넘기며 플레이할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rendered UI screenshot: expedition map, captured 2026-09-04.</a:t>
            </a:r>
          </a:p>
          <a:p xmlns:a="http://schemas.openxmlformats.org/drawingml/2006/main">
            <a:r>
              <a:t>- Local rendered UI screenshot: mobile battle hand, captured 2026-09-04.</a:t>
            </a:r>
          </a:p>
          <a:p xmlns:a="http://schemas.openxmlformats.org/drawingml/2006/main">
            <a:r>
              <a:t>- Local source: last-gate/app/page.tsx, EXPEDITION_MAP and createRandomMapNodeKinds.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성과는 과장된 사용자 수나 사업 지표가 아니라, 실제 코드에 구현된 범위로 제시했습니다. 세 가지 빌드와 13종 카드, 12개 지도 노드가 한 판의 변화를 만듭니다.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last-gate/app/page.tsx, OATHS (3 entries).</a:t>
            </a:r>
          </a:p>
          <a:p xmlns:a="http://schemas.openxmlformats.org/drawingml/2006/main">
            <a:r>
              <a:t>- Local source: last-gate/app/page.tsx, CARD_LIBRARY (13 definitions).</a:t>
            </a:r>
          </a:p>
          <a:p xmlns:a="http://schemas.openxmlformats.org/drawingml/2006/main">
            <a:r>
              <a:t>- Local source: last-gate/app/page.tsx, EXPEDITION_MAP (12 nodes), ENCOUNTERS (5), MAP_EVENTS (3) and REST_EVENT.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이번 프로젝트에서 AI는 속도를 높였지만, 무엇을 만들지와 무엇이 재미있는지는 사용자가 판단했습니다. 이 반복 방식을 다른 작은 아이디어에도 적용할 수 있다는 점이 핵심 성과입니다.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Synthesis based on the documented project conversation, local implementation, and direct play feedback.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8f45eb84d64f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a8fcb756f64958" /><Relationship Type="http://schemas.openxmlformats.org/officeDocument/2006/relationships/slideLayout" Target="/ppt/slideLayouts/slideLayout1.xml" Id="R127ca03da2be4d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7ca03da2be4d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1c41f5a02849a6" /><Relationship Type="http://schemas.openxmlformats.org/officeDocument/2006/relationships/image" Target="/ppt/media/image.jpeg" Id="R683049a242f24fd6" /><Relationship Type="http://schemas.openxmlformats.org/officeDocument/2006/relationships/notesSlide" Target="/ppt/notesSlides/notesSlide1.xml" Id="Raf04e140e77842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a25aa9aa254dc9" /><Relationship Type="http://schemas.openxmlformats.org/officeDocument/2006/relationships/notesSlide" Target="/ppt/notesSlides/notesSlide2.xml" Id="Rfa4fa9a34f9849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e23fc279144bb5" /><Relationship Type="http://schemas.openxmlformats.org/officeDocument/2006/relationships/notesSlide" Target="/ppt/notesSlides/notesSlide3.xml" Id="Rf250e08890e340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d3a191df244362" /><Relationship Type="http://schemas.openxmlformats.org/officeDocument/2006/relationships/notesSlide" Target="/ppt/notesSlides/notesSlide4.xml" Id="Rfa7151513f404d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359278c91d4fda" /><Relationship Type="http://schemas.openxmlformats.org/officeDocument/2006/relationships/image" Target="/ppt/media/image2.jpeg" Id="Re6c0d805d23b4965" /><Relationship Type="http://schemas.openxmlformats.org/officeDocument/2006/relationships/notesSlide" Target="/ppt/notesSlides/notesSlide5.xml" Id="R222f989d89f84e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727c550a4d45bb" /><Relationship Type="http://schemas.openxmlformats.org/officeDocument/2006/relationships/image" Target="/ppt/media/image3.jpeg" Id="R83f37d6206e947ba" /><Relationship Type="http://schemas.openxmlformats.org/officeDocument/2006/relationships/image" Target="/ppt/media/image4.jpeg" Id="R49dee5d323694d1e" /><Relationship Type="http://schemas.openxmlformats.org/officeDocument/2006/relationships/notesSlide" Target="/ppt/notesSlides/notesSlide6.xml" Id="R9f3fb56217fc44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4ac00779074009" /><Relationship Type="http://schemas.openxmlformats.org/officeDocument/2006/relationships/notesSlide" Target="/ppt/notesSlides/notesSlide7.xml" Id="R7d94f75058fd4a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48d99dd5f54f78" /><Relationship Type="http://schemas.openxmlformats.org/officeDocument/2006/relationships/notesSlide" Target="/ppt/notesSlides/notesSlide8.xml" Id="R262dd47e018b4d9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1FC373-FDCF-4D9E-BA70-3EED2C41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89E8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89E82"/>
                </a:solidFill>
                <a:latin typeface="Arial"/>
                <a:ea typeface="Arial"/>
                <a:cs typeface="Arial"/>
              </a:rPr>
              <a:t>성과보고 | 바이브코딩 프로젝트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1F5DE97-CFDC-4176-B5FB-97D6EBBE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49530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11C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7211C"/>
                </a:solidFill>
                <a:latin typeface="Arial"/>
                <a:ea typeface="Arial"/>
                <a:cs typeface="Arial"/>
              </a:rPr>
              <a:t>바이브코딩으로</a:t>
            </a:r>
          </a:p>
          <a:p xmlns:a="http://schemas.openxmlformats.org/drawingml/2006/main">
            <a:pPr algn="l">
              <a:defRPr sz="4350" b="1">
                <a:solidFill>
                  <a:srgbClr val="17211C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7211C"/>
                </a:solidFill>
                <a:latin typeface="Arial"/>
                <a:ea typeface="Arial"/>
                <a:cs typeface="Arial"/>
              </a:rPr>
              <a:t>완성한</a:t>
            </a:r>
          </a:p>
          <a:p xmlns:a="http://schemas.openxmlformats.org/drawingml/2006/main">
            <a:pPr algn="l">
              <a:defRPr sz="4350" b="1">
                <a:solidFill>
                  <a:srgbClr val="17211C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7211C"/>
                </a:solidFill>
                <a:latin typeface="Arial"/>
                <a:ea typeface="Arial"/>
                <a:cs typeface="Arial"/>
              </a:rPr>
              <a:t>덱빌딩 로그라이크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F99FA0-5CCE-444C-886F-FBC475D1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4805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36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6736D"/>
                </a:solidFill>
                <a:latin typeface="Arial"/>
                <a:ea typeface="Arial"/>
                <a:cs typeface="Arial"/>
              </a:rPr>
              <a:t>2–3일 안에 아이디어를 플레이 가능한 웹 게임으로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89E930-AFFA-4266-8961-8FFBC557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148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7A95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52AF8C-4216-4464-B520-57B72751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96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11C"/>
                </a:solidFill>
                <a:latin typeface="Arial"/>
                <a:ea typeface="Arial"/>
                <a:cs typeface="Arial"/>
              </a:rPr>
              <a:t>LAST GATE · 마지막 관문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45B9CD-5C9B-47D2-8881-12850460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483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36D"/>
                </a:solidFill>
                <a:latin typeface="Arial"/>
                <a:ea typeface="Arial"/>
                <a:cs typeface="Arial"/>
              </a:rPr>
              <a:t>Kang Dongwan  |  2026.09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14C339-203C-4AE0-8CFE-6484B127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8150"/>
            <a:ext cx="5562600" cy="5619750"/>
          </a:xfrm>
          <a:prstGeom xmlns:a="http://schemas.openxmlformats.org/drawingml/2006/main" prst="roundRect">
            <a:avLst>
              <a:gd name="adj" fmla="val 2055"/>
            </a:avLst>
          </a:prstGeom>
          <a:solidFill xmlns:a="http://schemas.openxmlformats.org/drawingml/2006/main">
            <a:srgbClr val="F2F6F3"/>
          </a:solidFill>
          <a:ln xmlns:a="http://schemas.openxmlformats.org/drawingml/2006/main" w="9525">
            <a:solidFill>
              <a:srgbClr val="C9D3CD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3049a242f24fd6"/>
          <a:stretch xmlns:a="http://schemas.openxmlformats.org/drawingml/2006/main"/>
        </p:blipFill>
        <p:spPr>
          <a:xfrm xmlns:a="http://schemas.openxmlformats.org/drawingml/2006/main">
            <a:off x="6105525" y="1514936"/>
            <a:ext cx="5543550" cy="3466178"/>
          </a:xfrm>
          <a:prstGeom xmlns:a="http://schemas.openxmlformats.org/drawingml/2006/main" prst="roundRect">
            <a:avLst>
              <a:gd name="adj" fmla="val 2062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20D76B-14AF-4ACD-B14D-5277B563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3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36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714060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-2">
            <a:extLst xmlns:a="http://schemas.openxmlformats.org/drawingml/2006/main">
              <a:ext uri="{FF2B5EF4-FFF2-40B4-BE49-F238E27FC236}">
                <a16:creationId xmlns:a16="http://schemas.microsoft.com/office/drawing/2014/main" id="{628E2349-5642-488A-A8A4-B517218D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9E8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89E82"/>
                </a:solidFill>
                <a:latin typeface="Arial"/>
                <a:ea typeface="Arial"/>
                <a:cs typeface="Arial"/>
              </a:rPr>
              <a:t>LAST GATE · VIBE CODING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8249ECFD-2E5E-4B42-AB46-F77A5C4D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11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11C"/>
                </a:solidFill>
                <a:latin typeface="Arial"/>
                <a:ea typeface="Arial"/>
                <a:cs typeface="Arial"/>
              </a:rPr>
              <a:t>2–3일 안에 ‘완성된 한 판’을 만드는 것이 목표였다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3503DF-BD0B-4A9C-B501-571737D1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CD"/>
            </a:solidFill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1DD7C6D0-E262-4F75-B7C3-C975EBB5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3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3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6172E0-16D6-45AE-B42D-3CCACB9A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36D"/>
                </a:solidFill>
                <a:latin typeface="Arial"/>
                <a:ea typeface="Arial"/>
                <a:cs typeface="Arial"/>
              </a:rPr>
              <a:t>출시 규모의 콘텐츠가 아니라, AI 활용 과정을 설명할 수 있는 작고 완결된 결과물이 필요했다.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28B0C4-AB78-4527-B187-F906CF64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5238750" cy="2266950"/>
          </a:xfrm>
          <a:prstGeom xmlns:a="http://schemas.openxmlformats.org/drawingml/2006/main" prst="roundRect">
            <a:avLst>
              <a:gd name="adj" fmla="val 4202"/>
            </a:avLst>
          </a:prstGeom>
          <a:solidFill xmlns:a="http://schemas.openxmlformats.org/drawingml/2006/main">
            <a:srgbClr val="EE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438B02-D8EC-46E1-A44C-12154CEE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B777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B7777"/>
                </a:solidFill>
                <a:latin typeface="Arial"/>
                <a:ea typeface="Arial"/>
                <a:cs typeface="Arial"/>
              </a:rPr>
              <a:t>제약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800067-3FA0-44BC-A898-973B2352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44958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11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11C"/>
                </a:solidFill>
                <a:latin typeface="Arial"/>
                <a:ea typeface="Arial"/>
                <a:cs typeface="Arial"/>
              </a:rPr>
              <a:t>기능을 많이 만드는 것보다</a:t>
            </a:r>
          </a:p>
          <a:p xmlns:a="http://schemas.openxmlformats.org/drawingml/2006/main">
            <a:pPr algn="l">
              <a:defRPr sz="2100" b="1">
                <a:solidFill>
                  <a:srgbClr val="17211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11C"/>
                </a:solidFill>
                <a:latin typeface="Arial"/>
                <a:ea typeface="Arial"/>
                <a:cs typeface="Arial"/>
              </a:rPr>
              <a:t>시작–전투–성장–종료가</a:t>
            </a:r>
          </a:p>
          <a:p xmlns:a="http://schemas.openxmlformats.org/drawingml/2006/main">
            <a:pPr algn="l">
              <a:defRPr sz="2100" b="1">
                <a:solidFill>
                  <a:srgbClr val="17211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11C"/>
                </a:solidFill>
                <a:latin typeface="Arial"/>
                <a:ea typeface="Arial"/>
                <a:cs typeface="Arial"/>
              </a:rPr>
              <a:t>이어지는 완성도가 중요했다.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C67048-0D88-4D5D-A1FF-6901DC47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5467350" cy="2266950"/>
          </a:xfrm>
          <a:prstGeom xmlns:a="http://schemas.openxmlformats.org/drawingml/2006/main" prst="roundRect">
            <a:avLst>
              <a:gd name="adj" fmla="val 4202"/>
            </a:avLst>
          </a:prstGeom>
          <a:solidFill xmlns:a="http://schemas.openxmlformats.org/drawingml/2006/main">
            <a:srgbClr val="F7F1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FD6A63-2579-4677-B751-BCFE661E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47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7A95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7A950"/>
                </a:solidFill>
                <a:latin typeface="Arial"/>
                <a:ea typeface="Arial"/>
                <a:cs typeface="Arial"/>
              </a:rPr>
              <a:t>선택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1B66B3-325B-4CA7-927B-6AAC962D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05150"/>
            <a:ext cx="46863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11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11C"/>
                </a:solidFill>
                <a:latin typeface="Arial"/>
                <a:ea typeface="Arial"/>
                <a:cs typeface="Arial"/>
              </a:rPr>
              <a:t>턴제 덱빌딩 로그라이크는</a:t>
            </a:r>
          </a:p>
          <a:p xmlns:a="http://schemas.openxmlformats.org/drawingml/2006/main">
            <a:pPr algn="l">
              <a:defRPr sz="2100" b="1">
                <a:solidFill>
                  <a:srgbClr val="17211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11C"/>
                </a:solidFill>
                <a:latin typeface="Arial"/>
                <a:ea typeface="Arial"/>
                <a:cs typeface="Arial"/>
              </a:rPr>
              <a:t>로직·UI·시각화·반복 개선을</a:t>
            </a:r>
          </a:p>
          <a:p xmlns:a="http://schemas.openxmlformats.org/drawingml/2006/main">
            <a:pPr algn="l">
              <a:defRPr sz="2100" b="1">
                <a:solidFill>
                  <a:srgbClr val="17211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11C"/>
                </a:solidFill>
                <a:latin typeface="Arial"/>
                <a:ea typeface="Arial"/>
                <a:cs typeface="Arial"/>
              </a:rPr>
              <a:t>하나의 결과물로 보여준다.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6A9A79-AB62-49A5-AECE-16E9E38F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9E8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89E82"/>
                </a:solidFill>
                <a:latin typeface="Arial"/>
                <a:ea typeface="Arial"/>
                <a:cs typeface="Arial"/>
              </a:rPr>
              <a:t>핵심 원칙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34F9AC-01EC-4488-8796-F5E02FE5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12445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11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11C"/>
                </a:solidFill>
                <a:latin typeface="Arial"/>
                <a:ea typeface="Arial"/>
                <a:cs typeface="Arial"/>
              </a:rPr>
              <a:t>기능 수보다 플레이 루프의 완결성</a:t>
            </a:r>
          </a:p>
        </p:txBody>
      </p:sp>
    </p:spTree>
    <p:extLst>
      <p:ext uri="{BB962C8B-B14F-4D97-AF65-F5344CB8AC3E}">
        <p14:creationId xmlns:p14="http://schemas.microsoft.com/office/powerpoint/2010/main" val="19259530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-3">
            <a:extLst xmlns:a="http://schemas.openxmlformats.org/drawingml/2006/main">
              <a:ext uri="{FF2B5EF4-FFF2-40B4-BE49-F238E27FC236}">
                <a16:creationId xmlns:a16="http://schemas.microsoft.com/office/drawing/2014/main" id="{2590AD60-E784-4A52-9FDE-F8A1EF03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9E8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89E82"/>
                </a:solidFill>
                <a:latin typeface="Arial"/>
                <a:ea typeface="Arial"/>
                <a:cs typeface="Arial"/>
              </a:rPr>
              <a:t>LAST GATE · VIBE CODING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4AD7FB44-DD97-4BBC-B1E9-B75E76F8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11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11C"/>
                </a:solidFill>
                <a:latin typeface="Arial"/>
                <a:ea typeface="Arial"/>
                <a:cs typeface="Arial"/>
              </a:rPr>
              <a:t>아이디어는 대화와 플레이를 거치며 세 번 바뀌었다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57EEDC-FD15-4C6A-B057-F119D275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CD"/>
            </a:solidFill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315D68E6-5AAB-4CA2-BCAD-0DDA729C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3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3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00D0BE-8BB3-45B4-AC59-32F1F5B6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3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36D"/>
                </a:solidFill>
                <a:latin typeface="Arial"/>
                <a:ea typeface="Arial"/>
                <a:cs typeface="Arial"/>
              </a:rPr>
              <a:t>처음부터 정답을 정하지 않고, 시연 가치와 실제 플레이 감각을 기준으로 다음 기능을 선택했다.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921185-62F2-4240-A6B8-513DD849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967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211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014ED9-69C5-4A9B-B46C-1D44EA2A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9E8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89E82"/>
                </a:solidFill>
                <a:latin typeface="Arial"/>
                <a:ea typeface="Arial"/>
                <a:cs typeface="Arial"/>
              </a:rPr>
              <a:t>초기 구상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F5E874-B13E-4341-BEBD-2CC4185D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194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1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111733-4321-4275-9B81-0E172CDF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814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11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11C"/>
                </a:solidFill>
                <a:latin typeface="Arial"/>
                <a:ea typeface="Arial"/>
                <a:cs typeface="Arial"/>
              </a:rPr>
              <a:t>작은 로그라이크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E674E1-4AD4-4902-AC58-1BC58A25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2895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36D"/>
                </a:solidFill>
                <a:latin typeface="Arial"/>
                <a:ea typeface="Arial"/>
                <a:cs typeface="Arial"/>
              </a:rPr>
              <a:t>백테스트와 로그라이크를 비교한 뒤, 짧은 일정에 한 판을 끝낼 수 있는 턴제를 선택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1D205E-9589-44B9-94D8-6F2D2C5E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717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B777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B7777"/>
                </a:solidFill>
                <a:latin typeface="Arial"/>
                <a:ea typeface="Arial"/>
                <a:cs typeface="Arial"/>
              </a:rPr>
              <a:t>핵심 전환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1AA8F4-C062-4B10-8FBA-D79DAE43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194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F08255-2E8F-4F49-8818-579C6E9EA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5814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11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11C"/>
                </a:solidFill>
                <a:latin typeface="Arial"/>
                <a:ea typeface="Arial"/>
                <a:cs typeface="Arial"/>
              </a:rPr>
              <a:t>덱빌딩 전투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8E8D8F-26AA-4DA6-8BEA-D0D83C4A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095750"/>
            <a:ext cx="2895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36D"/>
                </a:solidFill>
                <a:latin typeface="Arial"/>
                <a:ea typeface="Arial"/>
                <a:cs typeface="Arial"/>
              </a:rPr>
              <a:t>공격 카드만 반복하는 단조로움을 확인하고 적 의도·연계 전략·자원 선택을 추가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AE19B1-1EAA-439A-8FF0-D34BF7F3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9E8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89E82"/>
                </a:solidFill>
                <a:latin typeface="Arial"/>
                <a:ea typeface="Arial"/>
                <a:cs typeface="Arial"/>
              </a:rPr>
              <a:t>완성도 강화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AAD96A-DF3A-4393-9DA7-8181FF95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194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1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7AF472-CA57-40A2-8E79-F6C15891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814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11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11C"/>
                </a:solidFill>
                <a:latin typeface="Arial"/>
                <a:ea typeface="Arial"/>
                <a:cs typeface="Arial"/>
              </a:rPr>
              <a:t>지도와 모바일 UX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3ECFE7-4509-4B32-95CE-123DFC5B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2895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36D"/>
                </a:solidFill>
                <a:latin typeface="Arial"/>
                <a:ea typeface="Arial"/>
                <a:cs typeface="Arial"/>
              </a:rPr>
              <a:t>분기 지도와 무작위 사건, 밝은 아트, 카드 스와이프와 화면 잘림 개선까지 확장</a:t>
            </a:r>
          </a:p>
        </p:txBody>
      </p:sp>
    </p:spTree>
    <p:extLst>
      <p:ext uri="{BB962C8B-B14F-4D97-AF65-F5344CB8AC3E}">
        <p14:creationId xmlns:p14="http://schemas.microsoft.com/office/powerpoint/2010/main" val="16037468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kicker-4">
            <a:extLst xmlns:a="http://schemas.openxmlformats.org/drawingml/2006/main">
              <a:ext uri="{FF2B5EF4-FFF2-40B4-BE49-F238E27FC236}">
                <a16:creationId xmlns:a16="http://schemas.microsoft.com/office/drawing/2014/main" id="{08887CB7-9586-4C8F-AA86-2C5CA468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9E8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89E82"/>
                </a:solidFill>
                <a:latin typeface="Arial"/>
                <a:ea typeface="Arial"/>
                <a:cs typeface="Arial"/>
              </a:rPr>
              <a:t>LAST GATE · VIBE CODING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0624D635-B639-4AF1-8380-26145865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11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11C"/>
                </a:solidFill>
                <a:latin typeface="Arial"/>
                <a:ea typeface="Arial"/>
                <a:cs typeface="Arial"/>
              </a:rPr>
              <a:t>자연어 요구를 바로 실행하고, 체감 문제를 다시 설계에 반영했다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D25579-6D72-4A33-A21F-C56D6E34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CD"/>
            </a:solidFill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1B224634-32D7-4EB1-B540-2FC17DF50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3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3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51BF4D-341C-442B-AA07-842CF236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3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36D"/>
                </a:solidFill>
                <a:latin typeface="Arial"/>
                <a:ea typeface="Arial"/>
                <a:cs typeface="Arial"/>
              </a:rPr>
              <a:t>코드를 한 번 생성하는 작업이 아니라, 실행 결과를 다음 요구사항으로 바꾸는 반복 과정이었다.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96CBE9-775D-47AF-A9C2-486C0851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124200"/>
            <a:ext cx="876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3C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4931F7-0C07-4B8F-8729-62861627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ADF"/>
          </a:solidFill>
          <a:ln xmlns:a="http://schemas.openxmlformats.org/drawingml/2006/main" w="19050">
            <a:solidFill>
              <a:srgbClr val="789E8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4517B1-CDB7-4490-A993-157A5181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89E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89E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ADA7EA-1078-493E-9C59-199C9AE3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11C"/>
                </a:solidFill>
                <a:latin typeface="Arial"/>
                <a:ea typeface="Arial"/>
                <a:cs typeface="Arial"/>
              </a:rPr>
              <a:t>요구 제시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6EDD30-F4E0-410E-9402-07632525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36D"/>
                </a:solidFill>
                <a:latin typeface="Arial"/>
                <a:ea typeface="Arial"/>
                <a:cs typeface="Arial"/>
              </a:rPr>
              <a:t>하고 싶은 기능과</a:t>
            </a:r>
          </a:p>
          <a:p xmlns:a="http://schemas.openxmlformats.org/drawingml/2006/main">
            <a:pPr algn="l">
              <a:defRPr sz="1275" b="0">
                <a:solidFill>
                  <a:srgbClr val="6673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36D"/>
                </a:solidFill>
                <a:latin typeface="Arial"/>
                <a:ea typeface="Arial"/>
                <a:cs typeface="Arial"/>
              </a:rPr>
              <a:t>문제 상황을 자연어로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B01B1C-B09D-4CFC-B95D-C0BAF707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813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ADF"/>
          </a:solidFill>
          <a:ln xmlns:a="http://schemas.openxmlformats.org/drawingml/2006/main" w="19050">
            <a:solidFill>
              <a:srgbClr val="789E8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E55032-311A-4ADB-A4DE-5AC006E0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527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89E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89E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16F712-CB78-4A8F-A7EE-AD7CB632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7338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11C"/>
                </a:solidFill>
                <a:latin typeface="Arial"/>
                <a:ea typeface="Arial"/>
                <a:cs typeface="Arial"/>
              </a:rPr>
              <a:t>즉시 구현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8D118A-7DDD-4FA9-B3A6-AA24F45B3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17195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36D"/>
                </a:solidFill>
                <a:latin typeface="Arial"/>
                <a:ea typeface="Arial"/>
                <a:cs typeface="Arial"/>
              </a:rPr>
              <a:t>동작하는 화면과 로직을</a:t>
            </a:r>
          </a:p>
          <a:p xmlns:a="http://schemas.openxmlformats.org/drawingml/2006/main">
            <a:pPr algn="l">
              <a:defRPr sz="1275" b="0">
                <a:solidFill>
                  <a:srgbClr val="6673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36D"/>
                </a:solidFill>
                <a:latin typeface="Arial"/>
                <a:ea typeface="Arial"/>
                <a:cs typeface="Arial"/>
              </a:rPr>
              <a:t>작은 단위로 반영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61316D-9379-4911-9F2B-21EB6A65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ADF"/>
          </a:solidFill>
          <a:ln xmlns:a="http://schemas.openxmlformats.org/drawingml/2006/main" w="19050">
            <a:solidFill>
              <a:srgbClr val="789E8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9316B2-7C1D-4B59-8C64-3CC91E60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89E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89E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8824FD-94F7-44B9-9AE4-9B971696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338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11C"/>
                </a:solidFill>
                <a:latin typeface="Arial"/>
                <a:ea typeface="Arial"/>
                <a:cs typeface="Arial"/>
              </a:rPr>
              <a:t>직접 플레이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9ED500-5EAD-4D5F-B7BC-8C9CDE88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7195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36D"/>
                </a:solidFill>
                <a:latin typeface="Arial"/>
                <a:ea typeface="Arial"/>
                <a:cs typeface="Arial"/>
              </a:rPr>
              <a:t>재미·가독성·모바일 동작을</a:t>
            </a:r>
          </a:p>
          <a:p xmlns:a="http://schemas.openxmlformats.org/drawingml/2006/main">
            <a:pPr algn="l">
              <a:defRPr sz="1275" b="0">
                <a:solidFill>
                  <a:srgbClr val="6673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36D"/>
                </a:solidFill>
                <a:latin typeface="Arial"/>
                <a:ea typeface="Arial"/>
                <a:cs typeface="Arial"/>
              </a:rPr>
              <a:t>사용자 관점에서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FA9F52-9DD4-48C1-ACF4-477A33A21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813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E7C4"/>
          </a:solidFill>
          <a:ln xmlns:a="http://schemas.openxmlformats.org/drawingml/2006/main" w="19050">
            <a:solidFill>
              <a:srgbClr val="D7A95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49096A-D358-4387-8F89-0A4FAE0C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527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7A95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7A95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282ABC-7846-4C3C-B856-0775B0E4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7338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11C"/>
                </a:solidFill>
                <a:latin typeface="Arial"/>
                <a:ea typeface="Arial"/>
                <a:cs typeface="Arial"/>
              </a:rPr>
              <a:t>재설계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9F865D-E265-4DA5-9D61-AB5E301A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17195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36D"/>
                </a:solidFill>
                <a:latin typeface="Arial"/>
                <a:ea typeface="Arial"/>
                <a:cs typeface="Arial"/>
              </a:rPr>
              <a:t>발견한 문제를 구체화해</a:t>
            </a:r>
          </a:p>
          <a:p xmlns:a="http://schemas.openxmlformats.org/drawingml/2006/main">
            <a:pPr algn="l">
              <a:defRPr sz="1275" b="0">
                <a:solidFill>
                  <a:srgbClr val="6673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36D"/>
                </a:solidFill>
                <a:latin typeface="Arial"/>
                <a:ea typeface="Arial"/>
                <a:cs typeface="Arial"/>
              </a:rPr>
              <a:t>다음 개선으로 연결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E17443-6336-455B-8BB3-06DDB626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054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B777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B7777"/>
                </a:solidFill>
                <a:latin typeface="Arial"/>
                <a:ea typeface="Arial"/>
                <a:cs typeface="Arial"/>
              </a:rPr>
              <a:t>실제 피드백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73A6B7-A48A-4D03-9E86-F58A7622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4292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11C"/>
                </a:solidFill>
                <a:latin typeface="Arial"/>
                <a:ea typeface="Arial"/>
                <a:cs typeface="Arial"/>
              </a:rPr>
              <a:t>“공격만 고르면 된다” → 적 의도와 연계 전략 추가     ·     “모바일에서 카드가 안 밀린다” → 스와이프와 관성 이동 개선</a:t>
            </a:r>
          </a:p>
        </p:txBody>
      </p:sp>
    </p:spTree>
    <p:extLst>
      <p:ext uri="{BB962C8B-B14F-4D97-AF65-F5344CB8AC3E}">
        <p14:creationId xmlns:p14="http://schemas.microsoft.com/office/powerpoint/2010/main" val="3897539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-5">
            <a:extLst xmlns:a="http://schemas.openxmlformats.org/drawingml/2006/main">
              <a:ext uri="{FF2B5EF4-FFF2-40B4-BE49-F238E27FC236}">
                <a16:creationId xmlns:a16="http://schemas.microsoft.com/office/drawing/2014/main" id="{06AC5C10-5807-434C-B657-23239D00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9E8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89E82"/>
                </a:solidFill>
                <a:latin typeface="Arial"/>
                <a:ea typeface="Arial"/>
                <a:cs typeface="Arial"/>
              </a:rPr>
              <a:t>LAST GATE · VIBE CODING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F625EE1C-65A9-4871-9659-23DDF2CF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11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11C"/>
                </a:solidFill>
                <a:latin typeface="Arial"/>
                <a:ea typeface="Arial"/>
                <a:cs typeface="Arial"/>
              </a:rPr>
              <a:t>‘공격만 누르면 된다’는 문제를 선택의 문제로 바꿨다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EF0275-F9ED-420C-8547-8DF39F68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CD"/>
            </a:solidFill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700117C4-3F04-4B74-B238-F3F63947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3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3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C1606B-CBC2-463F-8D75-EA5BDD49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7A95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7A95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EDC455-1194-4C25-B4E2-DB2CE27B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11C"/>
                </a:solidFill>
                <a:latin typeface="Arial"/>
                <a:ea typeface="Arial"/>
                <a:cs typeface="Arial"/>
              </a:rPr>
              <a:t>적 의도 공개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A99824-3253-4A5E-BBAB-828D1142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193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36D"/>
                </a:solidFill>
                <a:latin typeface="Arial"/>
                <a:ea typeface="Arial"/>
                <a:cs typeface="Arial"/>
              </a:rPr>
              <a:t>다음 행동을 보고 공격과 방어를 판단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1E53F2-0A0B-4C52-AB8F-34C75A9A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9555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C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829EC8-3E98-4960-B2B0-C856D2AD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574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7A95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7A95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F968D1-B1D3-4869-8EF8-43FB2B7B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193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11C"/>
                </a:solidFill>
                <a:latin typeface="Arial"/>
                <a:ea typeface="Arial"/>
                <a:cs typeface="Arial"/>
              </a:rPr>
              <a:t>3가지 연계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CC3F3D-B796-457F-B159-077D9EB4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1942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36D"/>
                </a:solidFill>
                <a:latin typeface="Arial"/>
                <a:ea typeface="Arial"/>
                <a:cs typeface="Arial"/>
              </a:rPr>
              <a:t>출혈 · 방어 반격 · 집중 폭발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1BC569-7C44-4E1F-BDBB-8D814AB1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95675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C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BEF1DF-1EDB-4A5E-A059-D1DDBBEB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576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7A95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7A95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73F4CC-FBBC-48E4-9589-182FB6D8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11C"/>
                </a:solidFill>
                <a:latin typeface="Arial"/>
                <a:ea typeface="Arial"/>
                <a:cs typeface="Arial"/>
              </a:rPr>
              <a:t>에너지 이월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8419F3-613B-42DD-BA1A-34451713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195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36D"/>
                </a:solidFill>
                <a:latin typeface="Arial"/>
                <a:ea typeface="Arial"/>
                <a:cs typeface="Arial"/>
              </a:rPr>
              <a:t>남은 에너지 최대 1을 다음 턴으로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894053-973A-4CA7-8719-81A97511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9580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C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F65900-0233-46B7-AA8B-D379400F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577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7A95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7A95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C26F4D-5C3C-464A-B2BC-141CC497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196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11C"/>
                </a:solidFill>
                <a:latin typeface="Arial"/>
                <a:ea typeface="Arial"/>
                <a:cs typeface="Arial"/>
              </a:rPr>
              <a:t>카드 보존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860193-758C-4185-9C40-04596597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96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36D"/>
                </a:solidFill>
                <a:latin typeface="Arial"/>
                <a:ea typeface="Arial"/>
                <a:cs typeface="Arial"/>
              </a:rPr>
              <a:t>비용 1로 핵심 카드 한 장을 유지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0E3706-342F-4B42-B764-48DE9363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04950"/>
            <a:ext cx="7143750" cy="44577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EEF2EF"/>
          </a:solidFill>
          <a:ln xmlns:a="http://schemas.openxmlformats.org/drawingml/2006/main" w="9525">
            <a:solidFill>
              <a:srgbClr val="C9D3CD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c0d805d23b4965"/>
          <a:srcRect xmlns:a="http://schemas.openxmlformats.org/drawingml/2006/main" l="0" t="181" r="0" b="1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24375" y="1514475"/>
            <a:ext cx="7124700" cy="4438650"/>
          </a:xfrm>
          <a:prstGeom xmlns:a="http://schemas.openxmlformats.org/drawingml/2006/main" prst="roundRect">
            <a:avLst>
              <a:gd name="adj" fmla="val 2575"/>
            </a:avLst>
          </a:prstGeom>
        </p:spPr>
      </p:pic>
    </p:spTree>
    <p:extLst>
      <p:ext uri="{BB962C8B-B14F-4D97-AF65-F5344CB8AC3E}">
        <p14:creationId xmlns:p14="http://schemas.microsoft.com/office/powerpoint/2010/main" val="3774033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-6">
            <a:extLst xmlns:a="http://schemas.openxmlformats.org/drawingml/2006/main">
              <a:ext uri="{FF2B5EF4-FFF2-40B4-BE49-F238E27FC236}">
                <a16:creationId xmlns:a16="http://schemas.microsoft.com/office/drawing/2014/main" id="{5F067101-12A1-45A7-A7F3-BD09F455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9E8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89E82"/>
                </a:solidFill>
                <a:latin typeface="Arial"/>
                <a:ea typeface="Arial"/>
                <a:cs typeface="Arial"/>
              </a:rPr>
              <a:t>LAST GATE · VIBE CODING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25213DA7-A4B7-489E-B66C-0E5CE672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11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11C"/>
                </a:solidFill>
                <a:latin typeface="Arial"/>
                <a:ea typeface="Arial"/>
                <a:cs typeface="Arial"/>
              </a:rPr>
              <a:t>전투 하나에서, 경로를 고르는 한 판으로 확장했다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267448-25F0-49A6-872C-833768E7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CD"/>
            </a:solidFill>
            <a:prstDash val="solid"/>
          </a:ln>
        </p:spPr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435AD01E-49B3-4FCA-B631-E66323F9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3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36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C910CC-E261-44C5-B462-3C2E0A5D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3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36D"/>
                </a:solidFill>
                <a:latin typeface="Arial"/>
                <a:ea typeface="Arial"/>
                <a:cs typeface="Arial"/>
              </a:rPr>
              <a:t>전투 · 사건 · 휴식이 섞인 분기 지도를 지나 최종 보스까지 이어지는 플레이 흐름을 구성했다.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14FAF1-0532-404B-8F01-93A026545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8001000" cy="3924300"/>
          </a:xfrm>
          <a:prstGeom xmlns:a="http://schemas.openxmlformats.org/drawingml/2006/main" prst="roundRect">
            <a:avLst>
              <a:gd name="adj" fmla="val 2913"/>
            </a:avLst>
          </a:prstGeom>
          <a:solidFill xmlns:a="http://schemas.openxmlformats.org/drawingml/2006/main">
            <a:srgbClr val="EEF2EF"/>
          </a:solidFill>
          <a:ln xmlns:a="http://schemas.openxmlformats.org/drawingml/2006/main" w="9525">
            <a:solidFill>
              <a:srgbClr val="C9D3CD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f37d6206e947ba"/>
          <a:srcRect xmlns:a="http://schemas.openxmlformats.org/drawingml/2006/main" l="0" t="10876" r="0" b="108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2925" y="2085975"/>
            <a:ext cx="7981950" cy="390525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EA3949-5D1A-4105-ABAE-78B90554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90700"/>
            <a:ext cx="2247900" cy="42862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4F7F5"/>
          </a:solidFill>
          <a:ln xmlns:a="http://schemas.openxmlformats.org/drawingml/2006/main" w="9525">
            <a:solidFill>
              <a:srgbClr val="C9D3CD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dee5d323694d1e"/>
          <a:stretch xmlns:a="http://schemas.openxmlformats.org/drawingml/2006/main"/>
        </p:blipFill>
        <p:spPr>
          <a:xfrm xmlns:a="http://schemas.openxmlformats.org/drawingml/2006/main">
            <a:off x="9168305" y="1800225"/>
            <a:ext cx="1970690" cy="4267200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07D647-723F-4F27-9EF2-C05CFDF6B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9E8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89E82"/>
                </a:solidFill>
                <a:latin typeface="Arial"/>
                <a:ea typeface="Arial"/>
                <a:cs typeface="Arial"/>
              </a:rPr>
              <a:t>DESKTOP · BRANCHING MAP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F3773D-F603-444A-8450-77DD87BA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153150"/>
            <a:ext cx="2247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89E8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89E82"/>
                </a:solidFill>
                <a:latin typeface="Arial"/>
                <a:ea typeface="Arial"/>
                <a:cs typeface="Arial"/>
              </a:rPr>
              <a:t>MOBILE · SWIPE HAND</a:t>
            </a:r>
          </a:p>
        </p:txBody>
      </p:sp>
    </p:spTree>
    <p:extLst>
      <p:ext uri="{BB962C8B-B14F-4D97-AF65-F5344CB8AC3E}">
        <p14:creationId xmlns:p14="http://schemas.microsoft.com/office/powerpoint/2010/main" val="8607102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-7">
            <a:extLst xmlns:a="http://schemas.openxmlformats.org/drawingml/2006/main">
              <a:ext uri="{FF2B5EF4-FFF2-40B4-BE49-F238E27FC236}">
                <a16:creationId xmlns:a16="http://schemas.microsoft.com/office/drawing/2014/main" id="{B7D6B7A1-3373-4AC6-B88B-C690BE35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9E8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89E82"/>
                </a:solidFill>
                <a:latin typeface="Arial"/>
                <a:ea typeface="Arial"/>
                <a:cs typeface="Arial"/>
              </a:rPr>
              <a:t>LAST GATE · VIBE CODING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E0A2D3E1-9FF4-4023-A597-00034785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11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11C"/>
                </a:solidFill>
                <a:latin typeface="Arial"/>
                <a:ea typeface="Arial"/>
                <a:cs typeface="Arial"/>
              </a:rPr>
              <a:t>짧은 일정에도 시연 가능한 범위를 완성했다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9DDB1B-B165-4FD4-AA55-2DEC2E69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CD"/>
            </a:solidFill>
            <a:prstDash val="solid"/>
          </a:ln>
        </p:spPr>
      </p: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73DE367B-71A0-49B5-AE17-584C66C9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3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36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A27948-4278-4546-B648-BC13A1FB1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3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36D"/>
                </a:solidFill>
                <a:latin typeface="Arial"/>
                <a:ea typeface="Arial"/>
                <a:cs typeface="Arial"/>
              </a:rPr>
              <a:t>숫자는 출시 규모가 아니라, 시작부터 보스까지 한 판을 구성하는 데 필요한 핵심 콘텐츠의 범위다.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245B13-7388-4ED4-870E-FC811D79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05100"/>
            <a:ext cx="3390900" cy="2857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E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AEB14C-9C18-42AE-B0C0-CB0AF88D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86100"/>
            <a:ext cx="171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789E82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789E8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9D5D51-D5A9-4E76-88BA-C605DBA7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1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11C"/>
                </a:solidFill>
                <a:latin typeface="Arial"/>
                <a:ea typeface="Arial"/>
                <a:cs typeface="Arial"/>
              </a:rPr>
              <a:t>개의 서약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C0B5EE-C12B-4A89-B17B-19483032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3390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89E8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4373BA-8F3F-451C-878D-87194439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0060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36D"/>
                </a:solidFill>
                <a:latin typeface="Arial"/>
                <a:ea typeface="Arial"/>
                <a:cs typeface="Arial"/>
              </a:rPr>
              <a:t>출혈 · 방어 반격 · 집중 폭발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01C765-16A7-4244-8AFB-8BFC3021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05100"/>
            <a:ext cx="3390900" cy="2857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1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100EF0-BCEE-4623-BA4B-B2593ADF2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86100"/>
            <a:ext cx="171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D7A95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D7A95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B48839-FF42-46D8-A879-77A86B9F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814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1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11C"/>
                </a:solidFill>
                <a:latin typeface="Arial"/>
                <a:ea typeface="Arial"/>
                <a:cs typeface="Arial"/>
              </a:rPr>
              <a:t>종의 카드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08256C-5236-4BB8-97B6-F666024D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53390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95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97C72A-55D8-4857-BB1F-D95B75EF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80060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36D"/>
                </a:solidFill>
                <a:latin typeface="Arial"/>
                <a:ea typeface="Arial"/>
                <a:cs typeface="Arial"/>
              </a:rPr>
              <a:t>기본 · 일반 · 희귀 카드 구성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A5FF46-1E6F-40A2-BBC8-208F68C3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05100"/>
            <a:ext cx="3390900" cy="2857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E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25CF58-BB70-4289-9015-FE2EA935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86100"/>
            <a:ext cx="171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789E82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789E82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8EFA5C-62F0-4B9C-A846-A1D3304B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814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1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11C"/>
                </a:solidFill>
                <a:latin typeface="Arial"/>
                <a:ea typeface="Arial"/>
                <a:cs typeface="Arial"/>
              </a:rPr>
              <a:t>개의 지도 노드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E9196A-7216-4177-8F3F-D48122C7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53390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89E8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867AAB-213E-401C-8690-37EA6D95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80060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36D"/>
                </a:solidFill>
                <a:latin typeface="Arial"/>
                <a:ea typeface="Arial"/>
                <a:cs typeface="Arial"/>
              </a:rPr>
              <a:t>분기 경로와 최종 보스 포함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A52339-6DB5-4F9A-A053-8D6725A1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11C"/>
                </a:solidFill>
                <a:latin typeface="Arial"/>
                <a:ea typeface="Arial"/>
                <a:cs typeface="Arial"/>
              </a:rPr>
              <a:t>추가 구현  |  적 5종 · 무작위 사건 3종 + 휴식 · 데스크톱/모바일 대응</a:t>
            </a:r>
          </a:p>
        </p:txBody>
      </p:sp>
    </p:spTree>
    <p:extLst>
      <p:ext uri="{BB962C8B-B14F-4D97-AF65-F5344CB8AC3E}">
        <p14:creationId xmlns:p14="http://schemas.microsoft.com/office/powerpoint/2010/main" val="4226259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89DBE0-7161-4F6E-BDD9-5E0B9093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89E8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89E82"/>
                </a:solidFill>
                <a:latin typeface="Arial"/>
                <a:ea typeface="Arial"/>
                <a:cs typeface="Arial"/>
              </a:rPr>
              <a:t>성과의 의미</a:t>
            </a:r>
          </a:p>
        </p:txBody>
      </p:sp>
      <p:sp>
        <p:nvSpPr>
          <p:cNvPr id="2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4A3533E6-7D30-458F-97CB-9F5422D8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6667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211C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7211C"/>
                </a:solidFill>
                <a:latin typeface="Arial"/>
                <a:ea typeface="Arial"/>
                <a:cs typeface="Arial"/>
              </a:rPr>
              <a:t>핵심 성과는 게임보다</a:t>
            </a:r>
          </a:p>
          <a:p xmlns:a="http://schemas.openxmlformats.org/drawingml/2006/main">
            <a:pPr algn="l">
              <a:defRPr sz="4050" b="1">
                <a:solidFill>
                  <a:srgbClr val="17211C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7211C"/>
                </a:solidFill>
                <a:latin typeface="Arial"/>
                <a:ea typeface="Arial"/>
                <a:cs typeface="Arial"/>
              </a:rPr>
              <a:t>‘반복 가능한 개발 방식’이다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CA0746-550E-4024-84D4-E53E1538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051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C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5ADC97-7AEE-4AF0-A621-6D3CCD9A6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86150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9E8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89E82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3B2CDC-C544-4E03-8A89-EFE312A6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480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1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11C"/>
                </a:solidFill>
                <a:latin typeface="Arial"/>
                <a:ea typeface="Arial"/>
                <a:cs typeface="Arial"/>
              </a:rPr>
              <a:t>구현 속도를 높였다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8BA59E-72AC-4BCE-946C-B2FA0BC5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671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36D"/>
                </a:solidFill>
                <a:latin typeface="Arial"/>
                <a:ea typeface="Arial"/>
                <a:cs typeface="Arial"/>
              </a:rPr>
              <a:t>자연어 요구를 실행 가능한 화면과 로직으로 빠르게 전환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DE7BDB-8085-4B96-8EEB-576A217C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9E8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89E82"/>
                </a:solidFill>
                <a:latin typeface="Arial"/>
                <a:ea typeface="Arial"/>
                <a:cs typeface="Arial"/>
              </a:rPr>
              <a:t>사람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4D45CC-4050-4F4A-836A-25C13B03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481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1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11C"/>
                </a:solidFill>
                <a:latin typeface="Arial"/>
                <a:ea typeface="Arial"/>
                <a:cs typeface="Arial"/>
              </a:rPr>
              <a:t>재미와 범위를 판단했다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53DC42-3638-4C43-900A-CE956355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2672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36D"/>
                </a:solidFill>
                <a:latin typeface="Arial"/>
                <a:ea typeface="Arial"/>
                <a:cs typeface="Arial"/>
              </a:rPr>
              <a:t>공격 일변도, 가독성, 모바일 동작 같은 체감 문제를 발견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B36C63-9F98-44BF-8BB0-D3F1A933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86350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7A95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7A950"/>
                </a:solidFill>
                <a:latin typeface="Arial"/>
                <a:ea typeface="Arial"/>
                <a:cs typeface="Arial"/>
              </a:rPr>
              <a:t>결과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9D520C-5C86-4944-B906-9DCDA7B4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482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1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11C"/>
                </a:solidFill>
                <a:latin typeface="Arial"/>
                <a:ea typeface="Arial"/>
                <a:cs typeface="Arial"/>
              </a:rPr>
              <a:t>완결된 핵심 루프를 남겼다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0AEF11-BA3D-4228-8B83-C0BFD24D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0673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36D"/>
                </a:solidFill>
                <a:latin typeface="Arial"/>
                <a:ea typeface="Arial"/>
                <a:cs typeface="Arial"/>
              </a:rPr>
              <a:t>작은 범위라도 시작–선택–성장–종료가 연결되는 시연물 완성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EACAC4-557E-465B-B1FA-FDF505FD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9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AE3737-FEE5-48CC-A2F2-174BBED6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1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11C"/>
                </a:solidFill>
                <a:latin typeface="Arial"/>
                <a:ea typeface="Arial"/>
                <a:cs typeface="Arial"/>
              </a:rPr>
              <a:t>결과물  |  마지막 관문 — 웹 덱빌딩 로그라이크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3C8BFB-D53D-4D4A-BB83-1A14C677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2484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36D"/>
                </a:solidFill>
                <a:latin typeface="Arial"/>
                <a:ea typeface="Arial"/>
                <a:cs typeface="Arial"/>
              </a:rPr>
              <a:t>Kang Dongwan</a:t>
            </a:r>
          </a:p>
        </p:txBody>
      </p:sp>
    </p:spTree>
    <p:extLst>
      <p:ext uri="{BB962C8B-B14F-4D97-AF65-F5344CB8AC3E}">
        <p14:creationId xmlns:p14="http://schemas.microsoft.com/office/powerpoint/2010/main" val="2802317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2026-09-03T16:08:22.0980000Z</dcterms:created>
  <dcterms:modified xsi:type="dcterms:W3CDTF">2026-09-03T16:08:22.0980000Z</dcterms:modified>
</coreProperties>
</file>