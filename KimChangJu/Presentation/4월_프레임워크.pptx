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88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j78I3p/Hrrt2tnEirnLDAe1aIR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3840480" y="0"/>
            <a:ext cx="73152" cy="6858000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20040" y="1234440"/>
            <a:ext cx="347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KB</a:t>
            </a:r>
            <a:r>
              <a:rPr b="1" lang="en-US" sz="1800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데이타시스템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320040" y="1737360"/>
            <a:ext cx="347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설정훈 과장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548640" y="2240280"/>
            <a:ext cx="2926080" cy="54864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320040" y="237744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기술 세미나 Part 1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4251960" y="1097280"/>
            <a:ext cx="7589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React /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4251960" y="1920240"/>
            <a:ext cx="7589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Spring &amp;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4251960" y="2743200"/>
            <a:ext cx="7589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Next.js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4251960" y="3611880"/>
            <a:ext cx="5943600" cy="82296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4251960" y="3767328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프레임워크 핵심 소개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4251960" y="4343400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React · Spring · Next.js의 특징, 장단점 및 LG CNS MDD와의 연관성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4251960" y="6263640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411480" y="594360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목   차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384048" y="1389888"/>
            <a:ext cx="2286000" cy="1417320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384048" y="1389888"/>
            <a:ext cx="530352" cy="1417320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393192" y="1897379"/>
            <a:ext cx="51206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1024127" y="1536192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Spring Framework 개요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1024127" y="1883664"/>
            <a:ext cx="15361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특징 및 핵심 구조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2761488" y="1389888"/>
            <a:ext cx="2286000" cy="1417320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2761488" y="1389888"/>
            <a:ext cx="530352" cy="1417320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2770632" y="1897379"/>
            <a:ext cx="51206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3401568" y="1536192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Spring 장점 / 단점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3401568" y="1883664"/>
            <a:ext cx="15361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실무 관점 분석</a:t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5138928" y="1389888"/>
            <a:ext cx="2286000" cy="1417320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5138928" y="1389888"/>
            <a:ext cx="530352" cy="1417320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5148072" y="1897379"/>
            <a:ext cx="51206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5779008" y="1536192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Spring 코드 예시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5779008" y="1883664"/>
            <a:ext cx="15361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DI · JPA · 선언적 처리</a:t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7516368" y="1389888"/>
            <a:ext cx="2286000" cy="1417320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7516368" y="1389888"/>
            <a:ext cx="530352" cy="1417320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7525512" y="1897379"/>
            <a:ext cx="51206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8156448" y="1536192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Spring ↔ MDD 비교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8156448" y="1883664"/>
            <a:ext cx="15361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공통 설계 철학</a:t>
            </a:r>
            <a:endParaRPr/>
          </a:p>
        </p:txBody>
      </p:sp>
      <p:sp>
        <p:nvSpPr>
          <p:cNvPr id="125" name="Google Shape;125;p2"/>
          <p:cNvSpPr/>
          <p:nvPr/>
        </p:nvSpPr>
        <p:spPr>
          <a:xfrm>
            <a:off x="9893808" y="1389888"/>
            <a:ext cx="2286000" cy="1417320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9893808" y="1389888"/>
            <a:ext cx="530352" cy="1417320"/>
          </a:xfrm>
          <a:prstGeom prst="rect">
            <a:avLst/>
          </a:prstGeom>
          <a:solidFill>
            <a:srgbClr val="007E8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9902952" y="1897379"/>
            <a:ext cx="51206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10533888" y="1536192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React 개요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10533888" y="1883664"/>
            <a:ext cx="15361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특징 · Hook · 사용 케이스</a:t>
            </a:r>
            <a:endParaRPr/>
          </a:p>
        </p:txBody>
      </p:sp>
      <p:sp>
        <p:nvSpPr>
          <p:cNvPr id="130" name="Google Shape;130;p2"/>
          <p:cNvSpPr/>
          <p:nvPr/>
        </p:nvSpPr>
        <p:spPr>
          <a:xfrm>
            <a:off x="384048" y="2898648"/>
            <a:ext cx="2286000" cy="1417320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384048" y="2898648"/>
            <a:ext cx="530352" cy="1417320"/>
          </a:xfrm>
          <a:prstGeom prst="rect">
            <a:avLst/>
          </a:prstGeom>
          <a:solidFill>
            <a:srgbClr val="B05E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393192" y="3406139"/>
            <a:ext cx="51206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1024127" y="3044952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렌더링 방식 이해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1024127" y="3392424"/>
            <a:ext cx="15361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CSR · SSR — 기초 렌더링 비교</a:t>
            </a:r>
            <a:endParaRPr/>
          </a:p>
        </p:txBody>
      </p:sp>
      <p:sp>
        <p:nvSpPr>
          <p:cNvPr id="135" name="Google Shape;135;p2"/>
          <p:cNvSpPr/>
          <p:nvPr/>
        </p:nvSpPr>
        <p:spPr>
          <a:xfrm>
            <a:off x="2761488" y="2898648"/>
            <a:ext cx="2286000" cy="1417320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2761488" y="2898648"/>
            <a:ext cx="530352" cy="1417320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2770632" y="3406139"/>
            <a:ext cx="51206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3401568" y="3044952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Next.js 개요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3401568" y="3392424"/>
            <a:ext cx="15361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렌더링 전략 및 기능</a:t>
            </a:r>
            <a:endParaRPr/>
          </a:p>
        </p:txBody>
      </p:sp>
      <p:sp>
        <p:nvSpPr>
          <p:cNvPr id="140" name="Google Shape;140;p2"/>
          <p:cNvSpPr/>
          <p:nvPr/>
        </p:nvSpPr>
        <p:spPr>
          <a:xfrm>
            <a:off x="5138928" y="2898648"/>
            <a:ext cx="2286000" cy="1417320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5138928" y="2898648"/>
            <a:ext cx="530352" cy="1417320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5148072" y="3406139"/>
            <a:ext cx="51206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5779008" y="3044952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Next.js 장점 / 단점</a:t>
            </a:r>
            <a:endParaRPr/>
          </a:p>
        </p:txBody>
      </p:sp>
      <p:sp>
        <p:nvSpPr>
          <p:cNvPr id="144" name="Google Shape;144;p2"/>
          <p:cNvSpPr txBox="1"/>
          <p:nvPr/>
        </p:nvSpPr>
        <p:spPr>
          <a:xfrm>
            <a:off x="5779008" y="3392424"/>
            <a:ext cx="15361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실무 관점 분석</a:t>
            </a:r>
            <a:endParaRPr/>
          </a:p>
        </p:txBody>
      </p:sp>
      <p:sp>
        <p:nvSpPr>
          <p:cNvPr id="145" name="Google Shape;145;p2"/>
          <p:cNvSpPr/>
          <p:nvPr/>
        </p:nvSpPr>
        <p:spPr>
          <a:xfrm>
            <a:off x="7516368" y="2898648"/>
            <a:ext cx="2286000" cy="1417320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"/>
          <p:cNvSpPr/>
          <p:nvPr/>
        </p:nvSpPr>
        <p:spPr>
          <a:xfrm>
            <a:off x="7516368" y="2898648"/>
            <a:ext cx="530352" cy="1417320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"/>
          <p:cNvSpPr txBox="1"/>
          <p:nvPr/>
        </p:nvSpPr>
        <p:spPr>
          <a:xfrm>
            <a:off x="7525512" y="3406139"/>
            <a:ext cx="51206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/>
          </a:p>
        </p:txBody>
      </p:sp>
      <p:sp>
        <p:nvSpPr>
          <p:cNvPr id="148" name="Google Shape;148;p2"/>
          <p:cNvSpPr txBox="1"/>
          <p:nvPr/>
        </p:nvSpPr>
        <p:spPr>
          <a:xfrm>
            <a:off x="8156448" y="3044952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Next.js 코드 예시</a:t>
            </a:r>
            <a:endParaRPr/>
          </a:p>
        </p:txBody>
      </p:sp>
      <p:sp>
        <p:nvSpPr>
          <p:cNvPr id="149" name="Google Shape;149;p2"/>
          <p:cNvSpPr txBox="1"/>
          <p:nvPr/>
        </p:nvSpPr>
        <p:spPr>
          <a:xfrm>
            <a:off x="8156448" y="3392424"/>
            <a:ext cx="15361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라우팅 · SSR · API</a:t>
            </a:r>
            <a:endParaRPr/>
          </a:p>
        </p:txBody>
      </p:sp>
      <p:sp>
        <p:nvSpPr>
          <p:cNvPr id="150" name="Google Shape;150;p2"/>
          <p:cNvSpPr/>
          <p:nvPr/>
        </p:nvSpPr>
        <p:spPr>
          <a:xfrm>
            <a:off x="9893808" y="2898648"/>
            <a:ext cx="2286000" cy="1417320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9893808" y="2898648"/>
            <a:ext cx="530352" cy="1417320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9902952" y="3406139"/>
            <a:ext cx="51206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53" name="Google Shape;153;p2"/>
          <p:cNvSpPr txBox="1"/>
          <p:nvPr/>
        </p:nvSpPr>
        <p:spPr>
          <a:xfrm>
            <a:off x="10533888" y="3044952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종합 비교 및 정리</a:t>
            </a:r>
            <a:endParaRPr/>
          </a:p>
        </p:txBody>
      </p:sp>
      <p:sp>
        <p:nvSpPr>
          <p:cNvPr id="154" name="Google Shape;154;p2"/>
          <p:cNvSpPr txBox="1"/>
          <p:nvPr/>
        </p:nvSpPr>
        <p:spPr>
          <a:xfrm>
            <a:off x="10533888" y="3392424"/>
            <a:ext cx="15361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한눈에 비교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 txBox="1"/>
          <p:nvPr/>
        </p:nvSpPr>
        <p:spPr>
          <a:xfrm>
            <a:off x="411480" y="594360"/>
            <a:ext cx="1143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01  Spring Framework 개요</a:t>
            </a:r>
            <a:endParaRPr/>
          </a:p>
        </p:txBody>
      </p:sp>
      <p:sp>
        <p:nvSpPr>
          <p:cNvPr id="162" name="Google Shape;162;p3"/>
          <p:cNvSpPr/>
          <p:nvPr/>
        </p:nvSpPr>
        <p:spPr>
          <a:xfrm>
            <a:off x="411480" y="1261872"/>
            <a:ext cx="1136599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411480" y="1508760"/>
            <a:ext cx="11365992" cy="749808"/>
          </a:xfrm>
          <a:prstGeom prst="rect">
            <a:avLst/>
          </a:prstGeom>
          <a:solidFill>
            <a:srgbClr val="FFFBE6"/>
          </a:solidFill>
          <a:ln cap="flat" cmpd="sng" w="19050">
            <a:solidFill>
              <a:srgbClr val="FFD6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 txBox="1"/>
          <p:nvPr/>
        </p:nvSpPr>
        <p:spPr>
          <a:xfrm>
            <a:off x="566928" y="1545336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"Spring은 2003년 Rod Johnson이 복잡한 J2EE 개발의 한계를 극복하고자 만든 Java 오픈소스 프레임워크입니다.</a:t>
            </a:r>
            <a:br>
              <a:rPr b="0" i="1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현재 국내 금융·공공·대기업 백엔드의 사실상 표준이며, 전자정부 표준 프레임워크의 기반이기도 합니다."</a:t>
            </a:r>
            <a:endParaRPr/>
          </a:p>
        </p:txBody>
      </p:sp>
      <p:sp>
        <p:nvSpPr>
          <p:cNvPr id="165" name="Google Shape;165;p3"/>
          <p:cNvSpPr/>
          <p:nvPr/>
        </p:nvSpPr>
        <p:spPr>
          <a:xfrm>
            <a:off x="411480" y="2395728"/>
            <a:ext cx="3749039" cy="4187952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411480" y="2395728"/>
            <a:ext cx="3749039" cy="384048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411480" y="2395728"/>
            <a:ext cx="109728" cy="384048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 txBox="1"/>
          <p:nvPr/>
        </p:nvSpPr>
        <p:spPr>
          <a:xfrm>
            <a:off x="612648" y="242316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핵심 철학 3가지</a:t>
            </a:r>
            <a:endParaRPr/>
          </a:p>
        </p:txBody>
      </p:sp>
      <p:sp>
        <p:nvSpPr>
          <p:cNvPr id="169" name="Google Shape;169;p3"/>
          <p:cNvSpPr txBox="1"/>
          <p:nvPr/>
        </p:nvSpPr>
        <p:spPr>
          <a:xfrm>
            <a:off x="576072" y="2889504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IoC (제어의 역전)</a:t>
            </a:r>
            <a:endParaRPr/>
          </a:p>
        </p:txBody>
      </p:sp>
      <p:sp>
        <p:nvSpPr>
          <p:cNvPr id="170" name="Google Shape;170;p3"/>
          <p:cNvSpPr txBox="1"/>
          <p:nvPr/>
        </p:nvSpPr>
        <p:spPr>
          <a:xfrm>
            <a:off x="576072" y="3438144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객체 생명주기를 프레임워크가 관리</a:t>
            </a:r>
            <a:endParaRPr/>
          </a:p>
        </p:txBody>
      </p:sp>
      <p:sp>
        <p:nvSpPr>
          <p:cNvPr id="171" name="Google Shape;171;p3"/>
          <p:cNvSpPr txBox="1"/>
          <p:nvPr/>
        </p:nvSpPr>
        <p:spPr>
          <a:xfrm>
            <a:off x="576072" y="3986784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DI (의존성 주입)</a:t>
            </a:r>
            <a:endParaRPr/>
          </a:p>
        </p:txBody>
      </p:sp>
      <p:sp>
        <p:nvSpPr>
          <p:cNvPr id="172" name="Google Shape;172;p3"/>
          <p:cNvSpPr txBox="1"/>
          <p:nvPr/>
        </p:nvSpPr>
        <p:spPr>
          <a:xfrm>
            <a:off x="576072" y="4535424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컴포넌트 간 결합도를 낮춰 유지보수성 향상</a:t>
            </a:r>
            <a:endParaRPr/>
          </a:p>
        </p:txBody>
      </p:sp>
      <p:sp>
        <p:nvSpPr>
          <p:cNvPr id="173" name="Google Shape;173;p3"/>
          <p:cNvSpPr txBox="1"/>
          <p:nvPr/>
        </p:nvSpPr>
        <p:spPr>
          <a:xfrm>
            <a:off x="576072" y="5084064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AOP (관점 지향 프로그래밍)</a:t>
            </a:r>
            <a:endParaRPr/>
          </a:p>
        </p:txBody>
      </p:sp>
      <p:sp>
        <p:nvSpPr>
          <p:cNvPr id="174" name="Google Shape;174;p3"/>
          <p:cNvSpPr txBox="1"/>
          <p:nvPr/>
        </p:nvSpPr>
        <p:spPr>
          <a:xfrm>
            <a:off x="576072" y="5632704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로깅·트랜잭션 등 공통 기능을 분리</a:t>
            </a:r>
            <a:endParaRPr/>
          </a:p>
        </p:txBody>
      </p:sp>
      <p:sp>
        <p:nvSpPr>
          <p:cNvPr id="175" name="Google Shape;175;p3"/>
          <p:cNvSpPr/>
          <p:nvPr/>
        </p:nvSpPr>
        <p:spPr>
          <a:xfrm>
            <a:off x="4343400" y="2395728"/>
            <a:ext cx="3749039" cy="4187952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4343400" y="2395728"/>
            <a:ext cx="3749039" cy="384048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4343400" y="2395728"/>
            <a:ext cx="109728" cy="384048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"/>
          <p:cNvSpPr txBox="1"/>
          <p:nvPr/>
        </p:nvSpPr>
        <p:spPr>
          <a:xfrm>
            <a:off x="4544568" y="242316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주요 모듈</a:t>
            </a:r>
            <a:endParaRPr/>
          </a:p>
        </p:txBody>
      </p:sp>
      <p:sp>
        <p:nvSpPr>
          <p:cNvPr id="179" name="Google Shape;179;p3"/>
          <p:cNvSpPr txBox="1"/>
          <p:nvPr/>
        </p:nvSpPr>
        <p:spPr>
          <a:xfrm>
            <a:off x="4507992" y="2889504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Spring Core — DI 컨테이너</a:t>
            </a:r>
            <a:endParaRPr/>
          </a:p>
        </p:txBody>
      </p:sp>
      <p:sp>
        <p:nvSpPr>
          <p:cNvPr id="180" name="Google Shape;180;p3"/>
          <p:cNvSpPr txBox="1"/>
          <p:nvPr/>
        </p:nvSpPr>
        <p:spPr>
          <a:xfrm>
            <a:off x="4507992" y="3438144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빈(Bean) 생명주기 관리</a:t>
            </a:r>
            <a:endParaRPr/>
          </a:p>
        </p:txBody>
      </p:sp>
      <p:sp>
        <p:nvSpPr>
          <p:cNvPr id="181" name="Google Shape;181;p3"/>
          <p:cNvSpPr txBox="1"/>
          <p:nvPr/>
        </p:nvSpPr>
        <p:spPr>
          <a:xfrm>
            <a:off x="4507992" y="3986784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Spring MVC — 웹 레이어</a:t>
            </a:r>
            <a:endParaRPr/>
          </a:p>
        </p:txBody>
      </p:sp>
      <p:sp>
        <p:nvSpPr>
          <p:cNvPr id="182" name="Google Shape;182;p3"/>
          <p:cNvSpPr txBox="1"/>
          <p:nvPr/>
        </p:nvSpPr>
        <p:spPr>
          <a:xfrm>
            <a:off x="4507992" y="4535424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Controller·REST API 처리</a:t>
            </a:r>
            <a:endParaRPr/>
          </a:p>
        </p:txBody>
      </p:sp>
      <p:sp>
        <p:nvSpPr>
          <p:cNvPr id="183" name="Google Shape;183;p3"/>
          <p:cNvSpPr txBox="1"/>
          <p:nvPr/>
        </p:nvSpPr>
        <p:spPr>
          <a:xfrm>
            <a:off x="4507992" y="5084064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Spring Data — DB 추상화</a:t>
            </a:r>
            <a:endParaRPr/>
          </a:p>
        </p:txBody>
      </p:sp>
      <p:sp>
        <p:nvSpPr>
          <p:cNvPr id="184" name="Google Shape;184;p3"/>
          <p:cNvSpPr txBox="1"/>
          <p:nvPr/>
        </p:nvSpPr>
        <p:spPr>
          <a:xfrm>
            <a:off x="4507992" y="5632704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JPA·MyBatis 연동</a:t>
            </a:r>
            <a:endParaRPr/>
          </a:p>
        </p:txBody>
      </p:sp>
      <p:sp>
        <p:nvSpPr>
          <p:cNvPr id="185" name="Google Shape;185;p3"/>
          <p:cNvSpPr txBox="1"/>
          <p:nvPr/>
        </p:nvSpPr>
        <p:spPr>
          <a:xfrm>
            <a:off x="4507992" y="6181344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Spring Boot</a:t>
            </a:r>
            <a:endParaRPr/>
          </a:p>
        </p:txBody>
      </p:sp>
      <p:sp>
        <p:nvSpPr>
          <p:cNvPr id="186" name="Google Shape;186;p3"/>
          <p:cNvSpPr txBox="1"/>
          <p:nvPr/>
        </p:nvSpPr>
        <p:spPr>
          <a:xfrm>
            <a:off x="4507992" y="6729984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자동설정 + 내장 서버</a:t>
            </a:r>
            <a:endParaRPr/>
          </a:p>
        </p:txBody>
      </p:sp>
      <p:sp>
        <p:nvSpPr>
          <p:cNvPr id="187" name="Google Shape;187;p3"/>
          <p:cNvSpPr/>
          <p:nvPr/>
        </p:nvSpPr>
        <p:spPr>
          <a:xfrm>
            <a:off x="8275319" y="2395728"/>
            <a:ext cx="3749039" cy="4187952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"/>
          <p:cNvSpPr/>
          <p:nvPr/>
        </p:nvSpPr>
        <p:spPr>
          <a:xfrm>
            <a:off x="8275319" y="2395728"/>
            <a:ext cx="3749039" cy="384048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"/>
          <p:cNvSpPr/>
          <p:nvPr/>
        </p:nvSpPr>
        <p:spPr>
          <a:xfrm>
            <a:off x="8275319" y="2395728"/>
            <a:ext cx="109728" cy="384048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"/>
          <p:cNvSpPr txBox="1"/>
          <p:nvPr/>
        </p:nvSpPr>
        <p:spPr>
          <a:xfrm>
            <a:off x="8476488" y="242316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국내 활용 현황</a:t>
            </a:r>
            <a:endParaRPr/>
          </a:p>
        </p:txBody>
      </p:sp>
      <p:sp>
        <p:nvSpPr>
          <p:cNvPr id="191" name="Google Shape;191;p3"/>
          <p:cNvSpPr txBox="1"/>
          <p:nvPr/>
        </p:nvSpPr>
        <p:spPr>
          <a:xfrm>
            <a:off x="8439911" y="2889504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금융권 핵심 백엔드 표준 스택</a:t>
            </a:r>
            <a:endParaRPr/>
          </a:p>
        </p:txBody>
      </p:sp>
      <p:sp>
        <p:nvSpPr>
          <p:cNvPr id="192" name="Google Shape;192;p3"/>
          <p:cNvSpPr txBox="1"/>
          <p:nvPr/>
        </p:nvSpPr>
        <p:spPr>
          <a:xfrm>
            <a:off x="8439911" y="3438144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삼성·네이버·카카오 등 광범위 사용</a:t>
            </a:r>
            <a:endParaRPr/>
          </a:p>
        </p:txBody>
      </p:sp>
      <p:sp>
        <p:nvSpPr>
          <p:cNvPr id="193" name="Google Shape;193;p3"/>
          <p:cNvSpPr txBox="1"/>
          <p:nvPr/>
        </p:nvSpPr>
        <p:spPr>
          <a:xfrm>
            <a:off x="8439911" y="3986784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전자정부 표준 프레임워크 기반</a:t>
            </a:r>
            <a:endParaRPr/>
          </a:p>
        </p:txBody>
      </p:sp>
      <p:sp>
        <p:nvSpPr>
          <p:cNvPr id="194" name="Google Shape;194;p3"/>
          <p:cNvSpPr txBox="1"/>
          <p:nvPr/>
        </p:nvSpPr>
        <p:spPr>
          <a:xfrm>
            <a:off x="8439911" y="4535424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Spring Boot로 빠른 프로젝트 셋업</a:t>
            </a:r>
            <a:endParaRPr/>
          </a:p>
        </p:txBody>
      </p:sp>
      <p:sp>
        <p:nvSpPr>
          <p:cNvPr id="195" name="Google Shape;195;p3"/>
          <p:cNvSpPr txBox="1"/>
          <p:nvPr/>
        </p:nvSpPr>
        <p:spPr>
          <a:xfrm>
            <a:off x="8439911" y="5084064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MSA 전환 시 Spring Cloud 활용</a:t>
            </a:r>
            <a:endParaRPr/>
          </a:p>
        </p:txBody>
      </p:sp>
      <p:sp>
        <p:nvSpPr>
          <p:cNvPr id="196" name="Google Shape;196;p3"/>
          <p:cNvSpPr txBox="1"/>
          <p:nvPr/>
        </p:nvSpPr>
        <p:spPr>
          <a:xfrm>
            <a:off x="8439911" y="5632704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대규모 트래픽 처리에도 안정적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 txBox="1"/>
          <p:nvPr/>
        </p:nvSpPr>
        <p:spPr>
          <a:xfrm>
            <a:off x="411480" y="594360"/>
            <a:ext cx="1143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02  Spring – 장점 / 단점</a:t>
            </a:r>
            <a:endParaRPr/>
          </a:p>
        </p:txBody>
      </p:sp>
      <p:sp>
        <p:nvSpPr>
          <p:cNvPr id="204" name="Google Shape;204;p4"/>
          <p:cNvSpPr/>
          <p:nvPr/>
        </p:nvSpPr>
        <p:spPr>
          <a:xfrm>
            <a:off x="411480" y="1261872"/>
            <a:ext cx="1136599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411480" y="1508760"/>
            <a:ext cx="5440680" cy="5074920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411480" y="1508760"/>
            <a:ext cx="5440680" cy="384048"/>
          </a:xfrm>
          <a:prstGeom prst="rect">
            <a:avLst/>
          </a:prstGeom>
          <a:solidFill>
            <a:srgbClr val="2DA8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 txBox="1"/>
          <p:nvPr/>
        </p:nvSpPr>
        <p:spPr>
          <a:xfrm>
            <a:off x="594360" y="1536192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주요 장점</a:t>
            </a:r>
            <a:endParaRPr/>
          </a:p>
        </p:txBody>
      </p:sp>
      <p:sp>
        <p:nvSpPr>
          <p:cNvPr id="208" name="Google Shape;208;p4"/>
          <p:cNvSpPr/>
          <p:nvPr/>
        </p:nvSpPr>
        <p:spPr>
          <a:xfrm>
            <a:off x="548640" y="2139696"/>
            <a:ext cx="91440" cy="91440"/>
          </a:xfrm>
          <a:prstGeom prst="rect">
            <a:avLst/>
          </a:prstGeom>
          <a:solidFill>
            <a:srgbClr val="2DA8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"/>
          <p:cNvSpPr txBox="1"/>
          <p:nvPr/>
        </p:nvSpPr>
        <p:spPr>
          <a:xfrm>
            <a:off x="731520" y="202996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강력한 생태계</a:t>
            </a:r>
            <a:endParaRPr/>
          </a:p>
        </p:txBody>
      </p:sp>
      <p:sp>
        <p:nvSpPr>
          <p:cNvPr id="210" name="Google Shape;210;p4"/>
          <p:cNvSpPr txBox="1"/>
          <p:nvPr/>
        </p:nvSpPr>
        <p:spPr>
          <a:xfrm>
            <a:off x="731520" y="2304288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수천 개의 라이브러리와 방대한 커뮤니티</a:t>
            </a:r>
            <a:endParaRPr/>
          </a:p>
        </p:txBody>
      </p:sp>
      <p:sp>
        <p:nvSpPr>
          <p:cNvPr id="211" name="Google Shape;211;p4"/>
          <p:cNvSpPr/>
          <p:nvPr/>
        </p:nvSpPr>
        <p:spPr>
          <a:xfrm>
            <a:off x="548640" y="2788920"/>
            <a:ext cx="91440" cy="91440"/>
          </a:xfrm>
          <a:prstGeom prst="rect">
            <a:avLst/>
          </a:prstGeom>
          <a:solidFill>
            <a:srgbClr val="2DA8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"/>
          <p:cNvSpPr txBox="1"/>
          <p:nvPr/>
        </p:nvSpPr>
        <p:spPr>
          <a:xfrm>
            <a:off x="731520" y="26791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표준화된 패턴</a:t>
            </a:r>
            <a:endParaRPr/>
          </a:p>
        </p:txBody>
      </p:sp>
      <p:sp>
        <p:nvSpPr>
          <p:cNvPr id="213" name="Google Shape;213;p4"/>
          <p:cNvSpPr txBox="1"/>
          <p:nvPr/>
        </p:nvSpPr>
        <p:spPr>
          <a:xfrm>
            <a:off x="731520" y="2953512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@Controller·@Service·@Repository 계층 강제</a:t>
            </a:r>
            <a:endParaRPr/>
          </a:p>
        </p:txBody>
      </p:sp>
      <p:sp>
        <p:nvSpPr>
          <p:cNvPr id="214" name="Google Shape;214;p4"/>
          <p:cNvSpPr/>
          <p:nvPr/>
        </p:nvSpPr>
        <p:spPr>
          <a:xfrm>
            <a:off x="548640" y="3438144"/>
            <a:ext cx="91440" cy="91440"/>
          </a:xfrm>
          <a:prstGeom prst="rect">
            <a:avLst/>
          </a:prstGeom>
          <a:solidFill>
            <a:srgbClr val="2DA8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"/>
          <p:cNvSpPr txBox="1"/>
          <p:nvPr/>
        </p:nvSpPr>
        <p:spPr>
          <a:xfrm>
            <a:off x="731520" y="3328416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선언적 트랜잭션</a:t>
            </a:r>
            <a:endParaRPr/>
          </a:p>
        </p:txBody>
      </p:sp>
      <p:sp>
        <p:nvSpPr>
          <p:cNvPr id="216" name="Google Shape;216;p4"/>
          <p:cNvSpPr txBox="1"/>
          <p:nvPr/>
        </p:nvSpPr>
        <p:spPr>
          <a:xfrm>
            <a:off x="731520" y="3602736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@Transactional 어노테이션 한 줄로 처리</a:t>
            </a:r>
            <a:endParaRPr/>
          </a:p>
        </p:txBody>
      </p:sp>
      <p:sp>
        <p:nvSpPr>
          <p:cNvPr id="217" name="Google Shape;217;p4"/>
          <p:cNvSpPr/>
          <p:nvPr/>
        </p:nvSpPr>
        <p:spPr>
          <a:xfrm>
            <a:off x="548640" y="4087368"/>
            <a:ext cx="91440" cy="91440"/>
          </a:xfrm>
          <a:prstGeom prst="rect">
            <a:avLst/>
          </a:prstGeom>
          <a:solidFill>
            <a:srgbClr val="2DA8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4"/>
          <p:cNvSpPr txBox="1"/>
          <p:nvPr/>
        </p:nvSpPr>
        <p:spPr>
          <a:xfrm>
            <a:off x="731520" y="3977639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Spring Security</a:t>
            </a:r>
            <a:endParaRPr/>
          </a:p>
        </p:txBody>
      </p:sp>
      <p:sp>
        <p:nvSpPr>
          <p:cNvPr id="219" name="Google Shape;219;p4"/>
          <p:cNvSpPr txBox="1"/>
          <p:nvPr/>
        </p:nvSpPr>
        <p:spPr>
          <a:xfrm>
            <a:off x="731520" y="4251959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인증·인가·JWT·OAuth2 표준 구현 제공</a:t>
            </a:r>
            <a:endParaRPr/>
          </a:p>
        </p:txBody>
      </p:sp>
      <p:sp>
        <p:nvSpPr>
          <p:cNvPr id="220" name="Google Shape;220;p4"/>
          <p:cNvSpPr/>
          <p:nvPr/>
        </p:nvSpPr>
        <p:spPr>
          <a:xfrm>
            <a:off x="548640" y="4736592"/>
            <a:ext cx="91440" cy="91440"/>
          </a:xfrm>
          <a:prstGeom prst="rect">
            <a:avLst/>
          </a:prstGeom>
          <a:solidFill>
            <a:srgbClr val="2DA8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4"/>
          <p:cNvSpPr txBox="1"/>
          <p:nvPr/>
        </p:nvSpPr>
        <p:spPr>
          <a:xfrm>
            <a:off x="731520" y="4626864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테스트 용이성</a:t>
            </a:r>
            <a:endParaRPr/>
          </a:p>
        </p:txBody>
      </p:sp>
      <p:sp>
        <p:nvSpPr>
          <p:cNvPr id="222" name="Google Shape;222;p4"/>
          <p:cNvSpPr txBox="1"/>
          <p:nvPr/>
        </p:nvSpPr>
        <p:spPr>
          <a:xfrm>
            <a:off x="731520" y="4901184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MockMvc, JUnit 연동, 계층별 단위 테스트</a:t>
            </a:r>
            <a:endParaRPr/>
          </a:p>
        </p:txBody>
      </p:sp>
      <p:sp>
        <p:nvSpPr>
          <p:cNvPr id="223" name="Google Shape;223;p4"/>
          <p:cNvSpPr/>
          <p:nvPr/>
        </p:nvSpPr>
        <p:spPr>
          <a:xfrm>
            <a:off x="548640" y="5385816"/>
            <a:ext cx="91440" cy="91440"/>
          </a:xfrm>
          <a:prstGeom prst="rect">
            <a:avLst/>
          </a:prstGeom>
          <a:solidFill>
            <a:srgbClr val="2DA8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4"/>
          <p:cNvSpPr txBox="1"/>
          <p:nvPr/>
        </p:nvSpPr>
        <p:spPr>
          <a:xfrm>
            <a:off x="731520" y="527608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Spring Boot</a:t>
            </a:r>
            <a:endParaRPr/>
          </a:p>
        </p:txBody>
      </p:sp>
      <p:sp>
        <p:nvSpPr>
          <p:cNvPr id="225" name="Google Shape;225;p4"/>
          <p:cNvSpPr txBox="1"/>
          <p:nvPr/>
        </p:nvSpPr>
        <p:spPr>
          <a:xfrm>
            <a:off x="731520" y="5550407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자동 설정, 내장 톰캣으로 즉시 실행 가능</a:t>
            </a:r>
            <a:endParaRPr/>
          </a:p>
        </p:txBody>
      </p:sp>
      <p:sp>
        <p:nvSpPr>
          <p:cNvPr id="226" name="Google Shape;226;p4"/>
          <p:cNvSpPr/>
          <p:nvPr/>
        </p:nvSpPr>
        <p:spPr>
          <a:xfrm>
            <a:off x="548640" y="6035040"/>
            <a:ext cx="91440" cy="91440"/>
          </a:xfrm>
          <a:prstGeom prst="rect">
            <a:avLst/>
          </a:prstGeom>
          <a:solidFill>
            <a:srgbClr val="2DA8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"/>
          <p:cNvSpPr txBox="1"/>
          <p:nvPr/>
        </p:nvSpPr>
        <p:spPr>
          <a:xfrm>
            <a:off x="731520" y="592531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JPA/Hibernate</a:t>
            </a:r>
            <a:endParaRPr/>
          </a:p>
        </p:txBody>
      </p:sp>
      <p:sp>
        <p:nvSpPr>
          <p:cNvPr id="228" name="Google Shape;228;p4"/>
          <p:cNvSpPr txBox="1"/>
          <p:nvPr/>
        </p:nvSpPr>
        <p:spPr>
          <a:xfrm>
            <a:off x="731520" y="6199632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SQL 없이 메서드 이름으로 쿼리 자동 생성</a:t>
            </a:r>
            <a:endParaRPr/>
          </a:p>
        </p:txBody>
      </p:sp>
      <p:sp>
        <p:nvSpPr>
          <p:cNvPr id="229" name="Google Shape;229;p4"/>
          <p:cNvSpPr/>
          <p:nvPr/>
        </p:nvSpPr>
        <p:spPr>
          <a:xfrm>
            <a:off x="6336792" y="1508760"/>
            <a:ext cx="5440680" cy="5074920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"/>
          <p:cNvSpPr/>
          <p:nvPr/>
        </p:nvSpPr>
        <p:spPr>
          <a:xfrm>
            <a:off x="6336792" y="1508760"/>
            <a:ext cx="5440680" cy="384048"/>
          </a:xfrm>
          <a:prstGeom prst="rect">
            <a:avLst/>
          </a:prstGeom>
          <a:solidFill>
            <a:srgbClr val="E53E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4"/>
          <p:cNvSpPr txBox="1"/>
          <p:nvPr/>
        </p:nvSpPr>
        <p:spPr>
          <a:xfrm>
            <a:off x="6519672" y="1536192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⚠️  단점 / 주의사항</a:t>
            </a:r>
            <a:endParaRPr/>
          </a:p>
        </p:txBody>
      </p:sp>
      <p:sp>
        <p:nvSpPr>
          <p:cNvPr id="232" name="Google Shape;232;p4"/>
          <p:cNvSpPr/>
          <p:nvPr/>
        </p:nvSpPr>
        <p:spPr>
          <a:xfrm>
            <a:off x="6473952" y="2139696"/>
            <a:ext cx="91440" cy="91440"/>
          </a:xfrm>
          <a:prstGeom prst="rect">
            <a:avLst/>
          </a:prstGeom>
          <a:solidFill>
            <a:srgbClr val="E53E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4"/>
          <p:cNvSpPr txBox="1"/>
          <p:nvPr/>
        </p:nvSpPr>
        <p:spPr>
          <a:xfrm>
            <a:off x="6656832" y="202996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가파른 학습 곡선</a:t>
            </a:r>
            <a:endParaRPr/>
          </a:p>
        </p:txBody>
      </p:sp>
      <p:sp>
        <p:nvSpPr>
          <p:cNvPr id="234" name="Google Shape;234;p4"/>
          <p:cNvSpPr txBox="1"/>
          <p:nvPr/>
        </p:nvSpPr>
        <p:spPr>
          <a:xfrm>
            <a:off x="6656832" y="2304288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IoC·DI·AOP 개념 이해 없이 사용하면 위험</a:t>
            </a:r>
            <a:endParaRPr/>
          </a:p>
        </p:txBody>
      </p:sp>
      <p:sp>
        <p:nvSpPr>
          <p:cNvPr id="235" name="Google Shape;235;p4"/>
          <p:cNvSpPr/>
          <p:nvPr/>
        </p:nvSpPr>
        <p:spPr>
          <a:xfrm>
            <a:off x="6473952" y="2788920"/>
            <a:ext cx="91440" cy="91440"/>
          </a:xfrm>
          <a:prstGeom prst="rect">
            <a:avLst/>
          </a:prstGeom>
          <a:solidFill>
            <a:srgbClr val="E53E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4"/>
          <p:cNvSpPr txBox="1"/>
          <p:nvPr/>
        </p:nvSpPr>
        <p:spPr>
          <a:xfrm>
            <a:off x="6656832" y="26791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설정 복잡성</a:t>
            </a:r>
            <a:endParaRPr/>
          </a:p>
        </p:txBody>
      </p:sp>
      <p:sp>
        <p:nvSpPr>
          <p:cNvPr id="237" name="Google Shape;237;p4"/>
          <p:cNvSpPr txBox="1"/>
          <p:nvPr/>
        </p:nvSpPr>
        <p:spPr>
          <a:xfrm>
            <a:off x="6656832" y="2953512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프로젝트 규모 커질수록 설정 파일 복잡</a:t>
            </a:r>
            <a:endParaRPr/>
          </a:p>
        </p:txBody>
      </p:sp>
      <p:sp>
        <p:nvSpPr>
          <p:cNvPr id="238" name="Google Shape;238;p4"/>
          <p:cNvSpPr/>
          <p:nvPr/>
        </p:nvSpPr>
        <p:spPr>
          <a:xfrm>
            <a:off x="6473952" y="3438144"/>
            <a:ext cx="91440" cy="91440"/>
          </a:xfrm>
          <a:prstGeom prst="rect">
            <a:avLst/>
          </a:prstGeom>
          <a:solidFill>
            <a:srgbClr val="E53E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4"/>
          <p:cNvSpPr txBox="1"/>
          <p:nvPr/>
        </p:nvSpPr>
        <p:spPr>
          <a:xfrm>
            <a:off x="6656832" y="3328416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느린 기동 시간</a:t>
            </a:r>
            <a:endParaRPr/>
          </a:p>
        </p:txBody>
      </p:sp>
      <p:sp>
        <p:nvSpPr>
          <p:cNvPr id="240" name="Google Shape;240;p4"/>
          <p:cNvSpPr txBox="1"/>
          <p:nvPr/>
        </p:nvSpPr>
        <p:spPr>
          <a:xfrm>
            <a:off x="6656832" y="3602736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JVM + Bean 초기화로 콜드 스타트 느림</a:t>
            </a:r>
            <a:endParaRPr/>
          </a:p>
        </p:txBody>
      </p:sp>
      <p:sp>
        <p:nvSpPr>
          <p:cNvPr id="241" name="Google Shape;241;p4"/>
          <p:cNvSpPr/>
          <p:nvPr/>
        </p:nvSpPr>
        <p:spPr>
          <a:xfrm>
            <a:off x="6473952" y="4087368"/>
            <a:ext cx="91440" cy="91440"/>
          </a:xfrm>
          <a:prstGeom prst="rect">
            <a:avLst/>
          </a:prstGeom>
          <a:solidFill>
            <a:srgbClr val="E53E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4"/>
          <p:cNvSpPr txBox="1"/>
          <p:nvPr/>
        </p:nvSpPr>
        <p:spPr>
          <a:xfrm>
            <a:off x="6656832" y="3977639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과도한 추상화</a:t>
            </a:r>
            <a:endParaRPr/>
          </a:p>
        </p:txBody>
      </p:sp>
      <p:sp>
        <p:nvSpPr>
          <p:cNvPr id="243" name="Google Shape;243;p4"/>
          <p:cNvSpPr txBox="1"/>
          <p:nvPr/>
        </p:nvSpPr>
        <p:spPr>
          <a:xfrm>
            <a:off x="6656832" y="4251959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내부 동작 모르면 디버깅 난이도 급상승</a:t>
            </a:r>
            <a:endParaRPr/>
          </a:p>
        </p:txBody>
      </p:sp>
      <p:sp>
        <p:nvSpPr>
          <p:cNvPr id="244" name="Google Shape;244;p4"/>
          <p:cNvSpPr/>
          <p:nvPr/>
        </p:nvSpPr>
        <p:spPr>
          <a:xfrm>
            <a:off x="6473952" y="4736592"/>
            <a:ext cx="91440" cy="91440"/>
          </a:xfrm>
          <a:prstGeom prst="rect">
            <a:avLst/>
          </a:prstGeom>
          <a:solidFill>
            <a:srgbClr val="E53E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4"/>
          <p:cNvSpPr txBox="1"/>
          <p:nvPr/>
        </p:nvSpPr>
        <p:spPr>
          <a:xfrm>
            <a:off x="6656832" y="4626864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버전 호환성</a:t>
            </a:r>
            <a:endParaRPr/>
          </a:p>
        </p:txBody>
      </p:sp>
      <p:sp>
        <p:nvSpPr>
          <p:cNvPr id="246" name="Google Shape;246;p4"/>
          <p:cNvSpPr txBox="1"/>
          <p:nvPr/>
        </p:nvSpPr>
        <p:spPr>
          <a:xfrm>
            <a:off x="6656832" y="4901184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메이저 버전 업 시 마이그레이션 비용 발생</a:t>
            </a:r>
            <a:endParaRPr/>
          </a:p>
        </p:txBody>
      </p:sp>
      <p:sp>
        <p:nvSpPr>
          <p:cNvPr id="247" name="Google Shape;247;p4"/>
          <p:cNvSpPr/>
          <p:nvPr/>
        </p:nvSpPr>
        <p:spPr>
          <a:xfrm>
            <a:off x="6473952" y="5385816"/>
            <a:ext cx="91440" cy="91440"/>
          </a:xfrm>
          <a:prstGeom prst="rect">
            <a:avLst/>
          </a:prstGeom>
          <a:solidFill>
            <a:srgbClr val="E53E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4"/>
          <p:cNvSpPr txBox="1"/>
          <p:nvPr/>
        </p:nvSpPr>
        <p:spPr>
          <a:xfrm>
            <a:off x="6656832" y="527608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Java 전용</a:t>
            </a:r>
            <a:endParaRPr/>
          </a:p>
        </p:txBody>
      </p:sp>
      <p:sp>
        <p:nvSpPr>
          <p:cNvPr id="249" name="Google Shape;249;p4"/>
          <p:cNvSpPr txBox="1"/>
          <p:nvPr/>
        </p:nvSpPr>
        <p:spPr>
          <a:xfrm>
            <a:off x="6656832" y="5550407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언어가 Java/Kotlin으로 한정</a:t>
            </a:r>
            <a:endParaRPr/>
          </a:p>
        </p:txBody>
      </p:sp>
      <p:sp>
        <p:nvSpPr>
          <p:cNvPr id="250" name="Google Shape;250;p4"/>
          <p:cNvSpPr/>
          <p:nvPr/>
        </p:nvSpPr>
        <p:spPr>
          <a:xfrm>
            <a:off x="6473952" y="6035040"/>
            <a:ext cx="91440" cy="91440"/>
          </a:xfrm>
          <a:prstGeom prst="rect">
            <a:avLst/>
          </a:prstGeom>
          <a:solidFill>
            <a:srgbClr val="E53E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4"/>
          <p:cNvSpPr txBox="1"/>
          <p:nvPr/>
        </p:nvSpPr>
        <p:spPr>
          <a:xfrm>
            <a:off x="6656832" y="592531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메모리 사용량</a:t>
            </a:r>
            <a:endParaRPr/>
          </a:p>
        </p:txBody>
      </p:sp>
      <p:sp>
        <p:nvSpPr>
          <p:cNvPr id="252" name="Google Shape;252;p4"/>
          <p:cNvSpPr txBox="1"/>
          <p:nvPr/>
        </p:nvSpPr>
        <p:spPr>
          <a:xfrm>
            <a:off x="6656832" y="6199632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경량 서비스에는 다소 무거운 런타임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5"/>
          <p:cNvSpPr txBox="1"/>
          <p:nvPr/>
        </p:nvSpPr>
        <p:spPr>
          <a:xfrm>
            <a:off x="411480" y="594360"/>
            <a:ext cx="1143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03  Spring – 코드 예시</a:t>
            </a:r>
            <a:endParaRPr/>
          </a:p>
        </p:txBody>
      </p:sp>
      <p:sp>
        <p:nvSpPr>
          <p:cNvPr id="260" name="Google Shape;260;p5"/>
          <p:cNvSpPr/>
          <p:nvPr/>
        </p:nvSpPr>
        <p:spPr>
          <a:xfrm>
            <a:off x="411480" y="1261872"/>
            <a:ext cx="1136599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411480" y="1508760"/>
            <a:ext cx="5486400" cy="2450592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411480" y="1508760"/>
            <a:ext cx="5486400" cy="320040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5"/>
          <p:cNvSpPr txBox="1"/>
          <p:nvPr/>
        </p:nvSpPr>
        <p:spPr>
          <a:xfrm>
            <a:off x="576072" y="1545336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① 의존성 주입 (DI)</a:t>
            </a:r>
            <a:endParaRPr/>
          </a:p>
        </p:txBody>
      </p:sp>
      <p:sp>
        <p:nvSpPr>
          <p:cNvPr id="264" name="Google Shape;264;p5"/>
          <p:cNvSpPr txBox="1"/>
          <p:nvPr/>
        </p:nvSpPr>
        <p:spPr>
          <a:xfrm>
            <a:off x="576072" y="1856231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객체를 직접 생성하지 않고 Spring이 주입 → 테스트·교체 용이</a:t>
            </a:r>
            <a:endParaRPr/>
          </a:p>
        </p:txBody>
      </p:sp>
      <p:sp>
        <p:nvSpPr>
          <p:cNvPr id="265" name="Google Shape;265;p5"/>
          <p:cNvSpPr/>
          <p:nvPr/>
        </p:nvSpPr>
        <p:spPr>
          <a:xfrm>
            <a:off x="411480" y="2130552"/>
            <a:ext cx="5486400" cy="1828800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411480" y="2130552"/>
            <a:ext cx="5486400" cy="9144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5"/>
          <p:cNvSpPr txBox="1"/>
          <p:nvPr/>
        </p:nvSpPr>
        <p:spPr>
          <a:xfrm>
            <a:off x="576072" y="2240280"/>
            <a:ext cx="52120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// ❌ 기존: 직접 생성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UserRepository repo = new UserRepository();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CDD6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// ✅ Spring DI — 프레임워크가 주입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9DCEB"/>
                </a:solidFill>
                <a:latin typeface="Calibri"/>
                <a:ea typeface="Calibri"/>
                <a:cs typeface="Calibri"/>
                <a:sym typeface="Calibri"/>
              </a:rPr>
              <a:t>@Service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9DCEB"/>
                </a:solidFill>
                <a:latin typeface="Calibri"/>
                <a:ea typeface="Calibri"/>
                <a:cs typeface="Calibri"/>
                <a:sym typeface="Calibri"/>
              </a:rPr>
              <a:t>@RequiredArgsConstructor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public class UserService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private final UserRepository repo;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private final JwtService jwtService;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    // Spring이 알아서 주입!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268" name="Google Shape;268;p5"/>
          <p:cNvSpPr/>
          <p:nvPr/>
        </p:nvSpPr>
        <p:spPr>
          <a:xfrm>
            <a:off x="6291072" y="1508760"/>
            <a:ext cx="5486400" cy="2450592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6291072" y="1508760"/>
            <a:ext cx="5486400" cy="320040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5"/>
          <p:cNvSpPr txBox="1"/>
          <p:nvPr/>
        </p:nvSpPr>
        <p:spPr>
          <a:xfrm>
            <a:off x="6455664" y="1545336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② 선언적 트랜잭션 (@Transactional)</a:t>
            </a:r>
            <a:endParaRPr/>
          </a:p>
        </p:txBody>
      </p:sp>
      <p:sp>
        <p:nvSpPr>
          <p:cNvPr id="271" name="Google Shape;271;p5"/>
          <p:cNvSpPr txBox="1"/>
          <p:nvPr/>
        </p:nvSpPr>
        <p:spPr>
          <a:xfrm>
            <a:off x="6455664" y="1856231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try-catch·commit·rollback 없이 어노테이션 하나로 처리</a:t>
            </a:r>
            <a:endParaRPr/>
          </a:p>
        </p:txBody>
      </p:sp>
      <p:sp>
        <p:nvSpPr>
          <p:cNvPr id="272" name="Google Shape;272;p5"/>
          <p:cNvSpPr/>
          <p:nvPr/>
        </p:nvSpPr>
        <p:spPr>
          <a:xfrm>
            <a:off x="6291072" y="2130552"/>
            <a:ext cx="5486400" cy="1828800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5"/>
          <p:cNvSpPr/>
          <p:nvPr/>
        </p:nvSpPr>
        <p:spPr>
          <a:xfrm>
            <a:off x="6291072" y="2130552"/>
            <a:ext cx="5486400" cy="9144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5"/>
          <p:cNvSpPr txBox="1"/>
          <p:nvPr/>
        </p:nvSpPr>
        <p:spPr>
          <a:xfrm>
            <a:off x="6455664" y="2240280"/>
            <a:ext cx="52120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// DB 오류 시 자동 rollback!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9DCEB"/>
                </a:solidFill>
                <a:latin typeface="Calibri"/>
                <a:ea typeface="Calibri"/>
                <a:cs typeface="Calibri"/>
                <a:sym typeface="Calibri"/>
              </a:rPr>
              <a:t>@Transactional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public String loginOrRegister(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  String provider, OAuthUserInfo info)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User user = userRepository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  .findByProviderAndProviderId(...)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  .orElseGet(() -&gt; userRepository.save(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      new User(...)));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return jwtService.issue(user.getId(), provider);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275" name="Google Shape;275;p5"/>
          <p:cNvSpPr/>
          <p:nvPr/>
        </p:nvSpPr>
        <p:spPr>
          <a:xfrm>
            <a:off x="411480" y="4114800"/>
            <a:ext cx="5486400" cy="2487168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411480" y="4114800"/>
            <a:ext cx="5486400" cy="320040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5"/>
          <p:cNvSpPr txBox="1"/>
          <p:nvPr/>
        </p:nvSpPr>
        <p:spPr>
          <a:xfrm>
            <a:off x="576072" y="4151376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③ JPA — 메서드 이름으로 SQL 자동 생성</a:t>
            </a:r>
            <a:endParaRPr/>
          </a:p>
        </p:txBody>
      </p:sp>
      <p:sp>
        <p:nvSpPr>
          <p:cNvPr id="278" name="Google Shape;278;p5"/>
          <p:cNvSpPr txBox="1"/>
          <p:nvPr/>
        </p:nvSpPr>
        <p:spPr>
          <a:xfrm>
            <a:off x="576072" y="4462272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SQL 직접 작성 불필요 — 메서드 이름 규칙만으로 쿼리 생성</a:t>
            </a:r>
            <a:endParaRPr/>
          </a:p>
        </p:txBody>
      </p:sp>
      <p:sp>
        <p:nvSpPr>
          <p:cNvPr id="279" name="Google Shape;279;p5"/>
          <p:cNvSpPr/>
          <p:nvPr/>
        </p:nvSpPr>
        <p:spPr>
          <a:xfrm>
            <a:off x="411480" y="4736592"/>
            <a:ext cx="5486400" cy="1865376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5"/>
          <p:cNvSpPr/>
          <p:nvPr/>
        </p:nvSpPr>
        <p:spPr>
          <a:xfrm>
            <a:off x="411480" y="4736592"/>
            <a:ext cx="5486400" cy="9144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5"/>
          <p:cNvSpPr txBox="1"/>
          <p:nvPr/>
        </p:nvSpPr>
        <p:spPr>
          <a:xfrm>
            <a:off x="576072" y="4846320"/>
            <a:ext cx="5212080" cy="1682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public interface UserRepository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  extends JpaRepository&lt;User, Long&gt;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CDD6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    // 이름만으로 SQL 자동 생성!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Optional&lt;User&gt; findByProviderAndProviderId(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  String provider, String providerId);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    // → SELECT * FROM users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    //   WHERE provider=? AND provider_id=?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282" name="Google Shape;282;p5"/>
          <p:cNvSpPr/>
          <p:nvPr/>
        </p:nvSpPr>
        <p:spPr>
          <a:xfrm>
            <a:off x="6291072" y="4114800"/>
            <a:ext cx="5486400" cy="2487168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5"/>
          <p:cNvSpPr/>
          <p:nvPr/>
        </p:nvSpPr>
        <p:spPr>
          <a:xfrm>
            <a:off x="6291072" y="4114800"/>
            <a:ext cx="5486400" cy="320040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5"/>
          <p:cNvSpPr txBox="1"/>
          <p:nvPr/>
        </p:nvSpPr>
        <p:spPr>
          <a:xfrm>
            <a:off x="6455664" y="4151376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④ REST API (Spring MVC)</a:t>
            </a:r>
            <a:endParaRPr/>
          </a:p>
        </p:txBody>
      </p:sp>
      <p:sp>
        <p:nvSpPr>
          <p:cNvPr id="285" name="Google Shape;285;p5"/>
          <p:cNvSpPr txBox="1"/>
          <p:nvPr/>
        </p:nvSpPr>
        <p:spPr>
          <a:xfrm>
            <a:off x="6455664" y="4462272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어노테이션으로 URL·HTTP 메서드·응답 형식을 선언적으로 정의</a:t>
            </a:r>
            <a:endParaRPr/>
          </a:p>
        </p:txBody>
      </p:sp>
      <p:sp>
        <p:nvSpPr>
          <p:cNvPr id="286" name="Google Shape;286;p5"/>
          <p:cNvSpPr/>
          <p:nvPr/>
        </p:nvSpPr>
        <p:spPr>
          <a:xfrm>
            <a:off x="6291072" y="4736592"/>
            <a:ext cx="5486400" cy="1865376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5"/>
          <p:cNvSpPr/>
          <p:nvPr/>
        </p:nvSpPr>
        <p:spPr>
          <a:xfrm>
            <a:off x="6291072" y="4736592"/>
            <a:ext cx="5486400" cy="9144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5"/>
          <p:cNvSpPr txBox="1"/>
          <p:nvPr/>
        </p:nvSpPr>
        <p:spPr>
          <a:xfrm>
            <a:off x="6455664" y="4846320"/>
            <a:ext cx="5212080" cy="1682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9DCEB"/>
                </a:solidFill>
                <a:latin typeface="Calibri"/>
                <a:ea typeface="Calibri"/>
                <a:cs typeface="Calibri"/>
                <a:sym typeface="Calibri"/>
              </a:rPr>
              <a:t>@RestController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9DCEB"/>
                </a:solidFill>
                <a:latin typeface="Calibri"/>
                <a:ea typeface="Calibri"/>
                <a:cs typeface="Calibri"/>
                <a:sym typeface="Calibri"/>
              </a:rPr>
              <a:t>@RequestMapping("/api/users")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public class UserController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CDD6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9DCEB"/>
                </a:solidFill>
                <a:latin typeface="Calibri"/>
                <a:ea typeface="Calibri"/>
                <a:cs typeface="Calibri"/>
                <a:sym typeface="Calibri"/>
              </a:rPr>
              <a:t>    @GetMapping("/me")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public UserProfileResponse getMe(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      @RequestHeader("X-User-Id") Long userId)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  return userService.getProfile(userId);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6"/>
          <p:cNvSpPr txBox="1"/>
          <p:nvPr/>
        </p:nvSpPr>
        <p:spPr>
          <a:xfrm>
            <a:off x="411480" y="594360"/>
            <a:ext cx="1143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04  Spring ↔ LG CNS MDD 비교</a:t>
            </a:r>
            <a:endParaRPr/>
          </a:p>
        </p:txBody>
      </p:sp>
      <p:sp>
        <p:nvSpPr>
          <p:cNvPr id="296" name="Google Shape;296;p6"/>
          <p:cNvSpPr/>
          <p:nvPr/>
        </p:nvSpPr>
        <p:spPr>
          <a:xfrm>
            <a:off x="411480" y="1261872"/>
            <a:ext cx="1136599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411480" y="1508760"/>
            <a:ext cx="2103120" cy="1115568"/>
          </a:xfrm>
          <a:prstGeom prst="rect">
            <a:avLst/>
          </a:prstGeom>
          <a:solidFill>
            <a:srgbClr val="FFFBE6"/>
          </a:solidFill>
          <a:ln cap="flat" cmpd="sng" w="19050">
            <a:solidFill>
              <a:srgbClr val="FFD6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6"/>
          <p:cNvSpPr txBox="1"/>
          <p:nvPr/>
        </p:nvSpPr>
        <p:spPr>
          <a:xfrm>
            <a:off x="502920" y="1801368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관심사 분리</a:t>
            </a:r>
            <a:endParaRPr/>
          </a:p>
        </p:txBody>
      </p:sp>
      <p:sp>
        <p:nvSpPr>
          <p:cNvPr id="299" name="Google Shape;299;p6"/>
          <p:cNvSpPr txBox="1"/>
          <p:nvPr/>
        </p:nvSpPr>
        <p:spPr>
          <a:xfrm>
            <a:off x="2578608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↔</a:t>
            </a:r>
            <a:endParaRPr/>
          </a:p>
        </p:txBody>
      </p:sp>
      <p:sp>
        <p:nvSpPr>
          <p:cNvPr id="300" name="Google Shape;300;p6"/>
          <p:cNvSpPr/>
          <p:nvPr/>
        </p:nvSpPr>
        <p:spPr>
          <a:xfrm>
            <a:off x="2971800" y="1508760"/>
            <a:ext cx="4206240" cy="1115568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2971800" y="1508760"/>
            <a:ext cx="4206240" cy="292608"/>
          </a:xfrm>
          <a:prstGeom prst="rect">
            <a:avLst/>
          </a:prstGeom>
          <a:solidFill>
            <a:srgbClr val="8B601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6"/>
          <p:cNvSpPr txBox="1"/>
          <p:nvPr/>
        </p:nvSpPr>
        <p:spPr>
          <a:xfrm>
            <a:off x="3127248" y="1554480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LG CNS MDD</a:t>
            </a:r>
            <a:endParaRPr/>
          </a:p>
        </p:txBody>
      </p:sp>
      <p:sp>
        <p:nvSpPr>
          <p:cNvPr id="303" name="Google Shape;303;p6"/>
          <p:cNvSpPr txBox="1"/>
          <p:nvPr/>
        </p:nvSpPr>
        <p:spPr>
          <a:xfrm>
            <a:off x="3127248" y="1874519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모델·뷰·제어 레이어를</a:t>
            </a:r>
            <a:b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명확히 분리하여 모델링</a:t>
            </a:r>
            <a:endParaRPr/>
          </a:p>
        </p:txBody>
      </p:sp>
      <p:sp>
        <p:nvSpPr>
          <p:cNvPr id="304" name="Google Shape;304;p6"/>
          <p:cNvSpPr/>
          <p:nvPr/>
        </p:nvSpPr>
        <p:spPr>
          <a:xfrm>
            <a:off x="7406640" y="1508760"/>
            <a:ext cx="4370832" cy="1115568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7406640" y="1508760"/>
            <a:ext cx="4370832" cy="292608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6"/>
          <p:cNvSpPr txBox="1"/>
          <p:nvPr/>
        </p:nvSpPr>
        <p:spPr>
          <a:xfrm>
            <a:off x="7562088" y="1554480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Spring</a:t>
            </a:r>
            <a:endParaRPr/>
          </a:p>
        </p:txBody>
      </p:sp>
      <p:sp>
        <p:nvSpPr>
          <p:cNvPr id="307" name="Google Shape;307;p6"/>
          <p:cNvSpPr txBox="1"/>
          <p:nvPr/>
        </p:nvSpPr>
        <p:spPr>
          <a:xfrm>
            <a:off x="7562088" y="1874519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MVC: Controller·Service·</a:t>
            </a:r>
            <a:b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Repository 계층 강제 분리</a:t>
            </a:r>
            <a:endParaRPr/>
          </a:p>
        </p:txBody>
      </p:sp>
      <p:sp>
        <p:nvSpPr>
          <p:cNvPr id="308" name="Google Shape;308;p6"/>
          <p:cNvSpPr/>
          <p:nvPr/>
        </p:nvSpPr>
        <p:spPr>
          <a:xfrm>
            <a:off x="411480" y="2770632"/>
            <a:ext cx="2103120" cy="1115568"/>
          </a:xfrm>
          <a:prstGeom prst="rect">
            <a:avLst/>
          </a:prstGeom>
          <a:solidFill>
            <a:srgbClr val="FFFBE6"/>
          </a:solidFill>
          <a:ln cap="flat" cmpd="sng" w="19050">
            <a:solidFill>
              <a:srgbClr val="FFD6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6"/>
          <p:cNvSpPr txBox="1"/>
          <p:nvPr/>
        </p:nvSpPr>
        <p:spPr>
          <a:xfrm>
            <a:off x="502920" y="3063239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반복 코드 자동화</a:t>
            </a:r>
            <a:endParaRPr/>
          </a:p>
        </p:txBody>
      </p:sp>
      <p:sp>
        <p:nvSpPr>
          <p:cNvPr id="310" name="Google Shape;310;p6"/>
          <p:cNvSpPr txBox="1"/>
          <p:nvPr/>
        </p:nvSpPr>
        <p:spPr>
          <a:xfrm>
            <a:off x="2578608" y="30906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↔</a:t>
            </a:r>
            <a:endParaRPr/>
          </a:p>
        </p:txBody>
      </p:sp>
      <p:sp>
        <p:nvSpPr>
          <p:cNvPr id="311" name="Google Shape;311;p6"/>
          <p:cNvSpPr/>
          <p:nvPr/>
        </p:nvSpPr>
        <p:spPr>
          <a:xfrm>
            <a:off x="2971800" y="2770632"/>
            <a:ext cx="4206240" cy="1115568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6"/>
          <p:cNvSpPr/>
          <p:nvPr/>
        </p:nvSpPr>
        <p:spPr>
          <a:xfrm>
            <a:off x="2971800" y="2770632"/>
            <a:ext cx="4206240" cy="292608"/>
          </a:xfrm>
          <a:prstGeom prst="rect">
            <a:avLst/>
          </a:prstGeom>
          <a:solidFill>
            <a:srgbClr val="8B601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6"/>
          <p:cNvSpPr txBox="1"/>
          <p:nvPr/>
        </p:nvSpPr>
        <p:spPr>
          <a:xfrm>
            <a:off x="3127248" y="2816351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LG CNS MDD</a:t>
            </a:r>
            <a:endParaRPr/>
          </a:p>
        </p:txBody>
      </p:sp>
      <p:sp>
        <p:nvSpPr>
          <p:cNvPr id="314" name="Google Shape;314;p6"/>
          <p:cNvSpPr txBox="1"/>
          <p:nvPr/>
        </p:nvSpPr>
        <p:spPr>
          <a:xfrm>
            <a:off x="3127248" y="3136391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모델 정의만으로 CRUD·SQL</a:t>
            </a:r>
            <a:b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코드 자동 생성</a:t>
            </a:r>
            <a:endParaRPr/>
          </a:p>
        </p:txBody>
      </p:sp>
      <p:sp>
        <p:nvSpPr>
          <p:cNvPr id="315" name="Google Shape;315;p6"/>
          <p:cNvSpPr/>
          <p:nvPr/>
        </p:nvSpPr>
        <p:spPr>
          <a:xfrm>
            <a:off x="7406640" y="2770632"/>
            <a:ext cx="4370832" cy="1115568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7406640" y="2770632"/>
            <a:ext cx="4370832" cy="292608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6"/>
          <p:cNvSpPr txBox="1"/>
          <p:nvPr/>
        </p:nvSpPr>
        <p:spPr>
          <a:xfrm>
            <a:off x="7562088" y="2816351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Spring</a:t>
            </a:r>
            <a:endParaRPr/>
          </a:p>
        </p:txBody>
      </p:sp>
      <p:sp>
        <p:nvSpPr>
          <p:cNvPr id="318" name="Google Shape;318;p6"/>
          <p:cNvSpPr txBox="1"/>
          <p:nvPr/>
        </p:nvSpPr>
        <p:spPr>
          <a:xfrm>
            <a:off x="7562088" y="3136391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Spring Data JPA 메서드 이름으로</a:t>
            </a:r>
            <a:b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SQL 쿼리 자동 생성</a:t>
            </a:r>
            <a:endParaRPr/>
          </a:p>
        </p:txBody>
      </p:sp>
      <p:sp>
        <p:nvSpPr>
          <p:cNvPr id="319" name="Google Shape;319;p6"/>
          <p:cNvSpPr/>
          <p:nvPr/>
        </p:nvSpPr>
        <p:spPr>
          <a:xfrm>
            <a:off x="411480" y="4032504"/>
            <a:ext cx="2103120" cy="1115568"/>
          </a:xfrm>
          <a:prstGeom prst="rect">
            <a:avLst/>
          </a:prstGeom>
          <a:solidFill>
            <a:srgbClr val="FFFBE6"/>
          </a:solidFill>
          <a:ln cap="flat" cmpd="sng" w="19050">
            <a:solidFill>
              <a:srgbClr val="FFD6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6"/>
          <p:cNvSpPr txBox="1"/>
          <p:nvPr/>
        </p:nvSpPr>
        <p:spPr>
          <a:xfrm>
            <a:off x="502920" y="4325112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선언적 프로그래밍</a:t>
            </a:r>
            <a:endParaRPr/>
          </a:p>
        </p:txBody>
      </p:sp>
      <p:sp>
        <p:nvSpPr>
          <p:cNvPr id="321" name="Google Shape;321;p6"/>
          <p:cNvSpPr txBox="1"/>
          <p:nvPr/>
        </p:nvSpPr>
        <p:spPr>
          <a:xfrm>
            <a:off x="2578608" y="435254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↔</a:t>
            </a:r>
            <a:endParaRPr/>
          </a:p>
        </p:txBody>
      </p:sp>
      <p:sp>
        <p:nvSpPr>
          <p:cNvPr id="322" name="Google Shape;322;p6"/>
          <p:cNvSpPr/>
          <p:nvPr/>
        </p:nvSpPr>
        <p:spPr>
          <a:xfrm>
            <a:off x="2971800" y="4032504"/>
            <a:ext cx="4206240" cy="1115568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6"/>
          <p:cNvSpPr/>
          <p:nvPr/>
        </p:nvSpPr>
        <p:spPr>
          <a:xfrm>
            <a:off x="2971800" y="4032504"/>
            <a:ext cx="4206240" cy="292608"/>
          </a:xfrm>
          <a:prstGeom prst="rect">
            <a:avLst/>
          </a:prstGeom>
          <a:solidFill>
            <a:srgbClr val="8B601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6"/>
          <p:cNvSpPr txBox="1"/>
          <p:nvPr/>
        </p:nvSpPr>
        <p:spPr>
          <a:xfrm>
            <a:off x="3127248" y="4078224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LG CNS MDD</a:t>
            </a:r>
            <a:endParaRPr/>
          </a:p>
        </p:txBody>
      </p:sp>
      <p:sp>
        <p:nvSpPr>
          <p:cNvPr id="325" name="Google Shape;325;p6"/>
          <p:cNvSpPr txBox="1"/>
          <p:nvPr/>
        </p:nvSpPr>
        <p:spPr>
          <a:xfrm>
            <a:off x="3127248" y="4398264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로직을 직접 코딩 없이</a:t>
            </a:r>
            <a:b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모델(선언)로 의도 표현</a:t>
            </a:r>
            <a:endParaRPr/>
          </a:p>
        </p:txBody>
      </p:sp>
      <p:sp>
        <p:nvSpPr>
          <p:cNvPr id="326" name="Google Shape;326;p6"/>
          <p:cNvSpPr/>
          <p:nvPr/>
        </p:nvSpPr>
        <p:spPr>
          <a:xfrm>
            <a:off x="7406640" y="4032504"/>
            <a:ext cx="4370832" cy="1115568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6"/>
          <p:cNvSpPr/>
          <p:nvPr/>
        </p:nvSpPr>
        <p:spPr>
          <a:xfrm>
            <a:off x="7406640" y="4032504"/>
            <a:ext cx="4370832" cy="292608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"/>
          <p:cNvSpPr txBox="1"/>
          <p:nvPr/>
        </p:nvSpPr>
        <p:spPr>
          <a:xfrm>
            <a:off x="7562088" y="4078224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Spring</a:t>
            </a:r>
            <a:endParaRPr/>
          </a:p>
        </p:txBody>
      </p:sp>
      <p:sp>
        <p:nvSpPr>
          <p:cNvPr id="329" name="Google Shape;329;p6"/>
          <p:cNvSpPr txBox="1"/>
          <p:nvPr/>
        </p:nvSpPr>
        <p:spPr>
          <a:xfrm>
            <a:off x="7562088" y="4398264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@Transactional·@Scheduled 등</a:t>
            </a:r>
            <a:b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어노테이션으로 의도 선언</a:t>
            </a:r>
            <a:endParaRPr/>
          </a:p>
        </p:txBody>
      </p:sp>
      <p:sp>
        <p:nvSpPr>
          <p:cNvPr id="330" name="Google Shape;330;p6"/>
          <p:cNvSpPr/>
          <p:nvPr/>
        </p:nvSpPr>
        <p:spPr>
          <a:xfrm>
            <a:off x="411480" y="5294375"/>
            <a:ext cx="2103120" cy="1115568"/>
          </a:xfrm>
          <a:prstGeom prst="rect">
            <a:avLst/>
          </a:prstGeom>
          <a:solidFill>
            <a:srgbClr val="FFFBE6"/>
          </a:solidFill>
          <a:ln cap="flat" cmpd="sng" w="19050">
            <a:solidFill>
              <a:srgbClr val="FFD6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6"/>
          <p:cNvSpPr txBox="1"/>
          <p:nvPr/>
        </p:nvSpPr>
        <p:spPr>
          <a:xfrm>
            <a:off x="502920" y="5586983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표준화된 구조</a:t>
            </a:r>
            <a:endParaRPr/>
          </a:p>
        </p:txBody>
      </p:sp>
      <p:sp>
        <p:nvSpPr>
          <p:cNvPr id="332" name="Google Shape;332;p6"/>
          <p:cNvSpPr txBox="1"/>
          <p:nvPr/>
        </p:nvSpPr>
        <p:spPr>
          <a:xfrm>
            <a:off x="2578608" y="561441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↔</a:t>
            </a:r>
            <a:endParaRPr/>
          </a:p>
        </p:txBody>
      </p:sp>
      <p:sp>
        <p:nvSpPr>
          <p:cNvPr id="333" name="Google Shape;333;p6"/>
          <p:cNvSpPr/>
          <p:nvPr/>
        </p:nvSpPr>
        <p:spPr>
          <a:xfrm>
            <a:off x="2971800" y="5294375"/>
            <a:ext cx="4206240" cy="1115568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6"/>
          <p:cNvSpPr/>
          <p:nvPr/>
        </p:nvSpPr>
        <p:spPr>
          <a:xfrm>
            <a:off x="2971800" y="5294375"/>
            <a:ext cx="4206240" cy="292608"/>
          </a:xfrm>
          <a:prstGeom prst="rect">
            <a:avLst/>
          </a:prstGeom>
          <a:solidFill>
            <a:srgbClr val="8B601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6"/>
          <p:cNvSpPr txBox="1"/>
          <p:nvPr/>
        </p:nvSpPr>
        <p:spPr>
          <a:xfrm>
            <a:off x="3127248" y="5340095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LG CNS MDD</a:t>
            </a:r>
            <a:endParaRPr/>
          </a:p>
        </p:txBody>
      </p:sp>
      <p:sp>
        <p:nvSpPr>
          <p:cNvPr id="336" name="Google Shape;336;p6"/>
          <p:cNvSpPr txBox="1"/>
          <p:nvPr/>
        </p:nvSpPr>
        <p:spPr>
          <a:xfrm>
            <a:off x="3127248" y="5660136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정해진 메타모델·템플릿 기반</a:t>
            </a:r>
            <a:b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일관된 코드 구조 강제</a:t>
            </a:r>
            <a:endParaRPr/>
          </a:p>
        </p:txBody>
      </p:sp>
      <p:sp>
        <p:nvSpPr>
          <p:cNvPr id="337" name="Google Shape;337;p6"/>
          <p:cNvSpPr/>
          <p:nvPr/>
        </p:nvSpPr>
        <p:spPr>
          <a:xfrm>
            <a:off x="7406640" y="5294375"/>
            <a:ext cx="4370832" cy="1115568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6"/>
          <p:cNvSpPr/>
          <p:nvPr/>
        </p:nvSpPr>
        <p:spPr>
          <a:xfrm>
            <a:off x="7406640" y="5294375"/>
            <a:ext cx="4370832" cy="292608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6"/>
          <p:cNvSpPr txBox="1"/>
          <p:nvPr/>
        </p:nvSpPr>
        <p:spPr>
          <a:xfrm>
            <a:off x="7562088" y="5340095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Spring</a:t>
            </a:r>
            <a:endParaRPr/>
          </a:p>
        </p:txBody>
      </p:sp>
      <p:sp>
        <p:nvSpPr>
          <p:cNvPr id="340" name="Google Shape;340;p6"/>
          <p:cNvSpPr txBox="1"/>
          <p:nvPr/>
        </p:nvSpPr>
        <p:spPr>
          <a:xfrm>
            <a:off x="7562088" y="5660136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어노테이션 기반 표준 패턴으로</a:t>
            </a:r>
            <a:b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팀 전체 일관된 코드 유지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7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7"/>
          <p:cNvSpPr txBox="1"/>
          <p:nvPr/>
        </p:nvSpPr>
        <p:spPr>
          <a:xfrm>
            <a:off x="411480" y="594360"/>
            <a:ext cx="1143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05  React 개요</a:t>
            </a:r>
            <a:endParaRPr/>
          </a:p>
        </p:txBody>
      </p:sp>
      <p:sp>
        <p:nvSpPr>
          <p:cNvPr id="348" name="Google Shape;348;p7"/>
          <p:cNvSpPr/>
          <p:nvPr/>
        </p:nvSpPr>
        <p:spPr>
          <a:xfrm>
            <a:off x="411480" y="1261872"/>
            <a:ext cx="1136599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7"/>
          <p:cNvSpPr/>
          <p:nvPr/>
        </p:nvSpPr>
        <p:spPr>
          <a:xfrm>
            <a:off x="411480" y="1508760"/>
            <a:ext cx="11365992" cy="749808"/>
          </a:xfrm>
          <a:prstGeom prst="rect">
            <a:avLst/>
          </a:prstGeom>
          <a:solidFill>
            <a:srgbClr val="FFFBE6"/>
          </a:solidFill>
          <a:ln cap="flat" cmpd="sng" w="19050">
            <a:solidFill>
              <a:srgbClr val="FFD6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7"/>
          <p:cNvSpPr txBox="1"/>
          <p:nvPr/>
        </p:nvSpPr>
        <p:spPr>
          <a:xfrm>
            <a:off x="566928" y="1545336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"React는 2013년 Facebook(Meta)이 공개한 JavaScript UI 라이브러리입니다. "무엇을 보여줄지"만 선언하면 React가 DOM 변경을 알아서 처리합니다.</a:t>
            </a:r>
            <a:br>
              <a:rPr b="0" i="1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Next.js는 React 위에 서버 렌더링·라우팅 등을 추가한 프레임워크입니다."</a:t>
            </a:r>
            <a:endParaRPr/>
          </a:p>
        </p:txBody>
      </p:sp>
      <p:sp>
        <p:nvSpPr>
          <p:cNvPr id="351" name="Google Shape;351;p7"/>
          <p:cNvSpPr/>
          <p:nvPr/>
        </p:nvSpPr>
        <p:spPr>
          <a:xfrm>
            <a:off x="411480" y="2395728"/>
            <a:ext cx="2816352" cy="4206240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7"/>
          <p:cNvSpPr/>
          <p:nvPr/>
        </p:nvSpPr>
        <p:spPr>
          <a:xfrm>
            <a:off x="411480" y="2395728"/>
            <a:ext cx="2816352" cy="384048"/>
          </a:xfrm>
          <a:prstGeom prst="rect">
            <a:avLst/>
          </a:prstGeom>
          <a:solidFill>
            <a:srgbClr val="007E8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7"/>
          <p:cNvSpPr/>
          <p:nvPr/>
        </p:nvSpPr>
        <p:spPr>
          <a:xfrm>
            <a:off x="411480" y="2395728"/>
            <a:ext cx="109728" cy="384048"/>
          </a:xfrm>
          <a:prstGeom prst="rect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7"/>
          <p:cNvSpPr txBox="1"/>
          <p:nvPr/>
        </p:nvSpPr>
        <p:spPr>
          <a:xfrm>
            <a:off x="612648" y="2423160"/>
            <a:ext cx="2542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핵심 개념</a:t>
            </a:r>
            <a:endParaRPr/>
          </a:p>
        </p:txBody>
      </p:sp>
      <p:sp>
        <p:nvSpPr>
          <p:cNvPr id="355" name="Google Shape;355;p7"/>
          <p:cNvSpPr txBox="1"/>
          <p:nvPr/>
        </p:nvSpPr>
        <p:spPr>
          <a:xfrm>
            <a:off x="548640" y="2889504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컴포넌트 (Component)</a:t>
            </a:r>
            <a:endParaRPr/>
          </a:p>
        </p:txBody>
      </p:sp>
      <p:sp>
        <p:nvSpPr>
          <p:cNvPr id="356" name="Google Shape;356;p7"/>
          <p:cNvSpPr txBox="1"/>
          <p:nvPr/>
        </p:nvSpPr>
        <p:spPr>
          <a:xfrm>
            <a:off x="548640" y="3374136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UI를 재사용 가능한 독립 조각으로 분리</a:t>
            </a:r>
            <a:endParaRPr/>
          </a:p>
        </p:txBody>
      </p:sp>
      <p:sp>
        <p:nvSpPr>
          <p:cNvPr id="357" name="Google Shape;357;p7"/>
          <p:cNvSpPr txBox="1"/>
          <p:nvPr/>
        </p:nvSpPr>
        <p:spPr>
          <a:xfrm>
            <a:off x="548640" y="3858768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JSX</a:t>
            </a:r>
            <a:endParaRPr/>
          </a:p>
        </p:txBody>
      </p:sp>
      <p:sp>
        <p:nvSpPr>
          <p:cNvPr id="358" name="Google Shape;358;p7"/>
          <p:cNvSpPr txBox="1"/>
          <p:nvPr/>
        </p:nvSpPr>
        <p:spPr>
          <a:xfrm>
            <a:off x="548640" y="434340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JS 안에 HTML을 직접 작성하는 문법</a:t>
            </a:r>
            <a:endParaRPr/>
          </a:p>
        </p:txBody>
      </p:sp>
      <p:sp>
        <p:nvSpPr>
          <p:cNvPr id="359" name="Google Shape;359;p7"/>
          <p:cNvSpPr txBox="1"/>
          <p:nvPr/>
        </p:nvSpPr>
        <p:spPr>
          <a:xfrm>
            <a:off x="548640" y="4828032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가상 DOM (Virtual DOM)</a:t>
            </a:r>
            <a:endParaRPr/>
          </a:p>
        </p:txBody>
      </p:sp>
      <p:sp>
        <p:nvSpPr>
          <p:cNvPr id="360" name="Google Shape;360;p7"/>
          <p:cNvSpPr txBox="1"/>
          <p:nvPr/>
        </p:nvSpPr>
        <p:spPr>
          <a:xfrm>
            <a:off x="548640" y="5312664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변경된 부분만 실제 DOM에 반영 → 성능 향상</a:t>
            </a:r>
            <a:endParaRPr/>
          </a:p>
        </p:txBody>
      </p:sp>
      <p:sp>
        <p:nvSpPr>
          <p:cNvPr id="361" name="Google Shape;361;p7"/>
          <p:cNvSpPr txBox="1"/>
          <p:nvPr/>
        </p:nvSpPr>
        <p:spPr>
          <a:xfrm>
            <a:off x="548640" y="5797296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단방향 데이터 흐름</a:t>
            </a:r>
            <a:endParaRPr/>
          </a:p>
        </p:txBody>
      </p:sp>
      <p:sp>
        <p:nvSpPr>
          <p:cNvPr id="362" name="Google Shape;362;p7"/>
          <p:cNvSpPr txBox="1"/>
          <p:nvPr/>
        </p:nvSpPr>
        <p:spPr>
          <a:xfrm>
            <a:off x="548640" y="6281928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부모 → 자식으로만 데이터 전달 (props)</a:t>
            </a:r>
            <a:endParaRPr/>
          </a:p>
        </p:txBody>
      </p:sp>
      <p:sp>
        <p:nvSpPr>
          <p:cNvPr id="363" name="Google Shape;363;p7"/>
          <p:cNvSpPr/>
          <p:nvPr/>
        </p:nvSpPr>
        <p:spPr>
          <a:xfrm>
            <a:off x="3364992" y="2395728"/>
            <a:ext cx="2816352" cy="4206240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7"/>
          <p:cNvSpPr/>
          <p:nvPr/>
        </p:nvSpPr>
        <p:spPr>
          <a:xfrm>
            <a:off x="3364992" y="2395728"/>
            <a:ext cx="2816352" cy="384048"/>
          </a:xfrm>
          <a:prstGeom prst="rect">
            <a:avLst/>
          </a:prstGeom>
          <a:solidFill>
            <a:srgbClr val="007E8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7"/>
          <p:cNvSpPr/>
          <p:nvPr/>
        </p:nvSpPr>
        <p:spPr>
          <a:xfrm>
            <a:off x="3364992" y="2395728"/>
            <a:ext cx="109728" cy="384048"/>
          </a:xfrm>
          <a:prstGeom prst="rect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7"/>
          <p:cNvSpPr txBox="1"/>
          <p:nvPr/>
        </p:nvSpPr>
        <p:spPr>
          <a:xfrm>
            <a:off x="3566160" y="2423160"/>
            <a:ext cx="2542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주요 Hook</a:t>
            </a:r>
            <a:endParaRPr/>
          </a:p>
        </p:txBody>
      </p:sp>
      <p:sp>
        <p:nvSpPr>
          <p:cNvPr id="367" name="Google Shape;367;p7"/>
          <p:cNvSpPr txBox="1"/>
          <p:nvPr/>
        </p:nvSpPr>
        <p:spPr>
          <a:xfrm>
            <a:off x="3502152" y="2889504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useState</a:t>
            </a:r>
            <a:endParaRPr/>
          </a:p>
        </p:txBody>
      </p:sp>
      <p:sp>
        <p:nvSpPr>
          <p:cNvPr id="368" name="Google Shape;368;p7"/>
          <p:cNvSpPr txBox="1"/>
          <p:nvPr/>
        </p:nvSpPr>
        <p:spPr>
          <a:xfrm>
            <a:off x="3502152" y="3374136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컴포넌트 내 상태(state) 관리</a:t>
            </a:r>
            <a:endParaRPr/>
          </a:p>
        </p:txBody>
      </p:sp>
      <p:sp>
        <p:nvSpPr>
          <p:cNvPr id="369" name="Google Shape;369;p7"/>
          <p:cNvSpPr txBox="1"/>
          <p:nvPr/>
        </p:nvSpPr>
        <p:spPr>
          <a:xfrm>
            <a:off x="3502152" y="3858768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useEffect</a:t>
            </a:r>
            <a:endParaRPr/>
          </a:p>
        </p:txBody>
      </p:sp>
      <p:sp>
        <p:nvSpPr>
          <p:cNvPr id="370" name="Google Shape;370;p7"/>
          <p:cNvSpPr txBox="1"/>
          <p:nvPr/>
        </p:nvSpPr>
        <p:spPr>
          <a:xfrm>
            <a:off x="3502152" y="434340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데이터 패칭·이벤트 등 사이드 이펙트 처리</a:t>
            </a:r>
            <a:endParaRPr/>
          </a:p>
        </p:txBody>
      </p:sp>
      <p:sp>
        <p:nvSpPr>
          <p:cNvPr id="371" name="Google Shape;371;p7"/>
          <p:cNvSpPr txBox="1"/>
          <p:nvPr/>
        </p:nvSpPr>
        <p:spPr>
          <a:xfrm>
            <a:off x="3502152" y="4828032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useCallback / useMemo</a:t>
            </a:r>
            <a:endParaRPr/>
          </a:p>
        </p:txBody>
      </p:sp>
      <p:sp>
        <p:nvSpPr>
          <p:cNvPr id="372" name="Google Shape;372;p7"/>
          <p:cNvSpPr txBox="1"/>
          <p:nvPr/>
        </p:nvSpPr>
        <p:spPr>
          <a:xfrm>
            <a:off x="3502152" y="5312664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불필요한 재렌더링 방지 성능 최적화</a:t>
            </a:r>
            <a:endParaRPr/>
          </a:p>
        </p:txBody>
      </p:sp>
      <p:sp>
        <p:nvSpPr>
          <p:cNvPr id="373" name="Google Shape;373;p7"/>
          <p:cNvSpPr txBox="1"/>
          <p:nvPr/>
        </p:nvSpPr>
        <p:spPr>
          <a:xfrm>
            <a:off x="3502152" y="5797296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useContext</a:t>
            </a:r>
            <a:endParaRPr/>
          </a:p>
        </p:txBody>
      </p:sp>
      <p:sp>
        <p:nvSpPr>
          <p:cNvPr id="374" name="Google Shape;374;p7"/>
          <p:cNvSpPr txBox="1"/>
          <p:nvPr/>
        </p:nvSpPr>
        <p:spPr>
          <a:xfrm>
            <a:off x="3502152" y="6281928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전역 상태 공유 (로그인 정보 등)</a:t>
            </a:r>
            <a:endParaRPr/>
          </a:p>
        </p:txBody>
      </p:sp>
      <p:sp>
        <p:nvSpPr>
          <p:cNvPr id="375" name="Google Shape;375;p7"/>
          <p:cNvSpPr/>
          <p:nvPr/>
        </p:nvSpPr>
        <p:spPr>
          <a:xfrm>
            <a:off x="6318504" y="2395728"/>
            <a:ext cx="2816352" cy="4206240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7"/>
          <p:cNvSpPr/>
          <p:nvPr/>
        </p:nvSpPr>
        <p:spPr>
          <a:xfrm>
            <a:off x="6318504" y="2395728"/>
            <a:ext cx="2816352" cy="384048"/>
          </a:xfrm>
          <a:prstGeom prst="rect">
            <a:avLst/>
          </a:prstGeom>
          <a:solidFill>
            <a:srgbClr val="007E8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7"/>
          <p:cNvSpPr/>
          <p:nvPr/>
        </p:nvSpPr>
        <p:spPr>
          <a:xfrm>
            <a:off x="6318504" y="2395728"/>
            <a:ext cx="109728" cy="384048"/>
          </a:xfrm>
          <a:prstGeom prst="rect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7"/>
          <p:cNvSpPr txBox="1"/>
          <p:nvPr/>
        </p:nvSpPr>
        <p:spPr>
          <a:xfrm>
            <a:off x="6519672" y="2423160"/>
            <a:ext cx="2542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주요 사용 케이스</a:t>
            </a:r>
            <a:endParaRPr/>
          </a:p>
        </p:txBody>
      </p:sp>
      <p:sp>
        <p:nvSpPr>
          <p:cNvPr id="379" name="Google Shape;379;p7"/>
          <p:cNvSpPr txBox="1"/>
          <p:nvPr/>
        </p:nvSpPr>
        <p:spPr>
          <a:xfrm>
            <a:off x="6455664" y="2889504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SPA (Single Page App)</a:t>
            </a:r>
            <a:endParaRPr/>
          </a:p>
        </p:txBody>
      </p:sp>
      <p:sp>
        <p:nvSpPr>
          <p:cNvPr id="380" name="Google Shape;380;p7"/>
          <p:cNvSpPr txBox="1"/>
          <p:nvPr/>
        </p:nvSpPr>
        <p:spPr>
          <a:xfrm>
            <a:off x="6455664" y="3374136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페이지 전환 없이 동적 화면 전환</a:t>
            </a:r>
            <a:endParaRPr/>
          </a:p>
        </p:txBody>
      </p:sp>
      <p:sp>
        <p:nvSpPr>
          <p:cNvPr id="381" name="Google Shape;381;p7"/>
          <p:cNvSpPr txBox="1"/>
          <p:nvPr/>
        </p:nvSpPr>
        <p:spPr>
          <a:xfrm>
            <a:off x="6455664" y="3858768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대시보드 / 관리자 화면</a:t>
            </a:r>
            <a:endParaRPr/>
          </a:p>
        </p:txBody>
      </p:sp>
      <p:sp>
        <p:nvSpPr>
          <p:cNvPr id="382" name="Google Shape;382;p7"/>
          <p:cNvSpPr txBox="1"/>
          <p:nvPr/>
        </p:nvSpPr>
        <p:spPr>
          <a:xfrm>
            <a:off x="6455664" y="434340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실시간 업데이트가 많은 UI</a:t>
            </a:r>
            <a:endParaRPr/>
          </a:p>
        </p:txBody>
      </p:sp>
      <p:sp>
        <p:nvSpPr>
          <p:cNvPr id="383" name="Google Shape;383;p7"/>
          <p:cNvSpPr txBox="1"/>
          <p:nvPr/>
        </p:nvSpPr>
        <p:spPr>
          <a:xfrm>
            <a:off x="6455664" y="4828032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모바일 앱</a:t>
            </a:r>
            <a:endParaRPr/>
          </a:p>
        </p:txBody>
      </p:sp>
      <p:sp>
        <p:nvSpPr>
          <p:cNvPr id="384" name="Google Shape;384;p7"/>
          <p:cNvSpPr txBox="1"/>
          <p:nvPr/>
        </p:nvSpPr>
        <p:spPr>
          <a:xfrm>
            <a:off x="6455664" y="5312664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React Native로 iOS·Android 동시 개발</a:t>
            </a:r>
            <a:endParaRPr/>
          </a:p>
        </p:txBody>
      </p:sp>
      <p:sp>
        <p:nvSpPr>
          <p:cNvPr id="385" name="Google Shape;385;p7"/>
          <p:cNvSpPr txBox="1"/>
          <p:nvPr/>
        </p:nvSpPr>
        <p:spPr>
          <a:xfrm>
            <a:off x="6455664" y="5797296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Next.js 기반 웹서비스</a:t>
            </a:r>
            <a:endParaRPr/>
          </a:p>
        </p:txBody>
      </p:sp>
      <p:sp>
        <p:nvSpPr>
          <p:cNvPr id="386" name="Google Shape;386;p7"/>
          <p:cNvSpPr txBox="1"/>
          <p:nvPr/>
        </p:nvSpPr>
        <p:spPr>
          <a:xfrm>
            <a:off x="6455664" y="6281928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SSR·SSG가 필요한 모든 웹 서비스</a:t>
            </a:r>
            <a:endParaRPr/>
          </a:p>
        </p:txBody>
      </p:sp>
      <p:sp>
        <p:nvSpPr>
          <p:cNvPr id="387" name="Google Shape;387;p7"/>
          <p:cNvSpPr/>
          <p:nvPr/>
        </p:nvSpPr>
        <p:spPr>
          <a:xfrm>
            <a:off x="9272015" y="2395728"/>
            <a:ext cx="2816352" cy="4206240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7"/>
          <p:cNvSpPr/>
          <p:nvPr/>
        </p:nvSpPr>
        <p:spPr>
          <a:xfrm>
            <a:off x="9272015" y="2395728"/>
            <a:ext cx="2816352" cy="384048"/>
          </a:xfrm>
          <a:prstGeom prst="rect">
            <a:avLst/>
          </a:prstGeom>
          <a:solidFill>
            <a:srgbClr val="007E8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7"/>
          <p:cNvSpPr/>
          <p:nvPr/>
        </p:nvSpPr>
        <p:spPr>
          <a:xfrm>
            <a:off x="9272015" y="2395728"/>
            <a:ext cx="109728" cy="384048"/>
          </a:xfrm>
          <a:prstGeom prst="rect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7"/>
          <p:cNvSpPr txBox="1"/>
          <p:nvPr/>
        </p:nvSpPr>
        <p:spPr>
          <a:xfrm>
            <a:off x="9473184" y="2423160"/>
            <a:ext cx="2542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Spring과의 관계</a:t>
            </a:r>
            <a:endParaRPr/>
          </a:p>
        </p:txBody>
      </p:sp>
      <p:sp>
        <p:nvSpPr>
          <p:cNvPr id="391" name="Google Shape;391;p7"/>
          <p:cNvSpPr txBox="1"/>
          <p:nvPr/>
        </p:nvSpPr>
        <p:spPr>
          <a:xfrm>
            <a:off x="9409176" y="2889504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역할 분리</a:t>
            </a:r>
            <a:endParaRPr/>
          </a:p>
        </p:txBody>
      </p:sp>
      <p:sp>
        <p:nvSpPr>
          <p:cNvPr id="392" name="Google Shape;392;p7"/>
          <p:cNvSpPr txBox="1"/>
          <p:nvPr/>
        </p:nvSpPr>
        <p:spPr>
          <a:xfrm>
            <a:off x="9409176" y="3374136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React(화면) + Spring(데이터·보안)</a:t>
            </a:r>
            <a:endParaRPr/>
          </a:p>
        </p:txBody>
      </p:sp>
      <p:sp>
        <p:nvSpPr>
          <p:cNvPr id="393" name="Google Shape;393;p7"/>
          <p:cNvSpPr txBox="1"/>
          <p:nvPr/>
        </p:nvSpPr>
        <p:spPr>
          <a:xfrm>
            <a:off x="9409176" y="3858768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API 통신</a:t>
            </a:r>
            <a:endParaRPr/>
          </a:p>
        </p:txBody>
      </p:sp>
      <p:sp>
        <p:nvSpPr>
          <p:cNvPr id="394" name="Google Shape;394;p7"/>
          <p:cNvSpPr txBox="1"/>
          <p:nvPr/>
        </p:nvSpPr>
        <p:spPr>
          <a:xfrm>
            <a:off x="9409176" y="434340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React → fetch/axios → Spring REST API</a:t>
            </a:r>
            <a:endParaRPr/>
          </a:p>
        </p:txBody>
      </p:sp>
      <p:sp>
        <p:nvSpPr>
          <p:cNvPr id="395" name="Google Shape;395;p7"/>
          <p:cNvSpPr txBox="1"/>
          <p:nvPr/>
        </p:nvSpPr>
        <p:spPr>
          <a:xfrm>
            <a:off x="9409176" y="4828032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인증 흐름</a:t>
            </a:r>
            <a:endParaRPr/>
          </a:p>
        </p:txBody>
      </p:sp>
      <p:sp>
        <p:nvSpPr>
          <p:cNvPr id="396" name="Google Shape;396;p7"/>
          <p:cNvSpPr txBox="1"/>
          <p:nvPr/>
        </p:nvSpPr>
        <p:spPr>
          <a:xfrm>
            <a:off x="9409176" y="5312664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Spring이 JWT 발급 → React가 저장·전송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8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8"/>
          <p:cNvSpPr txBox="1"/>
          <p:nvPr/>
        </p:nvSpPr>
        <p:spPr>
          <a:xfrm>
            <a:off x="411480" y="594360"/>
            <a:ext cx="1143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06  렌더링 방식 이해</a:t>
            </a:r>
            <a:endParaRPr/>
          </a:p>
        </p:txBody>
      </p:sp>
      <p:sp>
        <p:nvSpPr>
          <p:cNvPr id="404" name="Google Shape;404;p8"/>
          <p:cNvSpPr/>
          <p:nvPr/>
        </p:nvSpPr>
        <p:spPr>
          <a:xfrm>
            <a:off x="411480" y="1261872"/>
            <a:ext cx="1136599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8"/>
          <p:cNvSpPr/>
          <p:nvPr/>
        </p:nvSpPr>
        <p:spPr>
          <a:xfrm>
            <a:off x="411480" y="1481328"/>
            <a:ext cx="5577840" cy="4846320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8"/>
          <p:cNvSpPr/>
          <p:nvPr/>
        </p:nvSpPr>
        <p:spPr>
          <a:xfrm>
            <a:off x="411480" y="1481328"/>
            <a:ext cx="5577840" cy="475488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8"/>
          <p:cNvSpPr/>
          <p:nvPr/>
        </p:nvSpPr>
        <p:spPr>
          <a:xfrm>
            <a:off x="411480" y="1481328"/>
            <a:ext cx="109728" cy="475488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8"/>
          <p:cNvSpPr txBox="1"/>
          <p:nvPr/>
        </p:nvSpPr>
        <p:spPr>
          <a:xfrm>
            <a:off x="576072" y="1517904"/>
            <a:ext cx="731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CSR</a:t>
            </a:r>
            <a:endParaRPr/>
          </a:p>
        </p:txBody>
      </p:sp>
      <p:sp>
        <p:nvSpPr>
          <p:cNvPr id="409" name="Google Shape;409;p8"/>
          <p:cNvSpPr txBox="1"/>
          <p:nvPr/>
        </p:nvSpPr>
        <p:spPr>
          <a:xfrm>
            <a:off x="1344168" y="1545336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FFFCC"/>
                </a:solidFill>
                <a:latin typeface="Calibri"/>
                <a:ea typeface="Calibri"/>
                <a:cs typeface="Calibri"/>
                <a:sym typeface="Calibri"/>
              </a:rPr>
              <a:t>Client-Side Rendering</a:t>
            </a:r>
            <a:endParaRPr/>
          </a:p>
        </p:txBody>
      </p:sp>
      <p:sp>
        <p:nvSpPr>
          <p:cNvPr id="410" name="Google Shape;410;p8"/>
          <p:cNvSpPr/>
          <p:nvPr/>
        </p:nvSpPr>
        <p:spPr>
          <a:xfrm>
            <a:off x="502920" y="2048256"/>
            <a:ext cx="5394959" cy="310896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8"/>
          <p:cNvSpPr txBox="1"/>
          <p:nvPr/>
        </p:nvSpPr>
        <p:spPr>
          <a:xfrm>
            <a:off x="548640" y="2066544"/>
            <a:ext cx="5349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3366"/>
                </a:solidFill>
                <a:latin typeface="Calibri"/>
                <a:ea typeface="Calibri"/>
                <a:cs typeface="Calibri"/>
                <a:sym typeface="Calibri"/>
              </a:rPr>
              <a:t>⟳  브라우저 → JS 다운로드 → 렌더링</a:t>
            </a:r>
            <a:endParaRPr/>
          </a:p>
        </p:txBody>
      </p:sp>
      <p:sp>
        <p:nvSpPr>
          <p:cNvPr id="412" name="Google Shape;412;p8"/>
          <p:cNvSpPr txBox="1"/>
          <p:nvPr/>
        </p:nvSpPr>
        <p:spPr>
          <a:xfrm>
            <a:off x="539496" y="2450592"/>
            <a:ext cx="53766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DA86E"/>
                </a:solidFill>
                <a:latin typeface="Calibri"/>
                <a:ea typeface="Calibri"/>
                <a:cs typeface="Calibri"/>
                <a:sym typeface="Calibri"/>
              </a:rPr>
              <a:t>✅ 특징</a:t>
            </a:r>
            <a:endParaRPr/>
          </a:p>
        </p:txBody>
      </p:sp>
      <p:sp>
        <p:nvSpPr>
          <p:cNvPr id="413" name="Google Shape;413;p8"/>
          <p:cNvSpPr txBox="1"/>
          <p:nvPr/>
        </p:nvSpPr>
        <p:spPr>
          <a:xfrm>
            <a:off x="539496" y="2688336"/>
            <a:ext cx="53766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  · 초기 HTML은 빈 껍데기</a:t>
            </a:r>
            <a:endParaRPr/>
          </a:p>
        </p:txBody>
      </p:sp>
      <p:sp>
        <p:nvSpPr>
          <p:cNvPr id="414" name="Google Shape;414;p8"/>
          <p:cNvSpPr txBox="1"/>
          <p:nvPr/>
        </p:nvSpPr>
        <p:spPr>
          <a:xfrm>
            <a:off x="539496" y="3035808"/>
            <a:ext cx="53766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  · JS가 로드된 후 화면 구성</a:t>
            </a:r>
            <a:endParaRPr/>
          </a:p>
        </p:txBody>
      </p:sp>
      <p:sp>
        <p:nvSpPr>
          <p:cNvPr id="415" name="Google Shape;415;p8"/>
          <p:cNvSpPr txBox="1"/>
          <p:nvPr/>
        </p:nvSpPr>
        <p:spPr>
          <a:xfrm>
            <a:off x="539496" y="3383280"/>
            <a:ext cx="53766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  · React 기본 동작 방식</a:t>
            </a:r>
            <a:endParaRPr/>
          </a:p>
        </p:txBody>
      </p:sp>
      <p:sp>
        <p:nvSpPr>
          <p:cNvPr id="416" name="Google Shape;416;p8"/>
          <p:cNvSpPr txBox="1"/>
          <p:nvPr/>
        </p:nvSpPr>
        <p:spPr>
          <a:xfrm>
            <a:off x="539496" y="3730752"/>
            <a:ext cx="53766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  · 사용자 상호작용 풍부한 앱에 적합</a:t>
            </a:r>
            <a:endParaRPr/>
          </a:p>
        </p:txBody>
      </p:sp>
      <p:sp>
        <p:nvSpPr>
          <p:cNvPr id="417" name="Google Shape;417;p8"/>
          <p:cNvSpPr txBox="1"/>
          <p:nvPr/>
        </p:nvSpPr>
        <p:spPr>
          <a:xfrm>
            <a:off x="539496" y="4151376"/>
            <a:ext cx="53766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⚠ 주의</a:t>
            </a:r>
            <a:endParaRPr/>
          </a:p>
        </p:txBody>
      </p:sp>
      <p:sp>
        <p:nvSpPr>
          <p:cNvPr id="418" name="Google Shape;418;p8"/>
          <p:cNvSpPr txBox="1"/>
          <p:nvPr/>
        </p:nvSpPr>
        <p:spPr>
          <a:xfrm>
            <a:off x="539496" y="4389120"/>
            <a:ext cx="53766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  · SEO 불리 (크롤러 JS 미실행)</a:t>
            </a:r>
            <a:endParaRPr/>
          </a:p>
        </p:txBody>
      </p:sp>
      <p:sp>
        <p:nvSpPr>
          <p:cNvPr id="419" name="Google Shape;419;p8"/>
          <p:cNvSpPr txBox="1"/>
          <p:nvPr/>
        </p:nvSpPr>
        <p:spPr>
          <a:xfrm>
            <a:off x="539496" y="4736592"/>
            <a:ext cx="53766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  · 초기 로딩 느림 (JS 번들 크기)</a:t>
            </a:r>
            <a:endParaRPr/>
          </a:p>
        </p:txBody>
      </p:sp>
      <p:sp>
        <p:nvSpPr>
          <p:cNvPr id="420" name="Google Shape;420;p8"/>
          <p:cNvSpPr txBox="1"/>
          <p:nvPr/>
        </p:nvSpPr>
        <p:spPr>
          <a:xfrm>
            <a:off x="539496" y="5084064"/>
            <a:ext cx="53766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  · 저성능 디바이스에서 렌더링 지연</a:t>
            </a:r>
            <a:endParaRPr/>
          </a:p>
        </p:txBody>
      </p:sp>
      <p:sp>
        <p:nvSpPr>
          <p:cNvPr id="421" name="Google Shape;421;p8"/>
          <p:cNvSpPr/>
          <p:nvPr/>
        </p:nvSpPr>
        <p:spPr>
          <a:xfrm>
            <a:off x="502920" y="5614416"/>
            <a:ext cx="5394959" cy="603504"/>
          </a:xfrm>
          <a:prstGeom prst="rect">
            <a:avLst/>
          </a:prstGeom>
          <a:solidFill>
            <a:srgbClr val="FFF3E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8"/>
          <p:cNvSpPr txBox="1"/>
          <p:nvPr/>
        </p:nvSpPr>
        <p:spPr>
          <a:xfrm>
            <a:off x="557784" y="5650992"/>
            <a:ext cx="5321807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05E00"/>
                </a:solidFill>
                <a:latin typeface="Calibri"/>
                <a:ea typeface="Calibri"/>
                <a:cs typeface="Calibri"/>
                <a:sym typeface="Calibri"/>
              </a:rPr>
              <a:t>💡 관리자 대시보드, 인증 필요 내부 시스템, 실시간 협업 툴</a:t>
            </a:r>
            <a:endParaRPr/>
          </a:p>
        </p:txBody>
      </p:sp>
      <p:sp>
        <p:nvSpPr>
          <p:cNvPr id="423" name="Google Shape;423;p8"/>
          <p:cNvSpPr/>
          <p:nvPr/>
        </p:nvSpPr>
        <p:spPr>
          <a:xfrm>
            <a:off x="6199632" y="1481328"/>
            <a:ext cx="5577840" cy="4846320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8"/>
          <p:cNvSpPr/>
          <p:nvPr/>
        </p:nvSpPr>
        <p:spPr>
          <a:xfrm>
            <a:off x="6199632" y="1481328"/>
            <a:ext cx="5577840" cy="475488"/>
          </a:xfrm>
          <a:prstGeom prst="rect">
            <a:avLst/>
          </a:prstGeom>
          <a:solidFill>
            <a:srgbClr val="10795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8"/>
          <p:cNvSpPr/>
          <p:nvPr/>
        </p:nvSpPr>
        <p:spPr>
          <a:xfrm>
            <a:off x="6199632" y="1481328"/>
            <a:ext cx="109728" cy="475488"/>
          </a:xfrm>
          <a:prstGeom prst="rect">
            <a:avLst/>
          </a:prstGeom>
          <a:solidFill>
            <a:srgbClr val="10795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8"/>
          <p:cNvSpPr txBox="1"/>
          <p:nvPr/>
        </p:nvSpPr>
        <p:spPr>
          <a:xfrm>
            <a:off x="6364224" y="1517904"/>
            <a:ext cx="731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SSR</a:t>
            </a:r>
            <a:endParaRPr/>
          </a:p>
        </p:txBody>
      </p:sp>
      <p:sp>
        <p:nvSpPr>
          <p:cNvPr id="427" name="Google Shape;427;p8"/>
          <p:cNvSpPr txBox="1"/>
          <p:nvPr/>
        </p:nvSpPr>
        <p:spPr>
          <a:xfrm>
            <a:off x="7132320" y="1545336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FFFCC"/>
                </a:solidFill>
                <a:latin typeface="Calibri"/>
                <a:ea typeface="Calibri"/>
                <a:cs typeface="Calibri"/>
                <a:sym typeface="Calibri"/>
              </a:rPr>
              <a:t>Server-Side Rendering</a:t>
            </a:r>
            <a:endParaRPr/>
          </a:p>
        </p:txBody>
      </p:sp>
      <p:sp>
        <p:nvSpPr>
          <p:cNvPr id="428" name="Google Shape;428;p8"/>
          <p:cNvSpPr/>
          <p:nvPr/>
        </p:nvSpPr>
        <p:spPr>
          <a:xfrm>
            <a:off x="6291072" y="2048256"/>
            <a:ext cx="5394959" cy="310896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8"/>
          <p:cNvSpPr txBox="1"/>
          <p:nvPr/>
        </p:nvSpPr>
        <p:spPr>
          <a:xfrm>
            <a:off x="6336792" y="2066544"/>
            <a:ext cx="5349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3366"/>
                </a:solidFill>
                <a:latin typeface="Calibri"/>
                <a:ea typeface="Calibri"/>
                <a:cs typeface="Calibri"/>
                <a:sym typeface="Calibri"/>
              </a:rPr>
              <a:t>⟳  요청 → 서버에서 HTML 완성 → 전달</a:t>
            </a:r>
            <a:endParaRPr/>
          </a:p>
        </p:txBody>
      </p:sp>
      <p:sp>
        <p:nvSpPr>
          <p:cNvPr id="430" name="Google Shape;430;p8"/>
          <p:cNvSpPr txBox="1"/>
          <p:nvPr/>
        </p:nvSpPr>
        <p:spPr>
          <a:xfrm>
            <a:off x="6327648" y="2450592"/>
            <a:ext cx="53766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DA86E"/>
                </a:solidFill>
                <a:latin typeface="Calibri"/>
                <a:ea typeface="Calibri"/>
                <a:cs typeface="Calibri"/>
                <a:sym typeface="Calibri"/>
              </a:rPr>
              <a:t>✅ 특징</a:t>
            </a:r>
            <a:endParaRPr/>
          </a:p>
        </p:txBody>
      </p:sp>
      <p:sp>
        <p:nvSpPr>
          <p:cNvPr id="431" name="Google Shape;431;p8"/>
          <p:cNvSpPr txBox="1"/>
          <p:nvPr/>
        </p:nvSpPr>
        <p:spPr>
          <a:xfrm>
            <a:off x="6327648" y="2688336"/>
            <a:ext cx="53766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  · 매 요청마다 최신 데이터 반영</a:t>
            </a:r>
            <a:endParaRPr/>
          </a:p>
        </p:txBody>
      </p:sp>
      <p:sp>
        <p:nvSpPr>
          <p:cNvPr id="432" name="Google Shape;432;p8"/>
          <p:cNvSpPr txBox="1"/>
          <p:nvPr/>
        </p:nvSpPr>
        <p:spPr>
          <a:xfrm>
            <a:off x="6327648" y="3035808"/>
            <a:ext cx="53766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  · SEO 최적화 (완성된 HTML 전달)</a:t>
            </a:r>
            <a:endParaRPr/>
          </a:p>
        </p:txBody>
      </p:sp>
      <p:sp>
        <p:nvSpPr>
          <p:cNvPr id="433" name="Google Shape;433;p8"/>
          <p:cNvSpPr txBox="1"/>
          <p:nvPr/>
        </p:nvSpPr>
        <p:spPr>
          <a:xfrm>
            <a:off x="6327648" y="3383280"/>
            <a:ext cx="53766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  · 초기 로딩 체감 빠름</a:t>
            </a:r>
            <a:endParaRPr/>
          </a:p>
        </p:txBody>
      </p:sp>
      <p:sp>
        <p:nvSpPr>
          <p:cNvPr id="434" name="Google Shape;434;p8"/>
          <p:cNvSpPr txBox="1"/>
          <p:nvPr/>
        </p:nvSpPr>
        <p:spPr>
          <a:xfrm>
            <a:off x="6327648" y="3730752"/>
            <a:ext cx="53766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  · JS 미지원 환경에서도 동작</a:t>
            </a:r>
            <a:endParaRPr/>
          </a:p>
        </p:txBody>
      </p:sp>
      <p:sp>
        <p:nvSpPr>
          <p:cNvPr id="435" name="Google Shape;435;p8"/>
          <p:cNvSpPr txBox="1"/>
          <p:nvPr/>
        </p:nvSpPr>
        <p:spPr>
          <a:xfrm>
            <a:off x="6327648" y="4151376"/>
            <a:ext cx="53766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⚠ 주의</a:t>
            </a:r>
            <a:endParaRPr/>
          </a:p>
        </p:txBody>
      </p:sp>
      <p:sp>
        <p:nvSpPr>
          <p:cNvPr id="436" name="Google Shape;436;p8"/>
          <p:cNvSpPr txBox="1"/>
          <p:nvPr/>
        </p:nvSpPr>
        <p:spPr>
          <a:xfrm>
            <a:off x="6327648" y="4389120"/>
            <a:ext cx="53766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  · 매 요청마다 서버 처리 → 부하 증가</a:t>
            </a:r>
            <a:endParaRPr/>
          </a:p>
        </p:txBody>
      </p:sp>
      <p:sp>
        <p:nvSpPr>
          <p:cNvPr id="437" name="Google Shape;437;p8"/>
          <p:cNvSpPr txBox="1"/>
          <p:nvPr/>
        </p:nvSpPr>
        <p:spPr>
          <a:xfrm>
            <a:off x="6327648" y="4736592"/>
            <a:ext cx="53766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  · 응답 속도가 서버 성능에 의존</a:t>
            </a:r>
            <a:endParaRPr/>
          </a:p>
        </p:txBody>
      </p:sp>
      <p:sp>
        <p:nvSpPr>
          <p:cNvPr id="438" name="Google Shape;438;p8"/>
          <p:cNvSpPr txBox="1"/>
          <p:nvPr/>
        </p:nvSpPr>
        <p:spPr>
          <a:xfrm>
            <a:off x="6327648" y="5084064"/>
            <a:ext cx="53766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  · 서버 인프라 비용 발생</a:t>
            </a:r>
            <a:endParaRPr/>
          </a:p>
        </p:txBody>
      </p:sp>
      <p:sp>
        <p:nvSpPr>
          <p:cNvPr id="439" name="Google Shape;439;p8"/>
          <p:cNvSpPr/>
          <p:nvPr/>
        </p:nvSpPr>
        <p:spPr>
          <a:xfrm>
            <a:off x="6291072" y="5614416"/>
            <a:ext cx="5394959" cy="603504"/>
          </a:xfrm>
          <a:prstGeom prst="rect">
            <a:avLst/>
          </a:prstGeom>
          <a:solidFill>
            <a:srgbClr val="FFF3E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8"/>
          <p:cNvSpPr txBox="1"/>
          <p:nvPr/>
        </p:nvSpPr>
        <p:spPr>
          <a:xfrm>
            <a:off x="6345936" y="5650992"/>
            <a:ext cx="5321807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05E00"/>
                </a:solidFill>
                <a:latin typeface="Calibri"/>
                <a:ea typeface="Calibri"/>
                <a:cs typeface="Calibri"/>
                <a:sym typeface="Calibri"/>
              </a:rPr>
              <a:t>💡 실시간 데이터 페이지 (금융 시세, 뉴스), 고객 포털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9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9"/>
          <p:cNvSpPr txBox="1"/>
          <p:nvPr/>
        </p:nvSpPr>
        <p:spPr>
          <a:xfrm>
            <a:off x="411480" y="594360"/>
            <a:ext cx="1143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07  Next.js 개요</a:t>
            </a:r>
            <a:endParaRPr/>
          </a:p>
        </p:txBody>
      </p:sp>
      <p:sp>
        <p:nvSpPr>
          <p:cNvPr id="448" name="Google Shape;448;p9"/>
          <p:cNvSpPr/>
          <p:nvPr/>
        </p:nvSpPr>
        <p:spPr>
          <a:xfrm>
            <a:off x="411480" y="1261872"/>
            <a:ext cx="1136599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9"/>
          <p:cNvSpPr/>
          <p:nvPr/>
        </p:nvSpPr>
        <p:spPr>
          <a:xfrm>
            <a:off x="411480" y="1508760"/>
            <a:ext cx="11365992" cy="749808"/>
          </a:xfrm>
          <a:prstGeom prst="rect">
            <a:avLst/>
          </a:prstGeom>
          <a:solidFill>
            <a:srgbClr val="FFFBE6"/>
          </a:solidFill>
          <a:ln cap="flat" cmpd="sng" w="19050">
            <a:solidFill>
              <a:srgbClr val="FFD6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9"/>
          <p:cNvSpPr txBox="1"/>
          <p:nvPr/>
        </p:nvSpPr>
        <p:spPr>
          <a:xfrm>
            <a:off x="566928" y="1545336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"Next.js는 React를 기반으로 SSR·SSG·CSR을 유연하게 지원하는 프레임워크입니다.</a:t>
            </a:r>
            <a:br>
              <a:rPr b="0" i="1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React만으로는 부족한 SEO 최적화, 파일 기반 라우팅, 서버 컴포넌트 기능을 추가합니다."</a:t>
            </a:r>
            <a:endParaRPr/>
          </a:p>
        </p:txBody>
      </p:sp>
      <p:sp>
        <p:nvSpPr>
          <p:cNvPr id="451" name="Google Shape;451;p9"/>
          <p:cNvSpPr/>
          <p:nvPr/>
        </p:nvSpPr>
        <p:spPr>
          <a:xfrm>
            <a:off x="411480" y="2395728"/>
            <a:ext cx="3749039" cy="4206240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9"/>
          <p:cNvSpPr/>
          <p:nvPr/>
        </p:nvSpPr>
        <p:spPr>
          <a:xfrm>
            <a:off x="411480" y="2395728"/>
            <a:ext cx="3749039" cy="384048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9"/>
          <p:cNvSpPr/>
          <p:nvPr/>
        </p:nvSpPr>
        <p:spPr>
          <a:xfrm>
            <a:off x="411480" y="2395728"/>
            <a:ext cx="109728" cy="384048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9"/>
          <p:cNvSpPr txBox="1"/>
          <p:nvPr/>
        </p:nvSpPr>
        <p:spPr>
          <a:xfrm>
            <a:off x="612648" y="242316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렌더링 전략 4가지</a:t>
            </a:r>
            <a:endParaRPr/>
          </a:p>
        </p:txBody>
      </p:sp>
      <p:sp>
        <p:nvSpPr>
          <p:cNvPr id="455" name="Google Shape;455;p9"/>
          <p:cNvSpPr txBox="1"/>
          <p:nvPr/>
        </p:nvSpPr>
        <p:spPr>
          <a:xfrm>
            <a:off x="576072" y="2889504"/>
            <a:ext cx="3429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SSR (Server-Side Rendering)</a:t>
            </a:r>
            <a:endParaRPr/>
          </a:p>
        </p:txBody>
      </p:sp>
      <p:sp>
        <p:nvSpPr>
          <p:cNvPr id="456" name="Google Shape;456;p9"/>
          <p:cNvSpPr txBox="1"/>
          <p:nvPr/>
        </p:nvSpPr>
        <p:spPr>
          <a:xfrm>
            <a:off x="576072" y="3392424"/>
            <a:ext cx="3429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매 요청마다 서버에서 HTML 생성 → 최신 데이터</a:t>
            </a:r>
            <a:endParaRPr/>
          </a:p>
        </p:txBody>
      </p:sp>
      <p:sp>
        <p:nvSpPr>
          <p:cNvPr id="457" name="Google Shape;457;p9"/>
          <p:cNvSpPr txBox="1"/>
          <p:nvPr/>
        </p:nvSpPr>
        <p:spPr>
          <a:xfrm>
            <a:off x="576072" y="3895344"/>
            <a:ext cx="3429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SSG (Static Site Generation)</a:t>
            </a:r>
            <a:endParaRPr/>
          </a:p>
        </p:txBody>
      </p:sp>
      <p:sp>
        <p:nvSpPr>
          <p:cNvPr id="458" name="Google Shape;458;p9"/>
          <p:cNvSpPr txBox="1"/>
          <p:nvPr/>
        </p:nvSpPr>
        <p:spPr>
          <a:xfrm>
            <a:off x="576072" y="4398264"/>
            <a:ext cx="3429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빌드 시 HTML 미리 생성 → 가장 빠른 응답  ★ Next.js 전용</a:t>
            </a:r>
            <a:endParaRPr/>
          </a:p>
        </p:txBody>
      </p:sp>
      <p:sp>
        <p:nvSpPr>
          <p:cNvPr id="459" name="Google Shape;459;p9"/>
          <p:cNvSpPr txBox="1"/>
          <p:nvPr/>
        </p:nvSpPr>
        <p:spPr>
          <a:xfrm>
            <a:off x="576072" y="4901184"/>
            <a:ext cx="3429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ISR (Incremental Static Regen.)</a:t>
            </a:r>
            <a:endParaRPr/>
          </a:p>
        </p:txBody>
      </p:sp>
      <p:sp>
        <p:nvSpPr>
          <p:cNvPr id="460" name="Google Shape;460;p9"/>
          <p:cNvSpPr txBox="1"/>
          <p:nvPr/>
        </p:nvSpPr>
        <p:spPr>
          <a:xfrm>
            <a:off x="576072" y="5404104"/>
            <a:ext cx="3429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정적 페이지를 주기적으로 재생성  ★ Next.js 전용</a:t>
            </a:r>
            <a:endParaRPr/>
          </a:p>
        </p:txBody>
      </p:sp>
      <p:sp>
        <p:nvSpPr>
          <p:cNvPr id="461" name="Google Shape;461;p9"/>
          <p:cNvSpPr txBox="1"/>
          <p:nvPr/>
        </p:nvSpPr>
        <p:spPr>
          <a:xfrm>
            <a:off x="576072" y="5907024"/>
            <a:ext cx="3429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CSR (Client-Side Rendering)</a:t>
            </a:r>
            <a:endParaRPr/>
          </a:p>
        </p:txBody>
      </p:sp>
      <p:sp>
        <p:nvSpPr>
          <p:cNvPr id="462" name="Google Shape;462;p9"/>
          <p:cNvSpPr txBox="1"/>
          <p:nvPr/>
        </p:nvSpPr>
        <p:spPr>
          <a:xfrm>
            <a:off x="576072" y="6409944"/>
            <a:ext cx="3429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브라우저에서 JS로 렌더링 (기존 React 방식)</a:t>
            </a:r>
            <a:endParaRPr/>
          </a:p>
        </p:txBody>
      </p:sp>
      <p:sp>
        <p:nvSpPr>
          <p:cNvPr id="463" name="Google Shape;463;p9"/>
          <p:cNvSpPr/>
          <p:nvPr/>
        </p:nvSpPr>
        <p:spPr>
          <a:xfrm>
            <a:off x="4343400" y="2395728"/>
            <a:ext cx="3749039" cy="4206240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9"/>
          <p:cNvSpPr/>
          <p:nvPr/>
        </p:nvSpPr>
        <p:spPr>
          <a:xfrm>
            <a:off x="4343400" y="2395728"/>
            <a:ext cx="3749039" cy="384048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9"/>
          <p:cNvSpPr/>
          <p:nvPr/>
        </p:nvSpPr>
        <p:spPr>
          <a:xfrm>
            <a:off x="4343400" y="2395728"/>
            <a:ext cx="109728" cy="384048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9"/>
          <p:cNvSpPr txBox="1"/>
          <p:nvPr/>
        </p:nvSpPr>
        <p:spPr>
          <a:xfrm>
            <a:off x="4544568" y="242316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React와의 차이점</a:t>
            </a:r>
            <a:endParaRPr/>
          </a:p>
        </p:txBody>
      </p:sp>
      <p:sp>
        <p:nvSpPr>
          <p:cNvPr id="467" name="Google Shape;467;p9"/>
          <p:cNvSpPr txBox="1"/>
          <p:nvPr/>
        </p:nvSpPr>
        <p:spPr>
          <a:xfrm>
            <a:off x="4507992" y="2889504"/>
            <a:ext cx="3429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파일 기반 라우팅</a:t>
            </a:r>
            <a:endParaRPr/>
          </a:p>
        </p:txBody>
      </p:sp>
      <p:sp>
        <p:nvSpPr>
          <p:cNvPr id="468" name="Google Shape;468;p9"/>
          <p:cNvSpPr txBox="1"/>
          <p:nvPr/>
        </p:nvSpPr>
        <p:spPr>
          <a:xfrm>
            <a:off x="4507992" y="3392424"/>
            <a:ext cx="3429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폴더 구조 = URL 자동 매핑 (설정 불필요)</a:t>
            </a:r>
            <a:endParaRPr/>
          </a:p>
        </p:txBody>
      </p:sp>
      <p:sp>
        <p:nvSpPr>
          <p:cNvPr id="469" name="Google Shape;469;p9"/>
          <p:cNvSpPr txBox="1"/>
          <p:nvPr/>
        </p:nvSpPr>
        <p:spPr>
          <a:xfrm>
            <a:off x="4507992" y="3895344"/>
            <a:ext cx="3429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Server Components</a:t>
            </a:r>
            <a:endParaRPr/>
          </a:p>
        </p:txBody>
      </p:sp>
      <p:sp>
        <p:nvSpPr>
          <p:cNvPr id="470" name="Google Shape;470;p9"/>
          <p:cNvSpPr txBox="1"/>
          <p:nvPr/>
        </p:nvSpPr>
        <p:spPr>
          <a:xfrm>
            <a:off x="4507992" y="4398264"/>
            <a:ext cx="3429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서버에서 실행되는 컴포넌트 (번들 크기 감소)</a:t>
            </a:r>
            <a:endParaRPr/>
          </a:p>
        </p:txBody>
      </p:sp>
      <p:sp>
        <p:nvSpPr>
          <p:cNvPr id="471" name="Google Shape;471;p9"/>
          <p:cNvSpPr txBox="1"/>
          <p:nvPr/>
        </p:nvSpPr>
        <p:spPr>
          <a:xfrm>
            <a:off x="4507992" y="4901184"/>
            <a:ext cx="3429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API Routes</a:t>
            </a:r>
            <a:endParaRPr/>
          </a:p>
        </p:txBody>
      </p:sp>
      <p:sp>
        <p:nvSpPr>
          <p:cNvPr id="472" name="Google Shape;472;p9"/>
          <p:cNvSpPr txBox="1"/>
          <p:nvPr/>
        </p:nvSpPr>
        <p:spPr>
          <a:xfrm>
            <a:off x="4507992" y="5404104"/>
            <a:ext cx="3429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/api 폴더 = 백엔드 API 엔드포인트</a:t>
            </a:r>
            <a:endParaRPr/>
          </a:p>
        </p:txBody>
      </p:sp>
      <p:sp>
        <p:nvSpPr>
          <p:cNvPr id="473" name="Google Shape;473;p9"/>
          <p:cNvSpPr txBox="1"/>
          <p:nvPr/>
        </p:nvSpPr>
        <p:spPr>
          <a:xfrm>
            <a:off x="4507992" y="5907024"/>
            <a:ext cx="3429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이미지·폰트 자동 최적화</a:t>
            </a:r>
            <a:endParaRPr/>
          </a:p>
        </p:txBody>
      </p:sp>
      <p:sp>
        <p:nvSpPr>
          <p:cNvPr id="474" name="Google Shape;474;p9"/>
          <p:cNvSpPr txBox="1"/>
          <p:nvPr/>
        </p:nvSpPr>
        <p:spPr>
          <a:xfrm>
            <a:off x="4507992" y="6409944"/>
            <a:ext cx="3429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next/image, next/font 기본 내장</a:t>
            </a:r>
            <a:endParaRPr/>
          </a:p>
        </p:txBody>
      </p:sp>
      <p:sp>
        <p:nvSpPr>
          <p:cNvPr id="475" name="Google Shape;475;p9"/>
          <p:cNvSpPr/>
          <p:nvPr/>
        </p:nvSpPr>
        <p:spPr>
          <a:xfrm>
            <a:off x="8275319" y="2395728"/>
            <a:ext cx="3749039" cy="4206240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9"/>
          <p:cNvSpPr/>
          <p:nvPr/>
        </p:nvSpPr>
        <p:spPr>
          <a:xfrm>
            <a:off x="8275319" y="2395728"/>
            <a:ext cx="3749039" cy="384048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9"/>
          <p:cNvSpPr/>
          <p:nvPr/>
        </p:nvSpPr>
        <p:spPr>
          <a:xfrm>
            <a:off x="8275319" y="2395728"/>
            <a:ext cx="109728" cy="384048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9"/>
          <p:cNvSpPr txBox="1"/>
          <p:nvPr/>
        </p:nvSpPr>
        <p:spPr>
          <a:xfrm>
            <a:off x="8476488" y="242316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적합한 서비스</a:t>
            </a:r>
            <a:endParaRPr/>
          </a:p>
        </p:txBody>
      </p:sp>
      <p:sp>
        <p:nvSpPr>
          <p:cNvPr id="479" name="Google Shape;479;p9"/>
          <p:cNvSpPr txBox="1"/>
          <p:nvPr/>
        </p:nvSpPr>
        <p:spPr>
          <a:xfrm>
            <a:off x="8439911" y="2889504"/>
            <a:ext cx="3429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SEO가 중요한 서비스</a:t>
            </a:r>
            <a:endParaRPr/>
          </a:p>
        </p:txBody>
      </p:sp>
      <p:sp>
        <p:nvSpPr>
          <p:cNvPr id="480" name="Google Shape;480;p9"/>
          <p:cNvSpPr txBox="1"/>
          <p:nvPr/>
        </p:nvSpPr>
        <p:spPr>
          <a:xfrm>
            <a:off x="8439911" y="3392424"/>
            <a:ext cx="3429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금융 공시, 마케팅, 고객 포털</a:t>
            </a:r>
            <a:endParaRPr/>
          </a:p>
        </p:txBody>
      </p:sp>
      <p:sp>
        <p:nvSpPr>
          <p:cNvPr id="481" name="Google Shape;481;p9"/>
          <p:cNvSpPr txBox="1"/>
          <p:nvPr/>
        </p:nvSpPr>
        <p:spPr>
          <a:xfrm>
            <a:off x="8439911" y="3895344"/>
            <a:ext cx="3429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관리자 대시보드</a:t>
            </a:r>
            <a:endParaRPr/>
          </a:p>
        </p:txBody>
      </p:sp>
      <p:sp>
        <p:nvSpPr>
          <p:cNvPr id="482" name="Google Shape;482;p9"/>
          <p:cNvSpPr txBox="1"/>
          <p:nvPr/>
        </p:nvSpPr>
        <p:spPr>
          <a:xfrm>
            <a:off x="8439911" y="4398264"/>
            <a:ext cx="3429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인증 있는 내부 시스템</a:t>
            </a:r>
            <a:endParaRPr/>
          </a:p>
        </p:txBody>
      </p:sp>
      <p:sp>
        <p:nvSpPr>
          <p:cNvPr id="483" name="Google Shape;483;p9"/>
          <p:cNvSpPr txBox="1"/>
          <p:nvPr/>
        </p:nvSpPr>
        <p:spPr>
          <a:xfrm>
            <a:off x="8439911" y="4901184"/>
            <a:ext cx="3429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▸  BFF (Backend for Frontend)</a:t>
            </a:r>
            <a:endParaRPr/>
          </a:p>
        </p:txBody>
      </p:sp>
      <p:sp>
        <p:nvSpPr>
          <p:cNvPr id="484" name="Google Shape;484;p9"/>
          <p:cNvSpPr txBox="1"/>
          <p:nvPr/>
        </p:nvSpPr>
        <p:spPr>
          <a:xfrm>
            <a:off x="8439911" y="5404104"/>
            <a:ext cx="3429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    Spring API를 화면에 맞게 조합·변환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0"/>
          <p:cNvSpPr txBox="1"/>
          <p:nvPr/>
        </p:nvSpPr>
        <p:spPr>
          <a:xfrm>
            <a:off x="411480" y="594360"/>
            <a:ext cx="1143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08  Next.js – 장점 / 단점</a:t>
            </a:r>
            <a:endParaRPr/>
          </a:p>
        </p:txBody>
      </p:sp>
      <p:sp>
        <p:nvSpPr>
          <p:cNvPr id="492" name="Google Shape;492;p10"/>
          <p:cNvSpPr/>
          <p:nvPr/>
        </p:nvSpPr>
        <p:spPr>
          <a:xfrm>
            <a:off x="411480" y="1261872"/>
            <a:ext cx="1136599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0"/>
          <p:cNvSpPr/>
          <p:nvPr/>
        </p:nvSpPr>
        <p:spPr>
          <a:xfrm>
            <a:off x="411480" y="1508760"/>
            <a:ext cx="5440680" cy="5074920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0"/>
          <p:cNvSpPr/>
          <p:nvPr/>
        </p:nvSpPr>
        <p:spPr>
          <a:xfrm>
            <a:off x="411480" y="1508760"/>
            <a:ext cx="5440680" cy="384048"/>
          </a:xfrm>
          <a:prstGeom prst="rect">
            <a:avLst/>
          </a:prstGeom>
          <a:solidFill>
            <a:srgbClr val="2DA8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0"/>
          <p:cNvSpPr txBox="1"/>
          <p:nvPr/>
        </p:nvSpPr>
        <p:spPr>
          <a:xfrm>
            <a:off x="594360" y="1536192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주요 장점</a:t>
            </a:r>
            <a:endParaRPr/>
          </a:p>
        </p:txBody>
      </p:sp>
      <p:sp>
        <p:nvSpPr>
          <p:cNvPr id="496" name="Google Shape;496;p10"/>
          <p:cNvSpPr/>
          <p:nvPr/>
        </p:nvSpPr>
        <p:spPr>
          <a:xfrm>
            <a:off x="548640" y="2139696"/>
            <a:ext cx="91440" cy="91440"/>
          </a:xfrm>
          <a:prstGeom prst="rect">
            <a:avLst/>
          </a:prstGeom>
          <a:solidFill>
            <a:srgbClr val="2DA8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0"/>
          <p:cNvSpPr txBox="1"/>
          <p:nvPr/>
        </p:nvSpPr>
        <p:spPr>
          <a:xfrm>
            <a:off x="731520" y="202996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SEO 기본 최적화</a:t>
            </a:r>
            <a:endParaRPr/>
          </a:p>
        </p:txBody>
      </p:sp>
      <p:sp>
        <p:nvSpPr>
          <p:cNvPr id="498" name="Google Shape;498;p10"/>
          <p:cNvSpPr txBox="1"/>
          <p:nvPr/>
        </p:nvSpPr>
        <p:spPr>
          <a:xfrm>
            <a:off x="731520" y="2304288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SSR/SSG로 검색엔진 크롤링 최적화 기본 제공</a:t>
            </a:r>
            <a:endParaRPr/>
          </a:p>
        </p:txBody>
      </p:sp>
      <p:sp>
        <p:nvSpPr>
          <p:cNvPr id="499" name="Google Shape;499;p10"/>
          <p:cNvSpPr/>
          <p:nvPr/>
        </p:nvSpPr>
        <p:spPr>
          <a:xfrm>
            <a:off x="548640" y="2788920"/>
            <a:ext cx="91440" cy="91440"/>
          </a:xfrm>
          <a:prstGeom prst="rect">
            <a:avLst/>
          </a:prstGeom>
          <a:solidFill>
            <a:srgbClr val="2DA8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0"/>
          <p:cNvSpPr txBox="1"/>
          <p:nvPr/>
        </p:nvSpPr>
        <p:spPr>
          <a:xfrm>
            <a:off x="731520" y="26791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빠른 초기 로딩</a:t>
            </a:r>
            <a:endParaRPr/>
          </a:p>
        </p:txBody>
      </p:sp>
      <p:sp>
        <p:nvSpPr>
          <p:cNvPr id="501" name="Google Shape;501;p10"/>
          <p:cNvSpPr txBox="1"/>
          <p:nvPr/>
        </p:nvSpPr>
        <p:spPr>
          <a:xfrm>
            <a:off x="731520" y="2953512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서버에서 완성된 HTML 전달 → 사용자 체감 빠름</a:t>
            </a:r>
            <a:endParaRPr/>
          </a:p>
        </p:txBody>
      </p:sp>
      <p:sp>
        <p:nvSpPr>
          <p:cNvPr id="502" name="Google Shape;502;p10"/>
          <p:cNvSpPr/>
          <p:nvPr/>
        </p:nvSpPr>
        <p:spPr>
          <a:xfrm>
            <a:off x="548640" y="3438144"/>
            <a:ext cx="91440" cy="91440"/>
          </a:xfrm>
          <a:prstGeom prst="rect">
            <a:avLst/>
          </a:prstGeom>
          <a:solidFill>
            <a:srgbClr val="2DA8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0"/>
          <p:cNvSpPr txBox="1"/>
          <p:nvPr/>
        </p:nvSpPr>
        <p:spPr>
          <a:xfrm>
            <a:off x="731520" y="3328416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풀스택 개발 가능</a:t>
            </a:r>
            <a:endParaRPr/>
          </a:p>
        </p:txBody>
      </p:sp>
      <p:sp>
        <p:nvSpPr>
          <p:cNvPr id="504" name="Google Shape;504;p10"/>
          <p:cNvSpPr txBox="1"/>
          <p:nvPr/>
        </p:nvSpPr>
        <p:spPr>
          <a:xfrm>
            <a:off x="731520" y="3602736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API Routes로 별도 서버 없이 백엔드 API 작성</a:t>
            </a:r>
            <a:endParaRPr/>
          </a:p>
        </p:txBody>
      </p:sp>
      <p:sp>
        <p:nvSpPr>
          <p:cNvPr id="505" name="Google Shape;505;p10"/>
          <p:cNvSpPr/>
          <p:nvPr/>
        </p:nvSpPr>
        <p:spPr>
          <a:xfrm>
            <a:off x="548640" y="4087368"/>
            <a:ext cx="91440" cy="91440"/>
          </a:xfrm>
          <a:prstGeom prst="rect">
            <a:avLst/>
          </a:prstGeom>
          <a:solidFill>
            <a:srgbClr val="2DA8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0"/>
          <p:cNvSpPr txBox="1"/>
          <p:nvPr/>
        </p:nvSpPr>
        <p:spPr>
          <a:xfrm>
            <a:off x="731520" y="3977639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자동 코드 분할</a:t>
            </a:r>
            <a:endParaRPr/>
          </a:p>
        </p:txBody>
      </p:sp>
      <p:sp>
        <p:nvSpPr>
          <p:cNvPr id="507" name="Google Shape;507;p10"/>
          <p:cNvSpPr txBox="1"/>
          <p:nvPr/>
        </p:nvSpPr>
        <p:spPr>
          <a:xfrm>
            <a:off x="731520" y="4251959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페이지별 필요한 JS만 로딩 → 성능 자동 최적화</a:t>
            </a:r>
            <a:endParaRPr/>
          </a:p>
        </p:txBody>
      </p:sp>
      <p:sp>
        <p:nvSpPr>
          <p:cNvPr id="508" name="Google Shape;508;p10"/>
          <p:cNvSpPr/>
          <p:nvPr/>
        </p:nvSpPr>
        <p:spPr>
          <a:xfrm>
            <a:off x="548640" y="4736592"/>
            <a:ext cx="91440" cy="91440"/>
          </a:xfrm>
          <a:prstGeom prst="rect">
            <a:avLst/>
          </a:prstGeom>
          <a:solidFill>
            <a:srgbClr val="2DA8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0"/>
          <p:cNvSpPr txBox="1"/>
          <p:nvPr/>
        </p:nvSpPr>
        <p:spPr>
          <a:xfrm>
            <a:off x="731520" y="4626864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개발 생산성</a:t>
            </a:r>
            <a:endParaRPr/>
          </a:p>
        </p:txBody>
      </p:sp>
      <p:sp>
        <p:nvSpPr>
          <p:cNvPr id="510" name="Google Shape;510;p10"/>
          <p:cNvSpPr txBox="1"/>
          <p:nvPr/>
        </p:nvSpPr>
        <p:spPr>
          <a:xfrm>
            <a:off x="731520" y="4901184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TypeScript·HMR·Tailwind 완벽 지원</a:t>
            </a:r>
            <a:endParaRPr/>
          </a:p>
        </p:txBody>
      </p:sp>
      <p:sp>
        <p:nvSpPr>
          <p:cNvPr id="511" name="Google Shape;511;p10"/>
          <p:cNvSpPr/>
          <p:nvPr/>
        </p:nvSpPr>
        <p:spPr>
          <a:xfrm>
            <a:off x="548640" y="5385816"/>
            <a:ext cx="91440" cy="91440"/>
          </a:xfrm>
          <a:prstGeom prst="rect">
            <a:avLst/>
          </a:prstGeom>
          <a:solidFill>
            <a:srgbClr val="2DA8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0"/>
          <p:cNvSpPr txBox="1"/>
          <p:nvPr/>
        </p:nvSpPr>
        <p:spPr>
          <a:xfrm>
            <a:off x="731520" y="527608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React 생태계</a:t>
            </a:r>
            <a:endParaRPr/>
          </a:p>
        </p:txBody>
      </p:sp>
      <p:sp>
        <p:nvSpPr>
          <p:cNvPr id="513" name="Google Shape;513;p10"/>
          <p:cNvSpPr txBox="1"/>
          <p:nvPr/>
        </p:nvSpPr>
        <p:spPr>
          <a:xfrm>
            <a:off x="731520" y="5550407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React 모든 기능 + 방대한 npm 패키지 사용</a:t>
            </a:r>
            <a:endParaRPr/>
          </a:p>
        </p:txBody>
      </p:sp>
      <p:sp>
        <p:nvSpPr>
          <p:cNvPr id="514" name="Google Shape;514;p10"/>
          <p:cNvSpPr/>
          <p:nvPr/>
        </p:nvSpPr>
        <p:spPr>
          <a:xfrm>
            <a:off x="548640" y="6035040"/>
            <a:ext cx="91440" cy="91440"/>
          </a:xfrm>
          <a:prstGeom prst="rect">
            <a:avLst/>
          </a:prstGeom>
          <a:solidFill>
            <a:srgbClr val="2DA8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0"/>
          <p:cNvSpPr txBox="1"/>
          <p:nvPr/>
        </p:nvSpPr>
        <p:spPr>
          <a:xfrm>
            <a:off x="731520" y="592531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파일 기반 라우팅</a:t>
            </a:r>
            <a:endParaRPr/>
          </a:p>
        </p:txBody>
      </p:sp>
      <p:sp>
        <p:nvSpPr>
          <p:cNvPr id="516" name="Google Shape;516;p10"/>
          <p:cNvSpPr txBox="1"/>
          <p:nvPr/>
        </p:nvSpPr>
        <p:spPr>
          <a:xfrm>
            <a:off x="731520" y="6199632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폴더 구조로 URL 자동 설정 → 설정 코드 불필요</a:t>
            </a:r>
            <a:endParaRPr/>
          </a:p>
        </p:txBody>
      </p:sp>
      <p:sp>
        <p:nvSpPr>
          <p:cNvPr id="517" name="Google Shape;517;p10"/>
          <p:cNvSpPr/>
          <p:nvPr/>
        </p:nvSpPr>
        <p:spPr>
          <a:xfrm>
            <a:off x="6336792" y="1508760"/>
            <a:ext cx="5440680" cy="5074920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0"/>
          <p:cNvSpPr/>
          <p:nvPr/>
        </p:nvSpPr>
        <p:spPr>
          <a:xfrm>
            <a:off x="6336792" y="1508760"/>
            <a:ext cx="5440680" cy="384048"/>
          </a:xfrm>
          <a:prstGeom prst="rect">
            <a:avLst/>
          </a:prstGeom>
          <a:solidFill>
            <a:srgbClr val="E53E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0"/>
          <p:cNvSpPr txBox="1"/>
          <p:nvPr/>
        </p:nvSpPr>
        <p:spPr>
          <a:xfrm>
            <a:off x="6519672" y="1536192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⚠️  단점 / 주의사항</a:t>
            </a:r>
            <a:endParaRPr/>
          </a:p>
        </p:txBody>
      </p:sp>
      <p:sp>
        <p:nvSpPr>
          <p:cNvPr id="520" name="Google Shape;520;p10"/>
          <p:cNvSpPr/>
          <p:nvPr/>
        </p:nvSpPr>
        <p:spPr>
          <a:xfrm>
            <a:off x="6473952" y="2139696"/>
            <a:ext cx="91440" cy="91440"/>
          </a:xfrm>
          <a:prstGeom prst="rect">
            <a:avLst/>
          </a:prstGeom>
          <a:solidFill>
            <a:srgbClr val="E53E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0"/>
          <p:cNvSpPr txBox="1"/>
          <p:nvPr/>
        </p:nvSpPr>
        <p:spPr>
          <a:xfrm>
            <a:off x="6656832" y="202996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React 선행 학습</a:t>
            </a:r>
            <a:endParaRPr/>
          </a:p>
        </p:txBody>
      </p:sp>
      <p:sp>
        <p:nvSpPr>
          <p:cNvPr id="522" name="Google Shape;522;p10"/>
          <p:cNvSpPr txBox="1"/>
          <p:nvPr/>
        </p:nvSpPr>
        <p:spPr>
          <a:xfrm>
            <a:off x="6656832" y="2304288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JSX·Hook·컴포넌트 개념 선이해 필요</a:t>
            </a:r>
            <a:endParaRPr/>
          </a:p>
        </p:txBody>
      </p:sp>
      <p:sp>
        <p:nvSpPr>
          <p:cNvPr id="523" name="Google Shape;523;p10"/>
          <p:cNvSpPr/>
          <p:nvPr/>
        </p:nvSpPr>
        <p:spPr>
          <a:xfrm>
            <a:off x="6473952" y="2788920"/>
            <a:ext cx="91440" cy="91440"/>
          </a:xfrm>
          <a:prstGeom prst="rect">
            <a:avLst/>
          </a:prstGeom>
          <a:solidFill>
            <a:srgbClr val="E53E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0"/>
          <p:cNvSpPr txBox="1"/>
          <p:nvPr/>
        </p:nvSpPr>
        <p:spPr>
          <a:xfrm>
            <a:off x="6656832" y="26791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서버/클라이언트 구분</a:t>
            </a:r>
            <a:endParaRPr/>
          </a:p>
        </p:txBody>
      </p:sp>
      <p:sp>
        <p:nvSpPr>
          <p:cNvPr id="525" name="Google Shape;525;p10"/>
          <p:cNvSpPr txBox="1"/>
          <p:nvPr/>
        </p:nvSpPr>
        <p:spPr>
          <a:xfrm>
            <a:off x="6656832" y="2953512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'use client' 구분 실수 시 오류 발생</a:t>
            </a:r>
            <a:endParaRPr/>
          </a:p>
        </p:txBody>
      </p:sp>
      <p:sp>
        <p:nvSpPr>
          <p:cNvPr id="526" name="Google Shape;526;p10"/>
          <p:cNvSpPr/>
          <p:nvPr/>
        </p:nvSpPr>
        <p:spPr>
          <a:xfrm>
            <a:off x="6473952" y="3438144"/>
            <a:ext cx="91440" cy="91440"/>
          </a:xfrm>
          <a:prstGeom prst="rect">
            <a:avLst/>
          </a:prstGeom>
          <a:solidFill>
            <a:srgbClr val="E53E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0"/>
          <p:cNvSpPr txBox="1"/>
          <p:nvPr/>
        </p:nvSpPr>
        <p:spPr>
          <a:xfrm>
            <a:off x="6656832" y="3328416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빠른 버전 변화</a:t>
            </a:r>
            <a:endParaRPr/>
          </a:p>
        </p:txBody>
      </p:sp>
      <p:sp>
        <p:nvSpPr>
          <p:cNvPr id="528" name="Google Shape;528;p10"/>
          <p:cNvSpPr txBox="1"/>
          <p:nvPr/>
        </p:nvSpPr>
        <p:spPr>
          <a:xfrm>
            <a:off x="6656832" y="3602736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App Router(v13+) 등 변경 빈번 → 레퍼런스 산재</a:t>
            </a:r>
            <a:endParaRPr/>
          </a:p>
        </p:txBody>
      </p:sp>
      <p:sp>
        <p:nvSpPr>
          <p:cNvPr id="529" name="Google Shape;529;p10"/>
          <p:cNvSpPr/>
          <p:nvPr/>
        </p:nvSpPr>
        <p:spPr>
          <a:xfrm>
            <a:off x="6473952" y="4087368"/>
            <a:ext cx="91440" cy="91440"/>
          </a:xfrm>
          <a:prstGeom prst="rect">
            <a:avLst/>
          </a:prstGeom>
          <a:solidFill>
            <a:srgbClr val="E53E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0"/>
          <p:cNvSpPr txBox="1"/>
          <p:nvPr/>
        </p:nvSpPr>
        <p:spPr>
          <a:xfrm>
            <a:off x="6656832" y="3977639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SSR 서버 비용</a:t>
            </a:r>
            <a:endParaRPr/>
          </a:p>
        </p:txBody>
      </p:sp>
      <p:sp>
        <p:nvSpPr>
          <p:cNvPr id="531" name="Google Shape;531;p10"/>
          <p:cNvSpPr txBox="1"/>
          <p:nvPr/>
        </p:nvSpPr>
        <p:spPr>
          <a:xfrm>
            <a:off x="6656832" y="4251959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매 요청 서버 처리 → 정적 배포보다 비용 높음</a:t>
            </a:r>
            <a:endParaRPr/>
          </a:p>
        </p:txBody>
      </p:sp>
      <p:sp>
        <p:nvSpPr>
          <p:cNvPr id="532" name="Google Shape;532;p10"/>
          <p:cNvSpPr/>
          <p:nvPr/>
        </p:nvSpPr>
        <p:spPr>
          <a:xfrm>
            <a:off x="6473952" y="4736592"/>
            <a:ext cx="91440" cy="91440"/>
          </a:xfrm>
          <a:prstGeom prst="rect">
            <a:avLst/>
          </a:prstGeom>
          <a:solidFill>
            <a:srgbClr val="E53E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0"/>
          <p:cNvSpPr txBox="1"/>
          <p:nvPr/>
        </p:nvSpPr>
        <p:spPr>
          <a:xfrm>
            <a:off x="6656832" y="4626864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JS/Node 생태계</a:t>
            </a:r>
            <a:endParaRPr/>
          </a:p>
        </p:txBody>
      </p:sp>
      <p:sp>
        <p:nvSpPr>
          <p:cNvPr id="534" name="Google Shape;534;p10"/>
          <p:cNvSpPr txBox="1"/>
          <p:nvPr/>
        </p:nvSpPr>
        <p:spPr>
          <a:xfrm>
            <a:off x="6656832" y="4901184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Java 개발자는 npm·Node.js 환경 별도 학습</a:t>
            </a:r>
            <a:endParaRPr/>
          </a:p>
        </p:txBody>
      </p:sp>
      <p:sp>
        <p:nvSpPr>
          <p:cNvPr id="535" name="Google Shape;535;p10"/>
          <p:cNvSpPr/>
          <p:nvPr/>
        </p:nvSpPr>
        <p:spPr>
          <a:xfrm>
            <a:off x="6473952" y="5385816"/>
            <a:ext cx="91440" cy="91440"/>
          </a:xfrm>
          <a:prstGeom prst="rect">
            <a:avLst/>
          </a:prstGeom>
          <a:solidFill>
            <a:srgbClr val="E53E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0"/>
          <p:cNvSpPr txBox="1"/>
          <p:nvPr/>
        </p:nvSpPr>
        <p:spPr>
          <a:xfrm>
            <a:off x="6656832" y="527608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디버깅 복잡성</a:t>
            </a:r>
            <a:endParaRPr/>
          </a:p>
        </p:txBody>
      </p:sp>
      <p:sp>
        <p:nvSpPr>
          <p:cNvPr id="537" name="Google Shape;537;p10"/>
          <p:cNvSpPr txBox="1"/>
          <p:nvPr/>
        </p:nvSpPr>
        <p:spPr>
          <a:xfrm>
            <a:off x="6656832" y="5550407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서버·클라이언트 코드 혼재 시 추적 어려움</a:t>
            </a:r>
            <a:endParaRPr/>
          </a:p>
        </p:txBody>
      </p:sp>
      <p:sp>
        <p:nvSpPr>
          <p:cNvPr id="538" name="Google Shape;538;p10"/>
          <p:cNvSpPr/>
          <p:nvPr/>
        </p:nvSpPr>
        <p:spPr>
          <a:xfrm>
            <a:off x="6473952" y="6035040"/>
            <a:ext cx="91440" cy="91440"/>
          </a:xfrm>
          <a:prstGeom prst="rect">
            <a:avLst/>
          </a:prstGeom>
          <a:solidFill>
            <a:srgbClr val="E53E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0"/>
          <p:cNvSpPr txBox="1"/>
          <p:nvPr/>
        </p:nvSpPr>
        <p:spPr>
          <a:xfrm>
            <a:off x="6656832" y="592531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빌드 시간</a:t>
            </a:r>
            <a:endParaRPr/>
          </a:p>
        </p:txBody>
      </p:sp>
      <p:sp>
        <p:nvSpPr>
          <p:cNvPr id="540" name="Google Shape;540;p10"/>
          <p:cNvSpPr txBox="1"/>
          <p:nvPr/>
        </p:nvSpPr>
        <p:spPr>
          <a:xfrm>
            <a:off x="6656832" y="6199632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SSG 페이지 많을수록 빌드 시간 증가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1"/>
          <p:cNvSpPr txBox="1"/>
          <p:nvPr/>
        </p:nvSpPr>
        <p:spPr>
          <a:xfrm>
            <a:off x="411480" y="594360"/>
            <a:ext cx="1143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09  Next.js – 코드 예시</a:t>
            </a:r>
            <a:endParaRPr/>
          </a:p>
        </p:txBody>
      </p:sp>
      <p:sp>
        <p:nvSpPr>
          <p:cNvPr id="548" name="Google Shape;548;p11"/>
          <p:cNvSpPr/>
          <p:nvPr/>
        </p:nvSpPr>
        <p:spPr>
          <a:xfrm>
            <a:off x="411480" y="1261872"/>
            <a:ext cx="1136599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1"/>
          <p:cNvSpPr/>
          <p:nvPr/>
        </p:nvSpPr>
        <p:spPr>
          <a:xfrm>
            <a:off x="411480" y="1508760"/>
            <a:ext cx="5486400" cy="2450592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1"/>
          <p:cNvSpPr/>
          <p:nvPr/>
        </p:nvSpPr>
        <p:spPr>
          <a:xfrm>
            <a:off x="411480" y="1508760"/>
            <a:ext cx="5486400" cy="320040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1"/>
          <p:cNvSpPr txBox="1"/>
          <p:nvPr/>
        </p:nvSpPr>
        <p:spPr>
          <a:xfrm>
            <a:off x="576072" y="1545336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① 파일 기반 라우팅 (설정 불필요)</a:t>
            </a:r>
            <a:endParaRPr/>
          </a:p>
        </p:txBody>
      </p:sp>
      <p:sp>
        <p:nvSpPr>
          <p:cNvPr id="552" name="Google Shape;552;p11"/>
          <p:cNvSpPr txBox="1"/>
          <p:nvPr/>
        </p:nvSpPr>
        <p:spPr>
          <a:xfrm>
            <a:off x="576072" y="1856231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폴더 구조 = URL 자동 매핑 — Spring의 @RequestMapping과 유사</a:t>
            </a:r>
            <a:endParaRPr/>
          </a:p>
        </p:txBody>
      </p:sp>
      <p:sp>
        <p:nvSpPr>
          <p:cNvPr id="553" name="Google Shape;553;p11"/>
          <p:cNvSpPr/>
          <p:nvPr/>
        </p:nvSpPr>
        <p:spPr>
          <a:xfrm>
            <a:off x="411480" y="2130552"/>
            <a:ext cx="5486400" cy="1828800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1"/>
          <p:cNvSpPr/>
          <p:nvPr/>
        </p:nvSpPr>
        <p:spPr>
          <a:xfrm>
            <a:off x="411480" y="2130552"/>
            <a:ext cx="5486400" cy="9144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1"/>
          <p:cNvSpPr txBox="1"/>
          <p:nvPr/>
        </p:nvSpPr>
        <p:spPr>
          <a:xfrm>
            <a:off x="576072" y="2240280"/>
            <a:ext cx="52120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// 📁 app/ 폴더 구조가 곧 URL!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app/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(main)/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9DCEB"/>
                </a:solidFill>
                <a:latin typeface="Calibri"/>
                <a:ea typeface="Calibri"/>
                <a:cs typeface="Calibri"/>
                <a:sym typeface="Calibri"/>
              </a:rPr>
              <a:t>    calendar/page.tsx  →  /calendar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9DCEB"/>
                </a:solidFill>
                <a:latin typeface="Calibri"/>
                <a:ea typeface="Calibri"/>
                <a:cs typeface="Calibri"/>
                <a:sym typeface="Calibri"/>
              </a:rPr>
              <a:t>    memo/page.tsx      →  /memo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(auth)/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9DCEB"/>
                </a:solidFill>
                <a:latin typeface="Calibri"/>
                <a:ea typeface="Calibri"/>
                <a:cs typeface="Calibri"/>
                <a:sym typeface="Calibri"/>
              </a:rPr>
              <a:t>    login/page.tsx     →  /login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api/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9DCEB"/>
                </a:solidFill>
                <a:latin typeface="Calibri"/>
                <a:ea typeface="Calibri"/>
                <a:cs typeface="Calibri"/>
                <a:sym typeface="Calibri"/>
              </a:rPr>
              <a:t>    users/route.ts     →  /api/users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// → @RequestMapping 설정 없이 자동!</a:t>
            </a:r>
            <a:endParaRPr/>
          </a:p>
        </p:txBody>
      </p:sp>
      <p:sp>
        <p:nvSpPr>
          <p:cNvPr id="556" name="Google Shape;556;p11"/>
          <p:cNvSpPr/>
          <p:nvPr/>
        </p:nvSpPr>
        <p:spPr>
          <a:xfrm>
            <a:off x="6291072" y="1508760"/>
            <a:ext cx="5486400" cy="2450592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1"/>
          <p:cNvSpPr/>
          <p:nvPr/>
        </p:nvSpPr>
        <p:spPr>
          <a:xfrm>
            <a:off x="6291072" y="1508760"/>
            <a:ext cx="5486400" cy="320040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1"/>
          <p:cNvSpPr txBox="1"/>
          <p:nvPr/>
        </p:nvSpPr>
        <p:spPr>
          <a:xfrm>
            <a:off x="6455664" y="1545336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② Server Component (SSR)</a:t>
            </a:r>
            <a:endParaRPr/>
          </a:p>
        </p:txBody>
      </p:sp>
      <p:sp>
        <p:nvSpPr>
          <p:cNvPr id="559" name="Google Shape;559;p11"/>
          <p:cNvSpPr txBox="1"/>
          <p:nvPr/>
        </p:nvSpPr>
        <p:spPr>
          <a:xfrm>
            <a:off x="6455664" y="1856231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서버에서 실행되는 컴포넌트 — 완성된 HTML을 전달해 SEO 최적화</a:t>
            </a:r>
            <a:endParaRPr/>
          </a:p>
        </p:txBody>
      </p:sp>
      <p:sp>
        <p:nvSpPr>
          <p:cNvPr id="560" name="Google Shape;560;p11"/>
          <p:cNvSpPr/>
          <p:nvPr/>
        </p:nvSpPr>
        <p:spPr>
          <a:xfrm>
            <a:off x="6291072" y="2130552"/>
            <a:ext cx="5486400" cy="1828800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1"/>
          <p:cNvSpPr/>
          <p:nvPr/>
        </p:nvSpPr>
        <p:spPr>
          <a:xfrm>
            <a:off x="6291072" y="2130552"/>
            <a:ext cx="5486400" cy="9144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1"/>
          <p:cNvSpPr txBox="1"/>
          <p:nvPr/>
        </p:nvSpPr>
        <p:spPr>
          <a:xfrm>
            <a:off x="6455664" y="2240280"/>
            <a:ext cx="52120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// 'use client' 없으면 서버에서 실행!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export default async function TechPage()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const res = await fetch(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9DCEB"/>
                </a:solidFill>
                <a:latin typeface="Calibri"/>
                <a:ea typeface="Calibri"/>
                <a:cs typeface="Calibri"/>
                <a:sym typeface="Calibri"/>
              </a:rPr>
              <a:t>    'http://api-gateway/api/contents'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const data = await res.json();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  // 서버에서 렌더링 → SEO 최적화!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return &lt;ContentList items={data} /&gt;;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563" name="Google Shape;563;p11"/>
          <p:cNvSpPr/>
          <p:nvPr/>
        </p:nvSpPr>
        <p:spPr>
          <a:xfrm>
            <a:off x="411480" y="4114800"/>
            <a:ext cx="5486400" cy="2487168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1"/>
          <p:cNvSpPr/>
          <p:nvPr/>
        </p:nvSpPr>
        <p:spPr>
          <a:xfrm>
            <a:off x="411480" y="4114800"/>
            <a:ext cx="5486400" cy="320040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1"/>
          <p:cNvSpPr txBox="1"/>
          <p:nvPr/>
        </p:nvSpPr>
        <p:spPr>
          <a:xfrm>
            <a:off x="576072" y="4151376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③ Client Component (React Hook 사용)</a:t>
            </a:r>
            <a:endParaRPr/>
          </a:p>
        </p:txBody>
      </p:sp>
      <p:sp>
        <p:nvSpPr>
          <p:cNvPr id="566" name="Google Shape;566;p11"/>
          <p:cNvSpPr txBox="1"/>
          <p:nvPr/>
        </p:nvSpPr>
        <p:spPr>
          <a:xfrm>
            <a:off x="576072" y="4462272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'use client' 선언 시 브라우저 실행 — useState·useEffect 사용 가능</a:t>
            </a:r>
            <a:endParaRPr/>
          </a:p>
        </p:txBody>
      </p:sp>
      <p:sp>
        <p:nvSpPr>
          <p:cNvPr id="567" name="Google Shape;567;p11"/>
          <p:cNvSpPr/>
          <p:nvPr/>
        </p:nvSpPr>
        <p:spPr>
          <a:xfrm>
            <a:off x="411480" y="4736592"/>
            <a:ext cx="5486400" cy="1865376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1"/>
          <p:cNvSpPr/>
          <p:nvPr/>
        </p:nvSpPr>
        <p:spPr>
          <a:xfrm>
            <a:off x="411480" y="4736592"/>
            <a:ext cx="5486400" cy="9144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1"/>
          <p:cNvSpPr txBox="1"/>
          <p:nvPr/>
        </p:nvSpPr>
        <p:spPr>
          <a:xfrm>
            <a:off x="576072" y="4846320"/>
            <a:ext cx="5212080" cy="1682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'use client';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export default function MemoPage()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const [memos, setMemos] = useState([]);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CDD6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useEffect(() =&gt;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fetchMemos().then(setMemos);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}, []);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CDD6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return &lt;MemoList items={memos} /&gt;;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570" name="Google Shape;570;p11"/>
          <p:cNvSpPr/>
          <p:nvPr/>
        </p:nvSpPr>
        <p:spPr>
          <a:xfrm>
            <a:off x="6291072" y="4114800"/>
            <a:ext cx="5486400" cy="2487168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1"/>
          <p:cNvSpPr/>
          <p:nvPr/>
        </p:nvSpPr>
        <p:spPr>
          <a:xfrm>
            <a:off x="6291072" y="4114800"/>
            <a:ext cx="5486400" cy="320040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1"/>
          <p:cNvSpPr txBox="1"/>
          <p:nvPr/>
        </p:nvSpPr>
        <p:spPr>
          <a:xfrm>
            <a:off x="6455664" y="4151376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D600"/>
                </a:solidFill>
                <a:latin typeface="Calibri"/>
                <a:ea typeface="Calibri"/>
                <a:cs typeface="Calibri"/>
                <a:sym typeface="Calibri"/>
              </a:rPr>
              <a:t>④ API Route (백엔드 API)</a:t>
            </a:r>
            <a:endParaRPr/>
          </a:p>
        </p:txBody>
      </p:sp>
      <p:sp>
        <p:nvSpPr>
          <p:cNvPr id="573" name="Google Shape;573;p11"/>
          <p:cNvSpPr txBox="1"/>
          <p:nvPr/>
        </p:nvSpPr>
        <p:spPr>
          <a:xfrm>
            <a:off x="6455664" y="4462272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5570"/>
                </a:solidFill>
                <a:latin typeface="Calibri"/>
                <a:ea typeface="Calibri"/>
                <a:cs typeface="Calibri"/>
                <a:sym typeface="Calibri"/>
              </a:rPr>
              <a:t>app/api 폴더에 route.ts 생성만으로 REST API 엔드포인트 완성</a:t>
            </a:r>
            <a:endParaRPr/>
          </a:p>
        </p:txBody>
      </p:sp>
      <p:sp>
        <p:nvSpPr>
          <p:cNvPr id="574" name="Google Shape;574;p11"/>
          <p:cNvSpPr/>
          <p:nvPr/>
        </p:nvSpPr>
        <p:spPr>
          <a:xfrm>
            <a:off x="6291072" y="4736592"/>
            <a:ext cx="5486400" cy="1865376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1"/>
          <p:cNvSpPr/>
          <p:nvPr/>
        </p:nvSpPr>
        <p:spPr>
          <a:xfrm>
            <a:off x="6291072" y="4736592"/>
            <a:ext cx="5486400" cy="9144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1"/>
          <p:cNvSpPr txBox="1"/>
          <p:nvPr/>
        </p:nvSpPr>
        <p:spPr>
          <a:xfrm>
            <a:off x="6455664" y="4846320"/>
            <a:ext cx="5212080" cy="1682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// app/api/memos/route.ts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export async function GET(req: Request)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return Response.json(await getMemos());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CDD6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export async function POST(req: Request)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const body = await req.json();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return Response.json(await createMemo(body));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2"/>
          <p:cNvSpPr txBox="1"/>
          <p:nvPr/>
        </p:nvSpPr>
        <p:spPr>
          <a:xfrm>
            <a:off x="411480" y="594360"/>
            <a:ext cx="1143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10  React / Spring / Next.js – 종합 비교</a:t>
            </a:r>
            <a:endParaRPr/>
          </a:p>
        </p:txBody>
      </p:sp>
      <p:sp>
        <p:nvSpPr>
          <p:cNvPr id="584" name="Google Shape;584;p12"/>
          <p:cNvSpPr/>
          <p:nvPr/>
        </p:nvSpPr>
        <p:spPr>
          <a:xfrm>
            <a:off x="411480" y="1261872"/>
            <a:ext cx="11365992" cy="36576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2"/>
          <p:cNvSpPr/>
          <p:nvPr/>
        </p:nvSpPr>
        <p:spPr>
          <a:xfrm>
            <a:off x="347472" y="1508760"/>
            <a:ext cx="2176272" cy="420624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2"/>
          <p:cNvSpPr txBox="1"/>
          <p:nvPr/>
        </p:nvSpPr>
        <p:spPr>
          <a:xfrm>
            <a:off x="438912" y="1536192"/>
            <a:ext cx="201167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항목</a:t>
            </a:r>
            <a:endParaRPr/>
          </a:p>
        </p:txBody>
      </p:sp>
      <p:sp>
        <p:nvSpPr>
          <p:cNvPr id="587" name="Google Shape;587;p12"/>
          <p:cNvSpPr/>
          <p:nvPr/>
        </p:nvSpPr>
        <p:spPr>
          <a:xfrm>
            <a:off x="2606040" y="1508760"/>
            <a:ext cx="2889504" cy="420624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2"/>
          <p:cNvSpPr/>
          <p:nvPr/>
        </p:nvSpPr>
        <p:spPr>
          <a:xfrm>
            <a:off x="2606040" y="1508760"/>
            <a:ext cx="2889504" cy="64008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2"/>
          <p:cNvSpPr txBox="1"/>
          <p:nvPr/>
        </p:nvSpPr>
        <p:spPr>
          <a:xfrm>
            <a:off x="2697480" y="1536192"/>
            <a:ext cx="27249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Spring</a:t>
            </a:r>
            <a:endParaRPr/>
          </a:p>
        </p:txBody>
      </p:sp>
      <p:sp>
        <p:nvSpPr>
          <p:cNvPr id="590" name="Google Shape;590;p12"/>
          <p:cNvSpPr/>
          <p:nvPr/>
        </p:nvSpPr>
        <p:spPr>
          <a:xfrm>
            <a:off x="5577840" y="1508760"/>
            <a:ext cx="2889504" cy="420624"/>
          </a:xfrm>
          <a:prstGeom prst="rect">
            <a:avLst/>
          </a:prstGeom>
          <a:solidFill>
            <a:srgbClr val="007E8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2"/>
          <p:cNvSpPr/>
          <p:nvPr/>
        </p:nvSpPr>
        <p:spPr>
          <a:xfrm>
            <a:off x="5577840" y="1508760"/>
            <a:ext cx="2889504" cy="64008"/>
          </a:xfrm>
          <a:prstGeom prst="rect">
            <a:avLst/>
          </a:prstGeom>
          <a:solidFill>
            <a:srgbClr val="00BCD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2"/>
          <p:cNvSpPr txBox="1"/>
          <p:nvPr/>
        </p:nvSpPr>
        <p:spPr>
          <a:xfrm>
            <a:off x="5669279" y="1536192"/>
            <a:ext cx="27249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</a:t>
            </a:r>
            <a:endParaRPr/>
          </a:p>
        </p:txBody>
      </p:sp>
      <p:sp>
        <p:nvSpPr>
          <p:cNvPr id="593" name="Google Shape;593;p12"/>
          <p:cNvSpPr/>
          <p:nvPr/>
        </p:nvSpPr>
        <p:spPr>
          <a:xfrm>
            <a:off x="8549640" y="1508760"/>
            <a:ext cx="2889504" cy="420624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2"/>
          <p:cNvSpPr/>
          <p:nvPr/>
        </p:nvSpPr>
        <p:spPr>
          <a:xfrm>
            <a:off x="8549640" y="1508760"/>
            <a:ext cx="2889504" cy="64008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2"/>
          <p:cNvSpPr txBox="1"/>
          <p:nvPr/>
        </p:nvSpPr>
        <p:spPr>
          <a:xfrm>
            <a:off x="8641080" y="1536192"/>
            <a:ext cx="27249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Next.js</a:t>
            </a:r>
            <a:endParaRPr/>
          </a:p>
        </p:txBody>
      </p:sp>
      <p:sp>
        <p:nvSpPr>
          <p:cNvPr id="596" name="Google Shape;596;p12"/>
          <p:cNvSpPr/>
          <p:nvPr/>
        </p:nvSpPr>
        <p:spPr>
          <a:xfrm>
            <a:off x="347472" y="2002536"/>
            <a:ext cx="2176272" cy="585216"/>
          </a:xfrm>
          <a:prstGeom prst="rect">
            <a:avLst/>
          </a:prstGeom>
          <a:solidFill>
            <a:srgbClr val="F9F9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2"/>
          <p:cNvSpPr txBox="1"/>
          <p:nvPr/>
        </p:nvSpPr>
        <p:spPr>
          <a:xfrm>
            <a:off x="484632" y="2121408"/>
            <a:ext cx="1947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언어</a:t>
            </a:r>
            <a:endParaRPr/>
          </a:p>
        </p:txBody>
      </p:sp>
      <p:sp>
        <p:nvSpPr>
          <p:cNvPr id="598" name="Google Shape;598;p12"/>
          <p:cNvSpPr/>
          <p:nvPr/>
        </p:nvSpPr>
        <p:spPr>
          <a:xfrm>
            <a:off x="2606040" y="2002536"/>
            <a:ext cx="2889504" cy="585216"/>
          </a:xfrm>
          <a:prstGeom prst="rect">
            <a:avLst/>
          </a:prstGeom>
          <a:solidFill>
            <a:srgbClr val="F9F9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2"/>
          <p:cNvSpPr txBox="1"/>
          <p:nvPr/>
        </p:nvSpPr>
        <p:spPr>
          <a:xfrm>
            <a:off x="2743200" y="2121408"/>
            <a:ext cx="2660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Java / Kotlin</a:t>
            </a:r>
            <a:endParaRPr/>
          </a:p>
        </p:txBody>
      </p:sp>
      <p:sp>
        <p:nvSpPr>
          <p:cNvPr id="600" name="Google Shape;600;p12"/>
          <p:cNvSpPr/>
          <p:nvPr/>
        </p:nvSpPr>
        <p:spPr>
          <a:xfrm>
            <a:off x="5577840" y="2002536"/>
            <a:ext cx="2889504" cy="585216"/>
          </a:xfrm>
          <a:prstGeom prst="rect">
            <a:avLst/>
          </a:prstGeom>
          <a:solidFill>
            <a:srgbClr val="F9F9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2"/>
          <p:cNvSpPr txBox="1"/>
          <p:nvPr/>
        </p:nvSpPr>
        <p:spPr>
          <a:xfrm>
            <a:off x="5715000" y="2121408"/>
            <a:ext cx="2660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JavaScript / TypeScript</a:t>
            </a:r>
            <a:endParaRPr/>
          </a:p>
        </p:txBody>
      </p:sp>
      <p:sp>
        <p:nvSpPr>
          <p:cNvPr id="602" name="Google Shape;602;p12"/>
          <p:cNvSpPr/>
          <p:nvPr/>
        </p:nvSpPr>
        <p:spPr>
          <a:xfrm>
            <a:off x="8549640" y="2002536"/>
            <a:ext cx="2889504" cy="585216"/>
          </a:xfrm>
          <a:prstGeom prst="rect">
            <a:avLst/>
          </a:prstGeom>
          <a:solidFill>
            <a:srgbClr val="F9F9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2"/>
          <p:cNvSpPr txBox="1"/>
          <p:nvPr/>
        </p:nvSpPr>
        <p:spPr>
          <a:xfrm>
            <a:off x="8686800" y="2121408"/>
            <a:ext cx="2660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JavaScript / TypeScript</a:t>
            </a:r>
            <a:endParaRPr/>
          </a:p>
        </p:txBody>
      </p:sp>
      <p:sp>
        <p:nvSpPr>
          <p:cNvPr id="604" name="Google Shape;604;p12"/>
          <p:cNvSpPr/>
          <p:nvPr/>
        </p:nvSpPr>
        <p:spPr>
          <a:xfrm>
            <a:off x="347472" y="2624328"/>
            <a:ext cx="2176272" cy="5852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2"/>
          <p:cNvSpPr txBox="1"/>
          <p:nvPr/>
        </p:nvSpPr>
        <p:spPr>
          <a:xfrm>
            <a:off x="484632" y="2743200"/>
            <a:ext cx="1947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역할</a:t>
            </a:r>
            <a:endParaRPr/>
          </a:p>
        </p:txBody>
      </p:sp>
      <p:sp>
        <p:nvSpPr>
          <p:cNvPr id="606" name="Google Shape;606;p12"/>
          <p:cNvSpPr/>
          <p:nvPr/>
        </p:nvSpPr>
        <p:spPr>
          <a:xfrm>
            <a:off x="2606040" y="2624328"/>
            <a:ext cx="2889504" cy="5852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2"/>
          <p:cNvSpPr txBox="1"/>
          <p:nvPr/>
        </p:nvSpPr>
        <p:spPr>
          <a:xfrm>
            <a:off x="2743200" y="2743200"/>
            <a:ext cx="2660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백엔드 API·비즈니스 로직</a:t>
            </a:r>
            <a:endParaRPr/>
          </a:p>
        </p:txBody>
      </p:sp>
      <p:sp>
        <p:nvSpPr>
          <p:cNvPr id="608" name="Google Shape;608;p12"/>
          <p:cNvSpPr/>
          <p:nvPr/>
        </p:nvSpPr>
        <p:spPr>
          <a:xfrm>
            <a:off x="5577840" y="2624328"/>
            <a:ext cx="2889504" cy="5852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2"/>
          <p:cNvSpPr txBox="1"/>
          <p:nvPr/>
        </p:nvSpPr>
        <p:spPr>
          <a:xfrm>
            <a:off x="5715000" y="2743200"/>
            <a:ext cx="2660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UI 컴포넌트 라이브러리</a:t>
            </a:r>
            <a:endParaRPr/>
          </a:p>
        </p:txBody>
      </p:sp>
      <p:sp>
        <p:nvSpPr>
          <p:cNvPr id="610" name="Google Shape;610;p12"/>
          <p:cNvSpPr/>
          <p:nvPr/>
        </p:nvSpPr>
        <p:spPr>
          <a:xfrm>
            <a:off x="8549640" y="2624328"/>
            <a:ext cx="2889504" cy="5852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2"/>
          <p:cNvSpPr txBox="1"/>
          <p:nvPr/>
        </p:nvSpPr>
        <p:spPr>
          <a:xfrm>
            <a:off x="8686800" y="2743200"/>
            <a:ext cx="2660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프론트엔드 + BFF</a:t>
            </a:r>
            <a:endParaRPr/>
          </a:p>
        </p:txBody>
      </p:sp>
      <p:sp>
        <p:nvSpPr>
          <p:cNvPr id="612" name="Google Shape;612;p12"/>
          <p:cNvSpPr/>
          <p:nvPr/>
        </p:nvSpPr>
        <p:spPr>
          <a:xfrm>
            <a:off x="347472" y="3246120"/>
            <a:ext cx="2176272" cy="585216"/>
          </a:xfrm>
          <a:prstGeom prst="rect">
            <a:avLst/>
          </a:prstGeom>
          <a:solidFill>
            <a:srgbClr val="F9F9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2"/>
          <p:cNvSpPr txBox="1"/>
          <p:nvPr/>
        </p:nvSpPr>
        <p:spPr>
          <a:xfrm>
            <a:off x="484632" y="3364991"/>
            <a:ext cx="1947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렌더링</a:t>
            </a:r>
            <a:endParaRPr/>
          </a:p>
        </p:txBody>
      </p:sp>
      <p:sp>
        <p:nvSpPr>
          <p:cNvPr id="614" name="Google Shape;614;p12"/>
          <p:cNvSpPr/>
          <p:nvPr/>
        </p:nvSpPr>
        <p:spPr>
          <a:xfrm>
            <a:off x="2606040" y="3246120"/>
            <a:ext cx="2889504" cy="585216"/>
          </a:xfrm>
          <a:prstGeom prst="rect">
            <a:avLst/>
          </a:prstGeom>
          <a:solidFill>
            <a:srgbClr val="F9F9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2"/>
          <p:cNvSpPr txBox="1"/>
          <p:nvPr/>
        </p:nvSpPr>
        <p:spPr>
          <a:xfrm>
            <a:off x="2743200" y="3364991"/>
            <a:ext cx="2660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JSON 데이터 응답</a:t>
            </a:r>
            <a:endParaRPr/>
          </a:p>
        </p:txBody>
      </p:sp>
      <p:sp>
        <p:nvSpPr>
          <p:cNvPr id="616" name="Google Shape;616;p12"/>
          <p:cNvSpPr/>
          <p:nvPr/>
        </p:nvSpPr>
        <p:spPr>
          <a:xfrm>
            <a:off x="5577840" y="3246120"/>
            <a:ext cx="2889504" cy="585216"/>
          </a:xfrm>
          <a:prstGeom prst="rect">
            <a:avLst/>
          </a:prstGeom>
          <a:solidFill>
            <a:srgbClr val="F9F9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2"/>
          <p:cNvSpPr txBox="1"/>
          <p:nvPr/>
        </p:nvSpPr>
        <p:spPr>
          <a:xfrm>
            <a:off x="5715000" y="3364991"/>
            <a:ext cx="2660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CSR (브라우저 렌더링)</a:t>
            </a:r>
            <a:endParaRPr/>
          </a:p>
        </p:txBody>
      </p:sp>
      <p:sp>
        <p:nvSpPr>
          <p:cNvPr id="618" name="Google Shape;618;p12"/>
          <p:cNvSpPr/>
          <p:nvPr/>
        </p:nvSpPr>
        <p:spPr>
          <a:xfrm>
            <a:off x="8549640" y="3246120"/>
            <a:ext cx="2889504" cy="585216"/>
          </a:xfrm>
          <a:prstGeom prst="rect">
            <a:avLst/>
          </a:prstGeom>
          <a:solidFill>
            <a:srgbClr val="F9F9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2"/>
          <p:cNvSpPr txBox="1"/>
          <p:nvPr/>
        </p:nvSpPr>
        <p:spPr>
          <a:xfrm>
            <a:off x="8686800" y="3364991"/>
            <a:ext cx="2660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SSR·SSG·CSR 선택</a:t>
            </a:r>
            <a:endParaRPr/>
          </a:p>
        </p:txBody>
      </p:sp>
      <p:sp>
        <p:nvSpPr>
          <p:cNvPr id="620" name="Google Shape;620;p12"/>
          <p:cNvSpPr/>
          <p:nvPr/>
        </p:nvSpPr>
        <p:spPr>
          <a:xfrm>
            <a:off x="347472" y="3867912"/>
            <a:ext cx="2176272" cy="5852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2"/>
          <p:cNvSpPr txBox="1"/>
          <p:nvPr/>
        </p:nvSpPr>
        <p:spPr>
          <a:xfrm>
            <a:off x="484632" y="3986784"/>
            <a:ext cx="1947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라우팅</a:t>
            </a:r>
            <a:endParaRPr/>
          </a:p>
        </p:txBody>
      </p:sp>
      <p:sp>
        <p:nvSpPr>
          <p:cNvPr id="622" name="Google Shape;622;p12"/>
          <p:cNvSpPr/>
          <p:nvPr/>
        </p:nvSpPr>
        <p:spPr>
          <a:xfrm>
            <a:off x="2606040" y="3867912"/>
            <a:ext cx="2889504" cy="5852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2"/>
          <p:cNvSpPr txBox="1"/>
          <p:nvPr/>
        </p:nvSpPr>
        <p:spPr>
          <a:xfrm>
            <a:off x="2743200" y="3986784"/>
            <a:ext cx="2660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@RequestMapping</a:t>
            </a:r>
            <a:endParaRPr/>
          </a:p>
        </p:txBody>
      </p:sp>
      <p:sp>
        <p:nvSpPr>
          <p:cNvPr id="624" name="Google Shape;624;p12"/>
          <p:cNvSpPr/>
          <p:nvPr/>
        </p:nvSpPr>
        <p:spPr>
          <a:xfrm>
            <a:off x="5577840" y="3867912"/>
            <a:ext cx="2889504" cy="5852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2"/>
          <p:cNvSpPr txBox="1"/>
          <p:nvPr/>
        </p:nvSpPr>
        <p:spPr>
          <a:xfrm>
            <a:off x="5715000" y="3986784"/>
            <a:ext cx="2660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React Router 별도 설치</a:t>
            </a:r>
            <a:endParaRPr/>
          </a:p>
        </p:txBody>
      </p:sp>
      <p:sp>
        <p:nvSpPr>
          <p:cNvPr id="626" name="Google Shape;626;p12"/>
          <p:cNvSpPr/>
          <p:nvPr/>
        </p:nvSpPr>
        <p:spPr>
          <a:xfrm>
            <a:off x="8549640" y="3867912"/>
            <a:ext cx="2889504" cy="5852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2"/>
          <p:cNvSpPr txBox="1"/>
          <p:nvPr/>
        </p:nvSpPr>
        <p:spPr>
          <a:xfrm>
            <a:off x="8686800" y="3986784"/>
            <a:ext cx="2660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폴더 구조 자동 라우팅</a:t>
            </a:r>
            <a:endParaRPr/>
          </a:p>
        </p:txBody>
      </p:sp>
      <p:sp>
        <p:nvSpPr>
          <p:cNvPr id="628" name="Google Shape;628;p12"/>
          <p:cNvSpPr/>
          <p:nvPr/>
        </p:nvSpPr>
        <p:spPr>
          <a:xfrm>
            <a:off x="347472" y="4489704"/>
            <a:ext cx="2176272" cy="585216"/>
          </a:xfrm>
          <a:prstGeom prst="rect">
            <a:avLst/>
          </a:prstGeom>
          <a:solidFill>
            <a:srgbClr val="F9F9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2"/>
          <p:cNvSpPr txBox="1"/>
          <p:nvPr/>
        </p:nvSpPr>
        <p:spPr>
          <a:xfrm>
            <a:off x="484632" y="4608576"/>
            <a:ext cx="1947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서버 필요</a:t>
            </a:r>
            <a:endParaRPr/>
          </a:p>
        </p:txBody>
      </p:sp>
      <p:sp>
        <p:nvSpPr>
          <p:cNvPr id="630" name="Google Shape;630;p12"/>
          <p:cNvSpPr/>
          <p:nvPr/>
        </p:nvSpPr>
        <p:spPr>
          <a:xfrm>
            <a:off x="2606040" y="4489704"/>
            <a:ext cx="2889504" cy="585216"/>
          </a:xfrm>
          <a:prstGeom prst="rect">
            <a:avLst/>
          </a:prstGeom>
          <a:solidFill>
            <a:srgbClr val="F9F9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2"/>
          <p:cNvSpPr txBox="1"/>
          <p:nvPr/>
        </p:nvSpPr>
        <p:spPr>
          <a:xfrm>
            <a:off x="2743200" y="4608576"/>
            <a:ext cx="2660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필수 (JVM/Spring Boot)</a:t>
            </a:r>
            <a:endParaRPr/>
          </a:p>
        </p:txBody>
      </p:sp>
      <p:sp>
        <p:nvSpPr>
          <p:cNvPr id="632" name="Google Shape;632;p12"/>
          <p:cNvSpPr/>
          <p:nvPr/>
        </p:nvSpPr>
        <p:spPr>
          <a:xfrm>
            <a:off x="5577840" y="4489704"/>
            <a:ext cx="2889504" cy="585216"/>
          </a:xfrm>
          <a:prstGeom prst="rect">
            <a:avLst/>
          </a:prstGeom>
          <a:solidFill>
            <a:srgbClr val="F9F9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2"/>
          <p:cNvSpPr txBox="1"/>
          <p:nvPr/>
        </p:nvSpPr>
        <p:spPr>
          <a:xfrm>
            <a:off x="5715000" y="4608576"/>
            <a:ext cx="2660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불필요 (정적 파일)</a:t>
            </a:r>
            <a:endParaRPr/>
          </a:p>
        </p:txBody>
      </p:sp>
      <p:sp>
        <p:nvSpPr>
          <p:cNvPr id="634" name="Google Shape;634;p12"/>
          <p:cNvSpPr/>
          <p:nvPr/>
        </p:nvSpPr>
        <p:spPr>
          <a:xfrm>
            <a:off x="8549640" y="4489704"/>
            <a:ext cx="2889504" cy="585216"/>
          </a:xfrm>
          <a:prstGeom prst="rect">
            <a:avLst/>
          </a:prstGeom>
          <a:solidFill>
            <a:srgbClr val="F9F9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2"/>
          <p:cNvSpPr txBox="1"/>
          <p:nvPr/>
        </p:nvSpPr>
        <p:spPr>
          <a:xfrm>
            <a:off x="8686800" y="4608576"/>
            <a:ext cx="2660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필요 (Node.js 서버)</a:t>
            </a:r>
            <a:endParaRPr/>
          </a:p>
        </p:txBody>
      </p:sp>
      <p:sp>
        <p:nvSpPr>
          <p:cNvPr id="636" name="Google Shape;636;p12"/>
          <p:cNvSpPr/>
          <p:nvPr/>
        </p:nvSpPr>
        <p:spPr>
          <a:xfrm>
            <a:off x="347472" y="5111496"/>
            <a:ext cx="2176272" cy="5852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2"/>
          <p:cNvSpPr txBox="1"/>
          <p:nvPr/>
        </p:nvSpPr>
        <p:spPr>
          <a:xfrm>
            <a:off x="484632" y="5230368"/>
            <a:ext cx="1947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학습 난이도</a:t>
            </a:r>
            <a:endParaRPr/>
          </a:p>
        </p:txBody>
      </p:sp>
      <p:sp>
        <p:nvSpPr>
          <p:cNvPr id="638" name="Google Shape;638;p12"/>
          <p:cNvSpPr/>
          <p:nvPr/>
        </p:nvSpPr>
        <p:spPr>
          <a:xfrm>
            <a:off x="2606040" y="5111496"/>
            <a:ext cx="2889504" cy="5852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2"/>
          <p:cNvSpPr txBox="1"/>
          <p:nvPr/>
        </p:nvSpPr>
        <p:spPr>
          <a:xfrm>
            <a:off x="2743200" y="5230368"/>
            <a:ext cx="2660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높음</a:t>
            </a:r>
            <a:endParaRPr/>
          </a:p>
        </p:txBody>
      </p:sp>
      <p:sp>
        <p:nvSpPr>
          <p:cNvPr id="640" name="Google Shape;640;p12"/>
          <p:cNvSpPr/>
          <p:nvPr/>
        </p:nvSpPr>
        <p:spPr>
          <a:xfrm>
            <a:off x="5577840" y="5111496"/>
            <a:ext cx="2889504" cy="5852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2"/>
          <p:cNvSpPr txBox="1"/>
          <p:nvPr/>
        </p:nvSpPr>
        <p:spPr>
          <a:xfrm>
            <a:off x="5715000" y="5230368"/>
            <a:ext cx="2660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중간</a:t>
            </a:r>
            <a:endParaRPr/>
          </a:p>
        </p:txBody>
      </p:sp>
      <p:sp>
        <p:nvSpPr>
          <p:cNvPr id="642" name="Google Shape;642;p12"/>
          <p:cNvSpPr/>
          <p:nvPr/>
        </p:nvSpPr>
        <p:spPr>
          <a:xfrm>
            <a:off x="8549640" y="5111496"/>
            <a:ext cx="2889504" cy="5852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2"/>
          <p:cNvSpPr txBox="1"/>
          <p:nvPr/>
        </p:nvSpPr>
        <p:spPr>
          <a:xfrm>
            <a:off x="8686800" y="5230368"/>
            <a:ext cx="2660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중간 (React 선이해 필요)</a:t>
            </a:r>
            <a:endParaRPr/>
          </a:p>
        </p:txBody>
      </p:sp>
      <p:sp>
        <p:nvSpPr>
          <p:cNvPr id="644" name="Google Shape;644;p12"/>
          <p:cNvSpPr/>
          <p:nvPr/>
        </p:nvSpPr>
        <p:spPr>
          <a:xfrm>
            <a:off x="347472" y="5733288"/>
            <a:ext cx="2176272" cy="585216"/>
          </a:xfrm>
          <a:prstGeom prst="rect">
            <a:avLst/>
          </a:prstGeom>
          <a:solidFill>
            <a:srgbClr val="F9F9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2"/>
          <p:cNvSpPr txBox="1"/>
          <p:nvPr/>
        </p:nvSpPr>
        <p:spPr>
          <a:xfrm>
            <a:off x="484632" y="5852159"/>
            <a:ext cx="1947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금융권 활용</a:t>
            </a:r>
            <a:endParaRPr/>
          </a:p>
        </p:txBody>
      </p:sp>
      <p:sp>
        <p:nvSpPr>
          <p:cNvPr id="646" name="Google Shape;646;p12"/>
          <p:cNvSpPr/>
          <p:nvPr/>
        </p:nvSpPr>
        <p:spPr>
          <a:xfrm>
            <a:off x="2606040" y="5733288"/>
            <a:ext cx="2889504" cy="585216"/>
          </a:xfrm>
          <a:prstGeom prst="rect">
            <a:avLst/>
          </a:prstGeom>
          <a:solidFill>
            <a:srgbClr val="F9F9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2"/>
          <p:cNvSpPr txBox="1"/>
          <p:nvPr/>
        </p:nvSpPr>
        <p:spPr>
          <a:xfrm>
            <a:off x="2743200" y="5852159"/>
            <a:ext cx="2660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트랜잭션·보안 핵심 처리</a:t>
            </a:r>
            <a:endParaRPr/>
          </a:p>
        </p:txBody>
      </p:sp>
      <p:sp>
        <p:nvSpPr>
          <p:cNvPr id="648" name="Google Shape;648;p12"/>
          <p:cNvSpPr/>
          <p:nvPr/>
        </p:nvSpPr>
        <p:spPr>
          <a:xfrm>
            <a:off x="5577840" y="5733288"/>
            <a:ext cx="2889504" cy="585216"/>
          </a:xfrm>
          <a:prstGeom prst="rect">
            <a:avLst/>
          </a:prstGeom>
          <a:solidFill>
            <a:srgbClr val="F9F9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2"/>
          <p:cNvSpPr txBox="1"/>
          <p:nvPr/>
        </p:nvSpPr>
        <p:spPr>
          <a:xfrm>
            <a:off x="5715000" y="5852159"/>
            <a:ext cx="2660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관리자 SPA 화면</a:t>
            </a:r>
            <a:endParaRPr/>
          </a:p>
        </p:txBody>
      </p:sp>
      <p:sp>
        <p:nvSpPr>
          <p:cNvPr id="650" name="Google Shape;650;p12"/>
          <p:cNvSpPr/>
          <p:nvPr/>
        </p:nvSpPr>
        <p:spPr>
          <a:xfrm>
            <a:off x="8549640" y="5733288"/>
            <a:ext cx="2889504" cy="585216"/>
          </a:xfrm>
          <a:prstGeom prst="rect">
            <a:avLst/>
          </a:prstGeom>
          <a:solidFill>
            <a:srgbClr val="F9F9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2"/>
          <p:cNvSpPr txBox="1"/>
          <p:nvPr/>
        </p:nvSpPr>
        <p:spPr>
          <a:xfrm>
            <a:off x="8686800" y="5852159"/>
            <a:ext cx="2660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고객 포털·마케팅</a:t>
            </a:r>
            <a:endParaRPr/>
          </a:p>
        </p:txBody>
      </p:sp>
      <p:sp>
        <p:nvSpPr>
          <p:cNvPr id="652" name="Google Shape;652;p12"/>
          <p:cNvSpPr/>
          <p:nvPr/>
        </p:nvSpPr>
        <p:spPr>
          <a:xfrm>
            <a:off x="347472" y="6382512"/>
            <a:ext cx="11494008" cy="274320"/>
          </a:xfrm>
          <a:prstGeom prst="rect">
            <a:avLst/>
          </a:prstGeom>
          <a:solidFill>
            <a:srgbClr val="FFFBE6"/>
          </a:solidFill>
          <a:ln cap="flat" cmpd="sng" w="15225">
            <a:solidFill>
              <a:srgbClr val="FFD6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2"/>
          <p:cNvSpPr txBox="1"/>
          <p:nvPr/>
        </p:nvSpPr>
        <p:spPr>
          <a:xfrm>
            <a:off x="502920" y="6400800"/>
            <a:ext cx="11064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👉  Spring = 뒷단 두뇌 (데이터·보안·트랜잭션)   React = 화면 기반   Next.js = React + 서버 렌더링 + 라우팅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3"/>
          <p:cNvSpPr txBox="1"/>
          <p:nvPr/>
        </p:nvSpPr>
        <p:spPr>
          <a:xfrm>
            <a:off x="640080" y="292608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핵심 정리</a:t>
            </a:r>
            <a:endParaRPr/>
          </a:p>
        </p:txBody>
      </p:sp>
      <p:sp>
        <p:nvSpPr>
          <p:cNvPr id="662" name="Google Shape;662;p13"/>
          <p:cNvSpPr/>
          <p:nvPr/>
        </p:nvSpPr>
        <p:spPr>
          <a:xfrm>
            <a:off x="640080" y="969264"/>
            <a:ext cx="6400800" cy="64008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3"/>
          <p:cNvSpPr/>
          <p:nvPr/>
        </p:nvSpPr>
        <p:spPr>
          <a:xfrm>
            <a:off x="731520" y="1170432"/>
            <a:ext cx="3383280" cy="4919472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3"/>
          <p:cNvSpPr/>
          <p:nvPr/>
        </p:nvSpPr>
        <p:spPr>
          <a:xfrm>
            <a:off x="731520" y="1170432"/>
            <a:ext cx="3383280" cy="420624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3"/>
          <p:cNvSpPr/>
          <p:nvPr/>
        </p:nvSpPr>
        <p:spPr>
          <a:xfrm>
            <a:off x="731520" y="1170432"/>
            <a:ext cx="109728" cy="420624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3"/>
          <p:cNvSpPr txBox="1"/>
          <p:nvPr/>
        </p:nvSpPr>
        <p:spPr>
          <a:xfrm>
            <a:off x="932688" y="1197864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🔵 Spring</a:t>
            </a:r>
            <a:endParaRPr/>
          </a:p>
        </p:txBody>
      </p:sp>
      <p:sp>
        <p:nvSpPr>
          <p:cNvPr id="667" name="Google Shape;667;p13"/>
          <p:cNvSpPr/>
          <p:nvPr/>
        </p:nvSpPr>
        <p:spPr>
          <a:xfrm>
            <a:off x="914400" y="1764792"/>
            <a:ext cx="73152" cy="73152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3"/>
          <p:cNvSpPr txBox="1"/>
          <p:nvPr/>
        </p:nvSpPr>
        <p:spPr>
          <a:xfrm>
            <a:off x="1078992" y="1691640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Java 기반 백엔드의 사실상 표준 프레임워크</a:t>
            </a:r>
            <a:endParaRPr/>
          </a:p>
        </p:txBody>
      </p:sp>
      <p:sp>
        <p:nvSpPr>
          <p:cNvPr id="669" name="Google Shape;669;p13"/>
          <p:cNvSpPr/>
          <p:nvPr/>
        </p:nvSpPr>
        <p:spPr>
          <a:xfrm>
            <a:off x="914400" y="2907791"/>
            <a:ext cx="73152" cy="73152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3"/>
          <p:cNvSpPr txBox="1"/>
          <p:nvPr/>
        </p:nvSpPr>
        <p:spPr>
          <a:xfrm>
            <a:off x="1078992" y="2834640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IoC·DI·AOP로 MDD와 동일한 관심사 분리 철학</a:t>
            </a:r>
            <a:endParaRPr/>
          </a:p>
        </p:txBody>
      </p:sp>
      <p:sp>
        <p:nvSpPr>
          <p:cNvPr id="671" name="Google Shape;671;p13"/>
          <p:cNvSpPr/>
          <p:nvPr/>
        </p:nvSpPr>
        <p:spPr>
          <a:xfrm>
            <a:off x="914400" y="4050791"/>
            <a:ext cx="73152" cy="73152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3"/>
          <p:cNvSpPr txBox="1"/>
          <p:nvPr/>
        </p:nvSpPr>
        <p:spPr>
          <a:xfrm>
            <a:off x="1078992" y="3977639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@Transactional·JPA로 선언적·반복 없는 코드</a:t>
            </a:r>
            <a:endParaRPr/>
          </a:p>
        </p:txBody>
      </p:sp>
      <p:sp>
        <p:nvSpPr>
          <p:cNvPr id="673" name="Google Shape;673;p13"/>
          <p:cNvSpPr/>
          <p:nvPr/>
        </p:nvSpPr>
        <p:spPr>
          <a:xfrm>
            <a:off x="4343400" y="1170432"/>
            <a:ext cx="3383280" cy="4919472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3"/>
          <p:cNvSpPr/>
          <p:nvPr/>
        </p:nvSpPr>
        <p:spPr>
          <a:xfrm>
            <a:off x="4343400" y="1170432"/>
            <a:ext cx="3383280" cy="420624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3"/>
          <p:cNvSpPr/>
          <p:nvPr/>
        </p:nvSpPr>
        <p:spPr>
          <a:xfrm>
            <a:off x="4343400" y="1170432"/>
            <a:ext cx="109728" cy="420624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3"/>
          <p:cNvSpPr txBox="1"/>
          <p:nvPr/>
        </p:nvSpPr>
        <p:spPr>
          <a:xfrm>
            <a:off x="4544568" y="1197864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⚛  React</a:t>
            </a:r>
            <a:endParaRPr/>
          </a:p>
        </p:txBody>
      </p:sp>
      <p:sp>
        <p:nvSpPr>
          <p:cNvPr id="677" name="Google Shape;677;p13"/>
          <p:cNvSpPr/>
          <p:nvPr/>
        </p:nvSpPr>
        <p:spPr>
          <a:xfrm>
            <a:off x="4526280" y="1764792"/>
            <a:ext cx="73152" cy="73152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3"/>
          <p:cNvSpPr txBox="1"/>
          <p:nvPr/>
        </p:nvSpPr>
        <p:spPr>
          <a:xfrm>
            <a:off x="4690872" y="1691640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UI를 컴포넌트 단위로 분리해 재사용성 극대화</a:t>
            </a:r>
            <a:endParaRPr/>
          </a:p>
        </p:txBody>
      </p:sp>
      <p:sp>
        <p:nvSpPr>
          <p:cNvPr id="679" name="Google Shape;679;p13"/>
          <p:cNvSpPr/>
          <p:nvPr/>
        </p:nvSpPr>
        <p:spPr>
          <a:xfrm>
            <a:off x="4526280" y="2907791"/>
            <a:ext cx="73152" cy="73152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3"/>
          <p:cNvSpPr txBox="1"/>
          <p:nvPr/>
        </p:nvSpPr>
        <p:spPr>
          <a:xfrm>
            <a:off x="4690872" y="2834640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JSX·Hook으로 직관적이고 선언적인 UI 개발</a:t>
            </a:r>
            <a:endParaRPr/>
          </a:p>
        </p:txBody>
      </p:sp>
      <p:sp>
        <p:nvSpPr>
          <p:cNvPr id="681" name="Google Shape;681;p13"/>
          <p:cNvSpPr/>
          <p:nvPr/>
        </p:nvSpPr>
        <p:spPr>
          <a:xfrm>
            <a:off x="4526280" y="4050791"/>
            <a:ext cx="73152" cy="73152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3"/>
          <p:cNvSpPr txBox="1"/>
          <p:nvPr/>
        </p:nvSpPr>
        <p:spPr>
          <a:xfrm>
            <a:off x="4690872" y="3977639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Next.js·React Native의 공통 기반 기술</a:t>
            </a:r>
            <a:endParaRPr/>
          </a:p>
        </p:txBody>
      </p:sp>
      <p:sp>
        <p:nvSpPr>
          <p:cNvPr id="683" name="Google Shape;683;p13"/>
          <p:cNvSpPr/>
          <p:nvPr/>
        </p:nvSpPr>
        <p:spPr>
          <a:xfrm>
            <a:off x="7955280" y="1170432"/>
            <a:ext cx="3383280" cy="4919472"/>
          </a:xfrm>
          <a:prstGeom prst="rect">
            <a:avLst/>
          </a:prstGeom>
          <a:solidFill>
            <a:srgbClr val="F9F9FF"/>
          </a:solidFill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3"/>
          <p:cNvSpPr/>
          <p:nvPr/>
        </p:nvSpPr>
        <p:spPr>
          <a:xfrm>
            <a:off x="7955280" y="1170432"/>
            <a:ext cx="3383280" cy="420624"/>
          </a:xfrm>
          <a:prstGeom prst="rect">
            <a:avLst/>
          </a:prstGeom>
          <a:solidFill>
            <a:srgbClr val="1A27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3"/>
          <p:cNvSpPr/>
          <p:nvPr/>
        </p:nvSpPr>
        <p:spPr>
          <a:xfrm>
            <a:off x="7955280" y="1170432"/>
            <a:ext cx="109728" cy="420624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3"/>
          <p:cNvSpPr txBox="1"/>
          <p:nvPr/>
        </p:nvSpPr>
        <p:spPr>
          <a:xfrm>
            <a:off x="8156448" y="1197864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🟡 Next.js</a:t>
            </a:r>
            <a:endParaRPr/>
          </a:p>
        </p:txBody>
      </p:sp>
      <p:sp>
        <p:nvSpPr>
          <p:cNvPr id="687" name="Google Shape;687;p13"/>
          <p:cNvSpPr/>
          <p:nvPr/>
        </p:nvSpPr>
        <p:spPr>
          <a:xfrm>
            <a:off x="8138160" y="1764792"/>
            <a:ext cx="73152" cy="73152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3"/>
          <p:cNvSpPr txBox="1"/>
          <p:nvPr/>
        </p:nvSpPr>
        <p:spPr>
          <a:xfrm>
            <a:off x="8302752" y="1691640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React + SSR·SSG·파일 라우팅 = 완성형 프레임워크</a:t>
            </a:r>
            <a:endParaRPr/>
          </a:p>
        </p:txBody>
      </p:sp>
      <p:sp>
        <p:nvSpPr>
          <p:cNvPr id="689" name="Google Shape;689;p13"/>
          <p:cNvSpPr/>
          <p:nvPr/>
        </p:nvSpPr>
        <p:spPr>
          <a:xfrm>
            <a:off x="8138160" y="2907791"/>
            <a:ext cx="73152" cy="73152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3"/>
          <p:cNvSpPr txBox="1"/>
          <p:nvPr/>
        </p:nvSpPr>
        <p:spPr>
          <a:xfrm>
            <a:off x="8302752" y="2834640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SEO·성능 최적화를 설정 없이 기본 제공</a:t>
            </a:r>
            <a:endParaRPr/>
          </a:p>
        </p:txBody>
      </p:sp>
      <p:sp>
        <p:nvSpPr>
          <p:cNvPr id="691" name="Google Shape;691;p13"/>
          <p:cNvSpPr/>
          <p:nvPr/>
        </p:nvSpPr>
        <p:spPr>
          <a:xfrm>
            <a:off x="8138160" y="4050791"/>
            <a:ext cx="73152" cy="73152"/>
          </a:xfrm>
          <a:prstGeom prst="rect">
            <a:avLst/>
          </a:prstGeom>
          <a:solidFill>
            <a:srgbClr val="FFD6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3"/>
          <p:cNvSpPr txBox="1"/>
          <p:nvPr/>
        </p:nvSpPr>
        <p:spPr>
          <a:xfrm>
            <a:off x="8302752" y="3977639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A"/>
                </a:solidFill>
                <a:latin typeface="Calibri"/>
                <a:ea typeface="Calibri"/>
                <a:cs typeface="Calibri"/>
                <a:sym typeface="Calibri"/>
              </a:rPr>
              <a:t>풀스택 개발 가능 (API Routes 내장)</a:t>
            </a:r>
            <a:endParaRPr/>
          </a:p>
        </p:txBody>
      </p:sp>
      <p:sp>
        <p:nvSpPr>
          <p:cNvPr id="693" name="Google Shape;693;p13"/>
          <p:cNvSpPr txBox="1"/>
          <p:nvPr/>
        </p:nvSpPr>
        <p:spPr>
          <a:xfrm>
            <a:off x="640080" y="6336792"/>
            <a:ext cx="11430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2740"/>
                </a:solidFill>
                <a:latin typeface="Calibri"/>
                <a:ea typeface="Calibri"/>
                <a:cs typeface="Calibri"/>
                <a:sym typeface="Calibri"/>
              </a:rPr>
              <a:t>감사합니다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