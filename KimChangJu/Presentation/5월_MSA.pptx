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Noto Sans KR"/>
      <p:regular r:id="rId25"/>
      <p:bold r:id="rId26"/>
    </p:embeddedFont>
    <p:embeddedFont>
      <p:font typeface="Poppi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430DC8-47BB-4B46-9A86-1586F1A93C50}">
  <a:tblStyle styleId="{CE430DC8-47BB-4B46-9A86-1586F1A93C5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otoSansKR-bold.fntdata"/><Relationship Id="rId25" Type="http://schemas.openxmlformats.org/officeDocument/2006/relationships/font" Target="fonts/NotoSansKR-regular.fntdata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Poppi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3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4.png"/><Relationship Id="rId6" Type="http://schemas.openxmlformats.org/officeDocument/2006/relationships/image" Target="../media/image8.png"/><Relationship Id="rId7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37.png"/><Relationship Id="rId6" Type="http://schemas.openxmlformats.org/officeDocument/2006/relationships/image" Target="../media/image16.png"/><Relationship Id="rId7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Relationship Id="rId6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5.png"/><Relationship Id="rId5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9.png"/><Relationship Id="rId6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6.png"/><Relationship Id="rId9" Type="http://schemas.openxmlformats.org/officeDocument/2006/relationships/image" Target="../media/image27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Relationship Id="rId7" Type="http://schemas.openxmlformats.org/officeDocument/2006/relationships/image" Target="../media/image22.png"/><Relationship Id="rId8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42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43.png"/><Relationship Id="rId9" Type="http://schemas.openxmlformats.org/officeDocument/2006/relationships/image" Target="../media/image33.png"/><Relationship Id="rId5" Type="http://schemas.openxmlformats.org/officeDocument/2006/relationships/image" Target="../media/image38.png"/><Relationship Id="rId6" Type="http://schemas.openxmlformats.org/officeDocument/2006/relationships/image" Target="../media/image41.png"/><Relationship Id="rId7" Type="http://schemas.openxmlformats.org/officeDocument/2006/relationships/image" Target="../media/image34.png"/><Relationship Id="rId8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860911" y="2112168"/>
            <a:ext cx="647002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PART 01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860899" y="2416975"/>
            <a:ext cx="70389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MSA Fundamentals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601" y="3464718"/>
            <a:ext cx="952500" cy="5715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014960" y="3807618"/>
            <a:ext cx="616193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마이크로서비스 아키텍처의 핵심 철학과 시스템 설계의 기초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014960" y="4460081"/>
            <a:ext cx="61619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D4D"/>
                </a:solidFill>
                <a:latin typeface="Noto Sans KR"/>
                <a:ea typeface="Noto Sans KR"/>
                <a:cs typeface="Noto Sans KR"/>
                <a:sym typeface="Noto Sans KR"/>
              </a:rPr>
              <a:t>발표자 : 설정훈 과장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52637"/>
            <a:ext cx="4953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52500" y="2052637"/>
            <a:ext cx="5200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Business Centric Design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52500" y="2262187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애플리케이션을 비즈니스 기능 단위로 분해하여, 각 서비스가 독립적으로 개발·배포·운영되는 아키텍처 스타일입니다.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062162"/>
            <a:ext cx="493395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109912"/>
            <a:ext cx="23708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380083" y="3090862"/>
            <a:ext cx="3508474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비즈니스 민첩성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380083" y="3362325"/>
            <a:ext cx="3508474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기능별 빠른 시장 대응과 독립적인 릴리즈 사이클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814762"/>
            <a:ext cx="23708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380083" y="3795712"/>
            <a:ext cx="3670399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결함 격리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380083" y="4067175"/>
            <a:ext cx="3670399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장애가 전체 시스템으로 전이되지 않는 복원력 확보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81100" y="571500"/>
            <a:ext cx="1056132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MSA의 정의 및 핵심 가치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952500" y="571500"/>
            <a:ext cx="114300" cy="533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2" name="Google Shape;112;p15"/>
          <p:cNvGraphicFramePr/>
          <p:nvPr/>
        </p:nvGraphicFramePr>
        <p:xfrm>
          <a:off x="952500" y="22502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{CE430DC8-47BB-4B46-9A86-1586F1A93C50}</a:tableStyleId>
              </a:tblPr>
              <a:tblGrid>
                <a:gridCol w="2659550"/>
                <a:gridCol w="3633925"/>
                <a:gridCol w="3993500"/>
              </a:tblGrid>
              <a:tr h="62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E2D4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비교 항목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E2D4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전통적 모놀리스 (Monolith)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E2D4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마이크로서비스 (MSA)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2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배포 및 릴리즈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전체 애플리케이션 통합 배포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서비스 단위의 독립적인 배포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확장성 (Scalability)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전체 인스턴스 복제 방식 확장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부하가 높은 서비스만 정밀 확장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 관리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중앙 집중형 (Single DB)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서비스별 독립 분산 (Polyglot)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장애 파급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단일 실패 지점이 전체에 영향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서비스 내 장애 격리 및 빠른 복구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3" name="Google Shape;113;p15"/>
          <p:cNvSpPr/>
          <p:nvPr/>
        </p:nvSpPr>
        <p:spPr>
          <a:xfrm>
            <a:off x="952500" y="2888456"/>
            <a:ext cx="265955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952500" y="2264568"/>
            <a:ext cx="2659558" cy="28575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3612058" y="2888456"/>
            <a:ext cx="36339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3612058" y="2264568"/>
            <a:ext cx="3633936" cy="28575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7245994" y="2888456"/>
            <a:ext cx="39935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7245994" y="2264568"/>
            <a:ext cx="3993505" cy="28575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952500" y="3512343"/>
            <a:ext cx="265955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3612058" y="3512343"/>
            <a:ext cx="36339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7245994" y="3512343"/>
            <a:ext cx="39935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952500" y="4136231"/>
            <a:ext cx="265955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3612058" y="4136231"/>
            <a:ext cx="36339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7245994" y="4136231"/>
            <a:ext cx="39935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952500" y="4760118"/>
            <a:ext cx="265955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3612058" y="4760118"/>
            <a:ext cx="36339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7245994" y="4760118"/>
            <a:ext cx="39935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952500" y="5384006"/>
            <a:ext cx="265955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3612058" y="5384006"/>
            <a:ext cx="36339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7245994" y="5384006"/>
            <a:ext cx="39935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1181100" y="571500"/>
            <a:ext cx="10561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Monolith vs Microservices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952500" y="571500"/>
            <a:ext cx="114300" cy="4572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52637"/>
            <a:ext cx="4953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090862"/>
            <a:ext cx="4953000" cy="148113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952500" y="2052637"/>
            <a:ext cx="5200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Centralized Entry Point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52500" y="2262187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클라이언트로부터 내부 마이크로서비스 군집을 추상화하고, 요청 라우팅과 보안을 통합 관리합니다.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2062162"/>
            <a:ext cx="4933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1247775" y="3328987"/>
            <a:ext cx="44196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60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인증 및 인가</a:t>
            </a:r>
            <a:r>
              <a:rPr b="0" i="0" lang="en-US" sz="14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: 통합 보안 필터 적용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247775" y="3695700"/>
            <a:ext cx="44196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60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부하 분산</a:t>
            </a:r>
            <a:r>
              <a:rPr b="0" i="0" lang="en-US" sz="14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: 내부 서비스로 요청 분산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247775" y="4062412"/>
            <a:ext cx="44196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60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메트릭 수집</a:t>
            </a:r>
            <a:r>
              <a:rPr b="0" i="0" lang="en-US" sz="14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: 트래픽 통계 및 모니터링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47775" y="3352800"/>
            <a:ext cx="140791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47775" y="3719512"/>
            <a:ext cx="140791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47775" y="4086225"/>
            <a:ext cx="140791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1181100" y="571500"/>
            <a:ext cx="1056132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API Gateway: 통합 진입점 전략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952500" y="571500"/>
            <a:ext cx="114300" cy="533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826543"/>
            <a:ext cx="4953000" cy="1995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826543"/>
            <a:ext cx="4953000" cy="199548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1295400" y="3217068"/>
            <a:ext cx="448056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8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BC00"/>
                </a:solidFill>
                <a:latin typeface="Poppins"/>
                <a:ea typeface="Poppins"/>
                <a:cs typeface="Poppins"/>
                <a:sym typeface="Poppins"/>
              </a:rPr>
              <a:t>Dynamic Registry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295400" y="3569493"/>
            <a:ext cx="426720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기동 중인 서비스의 네트워크 위치 정보를 실시간으로 저장하는 '전화번호부'입니다. 클라우드 환경의 유동적인 인스턴스 위치를 자동으로 관리합니다.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629400" y="3217068"/>
            <a:ext cx="448056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8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BC00"/>
                </a:solidFill>
                <a:latin typeface="Poppins"/>
                <a:ea typeface="Poppins"/>
                <a:cs typeface="Poppins"/>
                <a:sym typeface="Poppins"/>
              </a:rPr>
              <a:t>Health Check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629400" y="3569493"/>
            <a:ext cx="426720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비정상적인 인스턴스를 감지하여 목록에서 자동 제외합니다. 항상 가용한 서비스만 호출 대상에 포함시켜 가용성을 보장합니다.</a:t>
            </a:r>
            <a:endParaRPr/>
          </a:p>
        </p:txBody>
      </p:sp>
      <p:pic>
        <p:nvPicPr>
          <p:cNvPr descr="image.png" id="162" name="Google Shape;16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95400" y="3236118"/>
            <a:ext cx="138707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3236118"/>
            <a:ext cx="138707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1181100" y="571500"/>
            <a:ext cx="10561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Service Discovery &amp; Registry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952500" y="571500"/>
            <a:ext cx="114300" cy="4572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1" name="Google Shape;171;p18"/>
          <p:cNvGraphicFramePr/>
          <p:nvPr/>
        </p:nvGraphicFramePr>
        <p:xfrm>
          <a:off x="952500" y="26003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{CE430DC8-47BB-4B46-9A86-1586F1A93C50}</a:tableStyleId>
              </a:tblPr>
              <a:tblGrid>
                <a:gridCol w="2082550"/>
                <a:gridCol w="4134600"/>
                <a:gridCol w="4069850"/>
              </a:tblGrid>
              <a:tr h="63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E2D4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E2D4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동기 통신 (REST / gRPC)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E2D4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비동기 통신 (Kafka / MQ)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3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응답 방식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즉각적인 Request-Response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메시지 발행 기반 (Event-Driven)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결합도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강한 결합 (대상 서버 상태에 의존)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느슨한 결합 (브로커가 완충 역할)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 일관성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강한 일관성 (즉시 반영)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최종적 일관성 (결과적 동기화)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2" name="Google Shape;172;p18"/>
          <p:cNvSpPr/>
          <p:nvPr/>
        </p:nvSpPr>
        <p:spPr>
          <a:xfrm>
            <a:off x="952500" y="3238500"/>
            <a:ext cx="208255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952500" y="2614612"/>
            <a:ext cx="2082551" cy="28575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3035051" y="3238500"/>
            <a:ext cx="413459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3035051" y="2614612"/>
            <a:ext cx="4134594" cy="28575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7169646" y="3238500"/>
            <a:ext cx="406985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7169646" y="2614612"/>
            <a:ext cx="4069853" cy="28575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952500" y="3862387"/>
            <a:ext cx="208255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3035051" y="3862387"/>
            <a:ext cx="413459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7169646" y="3862387"/>
            <a:ext cx="406985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952500" y="4486275"/>
            <a:ext cx="208255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3035051" y="4486275"/>
            <a:ext cx="413459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7169646" y="4486275"/>
            <a:ext cx="406985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952500" y="5110162"/>
            <a:ext cx="208255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3035051" y="5110162"/>
            <a:ext cx="413459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7169646" y="5110162"/>
            <a:ext cx="406985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1181100" y="571500"/>
            <a:ext cx="1056132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동기 vs 비동기 통신 전략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952500" y="571500"/>
            <a:ext cx="114300" cy="533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2924982" y="2397918"/>
            <a:ext cx="634188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PART 02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2924974" y="2702725"/>
            <a:ext cx="68070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Advanced Patterns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619601" y="3750468"/>
            <a:ext cx="952500" cy="5715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3075979" y="4093368"/>
            <a:ext cx="6039891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분산 환경의 데이터 정합성과 복원력을 위한 심화 전략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952500" y="762000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Event-Driven Architecture</a:t>
            </a:r>
            <a:endParaRPr/>
          </a:p>
        </p:txBody>
      </p:sp>
      <p:pic>
        <p:nvPicPr>
          <p:cNvPr descr="image.png" id="204" name="Google Shape;20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952500" y="3195637"/>
            <a:ext cx="46005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Apache Kafka 기반 이벤트 스트리밍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952500" y="3443287"/>
            <a:ext cx="43815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상태 변화를 '이벤트'로 정의하고 이를 비동기적으로 전파하여 비즈니스 로직을 수행하는 지능형 구조입니다.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952500" y="4271962"/>
            <a:ext cx="43815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결제 완료 후 승인 알림 톡 발송, 포인트 적립 등 트래픽이 집중되는 대규모 시스템에 최적화된 방식입니다.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3" name="Google Shape;213;p21"/>
          <p:cNvGraphicFramePr/>
          <p:nvPr/>
        </p:nvGraphicFramePr>
        <p:xfrm>
          <a:off x="952500" y="15811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{CE430DC8-47BB-4B46-9A86-1586F1A93C50}</a:tableStyleId>
              </a:tblPr>
              <a:tblGrid>
                <a:gridCol w="1819425"/>
                <a:gridCol w="3911650"/>
                <a:gridCol w="4555925"/>
              </a:tblGrid>
              <a:tr h="63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E2D4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E2D4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Choreography (안무형)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E2D4D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Orchestration (지휘형)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3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조정 방식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서비스 간 이벤트 자율 교환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중앙 제어자가 전체 순서 제어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결합도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매우 낮음 (완전한 독립)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중앙 매니저에 대한 의존성 존재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장점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중앙 실패 지점(SPOF) 부재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전체 흐름 파악 및 장애 추적 용이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214" name="Google Shape;21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9598" y="4391025"/>
            <a:ext cx="1472803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/>
          <p:nvPr/>
        </p:nvSpPr>
        <p:spPr>
          <a:xfrm>
            <a:off x="952500" y="2219325"/>
            <a:ext cx="181942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952500" y="1595437"/>
            <a:ext cx="1819423" cy="28575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2771923" y="2219325"/>
            <a:ext cx="391164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2771923" y="1595437"/>
            <a:ext cx="3911649" cy="28575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6683573" y="2219325"/>
            <a:ext cx="455592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6683573" y="1595437"/>
            <a:ext cx="4555926" cy="28575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952500" y="2843212"/>
            <a:ext cx="181942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2771923" y="2843212"/>
            <a:ext cx="391164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6683573" y="2843212"/>
            <a:ext cx="455592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952500" y="3467100"/>
            <a:ext cx="181942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2771923" y="3467100"/>
            <a:ext cx="391164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6683573" y="3467100"/>
            <a:ext cx="455592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952500" y="4090987"/>
            <a:ext cx="181942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2771923" y="4090987"/>
            <a:ext cx="391164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6683573" y="4090987"/>
            <a:ext cx="455592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1181100" y="571500"/>
            <a:ext cx="1056132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분산 트랜잭션: Saga 패턴</a:t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952500" y="571500"/>
            <a:ext cx="114300" cy="533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2125" y="2195512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717131"/>
            <a:ext cx="4953000" cy="1233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57375" y="2290762"/>
            <a:ext cx="314325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6286500" y="2774156"/>
            <a:ext cx="5200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Atomic Message Publishing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6286500" y="2983706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로컬 DB 업데이트와 이벤트 발행의 원자성(Atomicity)을 보장하여 데이터 유실을 방지합니다.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6524625" y="3955256"/>
            <a:ext cx="44767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0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D4D"/>
                </a:solidFill>
                <a:latin typeface="Noto Sans KR"/>
                <a:ea typeface="Noto Sans KR"/>
                <a:cs typeface="Noto Sans KR"/>
                <a:sym typeface="Noto Sans KR"/>
              </a:rPr>
              <a:t>트랜잭션 무결성 확보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6524625" y="4226718"/>
            <a:ext cx="4476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DB 저장과 동시에 Outbox 테이블을 기록하여 메시지 유실 상황을 원천 차단합니다.</a:t>
            </a:r>
            <a:endParaRPr/>
          </a:p>
        </p:txBody>
      </p:sp>
      <p:pic>
        <p:nvPicPr>
          <p:cNvPr descr="image.png" id="244" name="Google Shape;24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4625" y="3993356"/>
            <a:ext cx="140791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 txBox="1"/>
          <p:nvPr/>
        </p:nvSpPr>
        <p:spPr>
          <a:xfrm>
            <a:off x="1181100" y="571500"/>
            <a:ext cx="1056132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Transactional Outbox 패턴</a:t>
            </a:r>
            <a:endParaRPr/>
          </a:p>
        </p:txBody>
      </p:sp>
      <p:sp>
        <p:nvSpPr>
          <p:cNvPr id="246" name="Google Shape;246;p22"/>
          <p:cNvSpPr/>
          <p:nvPr/>
        </p:nvSpPr>
        <p:spPr>
          <a:xfrm>
            <a:off x="952500" y="571500"/>
            <a:ext cx="114300" cy="533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886200"/>
            <a:ext cx="238125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24250" y="3886200"/>
            <a:ext cx="238125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952500" y="2847975"/>
            <a:ext cx="5200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Self-Healing Mechanism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952500" y="3057525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특정 서비스의 장애가 시스템 전체로 전파되는 연쇄 장애(Cascading Failure)를 방지하는 안전 장치입니다.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1927175" y="4086225"/>
            <a:ext cx="43189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OPEN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1152525" y="4305300"/>
            <a:ext cx="1981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호출 차단 &amp; 즉시 실패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4397275" y="4086225"/>
            <a:ext cx="63504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Noto Sans KR"/>
                <a:ea typeface="Noto Sans KR"/>
                <a:cs typeface="Noto Sans KR"/>
                <a:sym typeface="Noto Sans KR"/>
              </a:rPr>
              <a:t>CLOSED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3724275" y="4305300"/>
            <a:ext cx="1981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정상 통신 상태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1181100" y="571500"/>
            <a:ext cx="10561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Resilience: Circuit Breaker</a:t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952500" y="571500"/>
            <a:ext cx="114300" cy="4572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2" name="Google Shape;26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8425" y="2176462"/>
            <a:ext cx="4933950" cy="36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4"/>
          <p:cNvSpPr txBox="1"/>
          <p:nvPr/>
        </p:nvSpPr>
        <p:spPr>
          <a:xfrm>
            <a:off x="952500" y="762000"/>
            <a:ext cx="4600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Distributed Tracing</a:t>
            </a:r>
            <a:endParaRPr/>
          </a:p>
        </p:txBody>
      </p:sp>
      <p:pic>
        <p:nvPicPr>
          <p:cNvPr descr="image.png" id="269" name="Google Shape;26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161225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 txBox="1"/>
          <p:nvPr/>
        </p:nvSpPr>
        <p:spPr>
          <a:xfrm>
            <a:off x="952500" y="2986087"/>
            <a:ext cx="46005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End-to-End Visibility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952500" y="3195637"/>
            <a:ext cx="43815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단일 요청이 거치는 수많은 마이크로서비스 구간을 Trace ID로 정밀 추적하여 병목과 장애를 진단합니다.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952500" y="4024312"/>
            <a:ext cx="43815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Jaeger나 Zipkin 대시보드를 활용하여 장애 발생 시 근본 원인을 신속하게 파악할 수 있습니다.</a:t>
            </a:r>
            <a:endParaRPr/>
          </a:p>
        </p:txBody>
      </p:sp>
      <p:pic>
        <p:nvPicPr>
          <p:cNvPr descr="image.png" id="273" name="Google Shape;27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38350"/>
            <a:ext cx="5076825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8" name="Google Shape;27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052637"/>
            <a:ext cx="4953000" cy="1881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52637"/>
            <a:ext cx="4953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 txBox="1"/>
          <p:nvPr/>
        </p:nvSpPr>
        <p:spPr>
          <a:xfrm>
            <a:off x="1409700" y="2433637"/>
            <a:ext cx="432054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Database Per Service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1409700" y="2643187"/>
            <a:ext cx="411480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각 서비스에 최적화된 DB를 독립적으로 선택하여 업무에 맞는 저장소를 소유하고 격리합니다. 타 서비스의 직접 접근을 금지합니다.</a:t>
            </a:r>
            <a:endParaRPr/>
          </a:p>
        </p:txBody>
      </p:sp>
      <p:pic>
        <p:nvPicPr>
          <p:cNvPr descr="image.png" id="283" name="Google Shape;28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2062162"/>
            <a:ext cx="4933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1181100" y="571500"/>
            <a:ext cx="1056132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Polyglot Persistence: 데이터 격리</a:t>
            </a:r>
            <a:endParaRPr/>
          </a:p>
        </p:txBody>
      </p:sp>
      <p:sp>
        <p:nvSpPr>
          <p:cNvPr id="285" name="Google Shape;285;p25"/>
          <p:cNvSpPr/>
          <p:nvPr/>
        </p:nvSpPr>
        <p:spPr>
          <a:xfrm>
            <a:off x="952500" y="571500"/>
            <a:ext cx="114300" cy="533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1826865"/>
            <a:ext cx="3302049" cy="1756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5049" y="1826865"/>
            <a:ext cx="3302049" cy="1756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599" y="1826865"/>
            <a:ext cx="3302049" cy="1756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6"/>
          <p:cNvSpPr txBox="1"/>
          <p:nvPr/>
        </p:nvSpPr>
        <p:spPr>
          <a:xfrm>
            <a:off x="1190625" y="2693640"/>
            <a:ext cx="296708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Auto-Scaling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1190625" y="3036540"/>
            <a:ext cx="28257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부하 기반 인스턴스 자동 확장</a:t>
            </a:r>
            <a:endParaRPr/>
          </a:p>
        </p:txBody>
      </p:sp>
      <p:sp>
        <p:nvSpPr>
          <p:cNvPr id="296" name="Google Shape;296;p26"/>
          <p:cNvSpPr txBox="1"/>
          <p:nvPr/>
        </p:nvSpPr>
        <p:spPr>
          <a:xfrm>
            <a:off x="4683174" y="2693640"/>
            <a:ext cx="296708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Self-Healing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4683174" y="3036540"/>
            <a:ext cx="28257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장애 인스턴스 자동 재기동</a:t>
            </a:r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8175724" y="2693640"/>
            <a:ext cx="296708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Rolling Update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8175724" y="3036540"/>
            <a:ext cx="28257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중단 없는 점진적 배포</a:t>
            </a:r>
            <a:endParaRPr/>
          </a:p>
        </p:txBody>
      </p:sp>
      <p:pic>
        <p:nvPicPr>
          <p:cNvPr descr="image.png" id="300" name="Google Shape;300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90625" y="2150715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83174" y="2150715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75724" y="2150715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6"/>
          <p:cNvSpPr txBox="1"/>
          <p:nvPr/>
        </p:nvSpPr>
        <p:spPr>
          <a:xfrm>
            <a:off x="1181100" y="571500"/>
            <a:ext cx="10561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Infra Standard: Kubernetes</a:t>
            </a:r>
            <a:endParaRPr/>
          </a:p>
        </p:txBody>
      </p:sp>
      <p:sp>
        <p:nvSpPr>
          <p:cNvPr id="304" name="Google Shape;304;p26"/>
          <p:cNvSpPr/>
          <p:nvPr/>
        </p:nvSpPr>
        <p:spPr>
          <a:xfrm>
            <a:off x="952500" y="571500"/>
            <a:ext cx="114300" cy="4572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9" name="Google Shape;30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7"/>
          <p:cNvSpPr txBox="1"/>
          <p:nvPr/>
        </p:nvSpPr>
        <p:spPr>
          <a:xfrm>
            <a:off x="1428750" y="2890837"/>
            <a:ext cx="9810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분산 환경 보안</a:t>
            </a: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: 서비스 간 통신 보안(mTLS) 및 통합 보안 정책 적용 필수</a:t>
            </a:r>
            <a:endParaRPr/>
          </a:p>
        </p:txBody>
      </p:sp>
      <p:sp>
        <p:nvSpPr>
          <p:cNvPr id="311" name="Google Shape;311;p27"/>
          <p:cNvSpPr txBox="1"/>
          <p:nvPr/>
        </p:nvSpPr>
        <p:spPr>
          <a:xfrm>
            <a:off x="1428750" y="3414712"/>
            <a:ext cx="9810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유지보수 난이도</a:t>
            </a: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: 인프라 자동화(IaC) 및 CI/CD 고도화로 운영 비용 제어</a:t>
            </a:r>
            <a:endParaRPr/>
          </a:p>
        </p:txBody>
      </p:sp>
      <p:sp>
        <p:nvSpPr>
          <p:cNvPr id="312" name="Google Shape;312;p27"/>
          <p:cNvSpPr txBox="1"/>
          <p:nvPr/>
        </p:nvSpPr>
        <p:spPr>
          <a:xfrm>
            <a:off x="1428750" y="3938587"/>
            <a:ext cx="9810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정합성</a:t>
            </a: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: 보상 트랜잭션 설계가 포함된 Saga 패턴의 정밀한 도입</a:t>
            </a:r>
            <a:endParaRPr/>
          </a:p>
        </p:txBody>
      </p:sp>
      <p:sp>
        <p:nvSpPr>
          <p:cNvPr id="313" name="Google Shape;313;p27"/>
          <p:cNvSpPr txBox="1"/>
          <p:nvPr/>
        </p:nvSpPr>
        <p:spPr>
          <a:xfrm>
            <a:off x="1428750" y="4462462"/>
            <a:ext cx="9810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조직 문화</a:t>
            </a: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: DevOps 문화 정착과 서비스 오너십 기반의 팀 운영 체계</a:t>
            </a:r>
            <a:endParaRPr/>
          </a:p>
        </p:txBody>
      </p:sp>
      <p:pic>
        <p:nvPicPr>
          <p:cNvPr descr="image.png" id="314" name="Google Shape;31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919412"/>
            <a:ext cx="192732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443287"/>
            <a:ext cx="192732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967162"/>
            <a:ext cx="192732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4491037"/>
            <a:ext cx="192732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7"/>
          <p:cNvSpPr txBox="1"/>
          <p:nvPr/>
        </p:nvSpPr>
        <p:spPr>
          <a:xfrm>
            <a:off x="1181100" y="571500"/>
            <a:ext cx="1056132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리스크 관리 및 극복 전략</a:t>
            </a:r>
            <a:endParaRPr/>
          </a:p>
        </p:txBody>
      </p:sp>
      <p:sp>
        <p:nvSpPr>
          <p:cNvPr id="319" name="Google Shape;319;p27"/>
          <p:cNvSpPr/>
          <p:nvPr/>
        </p:nvSpPr>
        <p:spPr>
          <a:xfrm>
            <a:off x="952500" y="571500"/>
            <a:ext cx="114300" cy="533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4" name="Google Shape;32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8"/>
          <p:cNvSpPr txBox="1"/>
          <p:nvPr/>
        </p:nvSpPr>
        <p:spPr>
          <a:xfrm>
            <a:off x="3476327" y="2095500"/>
            <a:ext cx="523934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FBC00"/>
                </a:solidFill>
                <a:latin typeface="Noto Sans KR"/>
                <a:ea typeface="Noto Sans KR"/>
                <a:cs typeface="Noto Sans KR"/>
                <a:sym typeface="Noto Sans KR"/>
              </a:rPr>
              <a:t>CLOSING</a:t>
            </a:r>
            <a:endParaRPr/>
          </a:p>
        </p:txBody>
      </p:sp>
      <p:sp>
        <p:nvSpPr>
          <p:cNvPr id="326" name="Google Shape;326;p28"/>
          <p:cNvSpPr txBox="1"/>
          <p:nvPr/>
        </p:nvSpPr>
        <p:spPr>
          <a:xfrm>
            <a:off x="3345343" y="2557462"/>
            <a:ext cx="5501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Questions</a:t>
            </a:r>
            <a:endParaRPr/>
          </a:p>
        </p:txBody>
      </p:sp>
      <p:sp>
        <p:nvSpPr>
          <p:cNvPr id="327" name="Google Shape;327;p28"/>
          <p:cNvSpPr/>
          <p:nvPr/>
        </p:nvSpPr>
        <p:spPr>
          <a:xfrm>
            <a:off x="3476327" y="3729037"/>
            <a:ext cx="5239345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8"/>
          <p:cNvSpPr txBox="1"/>
          <p:nvPr/>
        </p:nvSpPr>
        <p:spPr>
          <a:xfrm>
            <a:off x="3476327" y="3824287"/>
            <a:ext cx="5239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3476327" y="4476750"/>
            <a:ext cx="523934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D4D"/>
                </a:solidFill>
                <a:latin typeface="Noto Sans KR"/>
                <a:ea typeface="Noto Sans KR"/>
                <a:cs typeface="Noto Sans KR"/>
                <a:sym typeface="Noto Sans KR"/>
              </a:rPr>
              <a:t>발표자 : 설정훈 과장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4" name="Google Shape;33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9"/>
          <p:cNvSpPr/>
          <p:nvPr/>
        </p:nvSpPr>
        <p:spPr>
          <a:xfrm>
            <a:off x="952500" y="1428750"/>
            <a:ext cx="10287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9"/>
          <p:cNvSpPr/>
          <p:nvPr/>
        </p:nvSpPr>
        <p:spPr>
          <a:xfrm>
            <a:off x="952500" y="2200275"/>
            <a:ext cx="10287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9"/>
          <p:cNvSpPr/>
          <p:nvPr/>
        </p:nvSpPr>
        <p:spPr>
          <a:xfrm>
            <a:off x="952500" y="2971800"/>
            <a:ext cx="10287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9"/>
          <p:cNvSpPr/>
          <p:nvPr/>
        </p:nvSpPr>
        <p:spPr>
          <a:xfrm>
            <a:off x="952500" y="3743325"/>
            <a:ext cx="10287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9"/>
          <p:cNvSpPr/>
          <p:nvPr/>
        </p:nvSpPr>
        <p:spPr>
          <a:xfrm>
            <a:off x="952500" y="4686300"/>
            <a:ext cx="10287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9"/>
          <p:cNvSpPr/>
          <p:nvPr/>
        </p:nvSpPr>
        <p:spPr>
          <a:xfrm>
            <a:off x="952500" y="2190750"/>
            <a:ext cx="10287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9"/>
          <p:cNvSpPr/>
          <p:nvPr/>
        </p:nvSpPr>
        <p:spPr>
          <a:xfrm>
            <a:off x="952500" y="2190750"/>
            <a:ext cx="10287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9"/>
          <p:cNvSpPr/>
          <p:nvPr/>
        </p:nvSpPr>
        <p:spPr>
          <a:xfrm>
            <a:off x="952500" y="2962275"/>
            <a:ext cx="10287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9"/>
          <p:cNvSpPr/>
          <p:nvPr/>
        </p:nvSpPr>
        <p:spPr>
          <a:xfrm>
            <a:off x="952500" y="2962275"/>
            <a:ext cx="10287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9"/>
          <p:cNvSpPr/>
          <p:nvPr/>
        </p:nvSpPr>
        <p:spPr>
          <a:xfrm>
            <a:off x="952500" y="3733800"/>
            <a:ext cx="10287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9"/>
          <p:cNvSpPr/>
          <p:nvPr/>
        </p:nvSpPr>
        <p:spPr>
          <a:xfrm>
            <a:off x="952500" y="3733800"/>
            <a:ext cx="10287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9"/>
          <p:cNvSpPr/>
          <p:nvPr/>
        </p:nvSpPr>
        <p:spPr>
          <a:xfrm>
            <a:off x="952500" y="4676775"/>
            <a:ext cx="10287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9"/>
          <p:cNvSpPr/>
          <p:nvPr/>
        </p:nvSpPr>
        <p:spPr>
          <a:xfrm>
            <a:off x="952500" y="4676775"/>
            <a:ext cx="10287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9"/>
          <p:cNvSpPr/>
          <p:nvPr/>
        </p:nvSpPr>
        <p:spPr>
          <a:xfrm>
            <a:off x="952500" y="5448300"/>
            <a:ext cx="10287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9"/>
          <p:cNvSpPr/>
          <p:nvPr/>
        </p:nvSpPr>
        <p:spPr>
          <a:xfrm>
            <a:off x="952500" y="5448300"/>
            <a:ext cx="10287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0" name="Google Shape;35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15716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9"/>
          <p:cNvSpPr txBox="1"/>
          <p:nvPr/>
        </p:nvSpPr>
        <p:spPr>
          <a:xfrm>
            <a:off x="2047875" y="1578768"/>
            <a:ext cx="9191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http://microservices.io/i/Microservice_Architecture.png</a:t>
            </a:r>
            <a:endParaRPr/>
          </a:p>
        </p:txBody>
      </p:sp>
      <p:sp>
        <p:nvSpPr>
          <p:cNvPr id="352" name="Google Shape;352;p29"/>
          <p:cNvSpPr txBox="1"/>
          <p:nvPr/>
        </p:nvSpPr>
        <p:spPr>
          <a:xfrm>
            <a:off x="2047875" y="1812131"/>
            <a:ext cx="9191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Noto Sans KR"/>
                <a:ea typeface="Noto Sans KR"/>
                <a:cs typeface="Noto Sans KR"/>
                <a:sym typeface="Noto Sans KR"/>
              </a:rPr>
              <a:t>microservices.io</a:t>
            </a:r>
            <a:endParaRPr/>
          </a:p>
        </p:txBody>
      </p:sp>
      <p:pic>
        <p:nvPicPr>
          <p:cNvPr descr="image.png" id="353" name="Google Shape;35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3431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9"/>
          <p:cNvSpPr txBox="1"/>
          <p:nvPr/>
        </p:nvSpPr>
        <p:spPr>
          <a:xfrm>
            <a:off x="2047875" y="2350293"/>
            <a:ext cx="9191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https://miro.medium.com/1*AoEFY37RJchBfJ5UfMffUg.jpeg</a:t>
            </a:r>
            <a:endParaRPr/>
          </a:p>
        </p:txBody>
      </p:sp>
      <p:sp>
        <p:nvSpPr>
          <p:cNvPr id="355" name="Google Shape;355;p29"/>
          <p:cNvSpPr txBox="1"/>
          <p:nvPr/>
        </p:nvSpPr>
        <p:spPr>
          <a:xfrm>
            <a:off x="2047875" y="2583656"/>
            <a:ext cx="9191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Noto Sans KR"/>
                <a:ea typeface="Noto Sans KR"/>
                <a:cs typeface="Noto Sans KR"/>
                <a:sym typeface="Noto Sans KR"/>
              </a:rPr>
              <a:t>medium.com</a:t>
            </a:r>
            <a:endParaRPr/>
          </a:p>
        </p:txBody>
      </p:sp>
      <p:pic>
        <p:nvPicPr>
          <p:cNvPr descr="image.png" id="356" name="Google Shape;356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114675"/>
            <a:ext cx="1780579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9"/>
          <p:cNvSpPr txBox="1"/>
          <p:nvPr/>
        </p:nvSpPr>
        <p:spPr>
          <a:xfrm>
            <a:off x="2047875" y="3121818"/>
            <a:ext cx="9191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https://devcenter0.assets.heroku.com/article-images/1544190561-kafka2.png</a:t>
            </a:r>
            <a:endParaRPr/>
          </a:p>
        </p:txBody>
      </p:sp>
      <p:sp>
        <p:nvSpPr>
          <p:cNvPr id="358" name="Google Shape;358;p29"/>
          <p:cNvSpPr txBox="1"/>
          <p:nvPr/>
        </p:nvSpPr>
        <p:spPr>
          <a:xfrm>
            <a:off x="2047875" y="3355181"/>
            <a:ext cx="9191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Noto Sans KR"/>
                <a:ea typeface="Noto Sans KR"/>
                <a:cs typeface="Noto Sans KR"/>
                <a:sym typeface="Noto Sans KR"/>
              </a:rPr>
              <a:t>devcenter.heroku.com</a:t>
            </a:r>
            <a:endParaRPr/>
          </a:p>
        </p:txBody>
      </p:sp>
      <p:pic>
        <p:nvPicPr>
          <p:cNvPr descr="image.png" id="359" name="Google Shape;359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39719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9"/>
          <p:cNvSpPr txBox="1"/>
          <p:nvPr/>
        </p:nvSpPr>
        <p:spPr>
          <a:xfrm>
            <a:off x="2047875" y="3886200"/>
            <a:ext cx="9191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https://substackcdn.com/image/fetch/$s_!lwoL!,f_auto,q_auto:good,fl_progressive:steep/https%3A%2F%2Fsubstack-post-media.s3.amazonaws.com%2Fpublic%2Fimages%2Fb1ec5785-ad8a-4350-b07d-005f7b04b1f1_2250x2624.png</a:t>
            </a:r>
            <a:endParaRPr/>
          </a:p>
        </p:txBody>
      </p:sp>
      <p:sp>
        <p:nvSpPr>
          <p:cNvPr id="361" name="Google Shape;361;p29"/>
          <p:cNvSpPr txBox="1"/>
          <p:nvPr/>
        </p:nvSpPr>
        <p:spPr>
          <a:xfrm>
            <a:off x="2047875" y="4305300"/>
            <a:ext cx="9191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Noto Sans KR"/>
                <a:ea typeface="Noto Sans KR"/>
                <a:cs typeface="Noto Sans KR"/>
                <a:sym typeface="Noto Sans KR"/>
              </a:rPr>
              <a:t>blog.bytebytego.com</a:t>
            </a:r>
            <a:endParaRPr/>
          </a:p>
        </p:txBody>
      </p:sp>
      <p:pic>
        <p:nvPicPr>
          <p:cNvPr descr="image.png" id="362" name="Google Shape;362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48291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9"/>
          <p:cNvSpPr txBox="1"/>
          <p:nvPr/>
        </p:nvSpPr>
        <p:spPr>
          <a:xfrm>
            <a:off x="2047875" y="4836318"/>
            <a:ext cx="9191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https://chairnerd.seatgeek.com/images/transactional-outbox-pattern/outbox-flow.svg</a:t>
            </a:r>
            <a:endParaRPr/>
          </a:p>
        </p:txBody>
      </p:sp>
      <p:sp>
        <p:nvSpPr>
          <p:cNvPr id="364" name="Google Shape;364;p29"/>
          <p:cNvSpPr txBox="1"/>
          <p:nvPr/>
        </p:nvSpPr>
        <p:spPr>
          <a:xfrm>
            <a:off x="2047875" y="5069681"/>
            <a:ext cx="9191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Noto Sans KR"/>
                <a:ea typeface="Noto Sans KR"/>
                <a:cs typeface="Noto Sans KR"/>
                <a:sym typeface="Noto Sans KR"/>
              </a:rPr>
              <a:t>chairnerd.seatgeek.com</a:t>
            </a:r>
            <a:endParaRPr/>
          </a:p>
        </p:txBody>
      </p:sp>
      <p:pic>
        <p:nvPicPr>
          <p:cNvPr descr="image.png" id="365" name="Google Shape;365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500" y="56007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9"/>
          <p:cNvSpPr txBox="1"/>
          <p:nvPr/>
        </p:nvSpPr>
        <p:spPr>
          <a:xfrm>
            <a:off x="2047875" y="5607843"/>
            <a:ext cx="9191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https://cdn.prod.website-files.com/626a25d633b1b99aa0e1afa7/6949a9556751722b7b75baf7_image4.png</a:t>
            </a:r>
            <a:endParaRPr/>
          </a:p>
        </p:txBody>
      </p:sp>
      <p:sp>
        <p:nvSpPr>
          <p:cNvPr id="367" name="Google Shape;367;p29"/>
          <p:cNvSpPr txBox="1"/>
          <p:nvPr/>
        </p:nvSpPr>
        <p:spPr>
          <a:xfrm>
            <a:off x="2047875" y="5841206"/>
            <a:ext cx="9191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Noto Sans KR"/>
                <a:ea typeface="Noto Sans KR"/>
                <a:cs typeface="Noto Sans KR"/>
                <a:sym typeface="Noto Sans KR"/>
              </a:rPr>
              <a:t>www.groundcover.com</a:t>
            </a:r>
            <a:endParaRPr/>
          </a:p>
        </p:txBody>
      </p:sp>
      <p:sp>
        <p:nvSpPr>
          <p:cNvPr id="368" name="Google Shape;368;p29"/>
          <p:cNvSpPr txBox="1"/>
          <p:nvPr/>
        </p:nvSpPr>
        <p:spPr>
          <a:xfrm>
            <a:off x="1181100" y="571500"/>
            <a:ext cx="10561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69" name="Google Shape;369;p29"/>
          <p:cNvSpPr/>
          <p:nvPr/>
        </p:nvSpPr>
        <p:spPr>
          <a:xfrm>
            <a:off x="952500" y="571500"/>
            <a:ext cx="114300" cy="4572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4" name="Google Shape;37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0"/>
          <p:cNvSpPr/>
          <p:nvPr/>
        </p:nvSpPr>
        <p:spPr>
          <a:xfrm>
            <a:off x="952500" y="2671762"/>
            <a:ext cx="10287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0"/>
          <p:cNvSpPr/>
          <p:nvPr/>
        </p:nvSpPr>
        <p:spPr>
          <a:xfrm>
            <a:off x="952500" y="3443287"/>
            <a:ext cx="10287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0"/>
          <p:cNvSpPr/>
          <p:nvPr/>
        </p:nvSpPr>
        <p:spPr>
          <a:xfrm>
            <a:off x="952500" y="3433762"/>
            <a:ext cx="10287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0"/>
          <p:cNvSpPr/>
          <p:nvPr/>
        </p:nvSpPr>
        <p:spPr>
          <a:xfrm>
            <a:off x="952500" y="3433762"/>
            <a:ext cx="10287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0"/>
          <p:cNvSpPr/>
          <p:nvPr/>
        </p:nvSpPr>
        <p:spPr>
          <a:xfrm>
            <a:off x="952500" y="4205287"/>
            <a:ext cx="10287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0"/>
          <p:cNvSpPr/>
          <p:nvPr/>
        </p:nvSpPr>
        <p:spPr>
          <a:xfrm>
            <a:off x="952500" y="4205287"/>
            <a:ext cx="10287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81" name="Google Shape;38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8146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0"/>
          <p:cNvSpPr txBox="1"/>
          <p:nvPr/>
        </p:nvSpPr>
        <p:spPr>
          <a:xfrm>
            <a:off x="2047875" y="2821781"/>
            <a:ext cx="9191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https://logit.io/uploads/general/3lVIUf4lgmDAFIzAzmEnfl_8-Screen-Shot-Trace-View.png</a:t>
            </a:r>
            <a:endParaRPr/>
          </a:p>
        </p:txBody>
      </p:sp>
      <p:sp>
        <p:nvSpPr>
          <p:cNvPr id="383" name="Google Shape;383;p30"/>
          <p:cNvSpPr txBox="1"/>
          <p:nvPr/>
        </p:nvSpPr>
        <p:spPr>
          <a:xfrm>
            <a:off x="2047875" y="3055143"/>
            <a:ext cx="9191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Noto Sans KR"/>
                <a:ea typeface="Noto Sans KR"/>
                <a:cs typeface="Noto Sans KR"/>
                <a:sym typeface="Noto Sans KR"/>
              </a:rPr>
              <a:t>logit.io</a:t>
            </a:r>
            <a:endParaRPr/>
          </a:p>
        </p:txBody>
      </p:sp>
      <p:pic>
        <p:nvPicPr>
          <p:cNvPr descr="image.png" id="384" name="Google Shape;38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5861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0"/>
          <p:cNvSpPr txBox="1"/>
          <p:nvPr/>
        </p:nvSpPr>
        <p:spPr>
          <a:xfrm>
            <a:off x="2047875" y="3593306"/>
            <a:ext cx="9191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https://miro.medium.com/v2/resize:fit:1200/1*owmT7w4Xr8dg5loIpAzvpg.png</a:t>
            </a:r>
            <a:endParaRPr/>
          </a:p>
        </p:txBody>
      </p:sp>
      <p:sp>
        <p:nvSpPr>
          <p:cNvPr id="386" name="Google Shape;386;p30"/>
          <p:cNvSpPr txBox="1"/>
          <p:nvPr/>
        </p:nvSpPr>
        <p:spPr>
          <a:xfrm>
            <a:off x="2047875" y="3826668"/>
            <a:ext cx="9191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Noto Sans KR"/>
                <a:ea typeface="Noto Sans KR"/>
                <a:cs typeface="Noto Sans KR"/>
                <a:sym typeface="Noto Sans KR"/>
              </a:rPr>
              <a:t>medium.com</a:t>
            </a:r>
            <a:endParaRPr/>
          </a:p>
        </p:txBody>
      </p:sp>
      <p:pic>
        <p:nvPicPr>
          <p:cNvPr descr="image.png" id="387" name="Google Shape;387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3576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0"/>
          <p:cNvSpPr txBox="1"/>
          <p:nvPr/>
        </p:nvSpPr>
        <p:spPr>
          <a:xfrm>
            <a:off x="2047875" y="4364831"/>
            <a:ext cx="9191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https://phoenixnap.com/kb/wp-content/uploads/2021/04/components-worker-node-kubernetes.png</a:t>
            </a:r>
            <a:endParaRPr/>
          </a:p>
        </p:txBody>
      </p:sp>
      <p:sp>
        <p:nvSpPr>
          <p:cNvPr id="389" name="Google Shape;389;p30"/>
          <p:cNvSpPr txBox="1"/>
          <p:nvPr/>
        </p:nvSpPr>
        <p:spPr>
          <a:xfrm>
            <a:off x="2047875" y="4598193"/>
            <a:ext cx="9191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Noto Sans KR"/>
                <a:ea typeface="Noto Sans KR"/>
                <a:cs typeface="Noto Sans KR"/>
                <a:sym typeface="Noto Sans KR"/>
              </a:rPr>
              <a:t>phoenixnap.com</a:t>
            </a:r>
            <a:endParaRPr/>
          </a:p>
        </p:txBody>
      </p:sp>
      <p:sp>
        <p:nvSpPr>
          <p:cNvPr id="390" name="Google Shape;390;p30"/>
          <p:cNvSpPr txBox="1"/>
          <p:nvPr/>
        </p:nvSpPr>
        <p:spPr>
          <a:xfrm>
            <a:off x="1181100" y="571500"/>
            <a:ext cx="10561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91" name="Google Shape;391;p30"/>
          <p:cNvSpPr/>
          <p:nvPr/>
        </p:nvSpPr>
        <p:spPr>
          <a:xfrm>
            <a:off x="952500" y="571500"/>
            <a:ext cx="114300" cy="4572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