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Placeholder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ill"/>
          <p:cNvSpPr/>
          <p:nvPr/>
        </p:nvSpPr>
        <p:spPr>
          <a:xfrm>
            <a:off x="548640" y="365760"/>
            <a:ext cx="1550000" cy="274320"/>
          </a:xfrm>
          <a:prstGeom prst="roundRect">
            <a:avLst>
              <a:gd name="adj" fmla="val 50000"/>
            </a:avLst>
          </a:prstGeom>
          <a:solidFill>
            <a:srgbClr val="F0DAB4"/>
          </a:solidFill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ctr"/>
            <a:r>
              <a:rPr lang="ko-KR" sz="1050" b="1" dirty="0">
                <a:solidFill>
                  <a:srgbClr val="7A430F"/>
                </a:solidFill>
                <a:latin typeface="맑은 고딕"/>
                <a:ea typeface="맑은 고딕"/>
              </a:rPr>
              <a:t>기능 01 · 달력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700000"/>
            <a:ext cx="8600000" cy="6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2600" b="1" dirty="0">
                <a:solidFill>
                  <a:srgbClr val="211D16"/>
                </a:solidFill>
                <a:latin typeface="맑은 고딕"/>
                <a:ea typeface="맑은 고딕"/>
              </a:rPr>
              <a:t>달력에서 이번 달 배포 일정을 한눈에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1360000"/>
            <a:ext cx="8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1250" dirty="0">
                <a:solidFill>
                  <a:srgbClr val="5B5445"/>
                </a:solidFill>
                <a:latin typeface="맑은 고딕"/>
                <a:ea typeface="맑은 고딕"/>
              </a:rPr>
              <a:t>월 그리드의 날짜마다 그날 적용되는 CM 패키지번호를 표시해, 목록을 뒤지지 않고도 배포 밀도를 바로 보여줍니다.</a:t>
            </a:r>
          </a:p>
        </p:txBody>
      </p:sp>
      <p:sp>
        <p:nvSpPr>
          <p:cNvPr id="5" name="Counter"/>
          <p:cNvSpPr txBox="1"/>
          <p:nvPr/>
        </p:nvSpPr>
        <p:spPr>
          <a:xfrm>
            <a:off x="10600000" y="365760"/>
            <a:ext cx="10433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ko-KR" sz="1100" dirty="0">
                <a:solidFill>
                  <a:srgbClr val="948C78"/>
                </a:solidFill>
                <a:latin typeface="Consolas"/>
                <a:ea typeface="Consolas"/>
              </a:rPr>
              <a:t>01 / 04</a:t>
            </a:r>
          </a:p>
        </p:txBody>
      </p:sp>
      <p:sp>
        <p:nvSpPr>
          <p:cNvPr id="6" name="Rect"/>
          <p:cNvSpPr/>
          <p:nvPr/>
        </p:nvSpPr>
        <p:spPr>
          <a:xfrm>
            <a:off x="548640" y="1780000"/>
            <a:ext cx="11094720" cy="9525"/>
          </a:xfrm>
          <a:prstGeom prst="rect">
            <a:avLst/>
          </a:prstGeom>
          <a:solidFill>
            <a:srgbClr val="E2D8C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"/>
          <p:cNvSpPr txBox="1"/>
          <p:nvPr/>
        </p:nvSpPr>
        <p:spPr>
          <a:xfrm>
            <a:off x="548640" y="1850000"/>
            <a:ext cx="465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1150" b="1" dirty="0">
                <a:solidFill>
                  <a:srgbClr val="7A430F"/>
                </a:solidFill>
                <a:latin typeface="맑은 고딕"/>
                <a:ea typeface="맑은 고딕"/>
              </a:rPr>
              <a:t>동작 방식</a:t>
            </a:r>
          </a:p>
        </p:txBody>
      </p:sp>
      <p:sp>
        <p:nvSpPr>
          <p:cNvPr id="8" name="Rect"/>
          <p:cNvSpPr/>
          <p:nvPr/>
        </p:nvSpPr>
        <p:spPr>
          <a:xfrm>
            <a:off x="548640" y="2140000"/>
            <a:ext cx="4650000" cy="9525"/>
          </a:xfrm>
          <a:prstGeom prst="rect">
            <a:avLst/>
          </a:prstGeom>
          <a:solidFill>
            <a:srgbClr val="E2D8C1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"/>
          <p:cNvSpPr txBox="1"/>
          <p:nvPr/>
        </p:nvSpPr>
        <p:spPr>
          <a:xfrm>
            <a:off x="5498640" y="1850000"/>
            <a:ext cx="614472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1150" b="1" dirty="0">
                <a:solidFill>
                  <a:srgbClr val="948C78"/>
                </a:solidFill>
                <a:latin typeface="맑은 고딕"/>
                <a:ea typeface="맑은 고딕"/>
              </a:rPr>
              <a:t>예제</a:t>
            </a:r>
          </a:p>
        </p:txBody>
      </p:sp>
      <p:sp>
        <p:nvSpPr>
          <p:cNvPr id="10" name="Rect"/>
          <p:cNvSpPr/>
          <p:nvPr/>
        </p:nvSpPr>
        <p:spPr>
          <a:xfrm>
            <a:off x="5498640" y="2140000"/>
            <a:ext cx="6144720" cy="9525"/>
          </a:xfrm>
          <a:prstGeom prst="rect">
            <a:avLst/>
          </a:prstGeom>
          <a:solidFill>
            <a:srgbClr val="E2D8C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ullets"/>
          <p:cNvSpPr txBox="1"/>
          <p:nvPr/>
        </p:nvSpPr>
        <p:spPr>
          <a:xfrm>
            <a:off x="548640" y="2230000"/>
            <a:ext cx="4650000" cy="4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일~토 </a:t>
            </a:r>
            <a:r>
              <a:rPr lang="ko-KR" sz="1300" b="1" dirty="0">
                <a:solidFill>
                  <a:srgbClr val="211D16"/>
                </a:solidFill>
                <a:latin typeface="맑은 고딕"/>
                <a:ea typeface="맑은 고딕"/>
              </a:rPr>
              <a:t>7열 그리드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로 한 달을 그리며, 등록 건수와 상관없이 모든 날짜 칸의 </a:t>
            </a:r>
            <a:r>
              <a:rPr lang="ko-KR" sz="1300" b="1" dirty="0">
                <a:solidFill>
                  <a:srgbClr val="211D16"/>
                </a:solidFill>
                <a:latin typeface="맑은 고딕"/>
                <a:ea typeface="맑은 고딕"/>
              </a:rPr>
              <a:t>높이는 동일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합니다.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이전·다음 달로 걸친 날짜는 흐리게, </a:t>
            </a:r>
            <a:r>
              <a:rPr lang="ko-KR" sz="1300" b="1" dirty="0">
                <a:solidFill>
                  <a:srgbClr val="B5402E"/>
                </a:solidFill>
                <a:latin typeface="맑은 고딕"/>
                <a:ea typeface="맑은 고딕"/>
              </a:rPr>
              <a:t>일요일은 빨강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·</a:t>
            </a:r>
            <a:r>
              <a:rPr lang="ko-KR" sz="1300" b="1" dirty="0">
                <a:solidFill>
                  <a:srgbClr val="2E5C8A"/>
                </a:solidFill>
                <a:latin typeface="맑은 고딕"/>
                <a:ea typeface="맑은 고딕"/>
              </a:rPr>
              <a:t>토요일은 파랑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으로 구분합니다.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제목 옆 </a:t>
            </a:r>
            <a:r>
              <a:rPr lang="ko-KR" sz="1300" dirty="0">
                <a:solidFill>
                  <a:srgbClr val="7A430F"/>
                </a:solidFill>
                <a:highlight>
                  <a:srgbClr val="EEE4CC"/>
                </a:highlight>
                <a:latin typeface="Consolas"/>
                <a:ea typeface="Consolas"/>
              </a:rPr>
              <a:t>‹ ›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 또는 </a:t>
            </a:r>
            <a:r>
              <a:rPr lang="ko-KR" sz="1300" b="1" dirty="0">
                <a:solidFill>
                  <a:srgbClr val="211D16"/>
                </a:solidFill>
                <a:latin typeface="맑은 고딕"/>
                <a:ea typeface="맑은 고딕"/>
              </a:rPr>
              <a:t>전월·당월·익월·오늘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 버튼 두 갈래로 월을 이동합니다.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날짜 아래에는 그날 적용되는 </a:t>
            </a:r>
            <a:r>
              <a:rPr lang="ko-KR" sz="1300" b="1" dirty="0">
                <a:solidFill>
                  <a:srgbClr val="211D16"/>
                </a:solidFill>
                <a:latin typeface="맑은 고딕"/>
                <a:ea typeface="맑은 고딕"/>
              </a:rPr>
              <a:t>패키지번호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를 적용시간 순으로 최대 2줄 표시하고, </a:t>
            </a:r>
            <a:r>
              <a:rPr lang="ko-KR" sz="1300" b="1" dirty="0">
                <a:solidFill>
                  <a:srgbClr val="211D16"/>
                </a:solidFill>
                <a:latin typeface="맑은 고딕"/>
                <a:ea typeface="맑은 고딕"/>
              </a:rPr>
              <a:t>3건 이상이면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 둘째 줄 끝에 </a:t>
            </a:r>
            <a:r>
              <a:rPr lang="ko-KR" sz="1300" dirty="0">
                <a:solidFill>
                  <a:srgbClr val="7A430F"/>
                </a:solidFill>
                <a:highlight>
                  <a:srgbClr val="EEE4CC"/>
                </a:highlight>
                <a:latin typeface="Consolas"/>
                <a:ea typeface="Consolas"/>
              </a:rPr>
              <a:t>…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을 붙입니다.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날짜를 클릭하면 선택 상태로 강조되며, 아래 </a:t>
            </a:r>
            <a:r>
              <a:rPr lang="ko-KR" sz="1300" b="1" dirty="0">
                <a:solidFill>
                  <a:srgbClr val="211D16"/>
                </a:solidFill>
                <a:latin typeface="맑은 고딕"/>
                <a:ea typeface="맑은 고딕"/>
              </a:rPr>
              <a:t>목록이 그 날짜만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 걸러 보여줍니다. 다시 누르면 선택이 풀립니다.</a:t>
            </a:r>
          </a:p>
        </p:txBody>
      </p:sp>
      <p:sp>
        <p:nvSpPr>
          <p:cNvPr id="12" name="Card"/>
          <p:cNvSpPr/>
          <p:nvPr/>
        </p:nvSpPr>
        <p:spPr>
          <a:xfrm>
            <a:off x="5498640" y="2230000"/>
            <a:ext cx="6144720" cy="4330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2D8C1"/>
            </a:solidFill>
          </a:ln>
        </p:spPr>
        <p:txBody>
          <a:bodyPr/>
          <a:lstStyle/>
          <a:p/>
        </p:txBody>
      </p:sp>
      <p:sp>
        <p:nvSpPr>
          <p:cNvPr id="13" name="Pill"/>
          <p:cNvSpPr/>
          <p:nvPr/>
        </p:nvSpPr>
        <p:spPr>
          <a:xfrm>
            <a:off x="5648640" y="2380000"/>
            <a:ext cx="4900000" cy="260000"/>
          </a:xfrm>
          <a:prstGeom prst="roundRect">
            <a:avLst>
              <a:gd name="adj" fmla="val 50000"/>
            </a:avLst>
          </a:prstGeom>
          <a:solidFill>
            <a:srgbClr val="F0DAB4"/>
          </a:solidFill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ctr"/>
            <a:r>
              <a:rPr lang="ko-KR" sz="950" b="1" dirty="0">
                <a:solidFill>
                  <a:srgbClr val="7A430F"/>
                </a:solidFill>
                <a:latin typeface="맑은 고딕"/>
                <a:ea typeface="맑은 고딕"/>
              </a:rPr>
              <a:t>등록 패키지 GAC00001 · 적용 2026-09-18 14:00</a:t>
            </a:r>
          </a:p>
        </p:txBody>
      </p:sp>
      <p:graphicFrame>
        <p:nvGraphicFramePr>
          <p:cNvPr id="14" name="CalendarMock"/>
          <p:cNvGraphicFramePr>
            <a:graphicFrameLocks noGrp="1"/>
          </p:cNvGraphicFramePr>
          <p:nvPr/>
        </p:nvGraphicFramePr>
        <p:xfrm>
          <a:off x="5648640" y="2780000"/>
          <a:ext cx="5844720" cy="2280000"/>
        </p:xfrm>
        <a:graphic>
          <a:graphicData uri="http://schemas.openxmlformats.org/drawingml/2006/table">
            <a:tbl>
              <a:tblPr firstRow="0" bandRow="0"/>
              <a:tblGrid>
                <a:gridCol w="834960"/>
                <a:gridCol w="834960"/>
                <a:gridCol w="834960"/>
                <a:gridCol w="834960"/>
                <a:gridCol w="834960"/>
                <a:gridCol w="834960"/>
                <a:gridCol w="834960"/>
              </a:tblGrid>
              <a:tr h="280000"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B5402E"/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5B5445"/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5B5445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5B5445"/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5B5445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5B5445"/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2E5C8A"/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EFE7D6"/>
                    </a:solidFill>
                  </a:tcPr>
                </a:tc>
              </a:tr>
              <a:tr h="1000000">
                <a:tc>
                  <a:txBody>
                    <a:bodyPr/>
                    <a:lstStyle/>
                    <a:p>
                      <a:pPr algn="l"/>
                      <a:r>
                        <a:rPr lang="ko-KR" sz="1000" b="1" dirty="0">
                          <a:solidFill>
                            <a:srgbClr val="B5402E"/>
                          </a:solidFill>
                          <a:latin typeface="Consolas"/>
                          <a:ea typeface="Consolas"/>
                        </a:rPr>
                        <a:t>13</a:t>
                      </a:r>
                    </a:p>
                  </a:txBody>
                  <a:tcPr marL="54864" marR="54864" marT="9144" marB="9144" anchor="t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1" dirty="0">
                          <a:solidFill>
                            <a:srgbClr val="211D16"/>
                          </a:solidFill>
                          <a:latin typeface="Consolas"/>
                          <a:ea typeface="Consolas"/>
                        </a:rPr>
                        <a:t>14</a:t>
                      </a:r>
                    </a:p>
                  </a:txBody>
                  <a:tcPr marL="54864" marR="54864" marT="9144" marB="9144" anchor="t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1" dirty="0">
                          <a:solidFill>
                            <a:srgbClr val="211D16"/>
                          </a:solidFill>
                          <a:latin typeface="Consolas"/>
                          <a:ea typeface="Consolas"/>
                        </a:rPr>
                        <a:t>15</a:t>
                      </a:r>
                    </a:p>
                    <a:p>
                      <a:pPr algn="l"/>
                      <a:r>
                        <a:rPr lang="ko-KR" sz="800" dirty="0">
                          <a:solidFill>
                            <a:srgbClr val="5B5445"/>
                          </a:solidFill>
                          <a:latin typeface="Consolas"/>
                          <a:ea typeface="Consolas"/>
                        </a:rPr>
                        <a:t>SES00003</a:t>
                      </a:r>
                    </a:p>
                  </a:txBody>
                  <a:tcPr marL="54864" marR="54864" marT="9144" marB="9144" anchor="t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1" dirty="0">
                          <a:solidFill>
                            <a:srgbClr val="211D16"/>
                          </a:solidFill>
                          <a:latin typeface="Consolas"/>
                          <a:ea typeface="Consolas"/>
                        </a:rPr>
                        <a:t>16</a:t>
                      </a:r>
                    </a:p>
                  </a:txBody>
                  <a:tcPr marL="54864" marR="54864" marT="9144" marB="9144" anchor="t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1" dirty="0">
                          <a:solidFill>
                            <a:srgbClr val="211D16"/>
                          </a:solidFill>
                          <a:latin typeface="Consolas"/>
                          <a:ea typeface="Consolas"/>
                        </a:rPr>
                        <a:t>17</a:t>
                      </a:r>
                    </a:p>
                    <a:p>
                      <a:pPr algn="l"/>
                      <a:r>
                        <a:rPr lang="ko-KR" sz="800" dirty="0">
                          <a:solidFill>
                            <a:srgbClr val="5B5445"/>
                          </a:solidFill>
                          <a:latin typeface="Consolas"/>
                          <a:ea typeface="Consolas"/>
                        </a:rPr>
                        <a:t>SHP00002</a:t>
                      </a:r>
                    </a:p>
                  </a:txBody>
                  <a:tcPr marL="54864" marR="54864" marT="9144" marB="9144" anchor="t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1" dirty="0">
                          <a:solidFill>
                            <a:srgbClr val="3A2A05"/>
                          </a:solidFill>
                          <a:latin typeface="Consolas"/>
                          <a:ea typeface="Consolas"/>
                        </a:rPr>
                        <a:t>18</a:t>
                      </a:r>
                    </a:p>
                    <a:p>
                      <a:pPr algn="l"/>
                      <a:r>
                        <a:rPr lang="ko-KR" sz="800" dirty="0">
                          <a:solidFill>
                            <a:srgbClr val="3A2A05"/>
                          </a:solidFill>
                          <a:latin typeface="Consolas"/>
                          <a:ea typeface="Consolas"/>
                        </a:rPr>
                        <a:t>GAC00001</a:t>
                      </a:r>
                    </a:p>
                  </a:txBody>
                  <a:tcPr marL="54864" marR="54864" marT="9144" marB="9144" anchor="t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0B4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1" dirty="0">
                          <a:solidFill>
                            <a:srgbClr val="2E5C8A"/>
                          </a:solidFill>
                          <a:latin typeface="Consolas"/>
                          <a:ea typeface="Consolas"/>
                        </a:rPr>
                        <a:t>19</a:t>
                      </a:r>
                    </a:p>
                  </a:txBody>
                  <a:tcPr marL="54864" marR="54864" marT="9144" marB="9144" anchor="t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00000">
                <a:tc>
                  <a:txBody>
                    <a:bodyPr/>
                    <a:lstStyle/>
                    <a:p>
                      <a:pPr algn="l"/>
                      <a:r>
                        <a:rPr lang="ko-KR" sz="1000" b="1" dirty="0">
                          <a:solidFill>
                            <a:srgbClr val="B5402E"/>
                          </a:solidFill>
                          <a:latin typeface="Consolas"/>
                          <a:ea typeface="Consolas"/>
                        </a:rPr>
                        <a:t>20</a:t>
                      </a:r>
                    </a:p>
                  </a:txBody>
                  <a:tcPr marL="54864" marR="54864" marT="9144" marB="9144" anchor="t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1" dirty="0">
                          <a:solidFill>
                            <a:srgbClr val="211D16"/>
                          </a:solidFill>
                          <a:latin typeface="Consolas"/>
                          <a:ea typeface="Consolas"/>
                        </a:rPr>
                        <a:t>21</a:t>
                      </a:r>
                    </a:p>
                  </a:txBody>
                  <a:tcPr marL="54864" marR="54864" marT="9144" marB="9144" anchor="t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1" dirty="0">
                          <a:solidFill>
                            <a:srgbClr val="211D16"/>
                          </a:solidFill>
                          <a:latin typeface="Consolas"/>
                          <a:ea typeface="Consolas"/>
                        </a:rPr>
                        <a:t>22</a:t>
                      </a:r>
                    </a:p>
                    <a:p>
                      <a:pPr algn="l"/>
                      <a:r>
                        <a:rPr lang="ko-KR" sz="800" dirty="0">
                          <a:solidFill>
                            <a:srgbClr val="5B5445"/>
                          </a:solidFill>
                          <a:latin typeface="Consolas"/>
                          <a:ea typeface="Consolas"/>
                        </a:rPr>
                        <a:t>MBR00005</a:t>
                      </a:r>
                    </a:p>
                  </a:txBody>
                  <a:tcPr marL="54864" marR="54864" marT="9144" marB="9144" anchor="t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1" dirty="0">
                          <a:solidFill>
                            <a:srgbClr val="211D16"/>
                          </a:solidFill>
                          <a:latin typeface="Consolas"/>
                          <a:ea typeface="Consolas"/>
                        </a:rPr>
                        <a:t>23</a:t>
                      </a:r>
                    </a:p>
                  </a:txBody>
                  <a:tcPr marL="54864" marR="54864" marT="9144" marB="9144" anchor="t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1" dirty="0">
                          <a:solidFill>
                            <a:srgbClr val="211D16"/>
                          </a:solidFill>
                          <a:latin typeface="Consolas"/>
                          <a:ea typeface="Consolas"/>
                        </a:rPr>
                        <a:t>24</a:t>
                      </a:r>
                    </a:p>
                  </a:txBody>
                  <a:tcPr marL="54864" marR="54864" marT="9144" marB="9144" anchor="t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1" dirty="0">
                          <a:solidFill>
                            <a:srgbClr val="211D16"/>
                          </a:solidFill>
                          <a:latin typeface="Consolas"/>
                          <a:ea typeface="Consolas"/>
                        </a:rPr>
                        <a:t>25</a:t>
                      </a:r>
                    </a:p>
                  </a:txBody>
                  <a:tcPr marL="54864" marR="54864" marT="9144" marB="9144" anchor="t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1" dirty="0">
                          <a:solidFill>
                            <a:srgbClr val="2E5C8A"/>
                          </a:solidFill>
                          <a:latin typeface="Consolas"/>
                          <a:ea typeface="Consolas"/>
                        </a:rPr>
                        <a:t>26</a:t>
                      </a:r>
                    </a:p>
                  </a:txBody>
                  <a:tcPr marL="54864" marR="54864" marT="9144" marB="9144" anchor="t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"/>
          <p:cNvSpPr/>
          <p:nvPr/>
        </p:nvSpPr>
        <p:spPr>
          <a:xfrm>
            <a:off x="5648640" y="5200000"/>
            <a:ext cx="5844720" cy="1210000"/>
          </a:xfrm>
          <a:prstGeom prst="roundRect">
            <a:avLst>
              <a:gd name="adj" fmla="val 6000"/>
            </a:avLst>
          </a:prstGeom>
          <a:solidFill>
            <a:srgbClr val="EFE7D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"/>
          <p:cNvSpPr/>
          <p:nvPr/>
        </p:nvSpPr>
        <p:spPr>
          <a:xfrm>
            <a:off x="5648640" y="5200000"/>
            <a:ext cx="38100" cy="1210000"/>
          </a:xfrm>
          <a:prstGeom prst="rect">
            <a:avLst/>
          </a:prstGeom>
          <a:solidFill>
            <a:srgbClr val="B864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Box"/>
          <p:cNvSpPr txBox="1"/>
          <p:nvPr/>
        </p:nvSpPr>
        <p:spPr>
          <a:xfrm>
            <a:off x="5808640" y="5270000"/>
            <a:ext cx="5544720" cy="10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1050" b="1" dirty="0">
                <a:solidFill>
                  <a:srgbClr val="211D16"/>
                </a:solidFill>
                <a:latin typeface="맑은 고딕"/>
                <a:ea typeface="맑은 고딕"/>
              </a:rPr>
              <a:t>저장 즉시 반영 — </a:t>
            </a:r>
            <a:r>
              <a:rPr lang="ko-KR" sz="1050" dirty="0">
                <a:solidFill>
                  <a:srgbClr val="5B5445"/>
                </a:solidFill>
                <a:latin typeface="맑은 고딕"/>
                <a:ea typeface="맑은 고딕"/>
              </a:rPr>
              <a:t>상세내역 폼에서 적용일자를 2026-09-18로 저장하면, 새로고침 없이 9/18 칸에 GAC00001이 나타납니다. 같은 칸에 이미 2건이 있어 3건째부터 번호가 "…"로 줄어드는 규칙에 주목하세요.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548640" y="6620000"/>
            <a:ext cx="5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1000" dirty="0">
                <a:solidFill>
                  <a:srgbClr val="948C78"/>
                </a:solidFill>
                <a:latin typeface="Consolas"/>
                <a:ea typeface="Consolas"/>
              </a:rPr>
              <a:t>ZONE 1 · 상단 영역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8643360" y="66200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sz="1000" dirty="0">
                <a:solidFill>
                  <a:srgbClr val="948C78"/>
                </a:solidFill>
                <a:latin typeface="맑은 고딕"/>
                <a:ea typeface="맑은 고딕"/>
              </a:rPr>
              <a:t>CM 패키지 관리 앱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ill"/>
          <p:cNvSpPr/>
          <p:nvPr/>
        </p:nvSpPr>
        <p:spPr>
          <a:xfrm>
            <a:off x="548640" y="365760"/>
            <a:ext cx="1550000" cy="274320"/>
          </a:xfrm>
          <a:prstGeom prst="roundRect">
            <a:avLst>
              <a:gd name="adj" fmla="val 50000"/>
            </a:avLst>
          </a:prstGeom>
          <a:solidFill>
            <a:srgbClr val="F0DAB4"/>
          </a:solidFill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ctr"/>
            <a:r>
              <a:rPr lang="ko-KR" sz="1050" b="1" dirty="0">
                <a:solidFill>
                  <a:srgbClr val="7A430F"/>
                </a:solidFill>
                <a:latin typeface="맑은 고딕"/>
                <a:ea typeface="맑은 고딕"/>
              </a:rPr>
              <a:t>기능 02 · 목록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700000"/>
            <a:ext cx="8600000" cy="6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2600" b="1" dirty="0">
                <a:solidFill>
                  <a:srgbClr val="211D16"/>
                </a:solidFill>
                <a:latin typeface="맑은 고딕"/>
                <a:ea typeface="맑은 고딕"/>
              </a:rPr>
              <a:t>선택한 날짜만, 또는 전체를 적용일자순으로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1360000"/>
            <a:ext cx="8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1250" dirty="0">
                <a:solidFill>
                  <a:srgbClr val="5B5445"/>
                </a:solidFill>
                <a:latin typeface="맑은 고딕"/>
                <a:ea typeface="맑은 고딕"/>
              </a:rPr>
              <a:t>달력에서 고른 날짜의 패키지만 좁혀 보여주고, 중요도·진행률 배지로 상태를 즉시 확인합니다.</a:t>
            </a:r>
          </a:p>
        </p:txBody>
      </p:sp>
      <p:sp>
        <p:nvSpPr>
          <p:cNvPr id="5" name="Counter"/>
          <p:cNvSpPr txBox="1"/>
          <p:nvPr/>
        </p:nvSpPr>
        <p:spPr>
          <a:xfrm>
            <a:off x="10600000" y="365760"/>
            <a:ext cx="10433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ko-KR" sz="1100" dirty="0">
                <a:solidFill>
                  <a:srgbClr val="948C78"/>
                </a:solidFill>
                <a:latin typeface="Consolas"/>
                <a:ea typeface="Consolas"/>
              </a:rPr>
              <a:t>02 / 04</a:t>
            </a:r>
          </a:p>
        </p:txBody>
      </p:sp>
      <p:sp>
        <p:nvSpPr>
          <p:cNvPr id="6" name="Rect"/>
          <p:cNvSpPr/>
          <p:nvPr/>
        </p:nvSpPr>
        <p:spPr>
          <a:xfrm>
            <a:off x="548640" y="1780000"/>
            <a:ext cx="11094720" cy="9525"/>
          </a:xfrm>
          <a:prstGeom prst="rect">
            <a:avLst/>
          </a:prstGeom>
          <a:solidFill>
            <a:srgbClr val="E2D8C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"/>
          <p:cNvSpPr txBox="1"/>
          <p:nvPr/>
        </p:nvSpPr>
        <p:spPr>
          <a:xfrm>
            <a:off x="548640" y="1850000"/>
            <a:ext cx="465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1150" b="1" dirty="0">
                <a:solidFill>
                  <a:srgbClr val="7A430F"/>
                </a:solidFill>
                <a:latin typeface="맑은 고딕"/>
                <a:ea typeface="맑은 고딕"/>
              </a:rPr>
              <a:t>동작 방식</a:t>
            </a:r>
          </a:p>
        </p:txBody>
      </p:sp>
      <p:sp>
        <p:nvSpPr>
          <p:cNvPr id="8" name="Rect"/>
          <p:cNvSpPr/>
          <p:nvPr/>
        </p:nvSpPr>
        <p:spPr>
          <a:xfrm>
            <a:off x="548640" y="2140000"/>
            <a:ext cx="4650000" cy="9525"/>
          </a:xfrm>
          <a:prstGeom prst="rect">
            <a:avLst/>
          </a:prstGeom>
          <a:solidFill>
            <a:srgbClr val="E2D8C1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"/>
          <p:cNvSpPr txBox="1"/>
          <p:nvPr/>
        </p:nvSpPr>
        <p:spPr>
          <a:xfrm>
            <a:off x="5498640" y="1850000"/>
            <a:ext cx="614472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1150" b="1" dirty="0">
                <a:solidFill>
                  <a:srgbClr val="948C78"/>
                </a:solidFill>
                <a:latin typeface="맑은 고딕"/>
                <a:ea typeface="맑은 고딕"/>
              </a:rPr>
              <a:t>예제</a:t>
            </a:r>
          </a:p>
        </p:txBody>
      </p:sp>
      <p:sp>
        <p:nvSpPr>
          <p:cNvPr id="10" name="Rect"/>
          <p:cNvSpPr/>
          <p:nvPr/>
        </p:nvSpPr>
        <p:spPr>
          <a:xfrm>
            <a:off x="5498640" y="2140000"/>
            <a:ext cx="6144720" cy="9525"/>
          </a:xfrm>
          <a:prstGeom prst="rect">
            <a:avLst/>
          </a:prstGeom>
          <a:solidFill>
            <a:srgbClr val="E2D8C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ullets"/>
          <p:cNvSpPr txBox="1"/>
          <p:nvPr/>
        </p:nvSpPr>
        <p:spPr>
          <a:xfrm>
            <a:off x="548640" y="2230000"/>
            <a:ext cx="4650000" cy="4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날짜가 선택돼 있으면 그 날짜(적용일자 기준) 패키지만, 없으면 </a:t>
            </a:r>
            <a:r>
              <a:rPr lang="ko-KR" sz="1300" b="1" dirty="0">
                <a:solidFill>
                  <a:srgbClr val="211D16"/>
                </a:solidFill>
                <a:latin typeface="맑은 고딕"/>
                <a:ea typeface="맑은 고딕"/>
              </a:rPr>
              <a:t>전체 패키지를 적용일자순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으로 나열합니다.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제목에 </a:t>
            </a:r>
            <a:r>
              <a:rPr lang="ko-KR" sz="1300" b="1" dirty="0">
                <a:solidFill>
                  <a:srgbClr val="211D16"/>
                </a:solidFill>
                <a:latin typeface="맑은 고딕"/>
                <a:ea typeface="맑은 고딕"/>
              </a:rPr>
              <a:t>"해당일 건수/전체 건수"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(예: 1/6)를 표시합니다.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"전체 보기" 버튼 옆에는 이번 달 기준 </a:t>
            </a:r>
            <a:r>
              <a:rPr lang="ko-KR" sz="1300" b="1" dirty="0">
                <a:solidFill>
                  <a:srgbClr val="211D16"/>
                </a:solidFill>
                <a:latin typeface="맑은 고딕"/>
                <a:ea typeface="맑은 고딕"/>
              </a:rPr>
              <a:t>진행중 N건 · 완료 M건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을 항상 표시합니다.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각 행은 </a:t>
            </a:r>
            <a:r>
              <a:rPr lang="ko-KR" sz="1300" dirty="0">
                <a:solidFill>
                  <a:srgbClr val="7A430F"/>
                </a:solidFill>
                <a:highlight>
                  <a:srgbClr val="EEE4CC"/>
                </a:highlight>
                <a:latin typeface="Consolas"/>
                <a:ea typeface="Consolas"/>
              </a:rPr>
              <a:t>패키지번호:패키지명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 형식이며, 진행률 배지 왼쪽에 </a:t>
            </a:r>
            <a:r>
              <a:rPr lang="ko-KR" sz="1300" b="1" dirty="0">
                <a:solidFill>
                  <a:srgbClr val="211D16"/>
                </a:solidFill>
                <a:latin typeface="맑은 고딕"/>
                <a:ea typeface="맑은 고딕"/>
              </a:rPr>
              <a:t>중요도(최상/상/중/하) 배지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를 붙입니다.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행을 클릭하면 아래 상세 입력 폼에 값이 채워져 </a:t>
            </a:r>
            <a:r>
              <a:rPr lang="ko-KR" sz="1300" b="1" dirty="0">
                <a:solidFill>
                  <a:srgbClr val="211D16"/>
                </a:solidFill>
                <a:latin typeface="맑은 고딕"/>
                <a:ea typeface="맑은 고딕"/>
              </a:rPr>
              <a:t>수정 모드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로 열립니다.</a:t>
            </a:r>
          </a:p>
        </p:txBody>
      </p:sp>
      <p:sp>
        <p:nvSpPr>
          <p:cNvPr id="12" name="Card"/>
          <p:cNvSpPr/>
          <p:nvPr/>
        </p:nvSpPr>
        <p:spPr>
          <a:xfrm>
            <a:off x="5498640" y="2230000"/>
            <a:ext cx="6144720" cy="4330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2D8C1"/>
            </a:solidFill>
          </a:ln>
        </p:spPr>
        <p:txBody>
          <a:bodyPr/>
          <a:lstStyle/>
          <a:p/>
        </p:txBody>
      </p:sp>
      <p:sp>
        <p:nvSpPr>
          <p:cNvPr id="13" name="Pill"/>
          <p:cNvSpPr/>
          <p:nvPr/>
        </p:nvSpPr>
        <p:spPr>
          <a:xfrm>
            <a:off x="5648640" y="2380000"/>
            <a:ext cx="4900000" cy="260000"/>
          </a:xfrm>
          <a:prstGeom prst="roundRect">
            <a:avLst>
              <a:gd name="adj" fmla="val 50000"/>
            </a:avLst>
          </a:prstGeom>
          <a:solidFill>
            <a:srgbClr val="DCEDE9"/>
          </a:solidFill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ctr"/>
            <a:r>
              <a:rPr lang="ko-KR" sz="950" b="1" dirty="0">
                <a:solidFill>
                  <a:srgbClr val="1F6F68"/>
                </a:solidFill>
                <a:latin typeface="맑은 고딕"/>
                <a:ea typeface="맑은 고딕"/>
              </a:rPr>
              <a:t>9월 18일 선택 시 GAC00001 표시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5648640" y="2780000"/>
            <a:ext cx="282236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950" b="1" dirty="0">
                <a:solidFill>
                  <a:srgbClr val="948C78"/>
                </a:solidFill>
                <a:latin typeface="Consolas"/>
                <a:ea typeface="Consolas"/>
              </a:rPr>
              <a:t>9월 18일 선택됨 · 1 / 6</a:t>
            </a:r>
          </a:p>
        </p:txBody>
      </p:sp>
      <p:graphicFrame>
        <p:nvGraphicFramePr>
          <p:cNvPr id="15" name="ListFiltered"/>
          <p:cNvGraphicFramePr>
            <a:graphicFrameLocks noGrp="1"/>
          </p:cNvGraphicFramePr>
          <p:nvPr/>
        </p:nvGraphicFramePr>
        <p:xfrm>
          <a:off x="5648640" y="3080000"/>
          <a:ext cx="2822360" cy="520000"/>
        </p:xfrm>
        <a:graphic>
          <a:graphicData uri="http://schemas.openxmlformats.org/drawingml/2006/table">
            <a:tbl>
              <a:tblPr firstRow="0" bandRow="0"/>
              <a:tblGrid>
                <a:gridCol w="1693416"/>
                <a:gridCol w="564472"/>
                <a:gridCol w="564472"/>
              </a:tblGrid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ko-KR" sz="850" b="1" dirty="0">
                          <a:solidFill>
                            <a:srgbClr val="7A430F"/>
                          </a:solidFill>
                          <a:latin typeface="Consolas"/>
                          <a:ea typeface="Consolas"/>
                        </a:rPr>
                        <a:t>GAC00001</a:t>
                      </a:r>
                      <a:r>
                        <a:rPr lang="ko-KR" sz="850" dirty="0">
                          <a:solidFill>
                            <a:srgbClr val="5B5445"/>
                          </a:solidFill>
                          <a:latin typeface="맑은 고딕"/>
                          <a:ea typeface="맑은 고딕"/>
                        </a:rPr>
                        <a:t>:결제 게이트웨이 연동 개선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0DA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800" b="1" dirty="0">
                          <a:solidFill>
                            <a:srgbClr val="7A430F"/>
                          </a:solidFill>
                          <a:latin typeface="맑은 고딕"/>
                          <a:ea typeface="맑은 고딕"/>
                        </a:rPr>
                        <a:t>상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0DA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800" b="1" dirty="0">
                          <a:solidFill>
                            <a:srgbClr val="1F6F68"/>
                          </a:solidFill>
                          <a:latin typeface="Consolas"/>
                          <a:ea typeface="Consolas"/>
                        </a:rPr>
                        <a:t>20%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DCEDE9"/>
                    </a:solidFill>
                  </a:tcPr>
                </a:tc>
              </a:tr>
            </a:tbl>
          </a:graphicData>
        </a:graphic>
      </p:graphicFrame>
      <p:sp>
        <p:nvSpPr>
          <p:cNvPr id="16" name="TextBox"/>
          <p:cNvSpPr txBox="1"/>
          <p:nvPr/>
        </p:nvSpPr>
        <p:spPr>
          <a:xfrm>
            <a:off x="8671000" y="2780000"/>
            <a:ext cx="282236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950" b="1" dirty="0">
                <a:solidFill>
                  <a:srgbClr val="948C78"/>
                </a:solidFill>
                <a:latin typeface="Consolas"/>
                <a:ea typeface="Consolas"/>
              </a:rPr>
              <a:t>전체 보기 · 6건 · 진행중5 완료1</a:t>
            </a:r>
          </a:p>
        </p:txBody>
      </p:sp>
      <p:graphicFrame>
        <p:nvGraphicFramePr>
          <p:cNvPr id="17" name="ListAll"/>
          <p:cNvGraphicFramePr>
            <a:graphicFrameLocks noGrp="1"/>
          </p:cNvGraphicFramePr>
          <p:nvPr/>
        </p:nvGraphicFramePr>
        <p:xfrm>
          <a:off x="8671000" y="3080000"/>
          <a:ext cx="2822360" cy="1290000"/>
        </p:xfrm>
        <a:graphic>
          <a:graphicData uri="http://schemas.openxmlformats.org/drawingml/2006/table">
            <a:tbl>
              <a:tblPr firstRow="0" bandRow="0"/>
              <a:tblGrid>
                <a:gridCol w="1693416"/>
                <a:gridCol w="564472"/>
                <a:gridCol w="564472"/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ko-KR" sz="850" b="1" dirty="0">
                          <a:solidFill>
                            <a:srgbClr val="7A430F"/>
                          </a:solidFill>
                          <a:latin typeface="Consolas"/>
                          <a:ea typeface="Consolas"/>
                        </a:rPr>
                        <a:t>PAY00001</a:t>
                      </a:r>
                      <a:r>
                        <a:rPr lang="ko-KR" sz="850" dirty="0">
                          <a:solidFill>
                            <a:srgbClr val="5B5445"/>
                          </a:solidFill>
                          <a:latin typeface="맑은 고딕"/>
                          <a:ea typeface="맑은 고딕"/>
                        </a:rPr>
                        <a:t>:결제모듈 v2.3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800" b="1" dirty="0">
                          <a:solidFill>
                            <a:srgbClr val="948C78"/>
                          </a:solidFill>
                          <a:latin typeface="맑은 고딕"/>
                          <a:ea typeface="맑은 고딕"/>
                        </a:rPr>
                        <a:t>하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800" b="1" dirty="0">
                          <a:solidFill>
                            <a:srgbClr val="948C78"/>
                          </a:solidFill>
                          <a:latin typeface="Consolas"/>
                          <a:ea typeface="Consolas"/>
                        </a:rPr>
                        <a:t>완료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EFE7D6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ko-KR" sz="850" b="1" dirty="0">
                          <a:solidFill>
                            <a:srgbClr val="7A430F"/>
                          </a:solidFill>
                          <a:latin typeface="Consolas"/>
                          <a:ea typeface="Consolas"/>
                        </a:rPr>
                        <a:t>SHP00002</a:t>
                      </a:r>
                      <a:r>
                        <a:rPr lang="ko-KR" sz="850" dirty="0">
                          <a:solidFill>
                            <a:srgbClr val="5B5445"/>
                          </a:solidFill>
                          <a:latin typeface="맑은 고딕"/>
                          <a:ea typeface="맑은 고딕"/>
                        </a:rPr>
                        <a:t>:배송API 핫픽스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800" b="1" dirty="0">
                          <a:solidFill>
                            <a:srgbClr val="B5402E"/>
                          </a:solidFill>
                          <a:latin typeface="맑은 고딕"/>
                          <a:ea typeface="맑은 고딕"/>
                        </a:rPr>
                        <a:t>최상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4DD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800" b="1" dirty="0">
                          <a:solidFill>
                            <a:srgbClr val="1F6F68"/>
                          </a:solidFill>
                          <a:latin typeface="Consolas"/>
                          <a:ea typeface="Consolas"/>
                        </a:rPr>
                        <a:t>80%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DCEDE9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ko-KR" sz="850" b="1" dirty="0">
                          <a:solidFill>
                            <a:srgbClr val="7A430F"/>
                          </a:solidFill>
                          <a:latin typeface="Consolas"/>
                          <a:ea typeface="Consolas"/>
                        </a:rPr>
                        <a:t>GAC00001</a:t>
                      </a:r>
                      <a:r>
                        <a:rPr lang="ko-KR" sz="850" dirty="0">
                          <a:solidFill>
                            <a:srgbClr val="5B5445"/>
                          </a:solidFill>
                          <a:latin typeface="맑은 고딕"/>
                          <a:ea typeface="맑은 고딕"/>
                        </a:rPr>
                        <a:t>:결제 게이트웨이…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0DA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800" b="1" dirty="0">
                          <a:solidFill>
                            <a:srgbClr val="7A430F"/>
                          </a:solidFill>
                          <a:latin typeface="맑은 고딕"/>
                          <a:ea typeface="맑은 고딕"/>
                        </a:rPr>
                        <a:t>상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0DA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800" b="1" dirty="0">
                          <a:solidFill>
                            <a:srgbClr val="1F6F68"/>
                          </a:solidFill>
                          <a:latin typeface="Consolas"/>
                          <a:ea typeface="Consolas"/>
                        </a:rPr>
                        <a:t>20%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DCEDE9"/>
                    </a:solidFill>
                  </a:tcPr>
                </a:tc>
              </a:tr>
            </a:tbl>
          </a:graphicData>
        </a:graphic>
      </p:graphicFrame>
      <p:sp>
        <p:nvSpPr>
          <p:cNvPr id="18" name="Rect"/>
          <p:cNvSpPr/>
          <p:nvPr/>
        </p:nvSpPr>
        <p:spPr>
          <a:xfrm>
            <a:off x="5648640" y="4520000"/>
            <a:ext cx="5844720" cy="1890000"/>
          </a:xfrm>
          <a:prstGeom prst="roundRect">
            <a:avLst>
              <a:gd name="adj" fmla="val 6000"/>
            </a:avLst>
          </a:prstGeom>
          <a:solidFill>
            <a:srgbClr val="EFE7D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"/>
          <p:cNvSpPr/>
          <p:nvPr/>
        </p:nvSpPr>
        <p:spPr>
          <a:xfrm>
            <a:off x="5648640" y="4520000"/>
            <a:ext cx="38100" cy="1890000"/>
          </a:xfrm>
          <a:prstGeom prst="rect">
            <a:avLst/>
          </a:prstGeom>
          <a:solidFill>
            <a:srgbClr val="B864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Box"/>
          <p:cNvSpPr txBox="1"/>
          <p:nvPr/>
        </p:nvSpPr>
        <p:spPr>
          <a:xfrm>
            <a:off x="5808640" y="4590000"/>
            <a:ext cx="5544720" cy="17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1050" dirty="0">
                <a:solidFill>
                  <a:srgbClr val="5B5445"/>
                </a:solidFill>
                <a:latin typeface="맑은 고딕"/>
                <a:ea typeface="맑은 고딕"/>
              </a:rPr>
              <a:t>9/18을 선택하면 </a:t>
            </a:r>
            <a:r>
              <a:rPr lang="ko-KR" sz="1050" b="1" dirty="0">
                <a:solidFill>
                  <a:srgbClr val="211D16"/>
                </a:solidFill>
                <a:latin typeface="맑은 고딕"/>
                <a:ea typeface="맑은 고딕"/>
              </a:rPr>
              <a:t>6건 중 그날의 1건(GAC00001)만</a:t>
            </a:r>
            <a:r>
              <a:rPr lang="ko-KR" sz="1050" dirty="0">
                <a:solidFill>
                  <a:srgbClr val="5B5445"/>
                </a:solidFill>
                <a:latin typeface="맑은 고딕"/>
                <a:ea typeface="맑은 고딕"/>
              </a:rPr>
              <a:t> 남고, 선택을 해제하면 전체 6건이 적용일자순으로 다시 보입니다.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548640" y="6620000"/>
            <a:ext cx="5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1000" dirty="0">
                <a:solidFill>
                  <a:srgbClr val="948C78"/>
                </a:solidFill>
                <a:latin typeface="Consolas"/>
                <a:ea typeface="Consolas"/>
              </a:rPr>
              <a:t>ZONE 2 · 중단 영역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8643360" y="66200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sz="1000" dirty="0">
                <a:solidFill>
                  <a:srgbClr val="948C78"/>
                </a:solidFill>
                <a:latin typeface="맑은 고딕"/>
                <a:ea typeface="맑은 고딕"/>
              </a:rPr>
              <a:t>CM 패키지 관리 앱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ill"/>
          <p:cNvSpPr/>
          <p:nvPr/>
        </p:nvSpPr>
        <p:spPr>
          <a:xfrm>
            <a:off x="548640" y="365760"/>
            <a:ext cx="1550000" cy="274320"/>
          </a:xfrm>
          <a:prstGeom prst="roundRect">
            <a:avLst>
              <a:gd name="adj" fmla="val 50000"/>
            </a:avLst>
          </a:prstGeom>
          <a:solidFill>
            <a:srgbClr val="F0DAB4"/>
          </a:solidFill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ctr"/>
            <a:r>
              <a:rPr lang="ko-KR" sz="1050" b="1" dirty="0">
                <a:solidFill>
                  <a:srgbClr val="7A430F"/>
                </a:solidFill>
                <a:latin typeface="맑은 고딕"/>
                <a:ea typeface="맑은 고딕"/>
              </a:rPr>
              <a:t>기능 03 · 상세내역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700000"/>
            <a:ext cx="8600000" cy="6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2600" b="1" dirty="0">
                <a:solidFill>
                  <a:srgbClr val="211D16"/>
                </a:solidFill>
                <a:latin typeface="맑은 고딕"/>
                <a:ea typeface="맑은 고딕"/>
              </a:rPr>
              <a:t>패키지를 실제로 등록·수정하는 화면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1360000"/>
            <a:ext cx="8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1250" dirty="0">
                <a:solidFill>
                  <a:srgbClr val="5B5445"/>
                </a:solidFill>
                <a:latin typeface="맑은 고딕"/>
                <a:ea typeface="맑은 고딕"/>
              </a:rPr>
              <a:t>목록에서 항목을 고르면 수정 모드로, 비어 있으면 새 패키지를 만드는 등록 모드로 열립니다.</a:t>
            </a:r>
          </a:p>
        </p:txBody>
      </p:sp>
      <p:sp>
        <p:nvSpPr>
          <p:cNvPr id="5" name="Counter"/>
          <p:cNvSpPr txBox="1"/>
          <p:nvPr/>
        </p:nvSpPr>
        <p:spPr>
          <a:xfrm>
            <a:off x="10600000" y="365760"/>
            <a:ext cx="10433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ko-KR" sz="1100" dirty="0">
                <a:solidFill>
                  <a:srgbClr val="948C78"/>
                </a:solidFill>
                <a:latin typeface="Consolas"/>
                <a:ea typeface="Consolas"/>
              </a:rPr>
              <a:t>03 / 04</a:t>
            </a:r>
          </a:p>
        </p:txBody>
      </p:sp>
      <p:sp>
        <p:nvSpPr>
          <p:cNvPr id="6" name="Rect"/>
          <p:cNvSpPr/>
          <p:nvPr/>
        </p:nvSpPr>
        <p:spPr>
          <a:xfrm>
            <a:off x="548640" y="1780000"/>
            <a:ext cx="11094720" cy="9525"/>
          </a:xfrm>
          <a:prstGeom prst="rect">
            <a:avLst/>
          </a:prstGeom>
          <a:solidFill>
            <a:srgbClr val="E2D8C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"/>
          <p:cNvSpPr txBox="1"/>
          <p:nvPr/>
        </p:nvSpPr>
        <p:spPr>
          <a:xfrm>
            <a:off x="548640" y="1850000"/>
            <a:ext cx="465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1150" b="1" dirty="0">
                <a:solidFill>
                  <a:srgbClr val="7A430F"/>
                </a:solidFill>
                <a:latin typeface="맑은 고딕"/>
                <a:ea typeface="맑은 고딕"/>
              </a:rPr>
              <a:t>동작 방식</a:t>
            </a:r>
          </a:p>
        </p:txBody>
      </p:sp>
      <p:sp>
        <p:nvSpPr>
          <p:cNvPr id="8" name="Rect"/>
          <p:cNvSpPr/>
          <p:nvPr/>
        </p:nvSpPr>
        <p:spPr>
          <a:xfrm>
            <a:off x="548640" y="2140000"/>
            <a:ext cx="4650000" cy="9525"/>
          </a:xfrm>
          <a:prstGeom prst="rect">
            <a:avLst/>
          </a:prstGeom>
          <a:solidFill>
            <a:srgbClr val="E2D8C1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"/>
          <p:cNvSpPr txBox="1"/>
          <p:nvPr/>
        </p:nvSpPr>
        <p:spPr>
          <a:xfrm>
            <a:off x="5498640" y="1850000"/>
            <a:ext cx="614472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1150" b="1" dirty="0">
                <a:solidFill>
                  <a:srgbClr val="948C78"/>
                </a:solidFill>
                <a:latin typeface="맑은 고딕"/>
                <a:ea typeface="맑은 고딕"/>
              </a:rPr>
              <a:t>예제</a:t>
            </a:r>
          </a:p>
        </p:txBody>
      </p:sp>
      <p:sp>
        <p:nvSpPr>
          <p:cNvPr id="10" name="Rect"/>
          <p:cNvSpPr/>
          <p:nvPr/>
        </p:nvSpPr>
        <p:spPr>
          <a:xfrm>
            <a:off x="5498640" y="2140000"/>
            <a:ext cx="6144720" cy="9525"/>
          </a:xfrm>
          <a:prstGeom prst="rect">
            <a:avLst/>
          </a:prstGeom>
          <a:solidFill>
            <a:srgbClr val="E2D8C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ullets"/>
          <p:cNvSpPr txBox="1"/>
          <p:nvPr/>
        </p:nvSpPr>
        <p:spPr>
          <a:xfrm>
            <a:off x="548640" y="2230000"/>
            <a:ext cx="4650000" cy="4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ko-KR" sz="1300" b="1" dirty="0">
                <a:solidFill>
                  <a:srgbClr val="211D16"/>
                </a:solidFill>
                <a:latin typeface="맑은 고딕"/>
                <a:ea typeface="맑은 고딕"/>
              </a:rPr>
              <a:t>패키지번호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를 패키지명보다 위에 두고, 입력 중 자동으로 </a:t>
            </a:r>
            <a:r>
              <a:rPr lang="ko-KR" sz="1300" b="1" dirty="0">
                <a:solidFill>
                  <a:srgbClr val="211D16"/>
                </a:solidFill>
                <a:latin typeface="맑은 고딕"/>
                <a:ea typeface="맑은 고딕"/>
              </a:rPr>
              <a:t>대문자로 변환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합니다.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번호 형식은 </a:t>
            </a:r>
            <a:r>
              <a:rPr lang="ko-KR" sz="1300" dirty="0">
                <a:solidFill>
                  <a:srgbClr val="7A430F"/>
                </a:solidFill>
                <a:highlight>
                  <a:srgbClr val="EEE4CC"/>
                </a:highlight>
                <a:latin typeface="Consolas"/>
                <a:ea typeface="Consolas"/>
              </a:rPr>
              <a:t>영문 3자리 + 숫자 5자리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만 허용(예: </a:t>
            </a:r>
            <a:r>
              <a:rPr lang="ko-KR" sz="1300" dirty="0">
                <a:solidFill>
                  <a:srgbClr val="7A430F"/>
                </a:solidFill>
                <a:highlight>
                  <a:srgbClr val="EEE4CC"/>
                </a:highlight>
                <a:latin typeface="Consolas"/>
                <a:ea typeface="Consolas"/>
              </a:rPr>
              <a:t>GAC00001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) — 형식이 틀리면 </a:t>
            </a:r>
            <a:r>
              <a:rPr lang="ko-KR" sz="1300" b="1" dirty="0">
                <a:solidFill>
                  <a:srgbClr val="211D16"/>
                </a:solidFill>
                <a:latin typeface="맑은 고딕"/>
                <a:ea typeface="맑은 고딕"/>
              </a:rPr>
              <a:t>저장을 막고 안내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합니다.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진행률 줄 왼쪽에 </a:t>
            </a:r>
            <a:r>
              <a:rPr lang="ko-KR" sz="1300" b="1" dirty="0">
                <a:solidFill>
                  <a:srgbClr val="211D16"/>
                </a:solidFill>
                <a:latin typeface="맑은 고딕"/>
                <a:ea typeface="맑은 고딕"/>
              </a:rPr>
              <a:t>중요도 콤보박스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(최상/상/중/하)를 붙여 진행률 바 폭을 함께 줄입니다.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변경관리 내용 아래에 </a:t>
            </a:r>
            <a:r>
              <a:rPr lang="ko-KR" sz="1300" b="1" dirty="0">
                <a:solidFill>
                  <a:srgbClr val="211D16"/>
                </a:solidFill>
                <a:latin typeface="맑은 고딕"/>
                <a:ea typeface="맑은 고딕"/>
              </a:rPr>
              <a:t>비고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를 두며, 비고 입력창 높이는 변경관리 내용의 절반입니다.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패키지명·패키지번호·적용일자는 필수이며, 저장 즉시 </a:t>
            </a:r>
            <a:r>
              <a:rPr lang="ko-KR" sz="1300" b="1" dirty="0">
                <a:solidFill>
                  <a:srgbClr val="211D16"/>
                </a:solidFill>
                <a:latin typeface="맑은 고딕"/>
                <a:ea typeface="맑은 고딕"/>
              </a:rPr>
              <a:t>달력·목록에 반영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되고 </a:t>
            </a:r>
            <a:r>
              <a:rPr lang="ko-KR" sz="1300" dirty="0">
                <a:solidFill>
                  <a:srgbClr val="7A430F"/>
                </a:solidFill>
                <a:highlight>
                  <a:srgbClr val="EEE4CC"/>
                </a:highlight>
                <a:latin typeface="Consolas"/>
                <a:ea typeface="Consolas"/>
              </a:rPr>
              <a:t>localStorage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에 영구 저장됩니다.</a:t>
            </a:r>
          </a:p>
        </p:txBody>
      </p:sp>
      <p:sp>
        <p:nvSpPr>
          <p:cNvPr id="12" name="Card"/>
          <p:cNvSpPr/>
          <p:nvPr/>
        </p:nvSpPr>
        <p:spPr>
          <a:xfrm>
            <a:off x="5498640" y="2230000"/>
            <a:ext cx="6144720" cy="4330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2D8C1"/>
            </a:solidFill>
          </a:ln>
        </p:spPr>
        <p:txBody>
          <a:bodyPr/>
          <a:lstStyle/>
          <a:p/>
        </p:txBody>
      </p:sp>
      <p:sp>
        <p:nvSpPr>
          <p:cNvPr id="13" name="Pill"/>
          <p:cNvSpPr/>
          <p:nvPr/>
        </p:nvSpPr>
        <p:spPr>
          <a:xfrm>
            <a:off x="5648640" y="2380000"/>
            <a:ext cx="4900000" cy="260000"/>
          </a:xfrm>
          <a:prstGeom prst="roundRect">
            <a:avLst>
              <a:gd name="adj" fmla="val 50000"/>
            </a:avLst>
          </a:prstGeom>
          <a:solidFill>
            <a:srgbClr val="F0DAB4"/>
          </a:solidFill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ctr"/>
            <a:r>
              <a:rPr lang="ko-KR" sz="950" b="1" dirty="0">
                <a:solidFill>
                  <a:srgbClr val="7A430F"/>
                </a:solidFill>
                <a:latin typeface="맑은 고딕"/>
                <a:ea typeface="맑은 고딕"/>
              </a:rPr>
              <a:t>GAC00001 등록 절차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5648640" y="2820000"/>
            <a:ext cx="2600000" cy="35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ko-KR" sz="1150" b="1" dirty="0">
                <a:solidFill>
                  <a:srgbClr val="B8641C"/>
                </a:solidFill>
                <a:latin typeface="맑은 고딕"/>
                <a:ea typeface="맑은 고딕"/>
              </a:rPr>
              <a:t>①</a:t>
            </a:r>
            <a:r>
              <a:rPr lang="ko-KR" sz="1000" dirty="0">
                <a:solidFill>
                  <a:srgbClr val="211D16"/>
                </a:solidFill>
                <a:latin typeface="맑은 고딕"/>
                <a:ea typeface="맑은 고딕"/>
              </a:rPr>
              <a:t>  </a:t>
            </a:r>
            <a:r>
              <a:rPr lang="ko-KR" sz="1000" dirty="0">
                <a:solidFill>
                  <a:srgbClr val="5B5445"/>
                </a:solidFill>
                <a:latin typeface="맑은 고딕"/>
                <a:ea typeface="맑은 고딕"/>
              </a:rPr>
              <a:t>패키지번호 </a:t>
            </a:r>
            <a:r>
              <a:rPr lang="ko-KR" sz="1000" dirty="0">
                <a:solidFill>
                  <a:srgbClr val="7A430F"/>
                </a:solidFill>
                <a:latin typeface="Consolas"/>
                <a:ea typeface="Consolas"/>
              </a:rPr>
              <a:t>GAC00001</a:t>
            </a:r>
            <a:r>
              <a:rPr lang="ko-KR" sz="1000" dirty="0">
                <a:solidFill>
                  <a:srgbClr val="5B5445"/>
                </a:solidFill>
                <a:latin typeface="맑은 고딕"/>
                <a:ea typeface="맑은 고딕"/>
              </a:rPr>
              <a:t> 입력 (자동 대문자·형식 검증)</a:t>
            </a:r>
          </a:p>
          <a:p>
            <a:pPr>
              <a:spcAft>
                <a:spcPts val="500"/>
              </a:spcAft>
            </a:pPr>
            <a:r>
              <a:rPr lang="ko-KR" sz="1150" b="1" dirty="0">
                <a:solidFill>
                  <a:srgbClr val="B8641C"/>
                </a:solidFill>
                <a:latin typeface="맑은 고딕"/>
                <a:ea typeface="맑은 고딕"/>
              </a:rPr>
              <a:t>②</a:t>
            </a:r>
            <a:r>
              <a:rPr lang="ko-KR" sz="1000" dirty="0">
                <a:solidFill>
                  <a:srgbClr val="211D16"/>
                </a:solidFill>
                <a:latin typeface="맑은 고딕"/>
                <a:ea typeface="맑은 고딕"/>
              </a:rPr>
              <a:t>  </a:t>
            </a:r>
            <a:r>
              <a:rPr lang="ko-KR" sz="1000" dirty="0">
                <a:solidFill>
                  <a:srgbClr val="5B5445"/>
                </a:solidFill>
                <a:latin typeface="맑은 고딕"/>
                <a:ea typeface="맑은 고딕"/>
              </a:rPr>
              <a:t>패키지명 "결제 게이트웨이 연동 개선" 입력</a:t>
            </a:r>
          </a:p>
          <a:p>
            <a:pPr>
              <a:spcAft>
                <a:spcPts val="500"/>
              </a:spcAft>
            </a:pPr>
            <a:r>
              <a:rPr lang="ko-KR" sz="1150" b="1" dirty="0">
                <a:solidFill>
                  <a:srgbClr val="B8641C"/>
                </a:solidFill>
                <a:latin typeface="맑은 고딕"/>
                <a:ea typeface="맑은 고딕"/>
              </a:rPr>
              <a:t>③</a:t>
            </a:r>
            <a:r>
              <a:rPr lang="ko-KR" sz="1000" dirty="0">
                <a:solidFill>
                  <a:srgbClr val="211D16"/>
                </a:solidFill>
                <a:latin typeface="맑은 고딕"/>
                <a:ea typeface="맑은 고딕"/>
              </a:rPr>
              <a:t>  </a:t>
            </a:r>
            <a:r>
              <a:rPr lang="ko-KR" sz="1000" dirty="0">
                <a:solidFill>
                  <a:srgbClr val="5B5445"/>
                </a:solidFill>
                <a:latin typeface="맑은 고딕"/>
                <a:ea typeface="맑은 고딕"/>
              </a:rPr>
              <a:t>중요도 </a:t>
            </a:r>
            <a:r>
              <a:rPr lang="ko-KR" sz="1000" b="1" dirty="0">
                <a:solidFill>
                  <a:srgbClr val="211D16"/>
                </a:solidFill>
                <a:latin typeface="맑은 고딕"/>
                <a:ea typeface="맑은 고딕"/>
              </a:rPr>
              <a:t>상</a:t>
            </a:r>
            <a:r>
              <a:rPr lang="ko-KR" sz="1000" dirty="0">
                <a:solidFill>
                  <a:srgbClr val="5B5445"/>
                </a:solidFill>
                <a:latin typeface="맑은 고딕"/>
                <a:ea typeface="맑은 고딕"/>
              </a:rPr>
              <a:t> 선택 · 진행률 </a:t>
            </a:r>
            <a:r>
              <a:rPr lang="ko-KR" sz="1000" b="1" dirty="0">
                <a:solidFill>
                  <a:srgbClr val="211D16"/>
                </a:solidFill>
                <a:latin typeface="맑은 고딕"/>
                <a:ea typeface="맑은 고딕"/>
              </a:rPr>
              <a:t>20%</a:t>
            </a:r>
            <a:r>
              <a:rPr lang="ko-KR" sz="1000" dirty="0">
                <a:solidFill>
                  <a:srgbClr val="5B5445"/>
                </a:solidFill>
                <a:latin typeface="맑은 고딕"/>
                <a:ea typeface="맑은 고딕"/>
              </a:rPr>
              <a:t> 입력</a:t>
            </a:r>
          </a:p>
          <a:p>
            <a:pPr>
              <a:spcAft>
                <a:spcPts val="500"/>
              </a:spcAft>
            </a:pPr>
            <a:r>
              <a:rPr lang="ko-KR" sz="1150" b="1" dirty="0">
                <a:solidFill>
                  <a:srgbClr val="B8641C"/>
                </a:solidFill>
                <a:latin typeface="맑은 고딕"/>
                <a:ea typeface="맑은 고딕"/>
              </a:rPr>
              <a:t>④</a:t>
            </a:r>
            <a:r>
              <a:rPr lang="ko-KR" sz="1000" dirty="0">
                <a:solidFill>
                  <a:srgbClr val="211D16"/>
                </a:solidFill>
                <a:latin typeface="맑은 고딕"/>
                <a:ea typeface="맑은 고딕"/>
              </a:rPr>
              <a:t>  </a:t>
            </a:r>
            <a:r>
              <a:rPr lang="ko-KR" sz="1000" dirty="0">
                <a:solidFill>
                  <a:srgbClr val="5B5445"/>
                </a:solidFill>
                <a:latin typeface="맑은 고딕"/>
                <a:ea typeface="맑은 고딕"/>
              </a:rPr>
              <a:t>변경관리 내용과 비고 작성</a:t>
            </a:r>
          </a:p>
          <a:p>
            <a:pPr>
              <a:spcAft>
                <a:spcPts val="500"/>
              </a:spcAft>
            </a:pPr>
            <a:r>
              <a:rPr lang="ko-KR" sz="1150" b="1" dirty="0">
                <a:solidFill>
                  <a:srgbClr val="B8641C"/>
                </a:solidFill>
                <a:latin typeface="맑은 고딕"/>
                <a:ea typeface="맑은 고딕"/>
              </a:rPr>
              <a:t>⑤</a:t>
            </a:r>
            <a:r>
              <a:rPr lang="ko-KR" sz="1000" dirty="0">
                <a:solidFill>
                  <a:srgbClr val="211D16"/>
                </a:solidFill>
                <a:latin typeface="맑은 고딕"/>
                <a:ea typeface="맑은 고딕"/>
              </a:rPr>
              <a:t>  </a:t>
            </a:r>
            <a:r>
              <a:rPr lang="ko-KR" sz="1000" dirty="0">
                <a:solidFill>
                  <a:srgbClr val="5B5445"/>
                </a:solidFill>
                <a:latin typeface="맑은 고딕"/>
                <a:ea typeface="맑은 고딕"/>
              </a:rPr>
              <a:t>적용일자·시간 </a:t>
            </a:r>
            <a:r>
              <a:rPr lang="ko-KR" sz="1000" dirty="0">
                <a:solidFill>
                  <a:srgbClr val="7A430F"/>
                </a:solidFill>
                <a:latin typeface="Consolas"/>
                <a:ea typeface="Consolas"/>
              </a:rPr>
              <a:t>2026-09-18 14:00</a:t>
            </a:r>
            <a:r>
              <a:rPr lang="ko-KR" sz="1000" dirty="0">
                <a:solidFill>
                  <a:srgbClr val="5B5445"/>
                </a:solidFill>
                <a:latin typeface="맑은 고딕"/>
                <a:ea typeface="맑은 고딕"/>
              </a:rPr>
              <a:t> 지정</a:t>
            </a:r>
          </a:p>
          <a:p>
            <a:pPr>
              <a:spcAft>
                <a:spcPts val="500"/>
              </a:spcAft>
            </a:pPr>
            <a:r>
              <a:rPr lang="ko-KR" sz="1150" b="1" dirty="0">
                <a:solidFill>
                  <a:srgbClr val="B8641C"/>
                </a:solidFill>
                <a:latin typeface="맑은 고딕"/>
                <a:ea typeface="맑은 고딕"/>
              </a:rPr>
              <a:t>⑥</a:t>
            </a:r>
            <a:r>
              <a:rPr lang="ko-KR" sz="1000" dirty="0">
                <a:solidFill>
                  <a:srgbClr val="211D16"/>
                </a:solidFill>
                <a:latin typeface="맑은 고딕"/>
                <a:ea typeface="맑은 고딕"/>
              </a:rPr>
              <a:t>  </a:t>
            </a:r>
            <a:r>
              <a:rPr lang="ko-KR" sz="1000" b="1" dirty="0">
                <a:solidFill>
                  <a:srgbClr val="211D16"/>
                </a:solidFill>
                <a:latin typeface="맑은 고딕"/>
                <a:ea typeface="맑은 고딕"/>
              </a:rPr>
              <a:t>저장</a:t>
            </a:r>
            <a:r>
              <a:rPr lang="ko-KR" sz="1000" dirty="0">
                <a:solidFill>
                  <a:srgbClr val="5B5445"/>
                </a:solidFill>
                <a:latin typeface="맑은 고딕"/>
                <a:ea typeface="맑은 고딕"/>
              </a:rPr>
              <a:t> → 달력·목록에 즉시 반영</a:t>
            </a:r>
          </a:p>
        </p:txBody>
      </p:sp>
      <p:graphicFrame>
        <p:nvGraphicFramePr>
          <p:cNvPr id="15" name="DetailForm"/>
          <p:cNvGraphicFramePr>
            <a:graphicFrameLocks noGrp="1"/>
          </p:cNvGraphicFramePr>
          <p:nvPr/>
        </p:nvGraphicFramePr>
        <p:xfrm>
          <a:off x="8408640" y="2820000"/>
          <a:ext cx="3084720" cy="3589999"/>
        </p:xfrm>
        <a:graphic>
          <a:graphicData uri="http://schemas.openxmlformats.org/drawingml/2006/table">
            <a:tbl>
              <a:tblPr firstRow="0" bandRow="0"/>
              <a:tblGrid>
                <a:gridCol w="1048805"/>
                <a:gridCol w="2035915"/>
              </a:tblGrid>
              <a:tr h="512857">
                <a:tc>
                  <a:txBody>
                    <a:bodyPr/>
                    <a:lstStyle/>
                    <a:p>
                      <a:pPr algn="l"/>
                      <a:r>
                        <a:rPr lang="ko-KR" sz="850" dirty="0">
                          <a:solidFill>
                            <a:srgbClr val="948C78"/>
                          </a:solidFill>
                          <a:latin typeface="맑은 고딕"/>
                          <a:ea typeface="맑은 고딕"/>
                        </a:rPr>
                        <a:t>패키지번호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50" dirty="0">
                          <a:solidFill>
                            <a:srgbClr val="211D16"/>
                          </a:solidFill>
                          <a:latin typeface="Consolas"/>
                          <a:ea typeface="Consolas"/>
                        </a:rPr>
                        <a:t>GAC00001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857">
                <a:tc>
                  <a:txBody>
                    <a:bodyPr/>
                    <a:lstStyle/>
                    <a:p>
                      <a:pPr algn="l"/>
                      <a:r>
                        <a:rPr lang="ko-KR" sz="850" dirty="0">
                          <a:solidFill>
                            <a:srgbClr val="948C78"/>
                          </a:solidFill>
                          <a:latin typeface="맑은 고딕"/>
                          <a:ea typeface="맑은 고딕"/>
                        </a:rPr>
                        <a:t>패키지명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50" dirty="0">
                          <a:solidFill>
                            <a:srgbClr val="211D16"/>
                          </a:solidFill>
                          <a:latin typeface="맑은 고딕"/>
                          <a:ea typeface="맑은 고딕"/>
                        </a:rPr>
                        <a:t>결제 게이트웨이 연동 개선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857">
                <a:tc>
                  <a:txBody>
                    <a:bodyPr/>
                    <a:lstStyle/>
                    <a:p>
                      <a:pPr algn="l"/>
                      <a:r>
                        <a:rPr lang="ko-KR" sz="850" dirty="0">
                          <a:solidFill>
                            <a:srgbClr val="948C78"/>
                          </a:solidFill>
                          <a:latin typeface="맑은 고딕"/>
                          <a:ea typeface="맑은 고딕"/>
                        </a:rPr>
                        <a:t>중요도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50" dirty="0">
                          <a:solidFill>
                            <a:srgbClr val="211D16"/>
                          </a:solidFill>
                          <a:latin typeface="맑은 고딕"/>
                          <a:ea typeface="맑은 고딕"/>
                        </a:rPr>
                        <a:t>상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857">
                <a:tc>
                  <a:txBody>
                    <a:bodyPr/>
                    <a:lstStyle/>
                    <a:p>
                      <a:pPr algn="l"/>
                      <a:r>
                        <a:rPr lang="ko-KR" sz="850" dirty="0">
                          <a:solidFill>
                            <a:srgbClr val="948C78"/>
                          </a:solidFill>
                          <a:latin typeface="맑은 고딕"/>
                          <a:ea typeface="맑은 고딕"/>
                        </a:rPr>
                        <a:t>진행률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50" dirty="0">
                          <a:solidFill>
                            <a:srgbClr val="211D16"/>
                          </a:solidFill>
                          <a:latin typeface="Consolas"/>
                          <a:ea typeface="Consolas"/>
                        </a:rPr>
                        <a:t>20 %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857">
                <a:tc>
                  <a:txBody>
                    <a:bodyPr/>
                    <a:lstStyle/>
                    <a:p>
                      <a:pPr algn="l"/>
                      <a:r>
                        <a:rPr lang="ko-KR" sz="850" dirty="0">
                          <a:solidFill>
                            <a:srgbClr val="948C78"/>
                          </a:solidFill>
                          <a:latin typeface="맑은 고딕"/>
                          <a:ea typeface="맑은 고딕"/>
                        </a:rPr>
                        <a:t>변경관리 내용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50" dirty="0">
                          <a:solidFill>
                            <a:srgbClr val="211D16"/>
                          </a:solidFill>
                          <a:latin typeface="맑은 고딕"/>
                          <a:ea typeface="맑은 고딕"/>
                        </a:rPr>
                        <a:t>PG사 API 버전 업그레이드 및 예외처리 보강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857">
                <a:tc>
                  <a:txBody>
                    <a:bodyPr/>
                    <a:lstStyle/>
                    <a:p>
                      <a:pPr algn="l"/>
                      <a:r>
                        <a:rPr lang="ko-KR" sz="850" dirty="0">
                          <a:solidFill>
                            <a:srgbClr val="948C78"/>
                          </a:solidFill>
                          <a:latin typeface="맑은 고딕"/>
                          <a:ea typeface="맑은 고딕"/>
                        </a:rPr>
                        <a:t>비고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50" dirty="0">
                          <a:solidFill>
                            <a:srgbClr val="211D16"/>
                          </a:solidFill>
                          <a:latin typeface="맑은 고딕"/>
                          <a:ea typeface="맑은 고딕"/>
                        </a:rPr>
                        <a:t>정산 배치 작업과 동시 배포 필요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857">
                <a:tc>
                  <a:txBody>
                    <a:bodyPr/>
                    <a:lstStyle/>
                    <a:p>
                      <a:pPr algn="l"/>
                      <a:r>
                        <a:rPr lang="ko-KR" sz="850" dirty="0">
                          <a:solidFill>
                            <a:srgbClr val="948C78"/>
                          </a:solidFill>
                          <a:latin typeface="맑은 고딕"/>
                          <a:ea typeface="맑은 고딕"/>
                        </a:rPr>
                        <a:t>적용일자 / 시간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50" dirty="0">
                          <a:solidFill>
                            <a:srgbClr val="211D16"/>
                          </a:solidFill>
                          <a:latin typeface="Consolas"/>
                          <a:ea typeface="Consolas"/>
                        </a:rPr>
                        <a:t>2026-09-18 · 14:00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"/>
          <p:cNvSpPr txBox="1"/>
          <p:nvPr/>
        </p:nvSpPr>
        <p:spPr>
          <a:xfrm>
            <a:off x="548640" y="6620000"/>
            <a:ext cx="5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1000" dirty="0">
                <a:solidFill>
                  <a:srgbClr val="948C78"/>
                </a:solidFill>
                <a:latin typeface="Consolas"/>
                <a:ea typeface="Consolas"/>
              </a:rPr>
              <a:t>ZONE 3 · 하단 영역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8643360" y="66200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sz="1000" dirty="0">
                <a:solidFill>
                  <a:srgbClr val="948C78"/>
                </a:solidFill>
                <a:latin typeface="맑은 고딕"/>
                <a:ea typeface="맑은 고딕"/>
              </a:rPr>
              <a:t>CM 패키지 관리 앱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ill"/>
          <p:cNvSpPr/>
          <p:nvPr/>
        </p:nvSpPr>
        <p:spPr>
          <a:xfrm>
            <a:off x="548640" y="365760"/>
            <a:ext cx="1550000" cy="274320"/>
          </a:xfrm>
          <a:prstGeom prst="roundRect">
            <a:avLst>
              <a:gd name="adj" fmla="val 50000"/>
            </a:avLst>
          </a:prstGeom>
          <a:solidFill>
            <a:srgbClr val="F0DAB4"/>
          </a:solidFill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ctr"/>
            <a:r>
              <a:rPr lang="ko-KR" sz="1050" b="1" dirty="0">
                <a:solidFill>
                  <a:srgbClr val="7A430F"/>
                </a:solidFill>
                <a:latin typeface="맑은 고딕"/>
                <a:ea typeface="맑은 고딕"/>
              </a:rPr>
              <a:t>기능 04 · 알림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700000"/>
            <a:ext cx="8600000" cy="6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2600" b="1" dirty="0">
                <a:solidFill>
                  <a:srgbClr val="211D16"/>
                </a:solidFill>
                <a:latin typeface="맑은 고딕"/>
                <a:ea typeface="맑은 고딕"/>
              </a:rPr>
              <a:t>마감이 다가올수록, 진행률이 부족하면 알려줍니다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1360000"/>
            <a:ext cx="8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1250" dirty="0">
                <a:solidFill>
                  <a:srgbClr val="5B5445"/>
                </a:solidFill>
                <a:latin typeface="맑은 고딕"/>
                <a:ea typeface="맑은 고딕"/>
              </a:rPr>
              <a:t>영업일 오전 9시 이후 자동 점검해, 적용일 기준 D-3·D-2·D-1과 적용 완료 시점에 토스트로 안내합니다.</a:t>
            </a:r>
          </a:p>
        </p:txBody>
      </p:sp>
      <p:sp>
        <p:nvSpPr>
          <p:cNvPr id="5" name="Counter"/>
          <p:cNvSpPr txBox="1"/>
          <p:nvPr/>
        </p:nvSpPr>
        <p:spPr>
          <a:xfrm>
            <a:off x="10600000" y="365760"/>
            <a:ext cx="10433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ko-KR" sz="1100" dirty="0">
                <a:solidFill>
                  <a:srgbClr val="948C78"/>
                </a:solidFill>
                <a:latin typeface="Consolas"/>
                <a:ea typeface="Consolas"/>
              </a:rPr>
              <a:t>04 / 04</a:t>
            </a:r>
          </a:p>
        </p:txBody>
      </p:sp>
      <p:sp>
        <p:nvSpPr>
          <p:cNvPr id="6" name="Rect"/>
          <p:cNvSpPr/>
          <p:nvPr/>
        </p:nvSpPr>
        <p:spPr>
          <a:xfrm>
            <a:off x="548640" y="1780000"/>
            <a:ext cx="11094720" cy="9525"/>
          </a:xfrm>
          <a:prstGeom prst="rect">
            <a:avLst/>
          </a:prstGeom>
          <a:solidFill>
            <a:srgbClr val="E2D8C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"/>
          <p:cNvSpPr txBox="1"/>
          <p:nvPr/>
        </p:nvSpPr>
        <p:spPr>
          <a:xfrm>
            <a:off x="548640" y="1850000"/>
            <a:ext cx="465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1150" b="1" dirty="0">
                <a:solidFill>
                  <a:srgbClr val="7A430F"/>
                </a:solidFill>
                <a:latin typeface="맑은 고딕"/>
                <a:ea typeface="맑은 고딕"/>
              </a:rPr>
              <a:t>동작 방식</a:t>
            </a:r>
          </a:p>
        </p:txBody>
      </p:sp>
      <p:sp>
        <p:nvSpPr>
          <p:cNvPr id="8" name="Rect"/>
          <p:cNvSpPr/>
          <p:nvPr/>
        </p:nvSpPr>
        <p:spPr>
          <a:xfrm>
            <a:off x="548640" y="2140000"/>
            <a:ext cx="4650000" cy="9525"/>
          </a:xfrm>
          <a:prstGeom prst="rect">
            <a:avLst/>
          </a:prstGeom>
          <a:solidFill>
            <a:srgbClr val="E2D8C1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"/>
          <p:cNvSpPr txBox="1"/>
          <p:nvPr/>
        </p:nvSpPr>
        <p:spPr>
          <a:xfrm>
            <a:off x="5498640" y="1850000"/>
            <a:ext cx="614472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1150" b="1" dirty="0">
                <a:solidFill>
                  <a:srgbClr val="948C78"/>
                </a:solidFill>
                <a:latin typeface="맑은 고딕"/>
                <a:ea typeface="맑은 고딕"/>
              </a:rPr>
              <a:t>예제</a:t>
            </a:r>
          </a:p>
        </p:txBody>
      </p:sp>
      <p:sp>
        <p:nvSpPr>
          <p:cNvPr id="10" name="Rect"/>
          <p:cNvSpPr/>
          <p:nvPr/>
        </p:nvSpPr>
        <p:spPr>
          <a:xfrm>
            <a:off x="5498640" y="2140000"/>
            <a:ext cx="6144720" cy="9525"/>
          </a:xfrm>
          <a:prstGeom prst="rect">
            <a:avLst/>
          </a:prstGeom>
          <a:solidFill>
            <a:srgbClr val="E2D8C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ullets"/>
          <p:cNvSpPr txBox="1"/>
          <p:nvPr/>
        </p:nvSpPr>
        <p:spPr>
          <a:xfrm>
            <a:off x="548640" y="2230000"/>
            <a:ext cx="4650000" cy="4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알림 점검은 </a:t>
            </a:r>
            <a:r>
              <a:rPr lang="ko-KR" sz="1300" b="1" dirty="0">
                <a:solidFill>
                  <a:srgbClr val="211D16"/>
                </a:solidFill>
                <a:latin typeface="맑은 고딕"/>
                <a:ea typeface="맑은 고딕"/>
              </a:rPr>
              <a:t>주말을 제외한 영업일, 오전 9시 이후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에만 자동으로 동작합니다.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적용일 기준 영업일 </a:t>
            </a:r>
            <a:r>
              <a:rPr lang="ko-KR" sz="1300" b="1" dirty="0">
                <a:solidFill>
                  <a:srgbClr val="B5402E"/>
                </a:solidFill>
                <a:latin typeface="맑은 고딕"/>
                <a:ea typeface="맑은 고딕"/>
              </a:rPr>
              <a:t>D-3에 진행률 70% 미만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, </a:t>
            </a:r>
            <a:r>
              <a:rPr lang="ko-KR" sz="1300" b="1" dirty="0">
                <a:solidFill>
                  <a:srgbClr val="B5402E"/>
                </a:solidFill>
                <a:latin typeface="맑은 고딕"/>
                <a:ea typeface="맑은 고딕"/>
              </a:rPr>
              <a:t>D-2에 80% 미만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, </a:t>
            </a:r>
            <a:r>
              <a:rPr lang="ko-KR" sz="1300" b="1" dirty="0">
                <a:solidFill>
                  <a:srgbClr val="B5402E"/>
                </a:solidFill>
                <a:latin typeface="맑은 고딕"/>
                <a:ea typeface="맑은 고딕"/>
              </a:rPr>
              <a:t>D-1에 90% 미만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이면 각각 🔔 경고 토스트를 띄웁니다.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적용 일시가 지나면 진행률과 무관하게 </a:t>
            </a:r>
            <a:r>
              <a:rPr lang="ko-KR" sz="1300" b="1" dirty="0">
                <a:solidFill>
                  <a:srgbClr val="1F6F68"/>
                </a:solidFill>
                <a:latin typeface="맑은 고딕"/>
                <a:ea typeface="맑은 고딕"/>
              </a:rPr>
              <a:t>✅ "적용완료" 토스트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를 한 번 띄웁니다.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같은 조건으로 이미 보낸 알림은 발송 이력(</a:t>
            </a:r>
            <a:r>
              <a:rPr lang="ko-KR" sz="1300" dirty="0">
                <a:solidFill>
                  <a:srgbClr val="7A430F"/>
                </a:solidFill>
                <a:highlight>
                  <a:srgbClr val="EEE4CC"/>
                </a:highlight>
                <a:latin typeface="Consolas"/>
                <a:ea typeface="Consolas"/>
              </a:rPr>
              <a:t>notified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)에 기록해 </a:t>
            </a:r>
            <a:r>
              <a:rPr lang="ko-KR" sz="1300" b="1" dirty="0">
                <a:solidFill>
                  <a:srgbClr val="211D16"/>
                </a:solidFill>
                <a:latin typeface="맑은 고딕"/>
                <a:ea typeface="맑은 고딕"/>
              </a:rPr>
              <a:t>중복 발송하지 않습니다</a:t>
            </a: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.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ko-KR" sz="1300" dirty="0">
                <a:solidFill>
                  <a:srgbClr val="5B5445"/>
                </a:solidFill>
                <a:latin typeface="맑은 고딕"/>
                <a:ea typeface="맑은 고딕"/>
              </a:rPr>
              <a:t>"알림메시지 테스트" 버튼으로 발송 이력에 영향 없이 현재 조건의 알림을 즉시 미리 볼 수 있습니다.</a:t>
            </a:r>
          </a:p>
        </p:txBody>
      </p:sp>
      <p:sp>
        <p:nvSpPr>
          <p:cNvPr id="12" name="Card"/>
          <p:cNvSpPr/>
          <p:nvPr/>
        </p:nvSpPr>
        <p:spPr>
          <a:xfrm>
            <a:off x="5498640" y="2230000"/>
            <a:ext cx="6144720" cy="4330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2D8C1"/>
            </a:solidFill>
          </a:ln>
        </p:spPr>
        <p:txBody>
          <a:bodyPr/>
          <a:lstStyle/>
          <a:p/>
        </p:txBody>
      </p:sp>
      <p:sp>
        <p:nvSpPr>
          <p:cNvPr id="13" name="Pill"/>
          <p:cNvSpPr/>
          <p:nvPr/>
        </p:nvSpPr>
        <p:spPr>
          <a:xfrm>
            <a:off x="5648640" y="2380000"/>
            <a:ext cx="4900000" cy="260000"/>
          </a:xfrm>
          <a:prstGeom prst="roundRect">
            <a:avLst>
              <a:gd name="adj" fmla="val 50000"/>
            </a:avLst>
          </a:prstGeom>
          <a:solidFill>
            <a:srgbClr val="F4DDD6"/>
          </a:solidFill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ctr"/>
            <a:r>
              <a:rPr lang="ko-KR" sz="950" b="1" dirty="0">
                <a:solidFill>
                  <a:srgbClr val="B5402E"/>
                </a:solidFill>
                <a:latin typeface="맑은 고딕"/>
                <a:ea typeface="맑은 고딕"/>
              </a:rPr>
              <a:t>GAC00001 알림 타임라인</a:t>
            </a:r>
          </a:p>
        </p:txBody>
      </p:sp>
      <p:graphicFrame>
        <p:nvGraphicFramePr>
          <p:cNvPr id="14" name="NotifyTimeline"/>
          <p:cNvGraphicFramePr>
            <a:graphicFrameLocks noGrp="1"/>
          </p:cNvGraphicFramePr>
          <p:nvPr/>
        </p:nvGraphicFramePr>
        <p:xfrm>
          <a:off x="5648640" y="2820000"/>
          <a:ext cx="5844720" cy="2980000"/>
        </p:xfrm>
        <a:graphic>
          <a:graphicData uri="http://schemas.openxmlformats.org/drawingml/2006/table">
            <a:tbl>
              <a:tblPr firstRow="0" bandRow="0"/>
              <a:tblGrid>
                <a:gridCol w="1750000"/>
                <a:gridCol w="2250000"/>
                <a:gridCol w="1844720"/>
              </a:tblGrid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ko-KR" sz="900" b="1" dirty="0">
                          <a:solidFill>
                            <a:srgbClr val="948C78"/>
                          </a:solidFill>
                          <a:latin typeface="맑은 고딕"/>
                          <a:ea typeface="맑은 고딕"/>
                        </a:rPr>
                        <a:t>시점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dirty="0">
                          <a:solidFill>
                            <a:srgbClr val="948C78"/>
                          </a:solidFill>
                          <a:latin typeface="맑은 고딕"/>
                          <a:ea typeface="맑은 고딕"/>
                        </a:rPr>
                        <a:t>조건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948C78"/>
                          </a:solidFill>
                          <a:latin typeface="맑은 고딕"/>
                          <a:ea typeface="맑은 고딕"/>
                        </a:rPr>
                        <a:t>결과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EFE7D6"/>
                    </a:solidFill>
                  </a:tcPr>
                </a:tc>
              </a:tr>
              <a:tr h="660000">
                <a:tc>
                  <a:txBody>
                    <a:bodyPr/>
                    <a:lstStyle/>
                    <a:p>
                      <a:pPr algn="l"/>
                      <a:r>
                        <a:rPr lang="ko-KR" sz="950" b="1" dirty="0">
                          <a:solidFill>
                            <a:srgbClr val="211D16"/>
                          </a:solidFill>
                          <a:latin typeface="Consolas"/>
                          <a:ea typeface="Consolas"/>
                        </a:rPr>
                        <a:t>9/15</a:t>
                      </a:r>
                    </a:p>
                    <a:p>
                      <a:pPr algn="l"/>
                      <a:r>
                        <a:rPr lang="ko-KR" sz="800" dirty="0">
                          <a:solidFill>
                            <a:srgbClr val="948C78"/>
                          </a:solidFill>
                          <a:latin typeface="Consolas"/>
                          <a:ea typeface="Consolas"/>
                        </a:rPr>
                        <a:t>D-3 · 09:00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50" dirty="0">
                          <a:solidFill>
                            <a:srgbClr val="5B5445"/>
                          </a:solidFill>
                          <a:latin typeface="맑은 고딕"/>
                          <a:ea typeface="맑은 고딕"/>
                        </a:rPr>
                        <a:t>진행률 20% (&lt; 70%)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B5402E"/>
                          </a:solidFill>
                          <a:latin typeface="맑은 고딕"/>
                          <a:ea typeface="맑은 고딕"/>
                        </a:rPr>
                        <a:t>🔔 경고 발송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4DDD6"/>
                    </a:solidFill>
                  </a:tcPr>
                </a:tc>
              </a:tr>
              <a:tr h="660000">
                <a:tc>
                  <a:txBody>
                    <a:bodyPr/>
                    <a:lstStyle/>
                    <a:p>
                      <a:pPr algn="l"/>
                      <a:r>
                        <a:rPr lang="ko-KR" sz="950" b="1" dirty="0">
                          <a:solidFill>
                            <a:srgbClr val="211D16"/>
                          </a:solidFill>
                          <a:latin typeface="Consolas"/>
                          <a:ea typeface="Consolas"/>
                        </a:rPr>
                        <a:t>9/16</a:t>
                      </a:r>
                    </a:p>
                    <a:p>
                      <a:pPr algn="l"/>
                      <a:r>
                        <a:rPr lang="ko-KR" sz="800" dirty="0">
                          <a:solidFill>
                            <a:srgbClr val="948C78"/>
                          </a:solidFill>
                          <a:latin typeface="Consolas"/>
                          <a:ea typeface="Consolas"/>
                        </a:rPr>
                        <a:t>D-2 · 09:00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50" dirty="0">
                          <a:solidFill>
                            <a:srgbClr val="5B5445"/>
                          </a:solidFill>
                          <a:latin typeface="맑은 고딕"/>
                          <a:ea typeface="맑은 고딕"/>
                        </a:rPr>
                        <a:t>진행률 55% (&lt; 80%)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B5402E"/>
                          </a:solidFill>
                          <a:latin typeface="맑은 고딕"/>
                          <a:ea typeface="맑은 고딕"/>
                        </a:rPr>
                        <a:t>🔔 경고 발송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4DDD6"/>
                    </a:solidFill>
                  </a:tcPr>
                </a:tc>
              </a:tr>
              <a:tr h="660000">
                <a:tc>
                  <a:txBody>
                    <a:bodyPr/>
                    <a:lstStyle/>
                    <a:p>
                      <a:pPr algn="l"/>
                      <a:r>
                        <a:rPr lang="ko-KR" sz="950" b="1" dirty="0">
                          <a:solidFill>
                            <a:srgbClr val="211D16"/>
                          </a:solidFill>
                          <a:latin typeface="Consolas"/>
                          <a:ea typeface="Consolas"/>
                        </a:rPr>
                        <a:t>9/17</a:t>
                      </a:r>
                    </a:p>
                    <a:p>
                      <a:pPr algn="l"/>
                      <a:r>
                        <a:rPr lang="ko-KR" sz="800" dirty="0">
                          <a:solidFill>
                            <a:srgbClr val="948C78"/>
                          </a:solidFill>
                          <a:latin typeface="Consolas"/>
                          <a:ea typeface="Consolas"/>
                        </a:rPr>
                        <a:t>D-1 · 09:00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50" dirty="0">
                          <a:solidFill>
                            <a:srgbClr val="5B5445"/>
                          </a:solidFill>
                          <a:latin typeface="맑은 고딕"/>
                          <a:ea typeface="맑은 고딕"/>
                        </a:rPr>
                        <a:t>진행률 85% (&lt; 90%)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B5402E"/>
                          </a:solidFill>
                          <a:latin typeface="맑은 고딕"/>
                          <a:ea typeface="맑은 고딕"/>
                        </a:rPr>
                        <a:t>🔔 경고 발송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4DDD6"/>
                    </a:solidFill>
                  </a:tcPr>
                </a:tc>
              </a:tr>
              <a:tr h="660000">
                <a:tc>
                  <a:txBody>
                    <a:bodyPr/>
                    <a:lstStyle/>
                    <a:p>
                      <a:pPr algn="l"/>
                      <a:r>
                        <a:rPr lang="ko-KR" sz="950" b="1" dirty="0">
                          <a:solidFill>
                            <a:srgbClr val="211D16"/>
                          </a:solidFill>
                          <a:latin typeface="Consolas"/>
                          <a:ea typeface="Consolas"/>
                        </a:rPr>
                        <a:t>9/18</a:t>
                      </a:r>
                    </a:p>
                    <a:p>
                      <a:pPr algn="l"/>
                      <a:r>
                        <a:rPr lang="ko-KR" sz="800" dirty="0">
                          <a:solidFill>
                            <a:srgbClr val="948C78"/>
                          </a:solidFill>
                          <a:latin typeface="Consolas"/>
                          <a:ea typeface="Consolas"/>
                        </a:rPr>
                        <a:t>14:00 적용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50" dirty="0">
                          <a:solidFill>
                            <a:srgbClr val="5B5445"/>
                          </a:solidFill>
                          <a:latin typeface="맑은 고딕"/>
                          <a:ea typeface="맑은 고딕"/>
                        </a:rPr>
                        <a:t>적용 시각 도과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1F6F68"/>
                          </a:solidFill>
                          <a:latin typeface="맑은 고딕"/>
                          <a:ea typeface="맑은 고딕"/>
                        </a:rPr>
                        <a:t>✅ 적용완료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E2D8C1"/>
                      </a:solidFill>
                    </a:lnL>
                    <a:lnR w="6350">
                      <a:solidFill>
                        <a:srgbClr val="E2D8C1"/>
                      </a:solidFill>
                    </a:lnR>
                    <a:lnT w="6350">
                      <a:solidFill>
                        <a:srgbClr val="E2D8C1"/>
                      </a:solidFill>
                    </a:lnT>
                    <a:lnB w="6350">
                      <a:solidFill>
                        <a:srgbClr val="E2D8C1"/>
                      </a:solidFill>
                    </a:lnB>
                    <a:solidFill>
                      <a:srgbClr val="DCEDE9"/>
                    </a:solidFill>
                  </a:tcPr>
                </a:tc>
              </a:tr>
            </a:tbl>
          </a:graphicData>
        </a:graphic>
      </p:graphicFrame>
      <p:sp>
        <p:nvSpPr>
          <p:cNvPr id="15" name="Rect"/>
          <p:cNvSpPr/>
          <p:nvPr/>
        </p:nvSpPr>
        <p:spPr>
          <a:xfrm>
            <a:off x="5648640" y="5950000"/>
            <a:ext cx="5844720" cy="460000"/>
          </a:xfrm>
          <a:prstGeom prst="roundRect">
            <a:avLst>
              <a:gd name="adj" fmla="val 6000"/>
            </a:avLst>
          </a:prstGeom>
          <a:solidFill>
            <a:srgbClr val="EFE7D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"/>
          <p:cNvSpPr/>
          <p:nvPr/>
        </p:nvSpPr>
        <p:spPr>
          <a:xfrm>
            <a:off x="5648640" y="5950000"/>
            <a:ext cx="38100" cy="460000"/>
          </a:xfrm>
          <a:prstGeom prst="rect">
            <a:avLst/>
          </a:prstGeom>
          <a:solidFill>
            <a:srgbClr val="B864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Box"/>
          <p:cNvSpPr txBox="1"/>
          <p:nvPr/>
        </p:nvSpPr>
        <p:spPr>
          <a:xfrm>
            <a:off x="5808640" y="6020000"/>
            <a:ext cx="5544720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1000" b="1" dirty="0">
                <a:solidFill>
                  <a:srgbClr val="211D16"/>
                </a:solidFill>
                <a:latin typeface="맑은 고딕"/>
                <a:ea typeface="맑은 고딕"/>
              </a:rPr>
              <a:t>판정은 매번 새로 이뤄집니다 — </a:t>
            </a:r>
            <a:r>
              <a:rPr lang="ko-KR" sz="1000" dirty="0">
                <a:solidFill>
                  <a:srgbClr val="5B5445"/>
                </a:solidFill>
                <a:latin typeface="맑은 고딕"/>
                <a:ea typeface="맑은 고딕"/>
              </a:rPr>
              <a:t>D-1 전에 진행률을 90% 이상으로 끌어올리면 그 시점의 경고는 뜨지 않습니다.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548640" y="6620000"/>
            <a:ext cx="5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sz="1000" dirty="0">
                <a:solidFill>
                  <a:srgbClr val="948C78"/>
                </a:solidFill>
                <a:latin typeface="Consolas"/>
                <a:ea typeface="Consolas"/>
              </a:rPr>
              <a:t>자동 알림 · 영업일 09:00 이후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8643360" y="66200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sz="1000" dirty="0">
                <a:solidFill>
                  <a:srgbClr val="948C78"/>
                </a:solidFill>
                <a:latin typeface="맑은 고딕"/>
                <a:ea typeface="맑은 고딕"/>
              </a:rPr>
              <a:t>CM 패키지 관리 앱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M Package Theme">
  <a:themeElements>
    <a:clrScheme name="CM">
      <a:dk1>
        <a:srgbClr val="211D16"/>
      </a:dk1>
      <a:lt1>
        <a:srgbClr val="F7F2E9"/>
      </a:lt1>
      <a:dk2>
        <a:srgbClr val="5B5445"/>
      </a:dk2>
      <a:lt2>
        <a:srgbClr val="EFE7D6"/>
      </a:lt2>
      <a:accent1>
        <a:srgbClr val="B8641C"/>
      </a:accent1>
      <a:accent2>
        <a:srgbClr val="1F6F68"/>
      </a:accent2>
      <a:accent3>
        <a:srgbClr val="2E5C8A"/>
      </a:accent3>
      <a:accent4>
        <a:srgbClr val="B5402E"/>
      </a:accent4>
      <a:accent5>
        <a:srgbClr val="F0B429"/>
      </a:accent5>
      <a:accent6>
        <a:srgbClr val="948C78"/>
      </a:accent6>
      <a:hlink>
        <a:srgbClr val="7A430F"/>
      </a:hlink>
      <a:folHlink>
        <a:srgbClr val="5B5445"/>
      </a:folHlink>
    </a:clrScheme>
    <a:fontScheme name="CM">
      <a:majorFont>
        <a:latin typeface="맑은 고딕"/>
        <a:ea typeface="맑은 고딕"/>
        <a:cs typeface="맑은 고딕"/>
      </a:majorFont>
      <a:minorFont>
        <a:latin typeface="맑은 고딕"/>
        <a:ea typeface="맑은 고딕"/>
        <a:cs typeface="맑은 고딕"/>
      </a:minorFont>
    </a:fontScheme>
    <a:fmtScheme name="CM">
      <a:fillStyleLst>
        <a:solidFill>
          <a:schemeClr val="accent1"/>
        </a:solidFill>
        <a:solidFill>
          <a:schemeClr val="accent1"/>
        </a:solidFill>
        <a:solidFill>
          <a:schemeClr val="accent1"/>
        </a:solidFill>
      </a:fillStyleLst>
      <a:lnStyleLst>
        <a:ln w="6350">
          <a:solidFill>
            <a:schemeClr val="dk2"/>
          </a:solidFill>
        </a:ln>
        <a:ln w="12700">
          <a:solidFill>
            <a:schemeClr val="dk2"/>
          </a:solidFill>
        </a:ln>
        <a:ln w="19050">
          <a:solidFill>
            <a:schemeClr val="dk2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1"/>
        </a:solidFill>
        <a:solidFill>
          <a:schemeClr val="lt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Claude Code</Application>
  <PresentationFormat>Widescreen</PresentationFormat>
  <Slides>4</Slides>
  <Company>CM 패키지 관리 앱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CM 패키지 관리 앱 기능 소개</dc:title>
  <dc:creator>CM 패키지 관리 앱</dc:creator>
  <cp:lastModifiedBy>CM 패키지 관리 앱</cp:lastModifiedBy>
  <dcterms:created xsi:type="dcterms:W3CDTF">2026-09-13T00:00:00Z</dcterms:created>
  <dcterms:modified xsi:type="dcterms:W3CDTF">2026-09-13T00:00:00Z</dcterms:modified>
</cp:coreProperties>
</file>