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Noto Sans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otoSans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Noto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5" name="Google Shape;115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6" name="Google Shape;116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18" name="Google Shape;118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9" name="Google Shape;119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5" name="Google Shape;185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6" name="Google Shape;186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88" name="Google Shape;188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9" name="Google Shape;189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b26a7e599_1_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6" name="Google Shape;256;g3fb26a7e599_1_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7" name="Google Shape;257;g3fb26a7e599_1_6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fb26a7e599_1_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59" name="Google Shape;259;g3fb26a7e599_1_6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0" name="Google Shape;260;g3fb26a7e599_1_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9" name="Google Shape;289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0" name="Google Shape;290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92" name="Google Shape;292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3" name="Google Shape;293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1" name="Google Shape;361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2" name="Google Shape;362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364" name="Google Shape;364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5" name="Google Shape;365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9" name="Google Shape;419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20" name="Google Shape;420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422" name="Google Shape;422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23" name="Google Shape;423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8" name="Google Shape;498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99" name="Google Shape;499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501" name="Google Shape;501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2" name="Google Shape;502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fb26a7e599_8_5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00" name="Google Shape;600;g3fb26a7e599_8_5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01" name="Google Shape;601;g3fb26a7e599_8_54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g3fb26a7e599_8_54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603" name="Google Shape;603;g3fb26a7e599_8_54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04" name="Google Shape;604;g3fb26a7e599_8_54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82" name="Google Shape;682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83" name="Google Shape;683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685" name="Google Shape;685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86" name="Google Shape;686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fb26a7e599_8_22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12" name="Google Shape;712;g3fb26a7e599_8_22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713" name="Google Shape;713;g3fb26a7e599_8_225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4" name="Google Shape;714;g3fb26a7e599_8_22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715" name="Google Shape;715;g3fb26a7e599_8_225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16" name="Google Shape;716;g3fb26a7e599_8_22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jpg"/><Relationship Id="rId5" Type="http://schemas.openxmlformats.org/officeDocument/2006/relationships/hyperlink" Target="https://mymapmk1.vercel.app" TargetMode="External"/><Relationship Id="rId6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/>
          <p:nvPr/>
        </p:nvSpPr>
        <p:spPr>
          <a:xfrm>
            <a:off x="-9535" y="-9535"/>
            <a:ext cx="18320861" cy="10314146"/>
          </a:xfrm>
          <a:custGeom>
            <a:rect b="b" l="l" r="r" t="t"/>
            <a:pathLst>
              <a:path extrusionOk="0" h="13752195" w="24427814">
                <a:moveTo>
                  <a:pt x="0" y="0"/>
                </a:moveTo>
                <a:lnTo>
                  <a:pt x="24427814" y="0"/>
                </a:lnTo>
                <a:lnTo>
                  <a:pt x="24427814" y="13752195"/>
                </a:lnTo>
                <a:lnTo>
                  <a:pt x="0" y="13752195"/>
                </a:lnTo>
                <a:close/>
              </a:path>
            </a:pathLst>
          </a:custGeom>
          <a:solidFill>
            <a:srgbClr val="F8FAFC"/>
          </a:solidFill>
          <a:ln cap="sq" cmpd="sng" w="19050">
            <a:solidFill>
              <a:srgbClr val="F8FAFC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3" name="Google Shape;93;p13"/>
          <p:cNvSpPr/>
          <p:nvPr/>
        </p:nvSpPr>
        <p:spPr>
          <a:xfrm>
            <a:off x="11942254" y="1372676"/>
            <a:ext cx="1990344" cy="1990344"/>
          </a:xfrm>
          <a:custGeom>
            <a:rect b="b" l="l" r="r" t="t"/>
            <a:pathLst>
              <a:path extrusionOk="0" h="2653792" w="2653792">
                <a:moveTo>
                  <a:pt x="0" y="0"/>
                </a:moveTo>
                <a:lnTo>
                  <a:pt x="2653792" y="0"/>
                </a:lnTo>
                <a:lnTo>
                  <a:pt x="2653792" y="2653792"/>
                </a:lnTo>
                <a:lnTo>
                  <a:pt x="0" y="2653792"/>
                </a:lnTo>
                <a:close/>
              </a:path>
            </a:pathLst>
          </a:custGeom>
          <a:solidFill>
            <a:srgbClr val="EAF1FF"/>
          </a:solidFill>
          <a:ln>
            <a:noFill/>
          </a:ln>
        </p:spPr>
      </p:sp>
      <p:sp>
        <p:nvSpPr>
          <p:cNvPr id="94" name="Google Shape;94;p13"/>
          <p:cNvSpPr/>
          <p:nvPr/>
        </p:nvSpPr>
        <p:spPr>
          <a:xfrm>
            <a:off x="14138529" y="2882608"/>
            <a:ext cx="1304067" cy="1304067"/>
          </a:xfrm>
          <a:custGeom>
            <a:rect b="b" l="l" r="r" t="t"/>
            <a:pathLst>
              <a:path extrusionOk="0" h="1738757" w="1738757">
                <a:moveTo>
                  <a:pt x="0" y="0"/>
                </a:moveTo>
                <a:lnTo>
                  <a:pt x="1738757" y="0"/>
                </a:lnTo>
                <a:lnTo>
                  <a:pt x="1738757" y="1738757"/>
                </a:lnTo>
                <a:lnTo>
                  <a:pt x="0" y="1738757"/>
                </a:lnTo>
                <a:close/>
              </a:path>
            </a:pathLst>
          </a:custGeom>
          <a:solidFill>
            <a:srgbClr val="E9F7EE"/>
          </a:solidFill>
          <a:ln>
            <a:noFill/>
          </a:ln>
        </p:spPr>
      </p:sp>
      <p:sp>
        <p:nvSpPr>
          <p:cNvPr id="95" name="Google Shape;95;p13"/>
          <p:cNvSpPr/>
          <p:nvPr/>
        </p:nvSpPr>
        <p:spPr>
          <a:xfrm>
            <a:off x="13314921" y="5765225"/>
            <a:ext cx="1784509" cy="1784509"/>
          </a:xfrm>
          <a:custGeom>
            <a:rect b="b" l="l" r="r" t="t"/>
            <a:pathLst>
              <a:path extrusionOk="0" h="2379345" w="2379345">
                <a:moveTo>
                  <a:pt x="0" y="0"/>
                </a:moveTo>
                <a:lnTo>
                  <a:pt x="2379345" y="0"/>
                </a:lnTo>
                <a:lnTo>
                  <a:pt x="2379345" y="2379345"/>
                </a:lnTo>
                <a:lnTo>
                  <a:pt x="0" y="2379345"/>
                </a:lnTo>
                <a:close/>
              </a:path>
            </a:pathLst>
          </a:custGeom>
          <a:solidFill>
            <a:srgbClr val="FFF7E6"/>
          </a:solidFill>
          <a:ln>
            <a:noFill/>
          </a:ln>
        </p:spPr>
      </p:sp>
      <p:sp>
        <p:nvSpPr>
          <p:cNvPr id="96" name="Google Shape;96;p13"/>
          <p:cNvSpPr/>
          <p:nvPr/>
        </p:nvSpPr>
        <p:spPr>
          <a:xfrm>
            <a:off x="15648470" y="4598451"/>
            <a:ext cx="960882" cy="960882"/>
          </a:xfrm>
          <a:custGeom>
            <a:rect b="b" l="l" r="r" t="t"/>
            <a:pathLst>
              <a:path extrusionOk="0" h="1281176" w="1281176">
                <a:moveTo>
                  <a:pt x="0" y="0"/>
                </a:moveTo>
                <a:lnTo>
                  <a:pt x="1281176" y="0"/>
                </a:lnTo>
                <a:lnTo>
                  <a:pt x="1281176" y="1281176"/>
                </a:lnTo>
                <a:lnTo>
                  <a:pt x="0" y="1281176"/>
                </a:lnTo>
                <a:close/>
              </a:path>
            </a:pathLst>
          </a:custGeom>
          <a:solidFill>
            <a:srgbClr val="F1EAFF"/>
          </a:solidFill>
          <a:ln>
            <a:noFill/>
          </a:ln>
        </p:spPr>
      </p:sp>
      <p:grpSp>
        <p:nvGrpSpPr>
          <p:cNvPr id="97" name="Google Shape;97;p13"/>
          <p:cNvGrpSpPr/>
          <p:nvPr/>
        </p:nvGrpSpPr>
        <p:grpSpPr>
          <a:xfrm>
            <a:off x="1029500" y="2306088"/>
            <a:ext cx="8373304" cy="944464"/>
            <a:chOff x="0" y="0"/>
            <a:chExt cx="11164405" cy="1259285"/>
          </a:xfrm>
        </p:grpSpPr>
        <p:sp>
          <p:nvSpPr>
            <p:cNvPr id="98" name="Google Shape;98;p13"/>
            <p:cNvSpPr/>
            <p:nvPr/>
          </p:nvSpPr>
          <p:spPr>
            <a:xfrm>
              <a:off x="0" y="0"/>
              <a:ext cx="11164402" cy="1259285"/>
            </a:xfrm>
            <a:custGeom>
              <a:rect b="b" l="l" r="r" t="t"/>
              <a:pathLst>
                <a:path extrusionOk="0" h="1259285" w="11164402">
                  <a:moveTo>
                    <a:pt x="0" y="0"/>
                  </a:moveTo>
                  <a:lnTo>
                    <a:pt x="11164402" y="0"/>
                  </a:lnTo>
                  <a:lnTo>
                    <a:pt x="11164402" y="1259285"/>
                  </a:lnTo>
                  <a:lnTo>
                    <a:pt x="0" y="125928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9254" l="0" r="0" t="-126240"/>
              </a:stretch>
            </a:blipFill>
            <a:ln>
              <a:noFill/>
            </a:ln>
          </p:spPr>
        </p:sp>
        <p:sp>
          <p:nvSpPr>
            <p:cNvPr id="99" name="Google Shape;99;p13"/>
            <p:cNvSpPr txBox="1"/>
            <p:nvPr/>
          </p:nvSpPr>
          <p:spPr>
            <a:xfrm>
              <a:off x="0" y="9525"/>
              <a:ext cx="11164405" cy="12497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바이브코딩 적용 보고</a:t>
              </a:r>
              <a:endParaRPr/>
            </a:p>
          </p:txBody>
        </p:sp>
      </p:grpSp>
      <p:grpSp>
        <p:nvGrpSpPr>
          <p:cNvPr id="100" name="Google Shape;100;p13"/>
          <p:cNvGrpSpPr/>
          <p:nvPr/>
        </p:nvGrpSpPr>
        <p:grpSpPr>
          <a:xfrm>
            <a:off x="1056961" y="3321863"/>
            <a:ext cx="9334176" cy="521616"/>
            <a:chOff x="0" y="0"/>
            <a:chExt cx="12445568" cy="695487"/>
          </a:xfrm>
        </p:grpSpPr>
        <p:sp>
          <p:nvSpPr>
            <p:cNvPr id="101" name="Google Shape;101;p13"/>
            <p:cNvSpPr/>
            <p:nvPr/>
          </p:nvSpPr>
          <p:spPr>
            <a:xfrm>
              <a:off x="0" y="0"/>
              <a:ext cx="12445563" cy="695485"/>
            </a:xfrm>
            <a:custGeom>
              <a:rect b="b" l="l" r="r" t="t"/>
              <a:pathLst>
                <a:path extrusionOk="0" h="695485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695485"/>
                  </a:lnTo>
                  <a:lnTo>
                    <a:pt x="0" y="69548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8675" l="0" r="0" t="-298675"/>
              </a:stretch>
            </a:blipFill>
            <a:ln>
              <a:noFill/>
            </a:ln>
          </p:spPr>
        </p:sp>
        <p:sp>
          <p:nvSpPr>
            <p:cNvPr id="102" name="Google Shape;102;p13"/>
            <p:cNvSpPr txBox="1"/>
            <p:nvPr/>
          </p:nvSpPr>
          <p:spPr>
            <a:xfrm>
              <a:off x="0" y="0"/>
              <a:ext cx="12445568" cy="695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공공데이터 기반 상권 분석 서비스 구현 사례</a:t>
              </a:r>
              <a:endParaRPr/>
            </a:p>
          </p:txBody>
        </p:sp>
      </p:grpSp>
      <p:cxnSp>
        <p:nvCxnSpPr>
          <p:cNvPr id="103" name="Google Shape;103;p13"/>
          <p:cNvCxnSpPr/>
          <p:nvPr/>
        </p:nvCxnSpPr>
        <p:spPr>
          <a:xfrm rot="28980">
            <a:off x="1069419" y="4378262"/>
            <a:ext cx="6783534" cy="0"/>
          </a:xfrm>
          <a:prstGeom prst="straightConnector1">
            <a:avLst/>
          </a:prstGeom>
          <a:noFill/>
          <a:ln cap="rnd" cmpd="sng" w="285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4" name="Google Shape;104;p13"/>
          <p:cNvGrpSpPr/>
          <p:nvPr/>
        </p:nvGrpSpPr>
        <p:grpSpPr>
          <a:xfrm>
            <a:off x="1070686" y="5559323"/>
            <a:ext cx="3019882" cy="498178"/>
            <a:chOff x="0" y="0"/>
            <a:chExt cx="4026510" cy="664238"/>
          </a:xfrm>
        </p:grpSpPr>
        <p:sp>
          <p:nvSpPr>
            <p:cNvPr id="105" name="Google Shape;105;p13"/>
            <p:cNvSpPr/>
            <p:nvPr/>
          </p:nvSpPr>
          <p:spPr>
            <a:xfrm>
              <a:off x="0" y="0"/>
              <a:ext cx="4026506" cy="664238"/>
            </a:xfrm>
            <a:custGeom>
              <a:rect b="b" l="l" r="r" t="t"/>
              <a:pathLst>
                <a:path extrusionOk="0" h="664238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664238"/>
                  </a:lnTo>
                  <a:lnTo>
                    <a:pt x="0" y="66423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6333" l="0" r="0" t="-69895"/>
              </a:stretch>
            </a:blipFill>
            <a:ln>
              <a:noFill/>
            </a:ln>
          </p:spPr>
        </p:sp>
        <p:sp>
          <p:nvSpPr>
            <p:cNvPr id="106" name="Google Shape;106;p13"/>
            <p:cNvSpPr txBox="1"/>
            <p:nvPr/>
          </p:nvSpPr>
          <p:spPr>
            <a:xfrm>
              <a:off x="0" y="0"/>
              <a:ext cx="4026510" cy="664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0" u="none" cap="none" strike="noStrike">
                  <a:solidFill>
                    <a:srgbClr val="0F766E"/>
                  </a:solidFill>
                  <a:latin typeface="Noto Sans"/>
                  <a:ea typeface="Noto Sans"/>
                  <a:cs typeface="Noto Sans"/>
                  <a:sym typeface="Noto Sans"/>
                </a:rPr>
                <a:t>상권나침반</a:t>
              </a:r>
              <a:endParaRPr/>
            </a:p>
          </p:txBody>
        </p:sp>
      </p:grpSp>
      <p:grpSp>
        <p:nvGrpSpPr>
          <p:cNvPr id="107" name="Google Shape;107;p13"/>
          <p:cNvGrpSpPr/>
          <p:nvPr/>
        </p:nvGrpSpPr>
        <p:grpSpPr>
          <a:xfrm>
            <a:off x="1084412" y="6135843"/>
            <a:ext cx="8647836" cy="411802"/>
            <a:chOff x="0" y="0"/>
            <a:chExt cx="11530448" cy="549069"/>
          </a:xfrm>
        </p:grpSpPr>
        <p:sp>
          <p:nvSpPr>
            <p:cNvPr id="108" name="Google Shape;108;p13"/>
            <p:cNvSpPr/>
            <p:nvPr/>
          </p:nvSpPr>
          <p:spPr>
            <a:xfrm>
              <a:off x="0" y="0"/>
              <a:ext cx="11530448" cy="549066"/>
            </a:xfrm>
            <a:custGeom>
              <a:rect b="b" l="l" r="r" t="t"/>
              <a:pathLst>
                <a:path extrusionOk="0" h="549066" w="11530448">
                  <a:moveTo>
                    <a:pt x="0" y="0"/>
                  </a:moveTo>
                  <a:lnTo>
                    <a:pt x="11530448" y="0"/>
                  </a:lnTo>
                  <a:lnTo>
                    <a:pt x="11530448" y="549066"/>
                  </a:lnTo>
                  <a:lnTo>
                    <a:pt x="0" y="54906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59165" l="0" r="0" t="-359165"/>
              </a:stretch>
            </a:blipFill>
            <a:ln>
              <a:noFill/>
            </a:ln>
          </p:spPr>
        </p:sp>
        <p:sp>
          <p:nvSpPr>
            <p:cNvPr id="109" name="Google Shape;109;p13"/>
            <p:cNvSpPr txBox="1"/>
            <p:nvPr/>
          </p:nvSpPr>
          <p:spPr>
            <a:xfrm>
              <a:off x="0" y="9525"/>
              <a:ext cx="11530444" cy="5395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334155"/>
                  </a:solidFill>
                  <a:latin typeface="Noto Sans"/>
                  <a:ea typeface="Noto Sans"/>
                  <a:cs typeface="Noto Sans"/>
                  <a:sym typeface="Noto Sans"/>
                </a:rPr>
                <a:t>예비 창업자를 위한 송파구 상권 성장·위험 분석</a:t>
              </a:r>
              <a:endParaRPr/>
            </a:p>
          </p:txBody>
        </p:sp>
      </p:grpSp>
      <p:grpSp>
        <p:nvGrpSpPr>
          <p:cNvPr id="110" name="Google Shape;110;p13"/>
          <p:cNvGrpSpPr/>
          <p:nvPr/>
        </p:nvGrpSpPr>
        <p:grpSpPr>
          <a:xfrm>
            <a:off x="1098137" y="9025042"/>
            <a:ext cx="1921745" cy="336585"/>
            <a:chOff x="0" y="-9525"/>
            <a:chExt cx="2562327" cy="448780"/>
          </a:xfrm>
        </p:grpSpPr>
        <p:sp>
          <p:nvSpPr>
            <p:cNvPr id="111" name="Google Shape;111;p13"/>
            <p:cNvSpPr/>
            <p:nvPr/>
          </p:nvSpPr>
          <p:spPr>
            <a:xfrm>
              <a:off x="0" y="0"/>
              <a:ext cx="2562322" cy="439255"/>
            </a:xfrm>
            <a:custGeom>
              <a:rect b="b" l="l" r="r" t="t"/>
              <a:pathLst>
                <a:path extrusionOk="0" h="439255" w="2562322">
                  <a:moveTo>
                    <a:pt x="0" y="0"/>
                  </a:moveTo>
                  <a:lnTo>
                    <a:pt x="2562322" y="0"/>
                  </a:lnTo>
                  <a:lnTo>
                    <a:pt x="2562322" y="439255"/>
                  </a:lnTo>
                  <a:lnTo>
                    <a:pt x="0" y="4392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662" l="0" r="0" t="-63662"/>
              </a:stretch>
            </a:blipFill>
            <a:ln>
              <a:noFill/>
            </a:ln>
          </p:spPr>
        </p:sp>
        <p:sp>
          <p:nvSpPr>
            <p:cNvPr id="112" name="Google Shape;112;p13"/>
            <p:cNvSpPr txBox="1"/>
            <p:nvPr/>
          </p:nvSpPr>
          <p:spPr>
            <a:xfrm>
              <a:off x="0" y="-9525"/>
              <a:ext cx="2562327" cy="448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2026.09.04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4"/>
          <p:cNvGrpSpPr/>
          <p:nvPr/>
        </p:nvGrpSpPr>
        <p:grpSpPr>
          <a:xfrm>
            <a:off x="892235" y="521618"/>
            <a:ext cx="11667715" cy="620995"/>
            <a:chOff x="0" y="0"/>
            <a:chExt cx="15556954" cy="827993"/>
          </a:xfrm>
        </p:grpSpPr>
        <p:sp>
          <p:nvSpPr>
            <p:cNvPr id="122" name="Google Shape;122;p14"/>
            <p:cNvSpPr/>
            <p:nvPr/>
          </p:nvSpPr>
          <p:spPr>
            <a:xfrm>
              <a:off x="0" y="0"/>
              <a:ext cx="15556954" cy="827989"/>
            </a:xfrm>
            <a:custGeom>
              <a:rect b="b" l="l" r="r" t="t"/>
              <a:pathLst>
                <a:path extrusionOk="0" h="827989" w="15556954">
                  <a:moveTo>
                    <a:pt x="0" y="0"/>
                  </a:moveTo>
                  <a:lnTo>
                    <a:pt x="15556954" y="0"/>
                  </a:lnTo>
                  <a:lnTo>
                    <a:pt x="15556954" y="827989"/>
                  </a:lnTo>
                  <a:lnTo>
                    <a:pt x="0" y="82798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15822" l="0" r="0" t="-316349"/>
              </a:stretch>
            </a:blipFill>
            <a:ln>
              <a:noFill/>
            </a:ln>
          </p:spPr>
        </p:sp>
        <p:sp>
          <p:nvSpPr>
            <p:cNvPr id="123" name="Google Shape;123;p14"/>
            <p:cNvSpPr txBox="1"/>
            <p:nvPr/>
          </p:nvSpPr>
          <p:spPr>
            <a:xfrm>
              <a:off x="0" y="0"/>
              <a:ext cx="15556954" cy="82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5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목차</a:t>
              </a:r>
              <a:endParaRPr/>
            </a:p>
          </p:txBody>
        </p:sp>
      </p:grpSp>
      <p:grpSp>
        <p:nvGrpSpPr>
          <p:cNvPr id="124" name="Google Shape;124;p14"/>
          <p:cNvGrpSpPr/>
          <p:nvPr/>
        </p:nvGrpSpPr>
        <p:grpSpPr>
          <a:xfrm>
            <a:off x="919686" y="1207951"/>
            <a:ext cx="12079519" cy="343170"/>
            <a:chOff x="0" y="0"/>
            <a:chExt cx="16106026" cy="457559"/>
          </a:xfrm>
        </p:grpSpPr>
        <p:sp>
          <p:nvSpPr>
            <p:cNvPr id="125" name="Google Shape;125;p14"/>
            <p:cNvSpPr/>
            <p:nvPr/>
          </p:nvSpPr>
          <p:spPr>
            <a:xfrm>
              <a:off x="0" y="0"/>
              <a:ext cx="16106023" cy="457559"/>
            </a:xfrm>
            <a:custGeom>
              <a:rect b="b" l="l" r="r" t="t"/>
              <a:pathLst>
                <a:path extrusionOk="0" h="457559" w="16106023">
                  <a:moveTo>
                    <a:pt x="0" y="0"/>
                  </a:moveTo>
                  <a:lnTo>
                    <a:pt x="16106023" y="0"/>
                  </a:lnTo>
                  <a:lnTo>
                    <a:pt x="16106023" y="457559"/>
                  </a:lnTo>
                  <a:lnTo>
                    <a:pt x="0" y="45755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5871" l="0" r="0" t="-635871"/>
              </a:stretch>
            </a:blipFill>
            <a:ln>
              <a:noFill/>
            </a:ln>
          </p:spPr>
        </p:sp>
        <p:sp>
          <p:nvSpPr>
            <p:cNvPr id="126" name="Google Shape;126;p14"/>
            <p:cNvSpPr txBox="1"/>
            <p:nvPr/>
          </p:nvSpPr>
          <p:spPr>
            <a:xfrm>
              <a:off x="0" y="0"/>
              <a:ext cx="16106026" cy="457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프로젝트 추진 배경부터 개발 통제 방식과 향후 확장 계획까지 공유합니다.</a:t>
              </a:r>
              <a:endParaRPr/>
            </a:p>
          </p:txBody>
        </p:sp>
      </p:grpSp>
      <p:cxnSp>
        <p:nvCxnSpPr>
          <p:cNvPr id="127" name="Google Shape;127;p14"/>
          <p:cNvCxnSpPr/>
          <p:nvPr/>
        </p:nvCxnSpPr>
        <p:spPr>
          <a:xfrm rot="3960">
            <a:off x="882701" y="1642443"/>
            <a:ext cx="16559774" cy="0"/>
          </a:xfrm>
          <a:prstGeom prst="straightConnector1">
            <a:avLst/>
          </a:prstGeom>
          <a:noFill/>
          <a:ln cap="rnd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8" name="Google Shape;128;p14"/>
          <p:cNvGrpSpPr/>
          <p:nvPr/>
        </p:nvGrpSpPr>
        <p:grpSpPr>
          <a:xfrm>
            <a:off x="1235402" y="2292363"/>
            <a:ext cx="480441" cy="480445"/>
            <a:chOff x="0" y="0"/>
            <a:chExt cx="640588" cy="640593"/>
          </a:xfrm>
        </p:grpSpPr>
        <p:sp>
          <p:nvSpPr>
            <p:cNvPr id="129" name="Google Shape;129;p14"/>
            <p:cNvSpPr/>
            <p:nvPr/>
          </p:nvSpPr>
          <p:spPr>
            <a:xfrm>
              <a:off x="0" y="0"/>
              <a:ext cx="640588" cy="640593"/>
            </a:xfrm>
            <a:custGeom>
              <a:rect b="b" l="l" r="r" t="t"/>
              <a:pathLst>
                <a:path extrusionOk="0" h="640593" w="640588">
                  <a:moveTo>
                    <a:pt x="0" y="0"/>
                  </a:moveTo>
                  <a:lnTo>
                    <a:pt x="640588" y="0"/>
                  </a:lnTo>
                  <a:lnTo>
                    <a:pt x="640588" y="640593"/>
                  </a:lnTo>
                  <a:lnTo>
                    <a:pt x="0" y="64059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30" name="Google Shape;130;p14"/>
            <p:cNvSpPr txBox="1"/>
            <p:nvPr/>
          </p:nvSpPr>
          <p:spPr>
            <a:xfrm>
              <a:off x="0" y="0"/>
              <a:ext cx="640575" cy="640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01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31" name="Google Shape;131;p14"/>
          <p:cNvGrpSpPr/>
          <p:nvPr/>
        </p:nvGrpSpPr>
        <p:grpSpPr>
          <a:xfrm>
            <a:off x="1949196" y="2306483"/>
            <a:ext cx="3774849" cy="411802"/>
            <a:chOff x="0" y="0"/>
            <a:chExt cx="5033132" cy="549069"/>
          </a:xfrm>
        </p:grpSpPr>
        <p:sp>
          <p:nvSpPr>
            <p:cNvPr id="132" name="Google Shape;132;p14"/>
            <p:cNvSpPr/>
            <p:nvPr/>
          </p:nvSpPr>
          <p:spPr>
            <a:xfrm>
              <a:off x="0" y="0"/>
              <a:ext cx="5033132" cy="549069"/>
            </a:xfrm>
            <a:custGeom>
              <a:rect b="b" l="l" r="r" t="t"/>
              <a:pathLst>
                <a:path extrusionOk="0" h="549069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8610" l="0" r="0" t="-128610"/>
              </a:stretch>
            </a:blipFill>
            <a:ln>
              <a:noFill/>
            </a:ln>
          </p:spPr>
        </p:sp>
        <p:sp>
          <p:nvSpPr>
            <p:cNvPr id="133" name="Google Shape;133;p14"/>
            <p:cNvSpPr txBox="1"/>
            <p:nvPr/>
          </p:nvSpPr>
          <p:spPr>
            <a:xfrm>
              <a:off x="0" y="0"/>
              <a:ext cx="5033100" cy="5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26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추진 배경과 목표</a:t>
              </a:r>
              <a:endParaRPr sz="1500"/>
            </a:p>
          </p:txBody>
        </p:sp>
      </p:grpSp>
      <p:grpSp>
        <p:nvGrpSpPr>
          <p:cNvPr id="134" name="Google Shape;134;p14"/>
          <p:cNvGrpSpPr/>
          <p:nvPr/>
        </p:nvGrpSpPr>
        <p:grpSpPr>
          <a:xfrm>
            <a:off x="6382931" y="2264912"/>
            <a:ext cx="9608707" cy="343168"/>
            <a:chOff x="0" y="0"/>
            <a:chExt cx="12811609" cy="457557"/>
          </a:xfrm>
        </p:grpSpPr>
        <p:sp>
          <p:nvSpPr>
            <p:cNvPr id="135" name="Google Shape;135;p14"/>
            <p:cNvSpPr/>
            <p:nvPr/>
          </p:nvSpPr>
          <p:spPr>
            <a:xfrm>
              <a:off x="0" y="0"/>
              <a:ext cx="12811609" cy="457557"/>
            </a:xfrm>
            <a:custGeom>
              <a:rect b="b" l="l" r="r" t="t"/>
              <a:pathLst>
                <a:path extrusionOk="0" h="457557" w="12811609">
                  <a:moveTo>
                    <a:pt x="0" y="0"/>
                  </a:moveTo>
                  <a:lnTo>
                    <a:pt x="12811609" y="0"/>
                  </a:lnTo>
                  <a:lnTo>
                    <a:pt x="12811609" y="457557"/>
                  </a:lnTo>
                  <a:lnTo>
                    <a:pt x="0" y="45755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95613" l="0" r="0" t="-495613"/>
              </a:stretch>
            </a:blipFill>
            <a:ln>
              <a:noFill/>
            </a:ln>
          </p:spPr>
        </p:sp>
        <p:sp>
          <p:nvSpPr>
            <p:cNvPr id="136" name="Google Shape;136;p14"/>
            <p:cNvSpPr txBox="1"/>
            <p:nvPr/>
          </p:nvSpPr>
          <p:spPr>
            <a:xfrm>
              <a:off x="0" y="9525"/>
              <a:ext cx="12811608" cy="448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26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바이브코딩을 이용한 </a:t>
              </a:r>
              <a:r>
                <a:rPr b="0" i="0" lang="en-US" sz="1826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실사용 가능한 </a:t>
              </a:r>
              <a:r>
                <a:rPr lang="en-US" sz="1826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공공데이터 </a:t>
              </a:r>
              <a:r>
                <a:rPr b="0" i="0" lang="en-US" sz="1826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분석 서비스 구현</a:t>
              </a:r>
              <a:endParaRPr sz="1500"/>
            </a:p>
          </p:txBody>
        </p:sp>
      </p:grpSp>
      <p:cxnSp>
        <p:nvCxnSpPr>
          <p:cNvPr id="137" name="Google Shape;137;p14"/>
          <p:cNvCxnSpPr/>
          <p:nvPr/>
        </p:nvCxnSpPr>
        <p:spPr>
          <a:xfrm rot="4560">
            <a:off x="1472946" y="3015120"/>
            <a:ext cx="14432137" cy="0"/>
          </a:xfrm>
          <a:prstGeom prst="straightConnector1">
            <a:avLst/>
          </a:prstGeom>
          <a:noFill/>
          <a:ln cap="rnd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8" name="Google Shape;138;p14"/>
          <p:cNvGrpSpPr/>
          <p:nvPr/>
        </p:nvGrpSpPr>
        <p:grpSpPr>
          <a:xfrm>
            <a:off x="1235402" y="3555225"/>
            <a:ext cx="480441" cy="480445"/>
            <a:chOff x="0" y="0"/>
            <a:chExt cx="640588" cy="640593"/>
          </a:xfrm>
        </p:grpSpPr>
        <p:sp>
          <p:nvSpPr>
            <p:cNvPr id="139" name="Google Shape;139;p14"/>
            <p:cNvSpPr/>
            <p:nvPr/>
          </p:nvSpPr>
          <p:spPr>
            <a:xfrm>
              <a:off x="0" y="0"/>
              <a:ext cx="640588" cy="640593"/>
            </a:xfrm>
            <a:custGeom>
              <a:rect b="b" l="l" r="r" t="t"/>
              <a:pathLst>
                <a:path extrusionOk="0" h="640593" w="640588">
                  <a:moveTo>
                    <a:pt x="0" y="0"/>
                  </a:moveTo>
                  <a:lnTo>
                    <a:pt x="640588" y="0"/>
                  </a:lnTo>
                  <a:lnTo>
                    <a:pt x="640588" y="640593"/>
                  </a:lnTo>
                  <a:lnTo>
                    <a:pt x="0" y="64059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40" name="Google Shape;140;p14"/>
            <p:cNvSpPr txBox="1"/>
            <p:nvPr/>
          </p:nvSpPr>
          <p:spPr>
            <a:xfrm>
              <a:off x="0" y="0"/>
              <a:ext cx="640575" cy="640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02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41" name="Google Shape;141;p14"/>
          <p:cNvGrpSpPr/>
          <p:nvPr/>
        </p:nvGrpSpPr>
        <p:grpSpPr>
          <a:xfrm>
            <a:off x="1949196" y="3555531"/>
            <a:ext cx="3774849" cy="425554"/>
            <a:chOff x="0" y="0"/>
            <a:chExt cx="5033132" cy="567406"/>
          </a:xfrm>
        </p:grpSpPr>
        <p:sp>
          <p:nvSpPr>
            <p:cNvPr id="142" name="Google Shape;142;p14"/>
            <p:cNvSpPr/>
            <p:nvPr/>
          </p:nvSpPr>
          <p:spPr>
            <a:xfrm>
              <a:off x="0" y="0"/>
              <a:ext cx="5033132" cy="549069"/>
            </a:xfrm>
            <a:custGeom>
              <a:rect b="b" l="l" r="r" t="t"/>
              <a:pathLst>
                <a:path extrusionOk="0" h="549069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8610" l="0" r="0" t="-128610"/>
              </a:stretch>
            </a:blipFill>
            <a:ln>
              <a:noFill/>
            </a:ln>
          </p:spPr>
        </p:sp>
        <p:sp>
          <p:nvSpPr>
            <p:cNvPr id="143" name="Google Shape;143;p14"/>
            <p:cNvSpPr txBox="1"/>
            <p:nvPr/>
          </p:nvSpPr>
          <p:spPr>
            <a:xfrm>
              <a:off x="0" y="18406"/>
              <a:ext cx="5033100" cy="5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26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서비스 범위</a:t>
              </a:r>
              <a:endParaRPr sz="1500"/>
            </a:p>
          </p:txBody>
        </p:sp>
      </p:grpSp>
      <p:grpSp>
        <p:nvGrpSpPr>
          <p:cNvPr id="144" name="Google Shape;144;p14"/>
          <p:cNvGrpSpPr/>
          <p:nvPr/>
        </p:nvGrpSpPr>
        <p:grpSpPr>
          <a:xfrm>
            <a:off x="6382931" y="3527765"/>
            <a:ext cx="9608707" cy="343168"/>
            <a:chOff x="0" y="0"/>
            <a:chExt cx="12811609" cy="457557"/>
          </a:xfrm>
        </p:grpSpPr>
        <p:sp>
          <p:nvSpPr>
            <p:cNvPr id="145" name="Google Shape;145;p14"/>
            <p:cNvSpPr/>
            <p:nvPr/>
          </p:nvSpPr>
          <p:spPr>
            <a:xfrm>
              <a:off x="0" y="0"/>
              <a:ext cx="12811609" cy="457557"/>
            </a:xfrm>
            <a:custGeom>
              <a:rect b="b" l="l" r="r" t="t"/>
              <a:pathLst>
                <a:path extrusionOk="0" h="457557" w="12811609">
                  <a:moveTo>
                    <a:pt x="0" y="0"/>
                  </a:moveTo>
                  <a:lnTo>
                    <a:pt x="12811609" y="0"/>
                  </a:lnTo>
                  <a:lnTo>
                    <a:pt x="12811609" y="457557"/>
                  </a:lnTo>
                  <a:lnTo>
                    <a:pt x="0" y="45755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95613" l="0" r="0" t="-495613"/>
              </a:stretch>
            </a:blipFill>
            <a:ln>
              <a:noFill/>
            </a:ln>
          </p:spPr>
        </p:sp>
        <p:sp>
          <p:nvSpPr>
            <p:cNvPr id="146" name="Google Shape;146;p14"/>
            <p:cNvSpPr txBox="1"/>
            <p:nvPr/>
          </p:nvSpPr>
          <p:spPr>
            <a:xfrm>
              <a:off x="0" y="9525"/>
              <a:ext cx="12811608" cy="448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예비 창업자, 송파구, 업종 맞춤 상권 추천</a:t>
              </a:r>
              <a:endParaRPr sz="1800"/>
            </a:p>
          </p:txBody>
        </p:sp>
      </p:grpSp>
      <p:cxnSp>
        <p:nvCxnSpPr>
          <p:cNvPr id="147" name="Google Shape;147;p14"/>
          <p:cNvCxnSpPr/>
          <p:nvPr/>
        </p:nvCxnSpPr>
        <p:spPr>
          <a:xfrm rot="4560">
            <a:off x="1472946" y="4277973"/>
            <a:ext cx="14432137" cy="0"/>
          </a:xfrm>
          <a:prstGeom prst="straightConnector1">
            <a:avLst/>
          </a:prstGeom>
          <a:noFill/>
          <a:ln cap="rnd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8" name="Google Shape;148;p14"/>
          <p:cNvGrpSpPr/>
          <p:nvPr/>
        </p:nvGrpSpPr>
        <p:grpSpPr>
          <a:xfrm>
            <a:off x="1235402" y="4818078"/>
            <a:ext cx="480441" cy="480445"/>
            <a:chOff x="0" y="0"/>
            <a:chExt cx="640588" cy="640593"/>
          </a:xfrm>
        </p:grpSpPr>
        <p:sp>
          <p:nvSpPr>
            <p:cNvPr id="149" name="Google Shape;149;p14"/>
            <p:cNvSpPr/>
            <p:nvPr/>
          </p:nvSpPr>
          <p:spPr>
            <a:xfrm>
              <a:off x="0" y="0"/>
              <a:ext cx="640588" cy="640593"/>
            </a:xfrm>
            <a:custGeom>
              <a:rect b="b" l="l" r="r" t="t"/>
              <a:pathLst>
                <a:path extrusionOk="0" h="640593" w="640588">
                  <a:moveTo>
                    <a:pt x="0" y="0"/>
                  </a:moveTo>
                  <a:lnTo>
                    <a:pt x="640588" y="0"/>
                  </a:lnTo>
                  <a:lnTo>
                    <a:pt x="640588" y="640593"/>
                  </a:lnTo>
                  <a:lnTo>
                    <a:pt x="0" y="64059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50" name="Google Shape;150;p14"/>
            <p:cNvSpPr txBox="1"/>
            <p:nvPr/>
          </p:nvSpPr>
          <p:spPr>
            <a:xfrm>
              <a:off x="0" y="0"/>
              <a:ext cx="640575" cy="640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03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51" name="Google Shape;151;p14"/>
          <p:cNvGrpSpPr/>
          <p:nvPr/>
        </p:nvGrpSpPr>
        <p:grpSpPr>
          <a:xfrm>
            <a:off x="1949196" y="4832198"/>
            <a:ext cx="3774853" cy="411804"/>
            <a:chOff x="0" y="0"/>
            <a:chExt cx="5033137" cy="549072"/>
          </a:xfrm>
        </p:grpSpPr>
        <p:sp>
          <p:nvSpPr>
            <p:cNvPr id="152" name="Google Shape;152;p14"/>
            <p:cNvSpPr/>
            <p:nvPr/>
          </p:nvSpPr>
          <p:spPr>
            <a:xfrm>
              <a:off x="0" y="0"/>
              <a:ext cx="5033132" cy="549069"/>
            </a:xfrm>
            <a:custGeom>
              <a:rect b="b" l="l" r="r" t="t"/>
              <a:pathLst>
                <a:path extrusionOk="0" h="549069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8610" l="0" r="0" t="-128610"/>
              </a:stretch>
            </a:blipFill>
            <a:ln>
              <a:noFill/>
            </a:ln>
          </p:spPr>
        </p:sp>
        <p:sp>
          <p:nvSpPr>
            <p:cNvPr id="153" name="Google Shape;153;p14"/>
            <p:cNvSpPr txBox="1"/>
            <p:nvPr/>
          </p:nvSpPr>
          <p:spPr>
            <a:xfrm>
              <a:off x="0" y="0"/>
              <a:ext cx="5033137" cy="549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26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데이터와 시스템 구조</a:t>
              </a:r>
              <a:endParaRPr/>
            </a:p>
          </p:txBody>
        </p:sp>
      </p:grpSp>
      <p:grpSp>
        <p:nvGrpSpPr>
          <p:cNvPr id="154" name="Google Shape;154;p14"/>
          <p:cNvGrpSpPr/>
          <p:nvPr/>
        </p:nvGrpSpPr>
        <p:grpSpPr>
          <a:xfrm>
            <a:off x="6382931" y="4790627"/>
            <a:ext cx="9608707" cy="343168"/>
            <a:chOff x="0" y="0"/>
            <a:chExt cx="12811609" cy="457557"/>
          </a:xfrm>
        </p:grpSpPr>
        <p:sp>
          <p:nvSpPr>
            <p:cNvPr id="155" name="Google Shape;155;p14"/>
            <p:cNvSpPr/>
            <p:nvPr/>
          </p:nvSpPr>
          <p:spPr>
            <a:xfrm>
              <a:off x="0" y="0"/>
              <a:ext cx="12811609" cy="457557"/>
            </a:xfrm>
            <a:custGeom>
              <a:rect b="b" l="l" r="r" t="t"/>
              <a:pathLst>
                <a:path extrusionOk="0" h="457557" w="12811609">
                  <a:moveTo>
                    <a:pt x="0" y="0"/>
                  </a:moveTo>
                  <a:lnTo>
                    <a:pt x="12811609" y="0"/>
                  </a:lnTo>
                  <a:lnTo>
                    <a:pt x="12811609" y="457557"/>
                  </a:lnTo>
                  <a:lnTo>
                    <a:pt x="0" y="45755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95613" l="0" r="0" t="-495613"/>
              </a:stretch>
            </a:blipFill>
            <a:ln>
              <a:noFill/>
            </a:ln>
          </p:spPr>
        </p:sp>
        <p:sp>
          <p:nvSpPr>
            <p:cNvPr id="156" name="Google Shape;156;p14"/>
            <p:cNvSpPr txBox="1"/>
            <p:nvPr/>
          </p:nvSpPr>
          <p:spPr>
            <a:xfrm>
              <a:off x="0" y="9525"/>
              <a:ext cx="12811608" cy="448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26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서울시 공개 자료, 외부 데이터베이스, 지도 연동 구조</a:t>
              </a:r>
              <a:endParaRPr sz="1500"/>
            </a:p>
          </p:txBody>
        </p:sp>
      </p:grpSp>
      <p:cxnSp>
        <p:nvCxnSpPr>
          <p:cNvPr id="157" name="Google Shape;157;p14"/>
          <p:cNvCxnSpPr/>
          <p:nvPr/>
        </p:nvCxnSpPr>
        <p:spPr>
          <a:xfrm rot="4560">
            <a:off x="1472946" y="5540835"/>
            <a:ext cx="14432137" cy="0"/>
          </a:xfrm>
          <a:prstGeom prst="straightConnector1">
            <a:avLst/>
          </a:prstGeom>
          <a:noFill/>
          <a:ln cap="rnd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8" name="Google Shape;158;p14"/>
          <p:cNvGrpSpPr/>
          <p:nvPr/>
        </p:nvGrpSpPr>
        <p:grpSpPr>
          <a:xfrm>
            <a:off x="1235402" y="6080941"/>
            <a:ext cx="480441" cy="480445"/>
            <a:chOff x="0" y="0"/>
            <a:chExt cx="640588" cy="640593"/>
          </a:xfrm>
        </p:grpSpPr>
        <p:sp>
          <p:nvSpPr>
            <p:cNvPr id="159" name="Google Shape;159;p14"/>
            <p:cNvSpPr/>
            <p:nvPr/>
          </p:nvSpPr>
          <p:spPr>
            <a:xfrm>
              <a:off x="0" y="0"/>
              <a:ext cx="640588" cy="640593"/>
            </a:xfrm>
            <a:custGeom>
              <a:rect b="b" l="l" r="r" t="t"/>
              <a:pathLst>
                <a:path extrusionOk="0" h="640593" w="640588">
                  <a:moveTo>
                    <a:pt x="0" y="0"/>
                  </a:moveTo>
                  <a:lnTo>
                    <a:pt x="640588" y="0"/>
                  </a:lnTo>
                  <a:lnTo>
                    <a:pt x="640588" y="640593"/>
                  </a:lnTo>
                  <a:lnTo>
                    <a:pt x="0" y="64059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60" name="Google Shape;160;p14"/>
            <p:cNvSpPr txBox="1"/>
            <p:nvPr/>
          </p:nvSpPr>
          <p:spPr>
            <a:xfrm>
              <a:off x="0" y="0"/>
              <a:ext cx="640575" cy="640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04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61" name="Google Shape;161;p14"/>
          <p:cNvGrpSpPr/>
          <p:nvPr/>
        </p:nvGrpSpPr>
        <p:grpSpPr>
          <a:xfrm>
            <a:off x="1949196" y="6108855"/>
            <a:ext cx="3774849" cy="411802"/>
            <a:chOff x="0" y="0"/>
            <a:chExt cx="5033132" cy="549069"/>
          </a:xfrm>
        </p:grpSpPr>
        <p:sp>
          <p:nvSpPr>
            <p:cNvPr id="162" name="Google Shape;162;p14"/>
            <p:cNvSpPr/>
            <p:nvPr/>
          </p:nvSpPr>
          <p:spPr>
            <a:xfrm>
              <a:off x="0" y="0"/>
              <a:ext cx="5033132" cy="549069"/>
            </a:xfrm>
            <a:custGeom>
              <a:rect b="b" l="l" r="r" t="t"/>
              <a:pathLst>
                <a:path extrusionOk="0" h="549069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8610" l="0" r="0" t="-128610"/>
              </a:stretch>
            </a:blipFill>
            <a:ln>
              <a:noFill/>
            </a:ln>
          </p:spPr>
        </p:sp>
        <p:sp>
          <p:nvSpPr>
            <p:cNvPr id="163" name="Google Shape;163;p14"/>
            <p:cNvSpPr txBox="1"/>
            <p:nvPr/>
          </p:nvSpPr>
          <p:spPr>
            <a:xfrm>
              <a:off x="0" y="0"/>
              <a:ext cx="5033100" cy="5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26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바이브코딩 통제 방식</a:t>
              </a:r>
              <a:endParaRPr/>
            </a:p>
          </p:txBody>
        </p:sp>
      </p:grpSp>
      <p:grpSp>
        <p:nvGrpSpPr>
          <p:cNvPr id="164" name="Google Shape;164;p14"/>
          <p:cNvGrpSpPr/>
          <p:nvPr/>
        </p:nvGrpSpPr>
        <p:grpSpPr>
          <a:xfrm>
            <a:off x="6382931" y="6053490"/>
            <a:ext cx="9608707" cy="343168"/>
            <a:chOff x="0" y="0"/>
            <a:chExt cx="12811609" cy="457557"/>
          </a:xfrm>
        </p:grpSpPr>
        <p:sp>
          <p:nvSpPr>
            <p:cNvPr id="165" name="Google Shape;165;p14"/>
            <p:cNvSpPr/>
            <p:nvPr/>
          </p:nvSpPr>
          <p:spPr>
            <a:xfrm>
              <a:off x="0" y="0"/>
              <a:ext cx="12811609" cy="457557"/>
            </a:xfrm>
            <a:custGeom>
              <a:rect b="b" l="l" r="r" t="t"/>
              <a:pathLst>
                <a:path extrusionOk="0" h="457557" w="12811609">
                  <a:moveTo>
                    <a:pt x="0" y="0"/>
                  </a:moveTo>
                  <a:lnTo>
                    <a:pt x="12811609" y="0"/>
                  </a:lnTo>
                  <a:lnTo>
                    <a:pt x="12811609" y="457557"/>
                  </a:lnTo>
                  <a:lnTo>
                    <a:pt x="0" y="45755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95613" l="0" r="0" t="-495613"/>
              </a:stretch>
            </a:blipFill>
            <a:ln>
              <a:noFill/>
            </a:ln>
          </p:spPr>
        </p:sp>
        <p:sp>
          <p:nvSpPr>
            <p:cNvPr id="166" name="Google Shape;166;p14"/>
            <p:cNvSpPr txBox="1"/>
            <p:nvPr/>
          </p:nvSpPr>
          <p:spPr>
            <a:xfrm>
              <a:off x="0" y="9525"/>
              <a:ext cx="12811608" cy="448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26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명세와 하네스로 구현 범위와 품질을 고정</a:t>
              </a:r>
              <a:endParaRPr sz="1500"/>
            </a:p>
          </p:txBody>
        </p:sp>
      </p:grpSp>
      <p:cxnSp>
        <p:nvCxnSpPr>
          <p:cNvPr id="167" name="Google Shape;167;p14"/>
          <p:cNvCxnSpPr/>
          <p:nvPr/>
        </p:nvCxnSpPr>
        <p:spPr>
          <a:xfrm rot="4560">
            <a:off x="1472946" y="6803688"/>
            <a:ext cx="14432137" cy="0"/>
          </a:xfrm>
          <a:prstGeom prst="straightConnector1">
            <a:avLst/>
          </a:prstGeom>
          <a:noFill/>
          <a:ln cap="rnd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8" name="Google Shape;168;p14"/>
          <p:cNvGrpSpPr/>
          <p:nvPr/>
        </p:nvGrpSpPr>
        <p:grpSpPr>
          <a:xfrm>
            <a:off x="1235402" y="7343794"/>
            <a:ext cx="480441" cy="480445"/>
            <a:chOff x="0" y="0"/>
            <a:chExt cx="640588" cy="640593"/>
          </a:xfrm>
        </p:grpSpPr>
        <p:sp>
          <p:nvSpPr>
            <p:cNvPr id="169" name="Google Shape;169;p14"/>
            <p:cNvSpPr/>
            <p:nvPr/>
          </p:nvSpPr>
          <p:spPr>
            <a:xfrm>
              <a:off x="0" y="0"/>
              <a:ext cx="640588" cy="640593"/>
            </a:xfrm>
            <a:custGeom>
              <a:rect b="b" l="l" r="r" t="t"/>
              <a:pathLst>
                <a:path extrusionOk="0" h="640593" w="640588">
                  <a:moveTo>
                    <a:pt x="0" y="0"/>
                  </a:moveTo>
                  <a:lnTo>
                    <a:pt x="640588" y="0"/>
                  </a:lnTo>
                  <a:lnTo>
                    <a:pt x="640588" y="640593"/>
                  </a:lnTo>
                  <a:lnTo>
                    <a:pt x="0" y="64059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70" name="Google Shape;170;p14"/>
            <p:cNvSpPr txBox="1"/>
            <p:nvPr/>
          </p:nvSpPr>
          <p:spPr>
            <a:xfrm>
              <a:off x="0" y="0"/>
              <a:ext cx="640575" cy="640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05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71" name="Google Shape;171;p14"/>
          <p:cNvGrpSpPr/>
          <p:nvPr/>
        </p:nvGrpSpPr>
        <p:grpSpPr>
          <a:xfrm>
            <a:off x="1949196" y="7371718"/>
            <a:ext cx="3774849" cy="411802"/>
            <a:chOff x="0" y="0"/>
            <a:chExt cx="5033132" cy="549069"/>
          </a:xfrm>
        </p:grpSpPr>
        <p:sp>
          <p:nvSpPr>
            <p:cNvPr id="172" name="Google Shape;172;p14"/>
            <p:cNvSpPr/>
            <p:nvPr/>
          </p:nvSpPr>
          <p:spPr>
            <a:xfrm>
              <a:off x="0" y="0"/>
              <a:ext cx="5033132" cy="549069"/>
            </a:xfrm>
            <a:custGeom>
              <a:rect b="b" l="l" r="r" t="t"/>
              <a:pathLst>
                <a:path extrusionOk="0" h="549069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8610" l="0" r="0" t="-128610"/>
              </a:stretch>
            </a:blipFill>
            <a:ln>
              <a:noFill/>
            </a:ln>
          </p:spPr>
        </p:sp>
        <p:sp>
          <p:nvSpPr>
            <p:cNvPr id="173" name="Google Shape;173;p14"/>
            <p:cNvSpPr txBox="1"/>
            <p:nvPr/>
          </p:nvSpPr>
          <p:spPr>
            <a:xfrm>
              <a:off x="0" y="0"/>
              <a:ext cx="5033100" cy="5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26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개발 결과와 향후 계획</a:t>
              </a:r>
              <a:endParaRPr/>
            </a:p>
          </p:txBody>
        </p:sp>
      </p:grpSp>
      <p:grpSp>
        <p:nvGrpSpPr>
          <p:cNvPr id="174" name="Google Shape;174;p14"/>
          <p:cNvGrpSpPr/>
          <p:nvPr/>
        </p:nvGrpSpPr>
        <p:grpSpPr>
          <a:xfrm>
            <a:off x="6382931" y="7316343"/>
            <a:ext cx="9608707" cy="343168"/>
            <a:chOff x="0" y="0"/>
            <a:chExt cx="12811609" cy="457557"/>
          </a:xfrm>
        </p:grpSpPr>
        <p:sp>
          <p:nvSpPr>
            <p:cNvPr id="175" name="Google Shape;175;p14"/>
            <p:cNvSpPr/>
            <p:nvPr/>
          </p:nvSpPr>
          <p:spPr>
            <a:xfrm>
              <a:off x="0" y="0"/>
              <a:ext cx="12811609" cy="457557"/>
            </a:xfrm>
            <a:custGeom>
              <a:rect b="b" l="l" r="r" t="t"/>
              <a:pathLst>
                <a:path extrusionOk="0" h="457557" w="12811609">
                  <a:moveTo>
                    <a:pt x="0" y="0"/>
                  </a:moveTo>
                  <a:lnTo>
                    <a:pt x="12811609" y="0"/>
                  </a:lnTo>
                  <a:lnTo>
                    <a:pt x="12811609" y="457557"/>
                  </a:lnTo>
                  <a:lnTo>
                    <a:pt x="0" y="45755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95613" l="0" r="0" t="-495613"/>
              </a:stretch>
            </a:blipFill>
            <a:ln>
              <a:noFill/>
            </a:ln>
          </p:spPr>
        </p:sp>
        <p:sp>
          <p:nvSpPr>
            <p:cNvPr id="176" name="Google Shape;176;p14"/>
            <p:cNvSpPr txBox="1"/>
            <p:nvPr/>
          </p:nvSpPr>
          <p:spPr>
            <a:xfrm>
              <a:off x="0" y="9525"/>
              <a:ext cx="12811608" cy="448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26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진행 성과, 리스크, 다음 개발 단계</a:t>
              </a:r>
              <a:endParaRPr sz="1500"/>
            </a:p>
          </p:txBody>
        </p:sp>
      </p:grpSp>
      <p:grpSp>
        <p:nvGrpSpPr>
          <p:cNvPr id="177" name="Google Shape;177;p14"/>
          <p:cNvGrpSpPr/>
          <p:nvPr/>
        </p:nvGrpSpPr>
        <p:grpSpPr>
          <a:xfrm>
            <a:off x="892235" y="9677343"/>
            <a:ext cx="5216157" cy="274539"/>
            <a:chOff x="0" y="0"/>
            <a:chExt cx="6954876" cy="366052"/>
          </a:xfrm>
        </p:grpSpPr>
        <p:sp>
          <p:nvSpPr>
            <p:cNvPr id="178" name="Google Shape;178;p14"/>
            <p:cNvSpPr/>
            <p:nvPr/>
          </p:nvSpPr>
          <p:spPr>
            <a:xfrm>
              <a:off x="0" y="0"/>
              <a:ext cx="6954873" cy="366046"/>
            </a:xfrm>
            <a:custGeom>
              <a:rect b="b" l="l" r="r" t="t"/>
              <a:pathLst>
                <a:path extrusionOk="0" h="366046" w="6954873">
                  <a:moveTo>
                    <a:pt x="0" y="0"/>
                  </a:moveTo>
                  <a:lnTo>
                    <a:pt x="6954873" y="0"/>
                  </a:lnTo>
                  <a:lnTo>
                    <a:pt x="6954873" y="366046"/>
                  </a:lnTo>
                  <a:lnTo>
                    <a:pt x="0" y="36604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20206" l="0" r="0" t="-320206"/>
              </a:stretch>
            </a:blipFill>
            <a:ln>
              <a:noFill/>
            </a:ln>
          </p:spPr>
        </p:sp>
        <p:sp>
          <p:nvSpPr>
            <p:cNvPr id="179" name="Google Shape;179;p14"/>
            <p:cNvSpPr txBox="1"/>
            <p:nvPr/>
          </p:nvSpPr>
          <p:spPr>
            <a:xfrm>
              <a:off x="0" y="9525"/>
              <a:ext cx="6954876" cy="356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상권나침반 바이브코딩 적용 보고</a:t>
              </a:r>
              <a:endParaRPr/>
            </a:p>
          </p:txBody>
        </p:sp>
      </p:grpSp>
      <p:grpSp>
        <p:nvGrpSpPr>
          <p:cNvPr id="180" name="Google Shape;180;p14"/>
          <p:cNvGrpSpPr/>
          <p:nvPr/>
        </p:nvGrpSpPr>
        <p:grpSpPr>
          <a:xfrm>
            <a:off x="16815235" y="9629013"/>
            <a:ext cx="617706" cy="336585"/>
            <a:chOff x="0" y="-9525"/>
            <a:chExt cx="823608" cy="448780"/>
          </a:xfrm>
        </p:grpSpPr>
        <p:sp>
          <p:nvSpPr>
            <p:cNvPr id="181" name="Google Shape;181;p14"/>
            <p:cNvSpPr/>
            <p:nvPr/>
          </p:nvSpPr>
          <p:spPr>
            <a:xfrm>
              <a:off x="0" y="0"/>
              <a:ext cx="823603" cy="439255"/>
            </a:xfrm>
            <a:custGeom>
              <a:rect b="b" l="l" r="r" t="t"/>
              <a:pathLst>
                <a:path extrusionOk="0" h="439255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439255"/>
                  </a:lnTo>
                  <a:lnTo>
                    <a:pt x="0" y="4392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8428" r="-18428" t="0"/>
              </a:stretch>
            </a:blipFill>
            <a:ln>
              <a:noFill/>
            </a:ln>
          </p:spPr>
        </p:sp>
        <p:sp>
          <p:nvSpPr>
            <p:cNvPr id="182" name="Google Shape;182;p14"/>
            <p:cNvSpPr txBox="1"/>
            <p:nvPr/>
          </p:nvSpPr>
          <p:spPr>
            <a:xfrm>
              <a:off x="0" y="-9525"/>
              <a:ext cx="823608" cy="448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02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15"/>
          <p:cNvGrpSpPr/>
          <p:nvPr/>
        </p:nvGrpSpPr>
        <p:grpSpPr>
          <a:xfrm>
            <a:off x="892235" y="521618"/>
            <a:ext cx="11667715" cy="620995"/>
            <a:chOff x="0" y="0"/>
            <a:chExt cx="15556954" cy="827993"/>
          </a:xfrm>
        </p:grpSpPr>
        <p:sp>
          <p:nvSpPr>
            <p:cNvPr id="192" name="Google Shape;192;p15"/>
            <p:cNvSpPr/>
            <p:nvPr/>
          </p:nvSpPr>
          <p:spPr>
            <a:xfrm>
              <a:off x="0" y="0"/>
              <a:ext cx="15556954" cy="827989"/>
            </a:xfrm>
            <a:custGeom>
              <a:rect b="b" l="l" r="r" t="t"/>
              <a:pathLst>
                <a:path extrusionOk="0" h="827989" w="15556954">
                  <a:moveTo>
                    <a:pt x="0" y="0"/>
                  </a:moveTo>
                  <a:lnTo>
                    <a:pt x="15556954" y="0"/>
                  </a:lnTo>
                  <a:lnTo>
                    <a:pt x="15556954" y="827989"/>
                  </a:lnTo>
                  <a:lnTo>
                    <a:pt x="0" y="82798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15822" l="0" r="0" t="-316349"/>
              </a:stretch>
            </a:blipFill>
            <a:ln>
              <a:noFill/>
            </a:ln>
          </p:spPr>
        </p:sp>
        <p:sp>
          <p:nvSpPr>
            <p:cNvPr id="193" name="Google Shape;193;p15"/>
            <p:cNvSpPr txBox="1"/>
            <p:nvPr/>
          </p:nvSpPr>
          <p:spPr>
            <a:xfrm>
              <a:off x="0" y="0"/>
              <a:ext cx="15556954" cy="82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5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추진 배경과 목표</a:t>
              </a:r>
              <a:endParaRPr/>
            </a:p>
          </p:txBody>
        </p:sp>
      </p:grpSp>
      <p:grpSp>
        <p:nvGrpSpPr>
          <p:cNvPr id="194" name="Google Shape;194;p15"/>
          <p:cNvGrpSpPr/>
          <p:nvPr/>
        </p:nvGrpSpPr>
        <p:grpSpPr>
          <a:xfrm>
            <a:off x="919686" y="1207951"/>
            <a:ext cx="12079519" cy="343170"/>
            <a:chOff x="0" y="0"/>
            <a:chExt cx="16106026" cy="457559"/>
          </a:xfrm>
        </p:grpSpPr>
        <p:sp>
          <p:nvSpPr>
            <p:cNvPr id="195" name="Google Shape;195;p15"/>
            <p:cNvSpPr/>
            <p:nvPr/>
          </p:nvSpPr>
          <p:spPr>
            <a:xfrm>
              <a:off x="0" y="0"/>
              <a:ext cx="16106023" cy="457559"/>
            </a:xfrm>
            <a:custGeom>
              <a:rect b="b" l="l" r="r" t="t"/>
              <a:pathLst>
                <a:path extrusionOk="0" h="457559" w="16106023">
                  <a:moveTo>
                    <a:pt x="0" y="0"/>
                  </a:moveTo>
                  <a:lnTo>
                    <a:pt x="16106023" y="0"/>
                  </a:lnTo>
                  <a:lnTo>
                    <a:pt x="16106023" y="457559"/>
                  </a:lnTo>
                  <a:lnTo>
                    <a:pt x="0" y="45755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5871" l="0" r="0" t="-635871"/>
              </a:stretch>
            </a:blipFill>
            <a:ln>
              <a:noFill/>
            </a:ln>
          </p:spPr>
        </p:sp>
        <p:sp>
          <p:nvSpPr>
            <p:cNvPr id="196" name="Google Shape;196;p15"/>
            <p:cNvSpPr txBox="1"/>
            <p:nvPr/>
          </p:nvSpPr>
          <p:spPr>
            <a:xfrm>
              <a:off x="0" y="0"/>
              <a:ext cx="16106026" cy="457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빠른 검증이 필요한 서비스 아이디어를 문서화된 하네스로 통제하며 구현합니다.</a:t>
              </a:r>
              <a:endParaRPr/>
            </a:p>
          </p:txBody>
        </p:sp>
      </p:grpSp>
      <p:cxnSp>
        <p:nvCxnSpPr>
          <p:cNvPr id="197" name="Google Shape;197;p15"/>
          <p:cNvCxnSpPr/>
          <p:nvPr/>
        </p:nvCxnSpPr>
        <p:spPr>
          <a:xfrm rot="3960">
            <a:off x="882701" y="1642443"/>
            <a:ext cx="16559774" cy="0"/>
          </a:xfrm>
          <a:prstGeom prst="straightConnector1">
            <a:avLst/>
          </a:prstGeom>
          <a:noFill/>
          <a:ln cap="rnd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8" name="Google Shape;198;p15"/>
          <p:cNvGrpSpPr/>
          <p:nvPr/>
        </p:nvGrpSpPr>
        <p:grpSpPr>
          <a:xfrm>
            <a:off x="1125588" y="2113912"/>
            <a:ext cx="2745344" cy="411804"/>
            <a:chOff x="0" y="0"/>
            <a:chExt cx="3660460" cy="549072"/>
          </a:xfrm>
        </p:grpSpPr>
        <p:sp>
          <p:nvSpPr>
            <p:cNvPr id="199" name="Google Shape;199;p15"/>
            <p:cNvSpPr/>
            <p:nvPr/>
          </p:nvSpPr>
          <p:spPr>
            <a:xfrm>
              <a:off x="0" y="0"/>
              <a:ext cx="3660460" cy="549069"/>
            </a:xfrm>
            <a:custGeom>
              <a:rect b="b" l="l" r="r" t="t"/>
              <a:pathLst>
                <a:path extrusionOk="0" h="549069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9902" l="0" r="0" t="-79899"/>
              </a:stretch>
            </a:blipFill>
            <a:ln>
              <a:noFill/>
            </a:ln>
          </p:spPr>
        </p:sp>
        <p:sp>
          <p:nvSpPr>
            <p:cNvPr id="200" name="Google Shape;200;p15"/>
            <p:cNvSpPr txBox="1"/>
            <p:nvPr/>
          </p:nvSpPr>
          <p:spPr>
            <a:xfrm>
              <a:off x="0" y="9525"/>
              <a:ext cx="3660458" cy="539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핵심 제약</a:t>
              </a:r>
              <a:endParaRPr/>
            </a:p>
          </p:txBody>
        </p:sp>
      </p:grpSp>
      <p:sp>
        <p:nvSpPr>
          <p:cNvPr id="201" name="Google Shape;201;p15"/>
          <p:cNvSpPr/>
          <p:nvPr/>
        </p:nvSpPr>
        <p:spPr>
          <a:xfrm>
            <a:off x="1088603" y="2804446"/>
            <a:ext cx="4137089" cy="1474089"/>
          </a:xfrm>
          <a:custGeom>
            <a:rect b="b" l="l" r="r" t="t"/>
            <a:pathLst>
              <a:path extrusionOk="0" h="1965452" w="5516118">
                <a:moveTo>
                  <a:pt x="0" y="0"/>
                </a:moveTo>
                <a:lnTo>
                  <a:pt x="5516118" y="0"/>
                </a:lnTo>
                <a:lnTo>
                  <a:pt x="5516118" y="1965452"/>
                </a:lnTo>
                <a:lnTo>
                  <a:pt x="0" y="1965452"/>
                </a:lnTo>
                <a:close/>
              </a:path>
            </a:pathLst>
          </a:custGeom>
          <a:solidFill>
            <a:srgbClr val="EAF1FF"/>
          </a:solidFill>
          <a:ln cap="sq" cmpd="sng" w="19050">
            <a:solidFill>
              <a:srgbClr val="EAF1F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202" name="Google Shape;202;p15"/>
          <p:cNvGrpSpPr/>
          <p:nvPr/>
        </p:nvGrpSpPr>
        <p:grpSpPr>
          <a:xfrm>
            <a:off x="1345216" y="2985278"/>
            <a:ext cx="3623855" cy="309134"/>
            <a:chOff x="0" y="-9525"/>
            <a:chExt cx="4831807" cy="412179"/>
          </a:xfrm>
        </p:grpSpPr>
        <p:sp>
          <p:nvSpPr>
            <p:cNvPr id="203" name="Google Shape;203;p15"/>
            <p:cNvSpPr/>
            <p:nvPr/>
          </p:nvSpPr>
          <p:spPr>
            <a:xfrm>
              <a:off x="0" y="0"/>
              <a:ext cx="4831807" cy="402651"/>
            </a:xfrm>
            <a:custGeom>
              <a:rect b="b" l="l" r="r" t="t"/>
              <a:pathLst>
                <a:path extrusionOk="0" h="402651" w="4831807">
                  <a:moveTo>
                    <a:pt x="0" y="0"/>
                  </a:moveTo>
                  <a:lnTo>
                    <a:pt x="4831807" y="0"/>
                  </a:lnTo>
                  <a:lnTo>
                    <a:pt x="4831807" y="402651"/>
                  </a:lnTo>
                  <a:lnTo>
                    <a:pt x="0" y="40265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3820" l="0" r="0" t="-183820"/>
              </a:stretch>
            </a:blipFill>
            <a:ln>
              <a:noFill/>
            </a:ln>
          </p:spPr>
        </p:sp>
        <p:sp>
          <p:nvSpPr>
            <p:cNvPr id="204" name="Google Shape;204;p15"/>
            <p:cNvSpPr txBox="1"/>
            <p:nvPr/>
          </p:nvSpPr>
          <p:spPr>
            <a:xfrm>
              <a:off x="0" y="-9525"/>
              <a:ext cx="4831804" cy="412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개발 조건</a:t>
              </a:r>
              <a:endParaRPr sz="2400"/>
            </a:p>
          </p:txBody>
        </p:sp>
      </p:grpSp>
      <p:grpSp>
        <p:nvGrpSpPr>
          <p:cNvPr id="205" name="Google Shape;205;p15"/>
          <p:cNvGrpSpPr/>
          <p:nvPr/>
        </p:nvGrpSpPr>
        <p:grpSpPr>
          <a:xfrm>
            <a:off x="1345216" y="3316311"/>
            <a:ext cx="3623855" cy="517310"/>
            <a:chOff x="0" y="-25400"/>
            <a:chExt cx="4831807" cy="689747"/>
          </a:xfrm>
        </p:grpSpPr>
        <p:sp>
          <p:nvSpPr>
            <p:cNvPr id="206" name="Google Shape;206;p15"/>
            <p:cNvSpPr/>
            <p:nvPr/>
          </p:nvSpPr>
          <p:spPr>
            <a:xfrm>
              <a:off x="0" y="0"/>
              <a:ext cx="4831807" cy="664347"/>
            </a:xfrm>
            <a:custGeom>
              <a:rect b="b" l="l" r="r" t="t"/>
              <a:pathLst>
                <a:path extrusionOk="0" h="664347" w="4831807">
                  <a:moveTo>
                    <a:pt x="0" y="0"/>
                  </a:moveTo>
                  <a:lnTo>
                    <a:pt x="4831807" y="0"/>
                  </a:lnTo>
                  <a:lnTo>
                    <a:pt x="4831807" y="664347"/>
                  </a:lnTo>
                  <a:lnTo>
                    <a:pt x="0" y="66434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0285" l="0" r="0" t="-103146"/>
              </a:stretch>
            </a:blipFill>
            <a:ln>
              <a:noFill/>
            </a:ln>
          </p:spPr>
        </p:sp>
        <p:sp>
          <p:nvSpPr>
            <p:cNvPr id="207" name="Google Shape;207;p15"/>
            <p:cNvSpPr txBox="1"/>
            <p:nvPr/>
          </p:nvSpPr>
          <p:spPr>
            <a:xfrm>
              <a:off x="0" y="-25400"/>
              <a:ext cx="4831800" cy="66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51">
                  <a:solidFill>
                    <a:srgbClr val="0F766E"/>
                  </a:solidFill>
                  <a:latin typeface="Noto Sans"/>
                  <a:ea typeface="Noto Sans"/>
                  <a:cs typeface="Noto Sans"/>
                  <a:sym typeface="Noto Sans"/>
                </a:rPr>
                <a:t>바이브코딩 학습 후 수행</a:t>
              </a:r>
              <a:endParaRPr/>
            </a:p>
          </p:txBody>
        </p:sp>
      </p:grpSp>
      <p:grpSp>
        <p:nvGrpSpPr>
          <p:cNvPr id="208" name="Google Shape;208;p15"/>
          <p:cNvGrpSpPr/>
          <p:nvPr/>
        </p:nvGrpSpPr>
        <p:grpSpPr>
          <a:xfrm>
            <a:off x="1345216" y="3850298"/>
            <a:ext cx="3623855" cy="281683"/>
            <a:chOff x="0" y="-9525"/>
            <a:chExt cx="4831807" cy="375577"/>
          </a:xfrm>
        </p:grpSpPr>
        <p:sp>
          <p:nvSpPr>
            <p:cNvPr id="209" name="Google Shape;209;p15"/>
            <p:cNvSpPr/>
            <p:nvPr/>
          </p:nvSpPr>
          <p:spPr>
            <a:xfrm>
              <a:off x="0" y="0"/>
              <a:ext cx="4831807" cy="366046"/>
            </a:xfrm>
            <a:custGeom>
              <a:rect b="b" l="l" r="r" t="t"/>
              <a:pathLst>
                <a:path extrusionOk="0" h="366046" w="4831807">
                  <a:moveTo>
                    <a:pt x="0" y="0"/>
                  </a:moveTo>
                  <a:lnTo>
                    <a:pt x="4831807" y="0"/>
                  </a:lnTo>
                  <a:lnTo>
                    <a:pt x="4831807" y="366046"/>
                  </a:lnTo>
                  <a:lnTo>
                    <a:pt x="0" y="36604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7202" l="0" r="0" t="-207202"/>
              </a:stretch>
            </a:blipFill>
            <a:ln>
              <a:noFill/>
            </a:ln>
          </p:spPr>
        </p:sp>
        <p:sp>
          <p:nvSpPr>
            <p:cNvPr id="210" name="Google Shape;210;p15"/>
            <p:cNvSpPr txBox="1"/>
            <p:nvPr/>
          </p:nvSpPr>
          <p:spPr>
            <a:xfrm>
              <a:off x="0" y="-9525"/>
              <a:ext cx="4831804" cy="375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바이브코딩 기반 구현</a:t>
              </a:r>
              <a:endParaRPr sz="1700"/>
            </a:p>
          </p:txBody>
        </p:sp>
      </p:grpSp>
      <p:sp>
        <p:nvSpPr>
          <p:cNvPr id="211" name="Google Shape;211;p15"/>
          <p:cNvSpPr/>
          <p:nvPr/>
        </p:nvSpPr>
        <p:spPr>
          <a:xfrm>
            <a:off x="1088603" y="4575191"/>
            <a:ext cx="4137089" cy="1474089"/>
          </a:xfrm>
          <a:custGeom>
            <a:rect b="b" l="l" r="r" t="t"/>
            <a:pathLst>
              <a:path extrusionOk="0" h="1965452" w="5516118">
                <a:moveTo>
                  <a:pt x="0" y="0"/>
                </a:moveTo>
                <a:lnTo>
                  <a:pt x="5516118" y="0"/>
                </a:lnTo>
                <a:lnTo>
                  <a:pt x="5516118" y="1965452"/>
                </a:lnTo>
                <a:lnTo>
                  <a:pt x="0" y="1965452"/>
                </a:lnTo>
                <a:close/>
              </a:path>
            </a:pathLst>
          </a:custGeom>
          <a:solidFill>
            <a:srgbClr val="E9F7EE"/>
          </a:solidFill>
          <a:ln cap="sq" cmpd="sng" w="19050">
            <a:solidFill>
              <a:srgbClr val="E9F7EE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212" name="Google Shape;212;p15"/>
          <p:cNvGrpSpPr/>
          <p:nvPr/>
        </p:nvGrpSpPr>
        <p:grpSpPr>
          <a:xfrm>
            <a:off x="1345216" y="4756032"/>
            <a:ext cx="3623855" cy="309149"/>
            <a:chOff x="0" y="-9525"/>
            <a:chExt cx="4831807" cy="412200"/>
          </a:xfrm>
        </p:grpSpPr>
        <p:sp>
          <p:nvSpPr>
            <p:cNvPr id="213" name="Google Shape;213;p15"/>
            <p:cNvSpPr/>
            <p:nvPr/>
          </p:nvSpPr>
          <p:spPr>
            <a:xfrm>
              <a:off x="0" y="0"/>
              <a:ext cx="4831807" cy="402651"/>
            </a:xfrm>
            <a:custGeom>
              <a:rect b="b" l="l" r="r" t="t"/>
              <a:pathLst>
                <a:path extrusionOk="0" h="402651" w="4831807">
                  <a:moveTo>
                    <a:pt x="0" y="0"/>
                  </a:moveTo>
                  <a:lnTo>
                    <a:pt x="4831807" y="0"/>
                  </a:lnTo>
                  <a:lnTo>
                    <a:pt x="4831807" y="402651"/>
                  </a:lnTo>
                  <a:lnTo>
                    <a:pt x="0" y="40265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3820" l="0" r="0" t="-183820"/>
              </a:stretch>
            </a:blipFill>
            <a:ln>
              <a:noFill/>
            </a:ln>
          </p:spPr>
        </p:sp>
        <p:sp>
          <p:nvSpPr>
            <p:cNvPr id="214" name="Google Shape;214;p15"/>
            <p:cNvSpPr txBox="1"/>
            <p:nvPr/>
          </p:nvSpPr>
          <p:spPr>
            <a:xfrm>
              <a:off x="0" y="-9525"/>
              <a:ext cx="4831800" cy="41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비용 조건</a:t>
              </a:r>
              <a:endParaRPr sz="2400"/>
            </a:p>
          </p:txBody>
        </p:sp>
      </p:grpSp>
      <p:grpSp>
        <p:nvGrpSpPr>
          <p:cNvPr id="215" name="Google Shape;215;p15"/>
          <p:cNvGrpSpPr/>
          <p:nvPr/>
        </p:nvGrpSpPr>
        <p:grpSpPr>
          <a:xfrm>
            <a:off x="1345216" y="5091103"/>
            <a:ext cx="3623855" cy="554677"/>
            <a:chOff x="0" y="-75223"/>
            <a:chExt cx="4831807" cy="739570"/>
          </a:xfrm>
        </p:grpSpPr>
        <p:sp>
          <p:nvSpPr>
            <p:cNvPr id="216" name="Google Shape;216;p15"/>
            <p:cNvSpPr/>
            <p:nvPr/>
          </p:nvSpPr>
          <p:spPr>
            <a:xfrm>
              <a:off x="0" y="0"/>
              <a:ext cx="4831807" cy="664347"/>
            </a:xfrm>
            <a:custGeom>
              <a:rect b="b" l="l" r="r" t="t"/>
              <a:pathLst>
                <a:path extrusionOk="0" h="664347" w="4831807">
                  <a:moveTo>
                    <a:pt x="0" y="0"/>
                  </a:moveTo>
                  <a:lnTo>
                    <a:pt x="4831807" y="0"/>
                  </a:lnTo>
                  <a:lnTo>
                    <a:pt x="4831807" y="664347"/>
                  </a:lnTo>
                  <a:lnTo>
                    <a:pt x="0" y="66434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0285" l="0" r="0" t="-103146"/>
              </a:stretch>
            </a:blipFill>
            <a:ln>
              <a:noFill/>
            </a:ln>
          </p:spPr>
        </p:sp>
        <p:sp>
          <p:nvSpPr>
            <p:cNvPr id="217" name="Google Shape;217;p15"/>
            <p:cNvSpPr txBox="1"/>
            <p:nvPr/>
          </p:nvSpPr>
          <p:spPr>
            <a:xfrm>
              <a:off x="0" y="-75223"/>
              <a:ext cx="4831800" cy="66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51">
                  <a:solidFill>
                    <a:srgbClr val="0F766E"/>
                  </a:solidFill>
                  <a:latin typeface="Noto Sans"/>
                  <a:ea typeface="Noto Sans"/>
                  <a:cs typeface="Noto Sans"/>
                  <a:sym typeface="Noto Sans"/>
                </a:rPr>
                <a:t>공공데이터 활용</a:t>
              </a:r>
              <a:endParaRPr/>
            </a:p>
          </p:txBody>
        </p:sp>
      </p:grpSp>
      <p:grpSp>
        <p:nvGrpSpPr>
          <p:cNvPr id="218" name="Google Shape;218;p15"/>
          <p:cNvGrpSpPr/>
          <p:nvPr/>
        </p:nvGrpSpPr>
        <p:grpSpPr>
          <a:xfrm>
            <a:off x="1345216" y="5579630"/>
            <a:ext cx="3623855" cy="281683"/>
            <a:chOff x="0" y="-9525"/>
            <a:chExt cx="4831807" cy="375577"/>
          </a:xfrm>
        </p:grpSpPr>
        <p:sp>
          <p:nvSpPr>
            <p:cNvPr id="219" name="Google Shape;219;p15"/>
            <p:cNvSpPr/>
            <p:nvPr/>
          </p:nvSpPr>
          <p:spPr>
            <a:xfrm>
              <a:off x="0" y="0"/>
              <a:ext cx="4831807" cy="366046"/>
            </a:xfrm>
            <a:custGeom>
              <a:rect b="b" l="l" r="r" t="t"/>
              <a:pathLst>
                <a:path extrusionOk="0" h="366046" w="4831807">
                  <a:moveTo>
                    <a:pt x="0" y="0"/>
                  </a:moveTo>
                  <a:lnTo>
                    <a:pt x="4831807" y="0"/>
                  </a:lnTo>
                  <a:lnTo>
                    <a:pt x="4831807" y="366046"/>
                  </a:lnTo>
                  <a:lnTo>
                    <a:pt x="0" y="36604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7202" l="0" r="0" t="-207202"/>
              </a:stretch>
            </a:blipFill>
            <a:ln>
              <a:noFill/>
            </a:ln>
          </p:spPr>
        </p:sp>
        <p:sp>
          <p:nvSpPr>
            <p:cNvPr id="220" name="Google Shape;220;p15"/>
            <p:cNvSpPr txBox="1"/>
            <p:nvPr/>
          </p:nvSpPr>
          <p:spPr>
            <a:xfrm>
              <a:off x="0" y="-9525"/>
              <a:ext cx="4831804" cy="375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7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무료 공개 자료와 무료 플랜 활용</a:t>
              </a:r>
              <a:endParaRPr sz="1600"/>
            </a:p>
          </p:txBody>
        </p:sp>
      </p:grpSp>
      <p:sp>
        <p:nvSpPr>
          <p:cNvPr id="221" name="Google Shape;221;p15"/>
          <p:cNvSpPr/>
          <p:nvPr/>
        </p:nvSpPr>
        <p:spPr>
          <a:xfrm>
            <a:off x="1088603" y="6345946"/>
            <a:ext cx="4137089" cy="1474089"/>
          </a:xfrm>
          <a:custGeom>
            <a:rect b="b" l="l" r="r" t="t"/>
            <a:pathLst>
              <a:path extrusionOk="0" h="1965452" w="5516118">
                <a:moveTo>
                  <a:pt x="0" y="0"/>
                </a:moveTo>
                <a:lnTo>
                  <a:pt x="5516118" y="0"/>
                </a:lnTo>
                <a:lnTo>
                  <a:pt x="5516118" y="1965452"/>
                </a:lnTo>
                <a:lnTo>
                  <a:pt x="0" y="1965452"/>
                </a:lnTo>
                <a:close/>
              </a:path>
            </a:pathLst>
          </a:custGeom>
          <a:solidFill>
            <a:srgbClr val="F1EAFF"/>
          </a:solidFill>
          <a:ln cap="sq" cmpd="sng" w="19050">
            <a:solidFill>
              <a:srgbClr val="F1EAF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222" name="Google Shape;222;p15"/>
          <p:cNvGrpSpPr/>
          <p:nvPr/>
        </p:nvGrpSpPr>
        <p:grpSpPr>
          <a:xfrm>
            <a:off x="1345216" y="6526777"/>
            <a:ext cx="3623855" cy="309134"/>
            <a:chOff x="0" y="-9525"/>
            <a:chExt cx="4831807" cy="412179"/>
          </a:xfrm>
        </p:grpSpPr>
        <p:sp>
          <p:nvSpPr>
            <p:cNvPr id="223" name="Google Shape;223;p15"/>
            <p:cNvSpPr/>
            <p:nvPr/>
          </p:nvSpPr>
          <p:spPr>
            <a:xfrm>
              <a:off x="0" y="0"/>
              <a:ext cx="4831807" cy="402651"/>
            </a:xfrm>
            <a:custGeom>
              <a:rect b="b" l="l" r="r" t="t"/>
              <a:pathLst>
                <a:path extrusionOk="0" h="402651" w="4831807">
                  <a:moveTo>
                    <a:pt x="0" y="0"/>
                  </a:moveTo>
                  <a:lnTo>
                    <a:pt x="4831807" y="0"/>
                  </a:lnTo>
                  <a:lnTo>
                    <a:pt x="4831807" y="402651"/>
                  </a:lnTo>
                  <a:lnTo>
                    <a:pt x="0" y="40265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3820" l="0" r="0" t="-183820"/>
              </a:stretch>
            </a:blipFill>
            <a:ln>
              <a:noFill/>
            </a:ln>
          </p:spPr>
        </p:sp>
        <p:sp>
          <p:nvSpPr>
            <p:cNvPr id="224" name="Google Shape;224;p15"/>
            <p:cNvSpPr txBox="1"/>
            <p:nvPr/>
          </p:nvSpPr>
          <p:spPr>
            <a:xfrm>
              <a:off x="0" y="-9525"/>
              <a:ext cx="4831804" cy="412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서비스 조건</a:t>
              </a:r>
              <a:endParaRPr sz="2400"/>
            </a:p>
          </p:txBody>
        </p:sp>
      </p:grpSp>
      <p:grpSp>
        <p:nvGrpSpPr>
          <p:cNvPr id="225" name="Google Shape;225;p15"/>
          <p:cNvGrpSpPr/>
          <p:nvPr/>
        </p:nvGrpSpPr>
        <p:grpSpPr>
          <a:xfrm>
            <a:off x="1345216" y="6838752"/>
            <a:ext cx="3623855" cy="577773"/>
            <a:chOff x="0" y="-106017"/>
            <a:chExt cx="4831807" cy="770364"/>
          </a:xfrm>
        </p:grpSpPr>
        <p:sp>
          <p:nvSpPr>
            <p:cNvPr id="226" name="Google Shape;226;p15"/>
            <p:cNvSpPr/>
            <p:nvPr/>
          </p:nvSpPr>
          <p:spPr>
            <a:xfrm>
              <a:off x="0" y="0"/>
              <a:ext cx="4831807" cy="664347"/>
            </a:xfrm>
            <a:custGeom>
              <a:rect b="b" l="l" r="r" t="t"/>
              <a:pathLst>
                <a:path extrusionOk="0" h="664347" w="4831807">
                  <a:moveTo>
                    <a:pt x="0" y="0"/>
                  </a:moveTo>
                  <a:lnTo>
                    <a:pt x="4831807" y="0"/>
                  </a:lnTo>
                  <a:lnTo>
                    <a:pt x="4831807" y="664347"/>
                  </a:lnTo>
                  <a:lnTo>
                    <a:pt x="0" y="66434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0285" l="0" r="0" t="-103146"/>
              </a:stretch>
            </a:blipFill>
            <a:ln>
              <a:noFill/>
            </a:ln>
          </p:spPr>
        </p:sp>
        <p:sp>
          <p:nvSpPr>
            <p:cNvPr id="227" name="Google Shape;227;p15"/>
            <p:cNvSpPr txBox="1"/>
            <p:nvPr/>
          </p:nvSpPr>
          <p:spPr>
            <a:xfrm>
              <a:off x="0" y="-106017"/>
              <a:ext cx="4831800" cy="66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1" u="none" cap="none" strike="noStrike">
                  <a:solidFill>
                    <a:srgbClr val="0F766E"/>
                  </a:solidFill>
                  <a:latin typeface="Noto Sans"/>
                  <a:ea typeface="Noto Sans"/>
                  <a:cs typeface="Noto Sans"/>
                  <a:sym typeface="Noto Sans"/>
                </a:rPr>
                <a:t>실행 가능한 시연</a:t>
              </a:r>
              <a:endParaRPr/>
            </a:p>
          </p:txBody>
        </p:sp>
      </p:grpSp>
      <p:grpSp>
        <p:nvGrpSpPr>
          <p:cNvPr id="228" name="Google Shape;228;p15"/>
          <p:cNvGrpSpPr/>
          <p:nvPr/>
        </p:nvGrpSpPr>
        <p:grpSpPr>
          <a:xfrm>
            <a:off x="1345216" y="7350376"/>
            <a:ext cx="3623855" cy="281683"/>
            <a:chOff x="0" y="-9525"/>
            <a:chExt cx="4831807" cy="375577"/>
          </a:xfrm>
        </p:grpSpPr>
        <p:sp>
          <p:nvSpPr>
            <p:cNvPr id="229" name="Google Shape;229;p15"/>
            <p:cNvSpPr/>
            <p:nvPr/>
          </p:nvSpPr>
          <p:spPr>
            <a:xfrm>
              <a:off x="0" y="0"/>
              <a:ext cx="4831807" cy="366046"/>
            </a:xfrm>
            <a:custGeom>
              <a:rect b="b" l="l" r="r" t="t"/>
              <a:pathLst>
                <a:path extrusionOk="0" h="366046" w="4831807">
                  <a:moveTo>
                    <a:pt x="0" y="0"/>
                  </a:moveTo>
                  <a:lnTo>
                    <a:pt x="4831807" y="0"/>
                  </a:lnTo>
                  <a:lnTo>
                    <a:pt x="4831807" y="366046"/>
                  </a:lnTo>
                  <a:lnTo>
                    <a:pt x="0" y="36604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7202" l="0" r="0" t="-207202"/>
              </a:stretch>
            </a:blipFill>
            <a:ln>
              <a:noFill/>
            </a:ln>
          </p:spPr>
        </p:sp>
        <p:sp>
          <p:nvSpPr>
            <p:cNvPr id="230" name="Google Shape;230;p15"/>
            <p:cNvSpPr txBox="1"/>
            <p:nvPr/>
          </p:nvSpPr>
          <p:spPr>
            <a:xfrm>
              <a:off x="0" y="-9525"/>
              <a:ext cx="4831804" cy="375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지도와 추천 흐름을 우선 구현</a:t>
              </a:r>
              <a:endParaRPr sz="1700"/>
            </a:p>
          </p:txBody>
        </p:sp>
      </p:grpSp>
      <p:grpSp>
        <p:nvGrpSpPr>
          <p:cNvPr id="231" name="Google Shape;231;p15"/>
          <p:cNvGrpSpPr/>
          <p:nvPr/>
        </p:nvGrpSpPr>
        <p:grpSpPr>
          <a:xfrm>
            <a:off x="7381325" y="2642525"/>
            <a:ext cx="1932065" cy="1572960"/>
            <a:chOff x="0" y="0"/>
            <a:chExt cx="1830300" cy="1830300"/>
          </a:xfrm>
        </p:grpSpPr>
        <p:sp>
          <p:nvSpPr>
            <p:cNvPr id="232" name="Google Shape;232;p15"/>
            <p:cNvSpPr/>
            <p:nvPr/>
          </p:nvSpPr>
          <p:spPr>
            <a:xfrm>
              <a:off x="0" y="0"/>
              <a:ext cx="1830197" cy="1830197"/>
            </a:xfrm>
            <a:custGeom>
              <a:rect b="b" l="l" r="r" t="t"/>
              <a:pathLst>
                <a:path extrusionOk="0" h="1830197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233" name="Google Shape;233;p15"/>
            <p:cNvSpPr txBox="1"/>
            <p:nvPr/>
          </p:nvSpPr>
          <p:spPr>
            <a:xfrm>
              <a:off x="0" y="0"/>
              <a:ext cx="1830300" cy="183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1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학습</a:t>
              </a:r>
              <a:endParaRPr/>
            </a:p>
          </p:txBody>
        </p:sp>
      </p:grpSp>
      <p:grpSp>
        <p:nvGrpSpPr>
          <p:cNvPr id="234" name="Google Shape;234;p15"/>
          <p:cNvGrpSpPr/>
          <p:nvPr/>
        </p:nvGrpSpPr>
        <p:grpSpPr>
          <a:xfrm>
            <a:off x="9437480" y="5645784"/>
            <a:ext cx="1931996" cy="1572904"/>
            <a:chOff x="0" y="0"/>
            <a:chExt cx="1830235" cy="1830235"/>
          </a:xfrm>
        </p:grpSpPr>
        <p:sp>
          <p:nvSpPr>
            <p:cNvPr id="235" name="Google Shape;235;p15"/>
            <p:cNvSpPr/>
            <p:nvPr/>
          </p:nvSpPr>
          <p:spPr>
            <a:xfrm>
              <a:off x="0" y="0"/>
              <a:ext cx="1830197" cy="1830197"/>
            </a:xfrm>
            <a:custGeom>
              <a:rect b="b" l="l" r="r" t="t"/>
              <a:pathLst>
                <a:path extrusionOk="0" h="1830197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</p:sp>
        <p:sp>
          <p:nvSpPr>
            <p:cNvPr id="236" name="Google Shape;236;p15"/>
            <p:cNvSpPr txBox="1"/>
            <p:nvPr/>
          </p:nvSpPr>
          <p:spPr>
            <a:xfrm>
              <a:off x="0" y="0"/>
              <a:ext cx="1830235" cy="18302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비용</a:t>
              </a:r>
              <a:endParaRPr/>
            </a:p>
          </p:txBody>
        </p:sp>
      </p:grpSp>
      <p:grpSp>
        <p:nvGrpSpPr>
          <p:cNvPr id="237" name="Google Shape;237;p15"/>
          <p:cNvGrpSpPr/>
          <p:nvPr/>
        </p:nvGrpSpPr>
        <p:grpSpPr>
          <a:xfrm>
            <a:off x="5861000" y="5645754"/>
            <a:ext cx="1932065" cy="1572960"/>
            <a:chOff x="0" y="0"/>
            <a:chExt cx="1830300" cy="1830300"/>
          </a:xfrm>
        </p:grpSpPr>
        <p:sp>
          <p:nvSpPr>
            <p:cNvPr id="238" name="Google Shape;238;p15"/>
            <p:cNvSpPr/>
            <p:nvPr/>
          </p:nvSpPr>
          <p:spPr>
            <a:xfrm>
              <a:off x="0" y="0"/>
              <a:ext cx="1830197" cy="1830197"/>
            </a:xfrm>
            <a:custGeom>
              <a:rect b="b" l="l" r="r" t="t"/>
              <a:pathLst>
                <a:path extrusionOk="0" h="1830197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239" name="Google Shape;239;p15"/>
            <p:cNvSpPr txBox="1"/>
            <p:nvPr/>
          </p:nvSpPr>
          <p:spPr>
            <a:xfrm>
              <a:off x="0" y="0"/>
              <a:ext cx="1830300" cy="183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1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서비스</a:t>
              </a:r>
              <a:endParaRPr/>
            </a:p>
          </p:txBody>
        </p:sp>
      </p:grpSp>
      <p:grpSp>
        <p:nvGrpSpPr>
          <p:cNvPr id="240" name="Google Shape;240;p15"/>
          <p:cNvGrpSpPr/>
          <p:nvPr/>
        </p:nvGrpSpPr>
        <p:grpSpPr>
          <a:xfrm>
            <a:off x="12628588" y="2306088"/>
            <a:ext cx="3164637" cy="796432"/>
            <a:chOff x="0" y="0"/>
            <a:chExt cx="4219517" cy="1061910"/>
          </a:xfrm>
        </p:grpSpPr>
        <p:sp>
          <p:nvSpPr>
            <p:cNvPr id="241" name="Google Shape;241;p15"/>
            <p:cNvSpPr/>
            <p:nvPr/>
          </p:nvSpPr>
          <p:spPr>
            <a:xfrm>
              <a:off x="0" y="0"/>
              <a:ext cx="4026506" cy="622278"/>
            </a:xfrm>
            <a:custGeom>
              <a:rect b="b" l="l" r="r" t="t"/>
              <a:pathLst>
                <a:path extrusionOk="0" h="622278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622278"/>
                  </a:lnTo>
                  <a:lnTo>
                    <a:pt x="0" y="62227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6078" l="0" r="0" t="-76078"/>
              </a:stretch>
            </a:blipFill>
            <a:ln>
              <a:noFill/>
            </a:ln>
          </p:spPr>
        </p:sp>
        <p:sp>
          <p:nvSpPr>
            <p:cNvPr id="242" name="Google Shape;242;p15"/>
            <p:cNvSpPr txBox="1"/>
            <p:nvPr/>
          </p:nvSpPr>
          <p:spPr>
            <a:xfrm>
              <a:off x="17" y="9510"/>
              <a:ext cx="4219500" cy="10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목표 상태</a:t>
              </a:r>
              <a:endParaRPr sz="1500"/>
            </a:p>
          </p:txBody>
        </p:sp>
      </p:grpSp>
      <p:sp>
        <p:nvSpPr>
          <p:cNvPr id="243" name="Google Shape;243;p15"/>
          <p:cNvSpPr txBox="1"/>
          <p:nvPr/>
        </p:nvSpPr>
        <p:spPr>
          <a:xfrm>
            <a:off x="12629217" y="3112399"/>
            <a:ext cx="42540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1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바이브코딩 툴을 활용한 MVP 서비스 기획·개발 및 배포 </a:t>
            </a:r>
            <a:endParaRPr sz="1600"/>
          </a:p>
        </p:txBody>
      </p:sp>
      <p:grpSp>
        <p:nvGrpSpPr>
          <p:cNvPr id="244" name="Google Shape;244;p15"/>
          <p:cNvGrpSpPr/>
          <p:nvPr/>
        </p:nvGrpSpPr>
        <p:grpSpPr>
          <a:xfrm>
            <a:off x="12628588" y="4777246"/>
            <a:ext cx="4392552" cy="844137"/>
            <a:chOff x="0" y="-73269"/>
            <a:chExt cx="5856736" cy="1125516"/>
          </a:xfrm>
        </p:grpSpPr>
        <p:sp>
          <p:nvSpPr>
            <p:cNvPr id="245" name="Google Shape;245;p15"/>
            <p:cNvSpPr/>
            <p:nvPr/>
          </p:nvSpPr>
          <p:spPr>
            <a:xfrm>
              <a:off x="0" y="0"/>
              <a:ext cx="5856736" cy="1052247"/>
            </a:xfrm>
            <a:custGeom>
              <a:rect b="b" l="l" r="r" t="t"/>
              <a:pathLst>
                <a:path extrusionOk="0" h="1052247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1052247"/>
                  </a:lnTo>
                  <a:lnTo>
                    <a:pt x="0" y="105224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7589" l="0" r="0" t="-69317"/>
              </a:stretch>
            </a:blipFill>
            <a:ln>
              <a:noFill/>
            </a:ln>
          </p:spPr>
        </p:sp>
        <p:sp>
          <p:nvSpPr>
            <p:cNvPr id="246" name="Google Shape;246;p15"/>
            <p:cNvSpPr txBox="1"/>
            <p:nvPr/>
          </p:nvSpPr>
          <p:spPr>
            <a:xfrm>
              <a:off x="0" y="-73269"/>
              <a:ext cx="5856600" cy="10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5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핵심 중점 </a:t>
              </a:r>
              <a:r>
                <a:rPr b="1" i="0" lang="en-US" sz="235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endParaRPr sz="1500"/>
            </a:p>
          </p:txBody>
        </p:sp>
      </p:grpSp>
      <p:sp>
        <p:nvSpPr>
          <p:cNvPr id="247" name="Google Shape;247;p15"/>
          <p:cNvSpPr txBox="1"/>
          <p:nvPr/>
        </p:nvSpPr>
        <p:spPr>
          <a:xfrm>
            <a:off x="12629217" y="5683932"/>
            <a:ext cx="4254000" cy="10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1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바이브코딩 툴을 활용해 기획부터 개발·서비스 배포까지 전 과정을 </a:t>
            </a:r>
            <a:endParaRPr sz="2001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1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직접 실습 </a:t>
            </a:r>
            <a:endParaRPr sz="2026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248" name="Google Shape;248;p15"/>
          <p:cNvGrpSpPr/>
          <p:nvPr/>
        </p:nvGrpSpPr>
        <p:grpSpPr>
          <a:xfrm>
            <a:off x="892235" y="9677343"/>
            <a:ext cx="5216157" cy="274539"/>
            <a:chOff x="0" y="0"/>
            <a:chExt cx="6954876" cy="366052"/>
          </a:xfrm>
        </p:grpSpPr>
        <p:sp>
          <p:nvSpPr>
            <p:cNvPr id="249" name="Google Shape;249;p15"/>
            <p:cNvSpPr/>
            <p:nvPr/>
          </p:nvSpPr>
          <p:spPr>
            <a:xfrm>
              <a:off x="0" y="0"/>
              <a:ext cx="6954873" cy="366046"/>
            </a:xfrm>
            <a:custGeom>
              <a:rect b="b" l="l" r="r" t="t"/>
              <a:pathLst>
                <a:path extrusionOk="0" h="366046" w="6954873">
                  <a:moveTo>
                    <a:pt x="0" y="0"/>
                  </a:moveTo>
                  <a:lnTo>
                    <a:pt x="6954873" y="0"/>
                  </a:lnTo>
                  <a:lnTo>
                    <a:pt x="6954873" y="366046"/>
                  </a:lnTo>
                  <a:lnTo>
                    <a:pt x="0" y="36604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20206" l="0" r="0" t="-320206"/>
              </a:stretch>
            </a:blipFill>
            <a:ln>
              <a:noFill/>
            </a:ln>
          </p:spPr>
        </p:sp>
        <p:sp>
          <p:nvSpPr>
            <p:cNvPr id="250" name="Google Shape;250;p15"/>
            <p:cNvSpPr txBox="1"/>
            <p:nvPr/>
          </p:nvSpPr>
          <p:spPr>
            <a:xfrm>
              <a:off x="0" y="9525"/>
              <a:ext cx="6954876" cy="356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상권나침반 바이브코딩 적용 보고</a:t>
              </a:r>
              <a:endParaRPr/>
            </a:p>
          </p:txBody>
        </p:sp>
      </p:grpSp>
      <p:grpSp>
        <p:nvGrpSpPr>
          <p:cNvPr id="251" name="Google Shape;251;p15"/>
          <p:cNvGrpSpPr/>
          <p:nvPr/>
        </p:nvGrpSpPr>
        <p:grpSpPr>
          <a:xfrm>
            <a:off x="16815235" y="9629013"/>
            <a:ext cx="617706" cy="336585"/>
            <a:chOff x="0" y="-9525"/>
            <a:chExt cx="823608" cy="448780"/>
          </a:xfrm>
        </p:grpSpPr>
        <p:sp>
          <p:nvSpPr>
            <p:cNvPr id="252" name="Google Shape;252;p15"/>
            <p:cNvSpPr/>
            <p:nvPr/>
          </p:nvSpPr>
          <p:spPr>
            <a:xfrm>
              <a:off x="0" y="0"/>
              <a:ext cx="823603" cy="439255"/>
            </a:xfrm>
            <a:custGeom>
              <a:rect b="b" l="l" r="r" t="t"/>
              <a:pathLst>
                <a:path extrusionOk="0" h="439255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439255"/>
                  </a:lnTo>
                  <a:lnTo>
                    <a:pt x="0" y="4392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8428" r="-18428" t="0"/>
              </a:stretch>
            </a:blipFill>
            <a:ln>
              <a:noFill/>
            </a:ln>
          </p:spPr>
        </p:sp>
        <p:sp>
          <p:nvSpPr>
            <p:cNvPr id="253" name="Google Shape;253;p15"/>
            <p:cNvSpPr txBox="1"/>
            <p:nvPr/>
          </p:nvSpPr>
          <p:spPr>
            <a:xfrm>
              <a:off x="0" y="-9525"/>
              <a:ext cx="823608" cy="448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03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6"/>
          <p:cNvGrpSpPr/>
          <p:nvPr/>
        </p:nvGrpSpPr>
        <p:grpSpPr>
          <a:xfrm>
            <a:off x="892235" y="521618"/>
            <a:ext cx="11667825" cy="621000"/>
            <a:chOff x="0" y="0"/>
            <a:chExt cx="15557100" cy="828000"/>
          </a:xfrm>
        </p:grpSpPr>
        <p:sp>
          <p:nvSpPr>
            <p:cNvPr id="263" name="Google Shape;263;p16"/>
            <p:cNvSpPr/>
            <p:nvPr/>
          </p:nvSpPr>
          <p:spPr>
            <a:xfrm>
              <a:off x="0" y="0"/>
              <a:ext cx="15556954" cy="827989"/>
            </a:xfrm>
            <a:custGeom>
              <a:rect b="b" l="l" r="r" t="t"/>
              <a:pathLst>
                <a:path extrusionOk="0" h="827989" w="15556954">
                  <a:moveTo>
                    <a:pt x="0" y="0"/>
                  </a:moveTo>
                  <a:lnTo>
                    <a:pt x="15556954" y="0"/>
                  </a:lnTo>
                  <a:lnTo>
                    <a:pt x="15556954" y="827989"/>
                  </a:lnTo>
                  <a:lnTo>
                    <a:pt x="0" y="82798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15822" l="0" r="0" t="-316349"/>
              </a:stretch>
            </a:blipFill>
            <a:ln>
              <a:noFill/>
            </a:ln>
          </p:spPr>
        </p:sp>
        <p:sp>
          <p:nvSpPr>
            <p:cNvPr id="264" name="Google Shape;264;p16"/>
            <p:cNvSpPr txBox="1"/>
            <p:nvPr/>
          </p:nvSpPr>
          <p:spPr>
            <a:xfrm>
              <a:off x="0" y="0"/>
              <a:ext cx="15557100" cy="82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5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서비스 개요</a:t>
              </a:r>
              <a:endParaRPr/>
            </a:p>
          </p:txBody>
        </p:sp>
      </p:grpSp>
      <p:grpSp>
        <p:nvGrpSpPr>
          <p:cNvPr id="265" name="Google Shape;265;p16"/>
          <p:cNvGrpSpPr/>
          <p:nvPr/>
        </p:nvGrpSpPr>
        <p:grpSpPr>
          <a:xfrm>
            <a:off x="892235" y="9677343"/>
            <a:ext cx="5216175" cy="274535"/>
            <a:chOff x="0" y="0"/>
            <a:chExt cx="6954900" cy="366046"/>
          </a:xfrm>
        </p:grpSpPr>
        <p:sp>
          <p:nvSpPr>
            <p:cNvPr id="266" name="Google Shape;266;p16"/>
            <p:cNvSpPr/>
            <p:nvPr/>
          </p:nvSpPr>
          <p:spPr>
            <a:xfrm>
              <a:off x="0" y="0"/>
              <a:ext cx="6954873" cy="366046"/>
            </a:xfrm>
            <a:custGeom>
              <a:rect b="b" l="l" r="r" t="t"/>
              <a:pathLst>
                <a:path extrusionOk="0" h="366046" w="6954873">
                  <a:moveTo>
                    <a:pt x="0" y="0"/>
                  </a:moveTo>
                  <a:lnTo>
                    <a:pt x="6954873" y="0"/>
                  </a:lnTo>
                  <a:lnTo>
                    <a:pt x="6954873" y="366046"/>
                  </a:lnTo>
                  <a:lnTo>
                    <a:pt x="0" y="36604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20198" l="0" r="0" t="-320213"/>
              </a:stretch>
            </a:blipFill>
            <a:ln>
              <a:noFill/>
            </a:ln>
          </p:spPr>
        </p:sp>
        <p:sp>
          <p:nvSpPr>
            <p:cNvPr id="267" name="Google Shape;267;p16"/>
            <p:cNvSpPr txBox="1"/>
            <p:nvPr/>
          </p:nvSpPr>
          <p:spPr>
            <a:xfrm>
              <a:off x="0" y="9525"/>
              <a:ext cx="69549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상권나침반 바이브코딩 적용 보고</a:t>
              </a:r>
              <a:endParaRPr/>
            </a:p>
          </p:txBody>
        </p:sp>
      </p:grpSp>
      <p:grpSp>
        <p:nvGrpSpPr>
          <p:cNvPr id="268" name="Google Shape;268;p16"/>
          <p:cNvGrpSpPr/>
          <p:nvPr/>
        </p:nvGrpSpPr>
        <p:grpSpPr>
          <a:xfrm>
            <a:off x="16815235" y="9629013"/>
            <a:ext cx="617702" cy="336600"/>
            <a:chOff x="0" y="-9525"/>
            <a:chExt cx="823603" cy="448800"/>
          </a:xfrm>
        </p:grpSpPr>
        <p:sp>
          <p:nvSpPr>
            <p:cNvPr id="269" name="Google Shape;269;p16"/>
            <p:cNvSpPr/>
            <p:nvPr/>
          </p:nvSpPr>
          <p:spPr>
            <a:xfrm>
              <a:off x="0" y="0"/>
              <a:ext cx="823603" cy="439255"/>
            </a:xfrm>
            <a:custGeom>
              <a:rect b="b" l="l" r="r" t="t"/>
              <a:pathLst>
                <a:path extrusionOk="0" h="439255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439255"/>
                  </a:lnTo>
                  <a:lnTo>
                    <a:pt x="0" y="4392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8429" r="-18429" t="0"/>
              </a:stretch>
            </a:blipFill>
            <a:ln>
              <a:noFill/>
            </a:ln>
          </p:spPr>
        </p:sp>
        <p:sp>
          <p:nvSpPr>
            <p:cNvPr id="270" name="Google Shape;270;p16"/>
            <p:cNvSpPr txBox="1"/>
            <p:nvPr/>
          </p:nvSpPr>
          <p:spPr>
            <a:xfrm>
              <a:off x="0" y="-9525"/>
              <a:ext cx="823500" cy="4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03</a:t>
              </a:r>
              <a:endParaRPr/>
            </a:p>
          </p:txBody>
        </p:sp>
      </p:grpSp>
      <p:grpSp>
        <p:nvGrpSpPr>
          <p:cNvPr id="271" name="Google Shape;271;p16"/>
          <p:cNvGrpSpPr/>
          <p:nvPr/>
        </p:nvGrpSpPr>
        <p:grpSpPr>
          <a:xfrm>
            <a:off x="919686" y="1207951"/>
            <a:ext cx="12079575" cy="343169"/>
            <a:chOff x="0" y="0"/>
            <a:chExt cx="16106100" cy="457559"/>
          </a:xfrm>
        </p:grpSpPr>
        <p:sp>
          <p:nvSpPr>
            <p:cNvPr id="272" name="Google Shape;272;p16"/>
            <p:cNvSpPr/>
            <p:nvPr/>
          </p:nvSpPr>
          <p:spPr>
            <a:xfrm>
              <a:off x="0" y="0"/>
              <a:ext cx="16106023" cy="457559"/>
            </a:xfrm>
            <a:custGeom>
              <a:rect b="b" l="l" r="r" t="t"/>
              <a:pathLst>
                <a:path extrusionOk="0" h="457559" w="16106023">
                  <a:moveTo>
                    <a:pt x="0" y="0"/>
                  </a:moveTo>
                  <a:lnTo>
                    <a:pt x="16106023" y="0"/>
                  </a:lnTo>
                  <a:lnTo>
                    <a:pt x="16106023" y="457559"/>
                  </a:lnTo>
                  <a:lnTo>
                    <a:pt x="0" y="45755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5871" l="0" r="0" t="-635871"/>
              </a:stretch>
            </a:blipFill>
            <a:ln>
              <a:noFill/>
            </a:ln>
          </p:spPr>
        </p:sp>
        <p:sp>
          <p:nvSpPr>
            <p:cNvPr id="273" name="Google Shape;273;p16"/>
            <p:cNvSpPr txBox="1"/>
            <p:nvPr/>
          </p:nvSpPr>
          <p:spPr>
            <a:xfrm>
              <a:off x="0" y="0"/>
              <a:ext cx="16106100" cy="4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빠른 검증이 필요한 서비스 아이디어를 문서화된 하네스로 통제하며 구현합니다.</a:t>
              </a:r>
              <a:endParaRPr/>
            </a:p>
          </p:txBody>
        </p:sp>
      </p:grpSp>
      <p:cxnSp>
        <p:nvCxnSpPr>
          <p:cNvPr id="274" name="Google Shape;274;p16"/>
          <p:cNvCxnSpPr/>
          <p:nvPr/>
        </p:nvCxnSpPr>
        <p:spPr>
          <a:xfrm rot="3986">
            <a:off x="882701" y="1642505"/>
            <a:ext cx="16559711" cy="0"/>
          </a:xfrm>
          <a:prstGeom prst="straightConnector1">
            <a:avLst/>
          </a:prstGeom>
          <a:noFill/>
          <a:ln cap="rnd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16"/>
          <p:cNvSpPr/>
          <p:nvPr/>
        </p:nvSpPr>
        <p:spPr>
          <a:xfrm>
            <a:off x="713231" y="2176275"/>
            <a:ext cx="5019300" cy="748200"/>
          </a:xfrm>
          <a:prstGeom prst="rect">
            <a:avLst/>
          </a:prstGeom>
          <a:solidFill>
            <a:srgbClr val="FFFFFF"/>
          </a:solidFill>
          <a:ln cap="flat" cmpd="sng" w="273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25" lIns="3225" spcFirstLastPara="1" rIns="3225" wrap="square" tIns="3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69"/>
              <a:buFont typeface="Noto Sans"/>
              <a:buNone/>
            </a:pPr>
            <a:r>
              <a:rPr b="1" i="0" lang="en-US" sz="2369" u="none" cap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사용자 문제</a:t>
            </a:r>
            <a:endParaRPr b="0" i="0" sz="2369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713231" y="3160881"/>
            <a:ext cx="179292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876"/>
              <a:buFont typeface="Noto Sans"/>
              <a:buNone/>
            </a:pPr>
            <a:r>
              <a:rPr b="1" i="0" lang="en-US" sz="3076" u="none" cap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“어디에 창업해야 성장 가능성이 높고, 이미 과열된 상권은 어디인지 판단하기 어렵다.”</a:t>
            </a:r>
            <a:endParaRPr b="0" i="0" sz="3076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782453" y="4499945"/>
            <a:ext cx="176517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412"/>
              <a:buFont typeface="Noto Sans"/>
              <a:buNone/>
            </a:pPr>
            <a:r>
              <a:rPr b="0" i="0" lang="en-US" sz="2412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단순 매출 순위가 아니라 성장성과 위험도를 함께 보여주는 것이 핵심입니다.</a:t>
            </a:r>
            <a:endParaRPr b="0" i="0" sz="2412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851675" y="5446666"/>
            <a:ext cx="1176300" cy="669300"/>
          </a:xfrm>
          <a:prstGeom prst="rect">
            <a:avLst/>
          </a:prstGeom>
          <a:solidFill>
            <a:srgbClr val="2563EB"/>
          </a:solidFill>
          <a:ln cap="flat" cmpd="sng" w="20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" lIns="550" spcFirstLastPara="1" rIns="550" wrap="square" tIns="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4"/>
              <a:buFont typeface="Noto Sans"/>
              <a:buNone/>
            </a:pPr>
            <a:r>
              <a:rPr b="1" i="0" lang="en-US" sz="2154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0" i="0" sz="2154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2443784" y="5545326"/>
            <a:ext cx="57105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50" lIns="1350" spcFirstLastPara="1" rIns="1350" wrap="square" tIns="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57"/>
              <a:buFont typeface="Noto Sans"/>
              <a:buNone/>
            </a:pPr>
            <a:r>
              <a:rPr b="1" i="0" lang="en-US" sz="2757" u="none" cap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1년 성장 가능성</a:t>
            </a:r>
            <a:endParaRPr b="0" i="0" sz="2757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5378126" y="5503174"/>
            <a:ext cx="105561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50" lIns="1350" spcFirstLastPara="1" rIns="1350" wrap="square" tIns="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218"/>
              <a:buFont typeface="Noto Sans"/>
              <a:buNone/>
            </a:pPr>
            <a:r>
              <a:rPr b="0" i="0" lang="en-US" sz="2218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매출·유동인구·점포당 매출을 종합해 미래 성장성을 점수화</a:t>
            </a:r>
            <a:endParaRPr b="0" i="0" sz="2218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851675" y="6785730"/>
            <a:ext cx="1176300" cy="669300"/>
          </a:xfrm>
          <a:prstGeom prst="rect">
            <a:avLst/>
          </a:prstGeom>
          <a:solidFill>
            <a:srgbClr val="16A34A"/>
          </a:solidFill>
          <a:ln cap="flat" cmpd="sng" w="20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" lIns="550" spcFirstLastPara="1" rIns="550" wrap="square" tIns="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4"/>
              <a:buFont typeface="Noto Sans"/>
              <a:buNone/>
            </a:pPr>
            <a:r>
              <a:rPr b="1" i="0" lang="en-US" sz="2154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0" i="0" sz="2154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2443784" y="6870585"/>
            <a:ext cx="57105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50" lIns="1350" spcFirstLastPara="1" rIns="1350" wrap="square" tIns="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57"/>
              <a:buFont typeface="Noto Sans"/>
              <a:buNone/>
            </a:pPr>
            <a:r>
              <a:rPr b="1" i="0" lang="en-US" sz="2757" u="none" cap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업종 맞춤 추천</a:t>
            </a:r>
            <a:endParaRPr b="0" i="0" sz="2757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5378126" y="6842238"/>
            <a:ext cx="105561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50" lIns="1350" spcFirstLastPara="1" rIns="1350" wrap="square" tIns="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218"/>
              <a:buFont typeface="Noto Sans"/>
              <a:buNone/>
            </a:pPr>
            <a:r>
              <a:rPr b="0" i="0" lang="en-US" sz="2218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음식점·카페 등 상위 업종과 세부 업종별 추천 순위 제공</a:t>
            </a:r>
            <a:endParaRPr b="0" i="0" sz="2218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851675" y="8124794"/>
            <a:ext cx="1176300" cy="669300"/>
          </a:xfrm>
          <a:prstGeom prst="rect">
            <a:avLst/>
          </a:prstGeom>
          <a:solidFill>
            <a:srgbClr val="F59E0B"/>
          </a:solidFill>
          <a:ln cap="flat" cmpd="sng" w="20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" lIns="550" spcFirstLastPara="1" rIns="550" wrap="square" tIns="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4"/>
              <a:buFont typeface="Noto Sans"/>
              <a:buNone/>
            </a:pPr>
            <a:r>
              <a:rPr b="1" i="0" lang="en-US" sz="2154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0" i="0" sz="2154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2443784" y="8209649"/>
            <a:ext cx="57105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50" lIns="1350" spcFirstLastPara="1" rIns="1350" wrap="square" tIns="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57"/>
              <a:buFont typeface="Noto Sans"/>
              <a:buNone/>
            </a:pPr>
            <a:r>
              <a:rPr b="1" i="0" lang="en-US" sz="2757" u="none" cap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위험·과열 경고</a:t>
            </a:r>
            <a:endParaRPr b="0" i="0" sz="2757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5378126" y="8181302"/>
            <a:ext cx="105561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50" lIns="1350" spcFirstLastPara="1" rIns="1350" wrap="square" tIns="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218"/>
              <a:buFont typeface="Noto Sans"/>
              <a:buNone/>
            </a:pPr>
            <a:r>
              <a:rPr b="0" i="0" lang="en-US" sz="2218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점포 증가와 점포당 매출 감소를 함께 감지해 주의 상권 표시</a:t>
            </a:r>
            <a:endParaRPr b="0" i="0" sz="2218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295;p17"/>
          <p:cNvGrpSpPr/>
          <p:nvPr/>
        </p:nvGrpSpPr>
        <p:grpSpPr>
          <a:xfrm>
            <a:off x="892235" y="521618"/>
            <a:ext cx="11667715" cy="620995"/>
            <a:chOff x="0" y="0"/>
            <a:chExt cx="15556954" cy="827993"/>
          </a:xfrm>
        </p:grpSpPr>
        <p:sp>
          <p:nvSpPr>
            <p:cNvPr id="296" name="Google Shape;296;p17"/>
            <p:cNvSpPr/>
            <p:nvPr/>
          </p:nvSpPr>
          <p:spPr>
            <a:xfrm>
              <a:off x="0" y="0"/>
              <a:ext cx="15556954" cy="827989"/>
            </a:xfrm>
            <a:custGeom>
              <a:rect b="b" l="l" r="r" t="t"/>
              <a:pathLst>
                <a:path extrusionOk="0" h="827989" w="15556954">
                  <a:moveTo>
                    <a:pt x="0" y="0"/>
                  </a:moveTo>
                  <a:lnTo>
                    <a:pt x="15556954" y="0"/>
                  </a:lnTo>
                  <a:lnTo>
                    <a:pt x="15556954" y="827989"/>
                  </a:lnTo>
                  <a:lnTo>
                    <a:pt x="0" y="82798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15822" l="0" r="0" t="-316349"/>
              </a:stretch>
            </a:blipFill>
            <a:ln>
              <a:noFill/>
            </a:ln>
          </p:spPr>
        </p:sp>
        <p:sp>
          <p:nvSpPr>
            <p:cNvPr id="297" name="Google Shape;297;p17"/>
            <p:cNvSpPr txBox="1"/>
            <p:nvPr/>
          </p:nvSpPr>
          <p:spPr>
            <a:xfrm>
              <a:off x="0" y="0"/>
              <a:ext cx="15556954" cy="82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5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MVP </a:t>
              </a:r>
              <a:r>
                <a:rPr b="1" i="0" lang="en-US" sz="315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서비스 범위</a:t>
              </a:r>
              <a:endParaRPr/>
            </a:p>
          </p:txBody>
        </p:sp>
      </p:grpSp>
      <p:grpSp>
        <p:nvGrpSpPr>
          <p:cNvPr id="298" name="Google Shape;298;p17"/>
          <p:cNvGrpSpPr/>
          <p:nvPr/>
        </p:nvGrpSpPr>
        <p:grpSpPr>
          <a:xfrm>
            <a:off x="919686" y="1207951"/>
            <a:ext cx="12079519" cy="343170"/>
            <a:chOff x="0" y="0"/>
            <a:chExt cx="16106026" cy="457559"/>
          </a:xfrm>
        </p:grpSpPr>
        <p:sp>
          <p:nvSpPr>
            <p:cNvPr id="299" name="Google Shape;299;p17"/>
            <p:cNvSpPr/>
            <p:nvPr/>
          </p:nvSpPr>
          <p:spPr>
            <a:xfrm>
              <a:off x="0" y="0"/>
              <a:ext cx="16106023" cy="457559"/>
            </a:xfrm>
            <a:custGeom>
              <a:rect b="b" l="l" r="r" t="t"/>
              <a:pathLst>
                <a:path extrusionOk="0" h="457559" w="16106023">
                  <a:moveTo>
                    <a:pt x="0" y="0"/>
                  </a:moveTo>
                  <a:lnTo>
                    <a:pt x="16106023" y="0"/>
                  </a:lnTo>
                  <a:lnTo>
                    <a:pt x="16106023" y="457559"/>
                  </a:lnTo>
                  <a:lnTo>
                    <a:pt x="0" y="45755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5871" l="0" r="0" t="-635871"/>
              </a:stretch>
            </a:blipFill>
            <a:ln>
              <a:noFill/>
            </a:ln>
          </p:spPr>
        </p:sp>
        <p:sp>
          <p:nvSpPr>
            <p:cNvPr id="300" name="Google Shape;300;p17"/>
            <p:cNvSpPr txBox="1"/>
            <p:nvPr/>
          </p:nvSpPr>
          <p:spPr>
            <a:xfrm>
              <a:off x="0" y="0"/>
              <a:ext cx="16106026" cy="457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송파구 </a:t>
              </a:r>
              <a:r>
                <a:rPr b="0" i="0" lang="en-US" sz="1650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예비 창업자가 앞으로 성장할 상권을 찾는데 집중합니다.</a:t>
              </a:r>
              <a:endParaRPr/>
            </a:p>
          </p:txBody>
        </p:sp>
      </p:grpSp>
      <p:cxnSp>
        <p:nvCxnSpPr>
          <p:cNvPr id="301" name="Google Shape;301;p17"/>
          <p:cNvCxnSpPr/>
          <p:nvPr/>
        </p:nvCxnSpPr>
        <p:spPr>
          <a:xfrm rot="3960">
            <a:off x="882701" y="1642443"/>
            <a:ext cx="16559774" cy="0"/>
          </a:xfrm>
          <a:prstGeom prst="straightConnector1">
            <a:avLst/>
          </a:prstGeom>
          <a:noFill/>
          <a:ln cap="rnd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2" name="Google Shape;302;p17"/>
          <p:cNvGrpSpPr/>
          <p:nvPr/>
        </p:nvGrpSpPr>
        <p:grpSpPr>
          <a:xfrm>
            <a:off x="1166774" y="2127647"/>
            <a:ext cx="2745345" cy="411804"/>
            <a:chOff x="0" y="0"/>
            <a:chExt cx="3660460" cy="549072"/>
          </a:xfrm>
        </p:grpSpPr>
        <p:sp>
          <p:nvSpPr>
            <p:cNvPr id="303" name="Google Shape;303;p17"/>
            <p:cNvSpPr/>
            <p:nvPr/>
          </p:nvSpPr>
          <p:spPr>
            <a:xfrm>
              <a:off x="0" y="0"/>
              <a:ext cx="3660460" cy="549069"/>
            </a:xfrm>
            <a:custGeom>
              <a:rect b="b" l="l" r="r" t="t"/>
              <a:pathLst>
                <a:path extrusionOk="0" h="549069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9902" l="0" r="0" t="-79899"/>
              </a:stretch>
            </a:blipFill>
            <a:ln>
              <a:noFill/>
            </a:ln>
          </p:spPr>
        </p:sp>
        <p:sp>
          <p:nvSpPr>
            <p:cNvPr id="304" name="Google Shape;304;p17"/>
            <p:cNvSpPr txBox="1"/>
            <p:nvPr/>
          </p:nvSpPr>
          <p:spPr>
            <a:xfrm>
              <a:off x="0" y="9525"/>
              <a:ext cx="3660458" cy="539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사용자 흐름</a:t>
              </a:r>
              <a:endParaRPr sz="1600"/>
            </a:p>
          </p:txBody>
        </p:sp>
      </p:grpSp>
      <p:grpSp>
        <p:nvGrpSpPr>
          <p:cNvPr id="305" name="Google Shape;305;p17"/>
          <p:cNvGrpSpPr/>
          <p:nvPr/>
        </p:nvGrpSpPr>
        <p:grpSpPr>
          <a:xfrm>
            <a:off x="1157240" y="2848635"/>
            <a:ext cx="3107578" cy="1398880"/>
            <a:chOff x="0" y="-9525"/>
            <a:chExt cx="4143438" cy="1865173"/>
          </a:xfrm>
        </p:grpSpPr>
        <p:sp>
          <p:nvSpPr>
            <p:cNvPr id="306" name="Google Shape;306;p17"/>
            <p:cNvSpPr/>
            <p:nvPr/>
          </p:nvSpPr>
          <p:spPr>
            <a:xfrm>
              <a:off x="0" y="0"/>
              <a:ext cx="4143375" cy="1855597"/>
            </a:xfrm>
            <a:custGeom>
              <a:rect b="b" l="l" r="r" t="t"/>
              <a:pathLst>
                <a:path extrusionOk="0" h="1855597" w="4143375">
                  <a:moveTo>
                    <a:pt x="0" y="0"/>
                  </a:moveTo>
                  <a:lnTo>
                    <a:pt x="4143375" y="0"/>
                  </a:lnTo>
                  <a:lnTo>
                    <a:pt x="4143375" y="1855597"/>
                  </a:lnTo>
                  <a:lnTo>
                    <a:pt x="0" y="1855597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9E2E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07" name="Google Shape;307;p17"/>
            <p:cNvSpPr txBox="1"/>
            <p:nvPr/>
          </p:nvSpPr>
          <p:spPr>
            <a:xfrm>
              <a:off x="0" y="-9525"/>
              <a:ext cx="4143438" cy="1865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업종 선택</a:t>
              </a:r>
              <a:endParaRPr sz="1600"/>
            </a:p>
            <a:p>
              <a:pPr indent="0" lvl="0" marL="0" marR="0" rtl="0" algn="ctr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음식점·카페 등</a:t>
              </a:r>
              <a:endParaRPr sz="1600"/>
            </a:p>
          </p:txBody>
        </p:sp>
      </p:grpSp>
      <p:cxnSp>
        <p:nvCxnSpPr>
          <p:cNvPr id="308" name="Google Shape;308;p17"/>
          <p:cNvCxnSpPr>
            <a:stCxn id="307" idx="3"/>
            <a:endCxn id="309" idx="1"/>
          </p:cNvCxnSpPr>
          <p:nvPr/>
        </p:nvCxnSpPr>
        <p:spPr>
          <a:xfrm>
            <a:off x="4264819" y="3548075"/>
            <a:ext cx="873300" cy="0"/>
          </a:xfrm>
          <a:prstGeom prst="straightConnector1">
            <a:avLst/>
          </a:prstGeom>
          <a:noFill/>
          <a:ln cap="rnd" cmpd="sng" w="38100">
            <a:solidFill>
              <a:srgbClr val="B6C6DA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10" name="Google Shape;310;p17"/>
          <p:cNvGrpSpPr/>
          <p:nvPr/>
        </p:nvGrpSpPr>
        <p:grpSpPr>
          <a:xfrm>
            <a:off x="5137985" y="2848635"/>
            <a:ext cx="3107578" cy="1398880"/>
            <a:chOff x="0" y="-9525"/>
            <a:chExt cx="4143438" cy="1865173"/>
          </a:xfrm>
        </p:grpSpPr>
        <p:sp>
          <p:nvSpPr>
            <p:cNvPr id="311" name="Google Shape;311;p17"/>
            <p:cNvSpPr/>
            <p:nvPr/>
          </p:nvSpPr>
          <p:spPr>
            <a:xfrm>
              <a:off x="0" y="0"/>
              <a:ext cx="4143375" cy="1855597"/>
            </a:xfrm>
            <a:custGeom>
              <a:rect b="b" l="l" r="r" t="t"/>
              <a:pathLst>
                <a:path extrusionOk="0" h="1855597" w="4143375">
                  <a:moveTo>
                    <a:pt x="0" y="0"/>
                  </a:moveTo>
                  <a:lnTo>
                    <a:pt x="4143375" y="0"/>
                  </a:lnTo>
                  <a:lnTo>
                    <a:pt x="4143375" y="1855597"/>
                  </a:lnTo>
                  <a:lnTo>
                    <a:pt x="0" y="1855597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9E2E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09" name="Google Shape;309;p17"/>
            <p:cNvSpPr txBox="1"/>
            <p:nvPr/>
          </p:nvSpPr>
          <p:spPr>
            <a:xfrm>
              <a:off x="0" y="-9525"/>
              <a:ext cx="4143438" cy="1865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상권 확인</a:t>
              </a:r>
              <a:endParaRPr sz="1600"/>
            </a:p>
            <a:p>
              <a:pPr indent="0" lvl="0" marL="0" marR="0" rtl="0" algn="ctr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송파구 버블맵</a:t>
              </a:r>
              <a:endParaRPr sz="1600"/>
            </a:p>
          </p:txBody>
        </p:sp>
      </p:grpSp>
      <p:cxnSp>
        <p:nvCxnSpPr>
          <p:cNvPr id="312" name="Google Shape;312;p17"/>
          <p:cNvCxnSpPr>
            <a:stCxn id="309" idx="3"/>
            <a:endCxn id="313" idx="1"/>
          </p:cNvCxnSpPr>
          <p:nvPr/>
        </p:nvCxnSpPr>
        <p:spPr>
          <a:xfrm>
            <a:off x="8245564" y="3548075"/>
            <a:ext cx="873300" cy="0"/>
          </a:xfrm>
          <a:prstGeom prst="straightConnector1">
            <a:avLst/>
          </a:prstGeom>
          <a:noFill/>
          <a:ln cap="rnd" cmpd="sng" w="38100">
            <a:solidFill>
              <a:srgbClr val="B6C6DA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14" name="Google Shape;314;p17"/>
          <p:cNvGrpSpPr/>
          <p:nvPr/>
        </p:nvGrpSpPr>
        <p:grpSpPr>
          <a:xfrm>
            <a:off x="9118740" y="2848635"/>
            <a:ext cx="3107579" cy="1398880"/>
            <a:chOff x="0" y="-9525"/>
            <a:chExt cx="4143438" cy="1865173"/>
          </a:xfrm>
        </p:grpSpPr>
        <p:sp>
          <p:nvSpPr>
            <p:cNvPr id="315" name="Google Shape;315;p17"/>
            <p:cNvSpPr/>
            <p:nvPr/>
          </p:nvSpPr>
          <p:spPr>
            <a:xfrm>
              <a:off x="0" y="0"/>
              <a:ext cx="4143375" cy="1855597"/>
            </a:xfrm>
            <a:custGeom>
              <a:rect b="b" l="l" r="r" t="t"/>
              <a:pathLst>
                <a:path extrusionOk="0" h="1855597" w="4143375">
                  <a:moveTo>
                    <a:pt x="0" y="0"/>
                  </a:moveTo>
                  <a:lnTo>
                    <a:pt x="4143375" y="0"/>
                  </a:lnTo>
                  <a:lnTo>
                    <a:pt x="4143375" y="1855597"/>
                  </a:lnTo>
                  <a:lnTo>
                    <a:pt x="0" y="1855597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9E2E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13" name="Google Shape;313;p17"/>
            <p:cNvSpPr txBox="1"/>
            <p:nvPr/>
          </p:nvSpPr>
          <p:spPr>
            <a:xfrm>
              <a:off x="0" y="-9525"/>
              <a:ext cx="4143438" cy="1865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추천 비교</a:t>
              </a:r>
              <a:endParaRPr sz="1600"/>
            </a:p>
            <a:p>
              <a:pPr indent="0" lvl="0" marL="0" marR="0" rtl="0" algn="ctr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성장점수와 위험도</a:t>
              </a:r>
              <a:endParaRPr sz="1600"/>
            </a:p>
          </p:txBody>
        </p:sp>
      </p:grpSp>
      <p:cxnSp>
        <p:nvCxnSpPr>
          <p:cNvPr id="316" name="Google Shape;316;p17"/>
          <p:cNvCxnSpPr>
            <a:stCxn id="313" idx="3"/>
            <a:endCxn id="317" idx="1"/>
          </p:cNvCxnSpPr>
          <p:nvPr/>
        </p:nvCxnSpPr>
        <p:spPr>
          <a:xfrm>
            <a:off x="12226319" y="3548075"/>
            <a:ext cx="873300" cy="0"/>
          </a:xfrm>
          <a:prstGeom prst="straightConnector1">
            <a:avLst/>
          </a:prstGeom>
          <a:noFill/>
          <a:ln cap="rnd" cmpd="sng" w="38100">
            <a:solidFill>
              <a:srgbClr val="B6C6DA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18" name="Google Shape;318;p17"/>
          <p:cNvGrpSpPr/>
          <p:nvPr/>
        </p:nvGrpSpPr>
        <p:grpSpPr>
          <a:xfrm>
            <a:off x="13099485" y="2848635"/>
            <a:ext cx="3107579" cy="1398880"/>
            <a:chOff x="0" y="-9525"/>
            <a:chExt cx="4143438" cy="1865173"/>
          </a:xfrm>
        </p:grpSpPr>
        <p:sp>
          <p:nvSpPr>
            <p:cNvPr id="319" name="Google Shape;319;p17"/>
            <p:cNvSpPr/>
            <p:nvPr/>
          </p:nvSpPr>
          <p:spPr>
            <a:xfrm>
              <a:off x="0" y="0"/>
              <a:ext cx="4143375" cy="1855597"/>
            </a:xfrm>
            <a:custGeom>
              <a:rect b="b" l="l" r="r" t="t"/>
              <a:pathLst>
                <a:path extrusionOk="0" h="1855597" w="4143375">
                  <a:moveTo>
                    <a:pt x="0" y="0"/>
                  </a:moveTo>
                  <a:lnTo>
                    <a:pt x="4143375" y="0"/>
                  </a:lnTo>
                  <a:lnTo>
                    <a:pt x="4143375" y="1855597"/>
                  </a:lnTo>
                  <a:lnTo>
                    <a:pt x="0" y="1855597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9E2E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17" name="Google Shape;317;p17"/>
            <p:cNvSpPr txBox="1"/>
            <p:nvPr/>
          </p:nvSpPr>
          <p:spPr>
            <a:xfrm>
              <a:off x="0" y="-9525"/>
              <a:ext cx="4143438" cy="1865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상세 판단</a:t>
              </a:r>
              <a:endParaRPr sz="1600"/>
            </a:p>
            <a:p>
              <a:pPr indent="0" lvl="0" marL="0" marR="0" rtl="0" algn="ctr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근거 지표 확인</a:t>
              </a:r>
              <a:endParaRPr sz="1600"/>
            </a:p>
          </p:txBody>
        </p:sp>
      </p:grpSp>
      <p:grpSp>
        <p:nvGrpSpPr>
          <p:cNvPr id="320" name="Google Shape;320;p17"/>
          <p:cNvGrpSpPr/>
          <p:nvPr/>
        </p:nvGrpSpPr>
        <p:grpSpPr>
          <a:xfrm>
            <a:off x="1166774" y="5142088"/>
            <a:ext cx="2333543" cy="384353"/>
            <a:chOff x="0" y="0"/>
            <a:chExt cx="3111391" cy="512470"/>
          </a:xfrm>
        </p:grpSpPr>
        <p:sp>
          <p:nvSpPr>
            <p:cNvPr id="321" name="Google Shape;321;p17"/>
            <p:cNvSpPr/>
            <p:nvPr/>
          </p:nvSpPr>
          <p:spPr>
            <a:xfrm>
              <a:off x="0" y="0"/>
              <a:ext cx="3111391" cy="512464"/>
            </a:xfrm>
            <a:custGeom>
              <a:rect b="b" l="l" r="r" t="t"/>
              <a:pathLst>
                <a:path extrusionOk="0" h="512464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8302" l="0" r="0" t="-68300"/>
              </a:stretch>
            </a:blipFill>
            <a:ln>
              <a:noFill/>
            </a:ln>
          </p:spPr>
        </p:sp>
        <p:sp>
          <p:nvSpPr>
            <p:cNvPr id="322" name="Google Shape;322;p17"/>
            <p:cNvSpPr txBox="1"/>
            <p:nvPr/>
          </p:nvSpPr>
          <p:spPr>
            <a:xfrm>
              <a:off x="0" y="9525"/>
              <a:ext cx="3111386" cy="5029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핵심 기능</a:t>
              </a:r>
              <a:endParaRPr sz="1600"/>
            </a:p>
          </p:txBody>
        </p:sp>
      </p:grpSp>
      <p:sp>
        <p:nvSpPr>
          <p:cNvPr id="323" name="Google Shape;323;p17"/>
          <p:cNvSpPr/>
          <p:nvPr/>
        </p:nvSpPr>
        <p:spPr>
          <a:xfrm>
            <a:off x="1157240" y="5860073"/>
            <a:ext cx="5029295" cy="1474089"/>
          </a:xfrm>
          <a:custGeom>
            <a:rect b="b" l="l" r="r" t="t"/>
            <a:pathLst>
              <a:path extrusionOk="0" h="1965452" w="6705727">
                <a:moveTo>
                  <a:pt x="0" y="0"/>
                </a:moveTo>
                <a:lnTo>
                  <a:pt x="6705727" y="0"/>
                </a:lnTo>
                <a:lnTo>
                  <a:pt x="6705727" y="1965452"/>
                </a:lnTo>
                <a:lnTo>
                  <a:pt x="0" y="1965452"/>
                </a:lnTo>
                <a:close/>
              </a:path>
            </a:pathLst>
          </a:custGeom>
          <a:solidFill>
            <a:srgbClr val="EAF1FF"/>
          </a:solidFill>
          <a:ln cap="sq" cmpd="sng" w="19050">
            <a:solidFill>
              <a:srgbClr val="EAF1F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324" name="Google Shape;324;p17"/>
          <p:cNvGrpSpPr/>
          <p:nvPr/>
        </p:nvGrpSpPr>
        <p:grpSpPr>
          <a:xfrm>
            <a:off x="1372440" y="6040905"/>
            <a:ext cx="4557505" cy="309150"/>
            <a:chOff x="-55217" y="-9525"/>
            <a:chExt cx="6076673" cy="412200"/>
          </a:xfrm>
        </p:grpSpPr>
        <p:sp>
          <p:nvSpPr>
            <p:cNvPr id="325" name="Google Shape;325;p17"/>
            <p:cNvSpPr/>
            <p:nvPr/>
          </p:nvSpPr>
          <p:spPr>
            <a:xfrm>
              <a:off x="0" y="0"/>
              <a:ext cx="6021456" cy="402651"/>
            </a:xfrm>
            <a:custGeom>
              <a:rect b="b" l="l" r="r" t="t"/>
              <a:pathLst>
                <a:path extrusionOk="0" h="402651" w="6021456">
                  <a:moveTo>
                    <a:pt x="0" y="0"/>
                  </a:moveTo>
                  <a:lnTo>
                    <a:pt x="6021456" y="0"/>
                  </a:lnTo>
                  <a:lnTo>
                    <a:pt x="6021456" y="402651"/>
                  </a:lnTo>
                  <a:lnTo>
                    <a:pt x="0" y="40265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1395" l="0" r="0" t="-241389"/>
              </a:stretch>
            </a:blipFill>
            <a:ln>
              <a:noFill/>
            </a:ln>
          </p:spPr>
        </p:sp>
        <p:sp>
          <p:nvSpPr>
            <p:cNvPr id="326" name="Google Shape;326;p17"/>
            <p:cNvSpPr txBox="1"/>
            <p:nvPr/>
          </p:nvSpPr>
          <p:spPr>
            <a:xfrm>
              <a:off x="-55217" y="-9525"/>
              <a:ext cx="6021600" cy="41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1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성장 분석</a:t>
              </a:r>
              <a:endParaRPr b="1" sz="2000"/>
            </a:p>
          </p:txBody>
        </p:sp>
      </p:grpSp>
      <p:grpSp>
        <p:nvGrpSpPr>
          <p:cNvPr id="327" name="Google Shape;327;p17"/>
          <p:cNvGrpSpPr/>
          <p:nvPr/>
        </p:nvGrpSpPr>
        <p:grpSpPr>
          <a:xfrm>
            <a:off x="1344831" y="6363380"/>
            <a:ext cx="4516200" cy="498375"/>
            <a:chOff x="0" y="0"/>
            <a:chExt cx="6021600" cy="664500"/>
          </a:xfrm>
        </p:grpSpPr>
        <p:sp>
          <p:nvSpPr>
            <p:cNvPr id="328" name="Google Shape;328;p17"/>
            <p:cNvSpPr/>
            <p:nvPr/>
          </p:nvSpPr>
          <p:spPr>
            <a:xfrm>
              <a:off x="0" y="0"/>
              <a:ext cx="6021456" cy="664347"/>
            </a:xfrm>
            <a:custGeom>
              <a:rect b="b" l="l" r="r" t="t"/>
              <a:pathLst>
                <a:path extrusionOk="0" h="664347" w="6021456">
                  <a:moveTo>
                    <a:pt x="0" y="0"/>
                  </a:moveTo>
                  <a:lnTo>
                    <a:pt x="6021456" y="0"/>
                  </a:lnTo>
                  <a:lnTo>
                    <a:pt x="6021456" y="664347"/>
                  </a:lnTo>
                  <a:lnTo>
                    <a:pt x="0" y="66434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5174" l="0" r="0" t="-138033"/>
              </a:stretch>
            </a:blipFill>
            <a:ln>
              <a:noFill/>
            </a:ln>
          </p:spPr>
        </p:sp>
        <p:sp>
          <p:nvSpPr>
            <p:cNvPr id="329" name="Google Shape;329;p17"/>
            <p:cNvSpPr txBox="1"/>
            <p:nvPr/>
          </p:nvSpPr>
          <p:spPr>
            <a:xfrm>
              <a:off x="0" y="0"/>
              <a:ext cx="6021600" cy="66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1" u="none" cap="none" strike="noStrike">
                  <a:solidFill>
                    <a:srgbClr val="0F766E"/>
                  </a:solidFill>
                  <a:latin typeface="Noto Sans"/>
                  <a:ea typeface="Noto Sans"/>
                  <a:cs typeface="Noto Sans"/>
                  <a:sym typeface="Noto Sans"/>
                </a:rPr>
                <a:t>1년 성장 가능성</a:t>
              </a:r>
              <a:endParaRPr/>
            </a:p>
          </p:txBody>
        </p:sp>
      </p:grpSp>
      <p:grpSp>
        <p:nvGrpSpPr>
          <p:cNvPr id="330" name="Google Shape;330;p17"/>
          <p:cNvGrpSpPr/>
          <p:nvPr/>
        </p:nvGrpSpPr>
        <p:grpSpPr>
          <a:xfrm>
            <a:off x="1413853" y="6864513"/>
            <a:ext cx="4516092" cy="281683"/>
            <a:chOff x="0" y="-9525"/>
            <a:chExt cx="6021456" cy="375577"/>
          </a:xfrm>
        </p:grpSpPr>
        <p:sp>
          <p:nvSpPr>
            <p:cNvPr id="331" name="Google Shape;331;p17"/>
            <p:cNvSpPr/>
            <p:nvPr/>
          </p:nvSpPr>
          <p:spPr>
            <a:xfrm>
              <a:off x="0" y="0"/>
              <a:ext cx="6021456" cy="366046"/>
            </a:xfrm>
            <a:custGeom>
              <a:rect b="b" l="l" r="r" t="t"/>
              <a:pathLst>
                <a:path extrusionOk="0" h="366046" w="6021456">
                  <a:moveTo>
                    <a:pt x="0" y="0"/>
                  </a:moveTo>
                  <a:lnTo>
                    <a:pt x="6021456" y="0"/>
                  </a:lnTo>
                  <a:lnTo>
                    <a:pt x="6021456" y="366046"/>
                  </a:lnTo>
                  <a:lnTo>
                    <a:pt x="0" y="36604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0537" l="0" r="0" t="-270530"/>
              </a:stretch>
            </a:blipFill>
            <a:ln>
              <a:noFill/>
            </a:ln>
          </p:spPr>
        </p:sp>
        <p:sp>
          <p:nvSpPr>
            <p:cNvPr id="332" name="Google Shape;332;p17"/>
            <p:cNvSpPr txBox="1"/>
            <p:nvPr/>
          </p:nvSpPr>
          <p:spPr>
            <a:xfrm>
              <a:off x="0" y="-9525"/>
              <a:ext cx="6021451" cy="375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검증 전에는 점수로만 표시</a:t>
              </a:r>
              <a:endParaRPr sz="1700"/>
            </a:p>
          </p:txBody>
        </p:sp>
      </p:grpSp>
      <p:sp>
        <p:nvSpPr>
          <p:cNvPr id="333" name="Google Shape;333;p17"/>
          <p:cNvSpPr/>
          <p:nvPr/>
        </p:nvSpPr>
        <p:spPr>
          <a:xfrm>
            <a:off x="6647926" y="5860073"/>
            <a:ext cx="5029295" cy="1474089"/>
          </a:xfrm>
          <a:custGeom>
            <a:rect b="b" l="l" r="r" t="t"/>
            <a:pathLst>
              <a:path extrusionOk="0" h="1965452" w="6705727">
                <a:moveTo>
                  <a:pt x="0" y="0"/>
                </a:moveTo>
                <a:lnTo>
                  <a:pt x="6705727" y="0"/>
                </a:lnTo>
                <a:lnTo>
                  <a:pt x="6705727" y="1965452"/>
                </a:lnTo>
                <a:lnTo>
                  <a:pt x="0" y="1965452"/>
                </a:lnTo>
                <a:close/>
              </a:path>
            </a:pathLst>
          </a:custGeom>
          <a:solidFill>
            <a:srgbClr val="E9F7EE"/>
          </a:solidFill>
          <a:ln cap="sq" cmpd="sng" w="19050">
            <a:solidFill>
              <a:srgbClr val="E9F7EE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334" name="Google Shape;334;p17"/>
          <p:cNvGrpSpPr/>
          <p:nvPr/>
        </p:nvGrpSpPr>
        <p:grpSpPr>
          <a:xfrm>
            <a:off x="6904539" y="6040905"/>
            <a:ext cx="4516092" cy="309134"/>
            <a:chOff x="0" y="-9525"/>
            <a:chExt cx="6021456" cy="412179"/>
          </a:xfrm>
        </p:grpSpPr>
        <p:sp>
          <p:nvSpPr>
            <p:cNvPr id="335" name="Google Shape;335;p17"/>
            <p:cNvSpPr/>
            <p:nvPr/>
          </p:nvSpPr>
          <p:spPr>
            <a:xfrm>
              <a:off x="0" y="0"/>
              <a:ext cx="6021456" cy="402651"/>
            </a:xfrm>
            <a:custGeom>
              <a:rect b="b" l="l" r="r" t="t"/>
              <a:pathLst>
                <a:path extrusionOk="0" h="402651" w="6021456">
                  <a:moveTo>
                    <a:pt x="0" y="0"/>
                  </a:moveTo>
                  <a:lnTo>
                    <a:pt x="6021456" y="0"/>
                  </a:lnTo>
                  <a:lnTo>
                    <a:pt x="6021456" y="402651"/>
                  </a:lnTo>
                  <a:lnTo>
                    <a:pt x="0" y="40265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1395" l="0" r="0" t="-241389"/>
              </a:stretch>
            </a:blipFill>
            <a:ln>
              <a:noFill/>
            </a:ln>
          </p:spPr>
        </p:sp>
        <p:sp>
          <p:nvSpPr>
            <p:cNvPr id="336" name="Google Shape;336;p17"/>
            <p:cNvSpPr txBox="1"/>
            <p:nvPr/>
          </p:nvSpPr>
          <p:spPr>
            <a:xfrm>
              <a:off x="0" y="-9525"/>
              <a:ext cx="6021451" cy="412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1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추천</a:t>
              </a:r>
              <a:endParaRPr b="1" sz="2000"/>
            </a:p>
          </p:txBody>
        </p:sp>
      </p:grpSp>
      <p:grpSp>
        <p:nvGrpSpPr>
          <p:cNvPr id="337" name="Google Shape;337;p17"/>
          <p:cNvGrpSpPr/>
          <p:nvPr/>
        </p:nvGrpSpPr>
        <p:grpSpPr>
          <a:xfrm>
            <a:off x="6904464" y="6356421"/>
            <a:ext cx="4516200" cy="574241"/>
            <a:chOff x="-100" y="-101307"/>
            <a:chExt cx="6021600" cy="765654"/>
          </a:xfrm>
        </p:grpSpPr>
        <p:sp>
          <p:nvSpPr>
            <p:cNvPr id="338" name="Google Shape;338;p17"/>
            <p:cNvSpPr/>
            <p:nvPr/>
          </p:nvSpPr>
          <p:spPr>
            <a:xfrm>
              <a:off x="0" y="0"/>
              <a:ext cx="6021456" cy="664347"/>
            </a:xfrm>
            <a:custGeom>
              <a:rect b="b" l="l" r="r" t="t"/>
              <a:pathLst>
                <a:path extrusionOk="0" h="664347" w="6021456">
                  <a:moveTo>
                    <a:pt x="0" y="0"/>
                  </a:moveTo>
                  <a:lnTo>
                    <a:pt x="6021456" y="0"/>
                  </a:lnTo>
                  <a:lnTo>
                    <a:pt x="6021456" y="664347"/>
                  </a:lnTo>
                  <a:lnTo>
                    <a:pt x="0" y="66434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5174" l="0" r="0" t="-138033"/>
              </a:stretch>
            </a:blipFill>
            <a:ln>
              <a:noFill/>
            </a:ln>
          </p:spPr>
        </p:sp>
        <p:sp>
          <p:nvSpPr>
            <p:cNvPr id="339" name="Google Shape;339;p17"/>
            <p:cNvSpPr txBox="1"/>
            <p:nvPr/>
          </p:nvSpPr>
          <p:spPr>
            <a:xfrm>
              <a:off x="-100" y="-101307"/>
              <a:ext cx="6021600" cy="66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1" u="none" cap="none" strike="noStrike">
                  <a:solidFill>
                    <a:srgbClr val="0F766E"/>
                  </a:solidFill>
                  <a:latin typeface="Noto Sans"/>
                  <a:ea typeface="Noto Sans"/>
                  <a:cs typeface="Noto Sans"/>
                  <a:sym typeface="Noto Sans"/>
                </a:rPr>
                <a:t>업종 맞춤 순위</a:t>
              </a:r>
              <a:endParaRPr/>
            </a:p>
          </p:txBody>
        </p:sp>
      </p:grpSp>
      <p:grpSp>
        <p:nvGrpSpPr>
          <p:cNvPr id="340" name="Google Shape;340;p17"/>
          <p:cNvGrpSpPr/>
          <p:nvPr/>
        </p:nvGrpSpPr>
        <p:grpSpPr>
          <a:xfrm>
            <a:off x="6904539" y="6864513"/>
            <a:ext cx="4516092" cy="281683"/>
            <a:chOff x="0" y="-9525"/>
            <a:chExt cx="6021456" cy="375577"/>
          </a:xfrm>
        </p:grpSpPr>
        <p:sp>
          <p:nvSpPr>
            <p:cNvPr id="341" name="Google Shape;341;p17"/>
            <p:cNvSpPr/>
            <p:nvPr/>
          </p:nvSpPr>
          <p:spPr>
            <a:xfrm>
              <a:off x="0" y="0"/>
              <a:ext cx="6021456" cy="366046"/>
            </a:xfrm>
            <a:custGeom>
              <a:rect b="b" l="l" r="r" t="t"/>
              <a:pathLst>
                <a:path extrusionOk="0" h="366046" w="6021456">
                  <a:moveTo>
                    <a:pt x="0" y="0"/>
                  </a:moveTo>
                  <a:lnTo>
                    <a:pt x="6021456" y="0"/>
                  </a:lnTo>
                  <a:lnTo>
                    <a:pt x="6021456" y="366046"/>
                  </a:lnTo>
                  <a:lnTo>
                    <a:pt x="0" y="36604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0537" l="0" r="0" t="-270530"/>
              </a:stretch>
            </a:blipFill>
            <a:ln>
              <a:noFill/>
            </a:ln>
          </p:spPr>
        </p:sp>
        <p:sp>
          <p:nvSpPr>
            <p:cNvPr id="342" name="Google Shape;342;p17"/>
            <p:cNvSpPr txBox="1"/>
            <p:nvPr/>
          </p:nvSpPr>
          <p:spPr>
            <a:xfrm>
              <a:off x="0" y="-9525"/>
              <a:ext cx="6021451" cy="375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상위 카테고리와 세부 업종 지원</a:t>
              </a:r>
              <a:endParaRPr sz="1700"/>
            </a:p>
          </p:txBody>
        </p:sp>
      </p:grpSp>
      <p:sp>
        <p:nvSpPr>
          <p:cNvPr id="343" name="Google Shape;343;p17"/>
          <p:cNvSpPr/>
          <p:nvPr/>
        </p:nvSpPr>
        <p:spPr>
          <a:xfrm>
            <a:off x="12138622" y="5860073"/>
            <a:ext cx="5029295" cy="1474089"/>
          </a:xfrm>
          <a:custGeom>
            <a:rect b="b" l="l" r="r" t="t"/>
            <a:pathLst>
              <a:path extrusionOk="0" h="1965452" w="6705727">
                <a:moveTo>
                  <a:pt x="0" y="0"/>
                </a:moveTo>
                <a:lnTo>
                  <a:pt x="6705727" y="0"/>
                </a:lnTo>
                <a:lnTo>
                  <a:pt x="6705727" y="1965452"/>
                </a:lnTo>
                <a:lnTo>
                  <a:pt x="0" y="1965452"/>
                </a:lnTo>
                <a:close/>
              </a:path>
            </a:pathLst>
          </a:custGeom>
          <a:solidFill>
            <a:srgbClr val="FFF7E6"/>
          </a:solidFill>
          <a:ln cap="sq" cmpd="sng" w="19050">
            <a:solidFill>
              <a:srgbClr val="FFF7E6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344" name="Google Shape;344;p17"/>
          <p:cNvGrpSpPr/>
          <p:nvPr/>
        </p:nvGrpSpPr>
        <p:grpSpPr>
          <a:xfrm>
            <a:off x="12395210" y="6040905"/>
            <a:ext cx="4516092" cy="309134"/>
            <a:chOff x="0" y="-9525"/>
            <a:chExt cx="6021456" cy="412179"/>
          </a:xfrm>
        </p:grpSpPr>
        <p:sp>
          <p:nvSpPr>
            <p:cNvPr id="345" name="Google Shape;345;p17"/>
            <p:cNvSpPr/>
            <p:nvPr/>
          </p:nvSpPr>
          <p:spPr>
            <a:xfrm>
              <a:off x="0" y="0"/>
              <a:ext cx="6021456" cy="402651"/>
            </a:xfrm>
            <a:custGeom>
              <a:rect b="b" l="l" r="r" t="t"/>
              <a:pathLst>
                <a:path extrusionOk="0" h="402651" w="6021456">
                  <a:moveTo>
                    <a:pt x="0" y="0"/>
                  </a:moveTo>
                  <a:lnTo>
                    <a:pt x="6021456" y="0"/>
                  </a:lnTo>
                  <a:lnTo>
                    <a:pt x="6021456" y="402651"/>
                  </a:lnTo>
                  <a:lnTo>
                    <a:pt x="0" y="40265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1395" l="0" r="0" t="-241389"/>
              </a:stretch>
            </a:blipFill>
            <a:ln>
              <a:noFill/>
            </a:ln>
          </p:spPr>
        </p:sp>
        <p:sp>
          <p:nvSpPr>
            <p:cNvPr id="346" name="Google Shape;346;p17"/>
            <p:cNvSpPr txBox="1"/>
            <p:nvPr/>
          </p:nvSpPr>
          <p:spPr>
            <a:xfrm>
              <a:off x="0" y="-9525"/>
              <a:ext cx="6021451" cy="412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1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경고</a:t>
              </a:r>
              <a:endParaRPr b="1" sz="2151"/>
            </a:p>
          </p:txBody>
        </p:sp>
      </p:grpSp>
      <p:grpSp>
        <p:nvGrpSpPr>
          <p:cNvPr id="347" name="Google Shape;347;p17"/>
          <p:cNvGrpSpPr/>
          <p:nvPr/>
        </p:nvGrpSpPr>
        <p:grpSpPr>
          <a:xfrm>
            <a:off x="12395235" y="6363380"/>
            <a:ext cx="4516200" cy="512065"/>
            <a:chOff x="0" y="-18406"/>
            <a:chExt cx="6021600" cy="682753"/>
          </a:xfrm>
        </p:grpSpPr>
        <p:sp>
          <p:nvSpPr>
            <p:cNvPr id="348" name="Google Shape;348;p17"/>
            <p:cNvSpPr/>
            <p:nvPr/>
          </p:nvSpPr>
          <p:spPr>
            <a:xfrm>
              <a:off x="0" y="0"/>
              <a:ext cx="6021456" cy="664347"/>
            </a:xfrm>
            <a:custGeom>
              <a:rect b="b" l="l" r="r" t="t"/>
              <a:pathLst>
                <a:path extrusionOk="0" h="664347" w="6021456">
                  <a:moveTo>
                    <a:pt x="0" y="0"/>
                  </a:moveTo>
                  <a:lnTo>
                    <a:pt x="6021456" y="0"/>
                  </a:lnTo>
                  <a:lnTo>
                    <a:pt x="6021456" y="664347"/>
                  </a:lnTo>
                  <a:lnTo>
                    <a:pt x="0" y="66434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5174" l="0" r="0" t="-138033"/>
              </a:stretch>
            </a:blipFill>
            <a:ln>
              <a:noFill/>
            </a:ln>
          </p:spPr>
        </p:sp>
        <p:sp>
          <p:nvSpPr>
            <p:cNvPr id="349" name="Google Shape;349;p17"/>
            <p:cNvSpPr txBox="1"/>
            <p:nvPr/>
          </p:nvSpPr>
          <p:spPr>
            <a:xfrm>
              <a:off x="0" y="-18406"/>
              <a:ext cx="6021600" cy="66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1" u="none" cap="none" strike="noStrike">
                  <a:solidFill>
                    <a:srgbClr val="B45309"/>
                  </a:solidFill>
                  <a:latin typeface="Noto Sans"/>
                  <a:ea typeface="Noto Sans"/>
                  <a:cs typeface="Noto Sans"/>
                  <a:sym typeface="Noto Sans"/>
                </a:rPr>
                <a:t>위험·과열 탐지</a:t>
              </a:r>
              <a:endParaRPr/>
            </a:p>
          </p:txBody>
        </p:sp>
      </p:grpSp>
      <p:grpSp>
        <p:nvGrpSpPr>
          <p:cNvPr id="350" name="Google Shape;350;p17"/>
          <p:cNvGrpSpPr/>
          <p:nvPr/>
        </p:nvGrpSpPr>
        <p:grpSpPr>
          <a:xfrm>
            <a:off x="12395235" y="6864513"/>
            <a:ext cx="4516092" cy="281683"/>
            <a:chOff x="0" y="-9525"/>
            <a:chExt cx="6021456" cy="375577"/>
          </a:xfrm>
        </p:grpSpPr>
        <p:sp>
          <p:nvSpPr>
            <p:cNvPr id="351" name="Google Shape;351;p17"/>
            <p:cNvSpPr/>
            <p:nvPr/>
          </p:nvSpPr>
          <p:spPr>
            <a:xfrm>
              <a:off x="0" y="0"/>
              <a:ext cx="6021456" cy="366046"/>
            </a:xfrm>
            <a:custGeom>
              <a:rect b="b" l="l" r="r" t="t"/>
              <a:pathLst>
                <a:path extrusionOk="0" h="366046" w="6021456">
                  <a:moveTo>
                    <a:pt x="0" y="0"/>
                  </a:moveTo>
                  <a:lnTo>
                    <a:pt x="6021456" y="0"/>
                  </a:lnTo>
                  <a:lnTo>
                    <a:pt x="6021456" y="366046"/>
                  </a:lnTo>
                  <a:lnTo>
                    <a:pt x="0" y="36604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0537" l="0" r="0" t="-270530"/>
              </a:stretch>
            </a:blipFill>
            <a:ln>
              <a:noFill/>
            </a:ln>
          </p:spPr>
        </p:sp>
        <p:sp>
          <p:nvSpPr>
            <p:cNvPr id="352" name="Google Shape;352;p17"/>
            <p:cNvSpPr txBox="1"/>
            <p:nvPr/>
          </p:nvSpPr>
          <p:spPr>
            <a:xfrm>
              <a:off x="0" y="-9525"/>
              <a:ext cx="6021451" cy="375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점포 증가와 수익성 악화 감지</a:t>
              </a:r>
              <a:endParaRPr sz="1700"/>
            </a:p>
          </p:txBody>
        </p:sp>
      </p:grpSp>
      <p:grpSp>
        <p:nvGrpSpPr>
          <p:cNvPr id="353" name="Google Shape;353;p17"/>
          <p:cNvGrpSpPr/>
          <p:nvPr/>
        </p:nvGrpSpPr>
        <p:grpSpPr>
          <a:xfrm>
            <a:off x="892235" y="9677343"/>
            <a:ext cx="5216157" cy="274539"/>
            <a:chOff x="0" y="0"/>
            <a:chExt cx="6954876" cy="366052"/>
          </a:xfrm>
        </p:grpSpPr>
        <p:sp>
          <p:nvSpPr>
            <p:cNvPr id="354" name="Google Shape;354;p17"/>
            <p:cNvSpPr/>
            <p:nvPr/>
          </p:nvSpPr>
          <p:spPr>
            <a:xfrm>
              <a:off x="0" y="0"/>
              <a:ext cx="6954873" cy="366046"/>
            </a:xfrm>
            <a:custGeom>
              <a:rect b="b" l="l" r="r" t="t"/>
              <a:pathLst>
                <a:path extrusionOk="0" h="366046" w="6954873">
                  <a:moveTo>
                    <a:pt x="0" y="0"/>
                  </a:moveTo>
                  <a:lnTo>
                    <a:pt x="6954873" y="0"/>
                  </a:lnTo>
                  <a:lnTo>
                    <a:pt x="6954873" y="366046"/>
                  </a:lnTo>
                  <a:lnTo>
                    <a:pt x="0" y="36604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20206" l="0" r="0" t="-320206"/>
              </a:stretch>
            </a:blipFill>
            <a:ln>
              <a:noFill/>
            </a:ln>
          </p:spPr>
        </p:sp>
        <p:sp>
          <p:nvSpPr>
            <p:cNvPr id="355" name="Google Shape;355;p17"/>
            <p:cNvSpPr txBox="1"/>
            <p:nvPr/>
          </p:nvSpPr>
          <p:spPr>
            <a:xfrm>
              <a:off x="0" y="9525"/>
              <a:ext cx="6954876" cy="356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상권나침반 바이브코딩 적용 보고</a:t>
              </a:r>
              <a:endParaRPr/>
            </a:p>
          </p:txBody>
        </p:sp>
      </p:grpSp>
      <p:grpSp>
        <p:nvGrpSpPr>
          <p:cNvPr id="356" name="Google Shape;356;p17"/>
          <p:cNvGrpSpPr/>
          <p:nvPr/>
        </p:nvGrpSpPr>
        <p:grpSpPr>
          <a:xfrm>
            <a:off x="16815235" y="9629013"/>
            <a:ext cx="617706" cy="336585"/>
            <a:chOff x="0" y="-9525"/>
            <a:chExt cx="823608" cy="448780"/>
          </a:xfrm>
        </p:grpSpPr>
        <p:sp>
          <p:nvSpPr>
            <p:cNvPr id="357" name="Google Shape;357;p17"/>
            <p:cNvSpPr/>
            <p:nvPr/>
          </p:nvSpPr>
          <p:spPr>
            <a:xfrm>
              <a:off x="0" y="0"/>
              <a:ext cx="823603" cy="439255"/>
            </a:xfrm>
            <a:custGeom>
              <a:rect b="b" l="l" r="r" t="t"/>
              <a:pathLst>
                <a:path extrusionOk="0" h="439255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439255"/>
                  </a:lnTo>
                  <a:lnTo>
                    <a:pt x="0" y="4392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8428" r="-18428" t="0"/>
              </a:stretch>
            </a:blipFill>
            <a:ln>
              <a:noFill/>
            </a:ln>
          </p:spPr>
        </p:sp>
        <p:sp>
          <p:nvSpPr>
            <p:cNvPr id="358" name="Google Shape;358;p17"/>
            <p:cNvSpPr txBox="1"/>
            <p:nvPr/>
          </p:nvSpPr>
          <p:spPr>
            <a:xfrm>
              <a:off x="0" y="-9525"/>
              <a:ext cx="823608" cy="448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04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18"/>
          <p:cNvGrpSpPr/>
          <p:nvPr/>
        </p:nvGrpSpPr>
        <p:grpSpPr>
          <a:xfrm>
            <a:off x="892235" y="521618"/>
            <a:ext cx="11667715" cy="620995"/>
            <a:chOff x="0" y="0"/>
            <a:chExt cx="15556954" cy="827993"/>
          </a:xfrm>
        </p:grpSpPr>
        <p:sp>
          <p:nvSpPr>
            <p:cNvPr id="368" name="Google Shape;368;p18"/>
            <p:cNvSpPr/>
            <p:nvPr/>
          </p:nvSpPr>
          <p:spPr>
            <a:xfrm>
              <a:off x="0" y="0"/>
              <a:ext cx="15556954" cy="827989"/>
            </a:xfrm>
            <a:custGeom>
              <a:rect b="b" l="l" r="r" t="t"/>
              <a:pathLst>
                <a:path extrusionOk="0" h="827989" w="15556954">
                  <a:moveTo>
                    <a:pt x="0" y="0"/>
                  </a:moveTo>
                  <a:lnTo>
                    <a:pt x="15556954" y="0"/>
                  </a:lnTo>
                  <a:lnTo>
                    <a:pt x="15556954" y="827989"/>
                  </a:lnTo>
                  <a:lnTo>
                    <a:pt x="0" y="82798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15822" l="0" r="0" t="-316349"/>
              </a:stretch>
            </a:blipFill>
            <a:ln>
              <a:noFill/>
            </a:ln>
          </p:spPr>
        </p:sp>
        <p:sp>
          <p:nvSpPr>
            <p:cNvPr id="369" name="Google Shape;369;p18"/>
            <p:cNvSpPr txBox="1"/>
            <p:nvPr/>
          </p:nvSpPr>
          <p:spPr>
            <a:xfrm>
              <a:off x="0" y="0"/>
              <a:ext cx="15556954" cy="82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5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시스템 구조</a:t>
              </a:r>
              <a:endParaRPr/>
            </a:p>
          </p:txBody>
        </p:sp>
      </p:grpSp>
      <p:grpSp>
        <p:nvGrpSpPr>
          <p:cNvPr id="370" name="Google Shape;370;p18"/>
          <p:cNvGrpSpPr/>
          <p:nvPr/>
        </p:nvGrpSpPr>
        <p:grpSpPr>
          <a:xfrm>
            <a:off x="919686" y="1207951"/>
            <a:ext cx="12079519" cy="343170"/>
            <a:chOff x="0" y="0"/>
            <a:chExt cx="16106026" cy="457559"/>
          </a:xfrm>
        </p:grpSpPr>
        <p:sp>
          <p:nvSpPr>
            <p:cNvPr id="371" name="Google Shape;371;p18"/>
            <p:cNvSpPr/>
            <p:nvPr/>
          </p:nvSpPr>
          <p:spPr>
            <a:xfrm>
              <a:off x="0" y="0"/>
              <a:ext cx="16106023" cy="457559"/>
            </a:xfrm>
            <a:custGeom>
              <a:rect b="b" l="l" r="r" t="t"/>
              <a:pathLst>
                <a:path extrusionOk="0" h="457559" w="16106023">
                  <a:moveTo>
                    <a:pt x="0" y="0"/>
                  </a:moveTo>
                  <a:lnTo>
                    <a:pt x="16106023" y="0"/>
                  </a:lnTo>
                  <a:lnTo>
                    <a:pt x="16106023" y="457559"/>
                  </a:lnTo>
                  <a:lnTo>
                    <a:pt x="0" y="45755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5871" l="0" r="0" t="-635871"/>
              </a:stretch>
            </a:blipFill>
            <a:ln>
              <a:noFill/>
            </a:ln>
          </p:spPr>
        </p:sp>
        <p:sp>
          <p:nvSpPr>
            <p:cNvPr id="372" name="Google Shape;372;p18"/>
            <p:cNvSpPr txBox="1"/>
            <p:nvPr/>
          </p:nvSpPr>
          <p:spPr>
            <a:xfrm>
              <a:off x="0" y="0"/>
              <a:ext cx="16106026" cy="457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파일 수동 관리 대신 공개 자료 수집과 외부 데이터베이스 연동 구조로 전환했습니다.</a:t>
              </a:r>
              <a:endParaRPr/>
            </a:p>
          </p:txBody>
        </p:sp>
      </p:grpSp>
      <p:cxnSp>
        <p:nvCxnSpPr>
          <p:cNvPr id="373" name="Google Shape;373;p18"/>
          <p:cNvCxnSpPr/>
          <p:nvPr/>
        </p:nvCxnSpPr>
        <p:spPr>
          <a:xfrm rot="3960">
            <a:off x="882701" y="1642443"/>
            <a:ext cx="16559774" cy="0"/>
          </a:xfrm>
          <a:prstGeom prst="straightConnector1">
            <a:avLst/>
          </a:prstGeom>
          <a:noFill/>
          <a:ln cap="rnd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4" name="Google Shape;374;p18"/>
          <p:cNvGrpSpPr/>
          <p:nvPr/>
        </p:nvGrpSpPr>
        <p:grpSpPr>
          <a:xfrm>
            <a:off x="1166774" y="2059010"/>
            <a:ext cx="2745344" cy="411804"/>
            <a:chOff x="0" y="0"/>
            <a:chExt cx="3660460" cy="549072"/>
          </a:xfrm>
        </p:grpSpPr>
        <p:sp>
          <p:nvSpPr>
            <p:cNvPr id="375" name="Google Shape;375;p18"/>
            <p:cNvSpPr/>
            <p:nvPr/>
          </p:nvSpPr>
          <p:spPr>
            <a:xfrm>
              <a:off x="0" y="0"/>
              <a:ext cx="3660460" cy="549069"/>
            </a:xfrm>
            <a:custGeom>
              <a:rect b="b" l="l" r="r" t="t"/>
              <a:pathLst>
                <a:path extrusionOk="0" h="549069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9902" l="0" r="0" t="-79899"/>
              </a:stretch>
            </a:blipFill>
            <a:ln>
              <a:noFill/>
            </a:ln>
          </p:spPr>
        </p:sp>
        <p:sp>
          <p:nvSpPr>
            <p:cNvPr id="376" name="Google Shape;376;p18"/>
            <p:cNvSpPr txBox="1"/>
            <p:nvPr/>
          </p:nvSpPr>
          <p:spPr>
            <a:xfrm>
              <a:off x="0" y="9525"/>
              <a:ext cx="3660458" cy="539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데이터 흐름</a:t>
              </a:r>
              <a:endParaRPr sz="1600"/>
            </a:p>
          </p:txBody>
        </p:sp>
      </p:grpSp>
      <p:grpSp>
        <p:nvGrpSpPr>
          <p:cNvPr id="377" name="Google Shape;377;p18"/>
          <p:cNvGrpSpPr/>
          <p:nvPr/>
        </p:nvGrpSpPr>
        <p:grpSpPr>
          <a:xfrm>
            <a:off x="1157240" y="2804446"/>
            <a:ext cx="2764440" cy="1721177"/>
            <a:chOff x="0" y="0"/>
            <a:chExt cx="3685921" cy="2294903"/>
          </a:xfrm>
        </p:grpSpPr>
        <p:sp>
          <p:nvSpPr>
            <p:cNvPr id="378" name="Google Shape;378;p18"/>
            <p:cNvSpPr/>
            <p:nvPr/>
          </p:nvSpPr>
          <p:spPr>
            <a:xfrm>
              <a:off x="0" y="0"/>
              <a:ext cx="3685921" cy="2294890"/>
            </a:xfrm>
            <a:custGeom>
              <a:rect b="b" l="l" r="r" t="t"/>
              <a:pathLst>
                <a:path extrusionOk="0" h="2294890" w="3685921">
                  <a:moveTo>
                    <a:pt x="0" y="0"/>
                  </a:moveTo>
                  <a:lnTo>
                    <a:pt x="3685921" y="0"/>
                  </a:lnTo>
                  <a:lnTo>
                    <a:pt x="3685921" y="2294890"/>
                  </a:lnTo>
                  <a:lnTo>
                    <a:pt x="0" y="229489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9E2E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79" name="Google Shape;379;p18"/>
            <p:cNvSpPr txBox="1"/>
            <p:nvPr/>
          </p:nvSpPr>
          <p:spPr>
            <a:xfrm>
              <a:off x="0" y="9525"/>
              <a:ext cx="3685883" cy="22853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26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서울시 공개 자료</a:t>
              </a:r>
              <a:endParaRPr sz="1600"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26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매출·점포·유동인구·영역</a:t>
              </a:r>
              <a:endParaRPr sz="1600"/>
            </a:p>
          </p:txBody>
        </p:sp>
      </p:grpSp>
      <p:cxnSp>
        <p:nvCxnSpPr>
          <p:cNvPr id="380" name="Google Shape;380;p18"/>
          <p:cNvCxnSpPr>
            <a:stCxn id="379" idx="3"/>
            <a:endCxn id="381" idx="1"/>
          </p:cNvCxnSpPr>
          <p:nvPr/>
        </p:nvCxnSpPr>
        <p:spPr>
          <a:xfrm>
            <a:off x="3921652" y="3668606"/>
            <a:ext cx="530100" cy="0"/>
          </a:xfrm>
          <a:prstGeom prst="straightConnector1">
            <a:avLst/>
          </a:prstGeom>
          <a:noFill/>
          <a:ln cap="rnd" cmpd="sng" w="38100">
            <a:solidFill>
              <a:srgbClr val="B6C6DA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82" name="Google Shape;382;p18"/>
          <p:cNvGrpSpPr/>
          <p:nvPr/>
        </p:nvGrpSpPr>
        <p:grpSpPr>
          <a:xfrm>
            <a:off x="4451652" y="2804446"/>
            <a:ext cx="2764440" cy="1721177"/>
            <a:chOff x="0" y="0"/>
            <a:chExt cx="3685921" cy="2294903"/>
          </a:xfrm>
        </p:grpSpPr>
        <p:sp>
          <p:nvSpPr>
            <p:cNvPr id="383" name="Google Shape;383;p18"/>
            <p:cNvSpPr/>
            <p:nvPr/>
          </p:nvSpPr>
          <p:spPr>
            <a:xfrm>
              <a:off x="0" y="0"/>
              <a:ext cx="3685921" cy="2294890"/>
            </a:xfrm>
            <a:custGeom>
              <a:rect b="b" l="l" r="r" t="t"/>
              <a:pathLst>
                <a:path extrusionOk="0" h="2294890" w="3685921">
                  <a:moveTo>
                    <a:pt x="0" y="0"/>
                  </a:moveTo>
                  <a:lnTo>
                    <a:pt x="3685921" y="0"/>
                  </a:lnTo>
                  <a:lnTo>
                    <a:pt x="3685921" y="2294890"/>
                  </a:lnTo>
                  <a:lnTo>
                    <a:pt x="0" y="229489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9E2E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81" name="Google Shape;381;p18"/>
            <p:cNvSpPr txBox="1"/>
            <p:nvPr/>
          </p:nvSpPr>
          <p:spPr>
            <a:xfrm>
              <a:off x="0" y="9525"/>
              <a:ext cx="3685883" cy="22853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26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파이썬 수집 분석</a:t>
              </a:r>
              <a:endParaRPr sz="1600"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26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정제·집계·점수·모델</a:t>
              </a:r>
              <a:endParaRPr sz="1600"/>
            </a:p>
          </p:txBody>
        </p:sp>
      </p:grpSp>
      <p:cxnSp>
        <p:nvCxnSpPr>
          <p:cNvPr id="384" name="Google Shape;384;p18"/>
          <p:cNvCxnSpPr>
            <a:stCxn id="381" idx="3"/>
            <a:endCxn id="385" idx="1"/>
          </p:cNvCxnSpPr>
          <p:nvPr/>
        </p:nvCxnSpPr>
        <p:spPr>
          <a:xfrm>
            <a:off x="7216064" y="3668606"/>
            <a:ext cx="530100" cy="0"/>
          </a:xfrm>
          <a:prstGeom prst="straightConnector1">
            <a:avLst/>
          </a:prstGeom>
          <a:noFill/>
          <a:ln cap="rnd" cmpd="sng" w="38100">
            <a:solidFill>
              <a:srgbClr val="B6C6DA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86" name="Google Shape;386;p18"/>
          <p:cNvGrpSpPr/>
          <p:nvPr/>
        </p:nvGrpSpPr>
        <p:grpSpPr>
          <a:xfrm>
            <a:off x="7746063" y="2804446"/>
            <a:ext cx="2764440" cy="1721177"/>
            <a:chOff x="0" y="0"/>
            <a:chExt cx="3685921" cy="2294903"/>
          </a:xfrm>
        </p:grpSpPr>
        <p:sp>
          <p:nvSpPr>
            <p:cNvPr id="387" name="Google Shape;387;p18"/>
            <p:cNvSpPr/>
            <p:nvPr/>
          </p:nvSpPr>
          <p:spPr>
            <a:xfrm>
              <a:off x="0" y="0"/>
              <a:ext cx="3685921" cy="2294890"/>
            </a:xfrm>
            <a:custGeom>
              <a:rect b="b" l="l" r="r" t="t"/>
              <a:pathLst>
                <a:path extrusionOk="0" h="2294890" w="3685921">
                  <a:moveTo>
                    <a:pt x="0" y="0"/>
                  </a:moveTo>
                  <a:lnTo>
                    <a:pt x="3685921" y="0"/>
                  </a:lnTo>
                  <a:lnTo>
                    <a:pt x="3685921" y="2294890"/>
                  </a:lnTo>
                  <a:lnTo>
                    <a:pt x="0" y="2294890"/>
                  </a:lnTo>
                  <a:close/>
                </a:path>
              </a:pathLst>
            </a:custGeom>
            <a:solidFill>
              <a:srgbClr val="EAF1FF"/>
            </a:solidFill>
            <a:ln cap="sq" cmpd="sng" w="19050">
              <a:solidFill>
                <a:srgbClr val="C7D9FE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85" name="Google Shape;385;p18"/>
            <p:cNvSpPr txBox="1"/>
            <p:nvPr/>
          </p:nvSpPr>
          <p:spPr>
            <a:xfrm>
              <a:off x="0" y="9525"/>
              <a:ext cx="3685883" cy="22853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26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외부 데이터베이스</a:t>
              </a:r>
              <a:endParaRPr sz="1600"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26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상권·업종·분석 결과 저장</a:t>
              </a:r>
              <a:endParaRPr sz="1600"/>
            </a:p>
          </p:txBody>
        </p:sp>
      </p:grpSp>
      <p:cxnSp>
        <p:nvCxnSpPr>
          <p:cNvPr id="388" name="Google Shape;388;p18"/>
          <p:cNvCxnSpPr>
            <a:stCxn id="385" idx="3"/>
            <a:endCxn id="389" idx="1"/>
          </p:cNvCxnSpPr>
          <p:nvPr/>
        </p:nvCxnSpPr>
        <p:spPr>
          <a:xfrm>
            <a:off x="10510475" y="3668606"/>
            <a:ext cx="530100" cy="0"/>
          </a:xfrm>
          <a:prstGeom prst="straightConnector1">
            <a:avLst/>
          </a:prstGeom>
          <a:noFill/>
          <a:ln cap="rnd" cmpd="sng" w="38100">
            <a:solidFill>
              <a:srgbClr val="B6C6DA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90" name="Google Shape;390;p18"/>
          <p:cNvGrpSpPr/>
          <p:nvPr/>
        </p:nvGrpSpPr>
        <p:grpSpPr>
          <a:xfrm>
            <a:off x="11040485" y="2804446"/>
            <a:ext cx="2764440" cy="1721177"/>
            <a:chOff x="0" y="0"/>
            <a:chExt cx="3685921" cy="2294903"/>
          </a:xfrm>
        </p:grpSpPr>
        <p:sp>
          <p:nvSpPr>
            <p:cNvPr id="391" name="Google Shape;391;p18"/>
            <p:cNvSpPr/>
            <p:nvPr/>
          </p:nvSpPr>
          <p:spPr>
            <a:xfrm>
              <a:off x="0" y="0"/>
              <a:ext cx="3685921" cy="2294890"/>
            </a:xfrm>
            <a:custGeom>
              <a:rect b="b" l="l" r="r" t="t"/>
              <a:pathLst>
                <a:path extrusionOk="0" h="2294890" w="3685921">
                  <a:moveTo>
                    <a:pt x="0" y="0"/>
                  </a:moveTo>
                  <a:lnTo>
                    <a:pt x="3685921" y="0"/>
                  </a:lnTo>
                  <a:lnTo>
                    <a:pt x="3685921" y="2294890"/>
                  </a:lnTo>
                  <a:lnTo>
                    <a:pt x="0" y="229489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9E2E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89" name="Google Shape;389;p18"/>
            <p:cNvSpPr txBox="1"/>
            <p:nvPr/>
          </p:nvSpPr>
          <p:spPr>
            <a:xfrm>
              <a:off x="0" y="9525"/>
              <a:ext cx="3685883" cy="22853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26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화면 서비스</a:t>
              </a:r>
              <a:endParaRPr sz="1600"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26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버블맵·추천·상세 분석</a:t>
              </a:r>
              <a:endParaRPr sz="1600"/>
            </a:p>
          </p:txBody>
        </p:sp>
      </p:grpSp>
      <p:cxnSp>
        <p:nvCxnSpPr>
          <p:cNvPr id="392" name="Google Shape;392;p18"/>
          <p:cNvCxnSpPr>
            <a:stCxn id="389" idx="3"/>
            <a:endCxn id="393" idx="1"/>
          </p:cNvCxnSpPr>
          <p:nvPr/>
        </p:nvCxnSpPr>
        <p:spPr>
          <a:xfrm>
            <a:off x="13804897" y="3668606"/>
            <a:ext cx="530100" cy="0"/>
          </a:xfrm>
          <a:prstGeom prst="straightConnector1">
            <a:avLst/>
          </a:prstGeom>
          <a:noFill/>
          <a:ln cap="rnd" cmpd="sng" w="38100">
            <a:solidFill>
              <a:srgbClr val="B6C6DA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94" name="Google Shape;394;p18"/>
          <p:cNvGrpSpPr/>
          <p:nvPr/>
        </p:nvGrpSpPr>
        <p:grpSpPr>
          <a:xfrm>
            <a:off x="14334896" y="2804446"/>
            <a:ext cx="2764440" cy="1721177"/>
            <a:chOff x="0" y="0"/>
            <a:chExt cx="3685921" cy="2294903"/>
          </a:xfrm>
        </p:grpSpPr>
        <p:sp>
          <p:nvSpPr>
            <p:cNvPr id="395" name="Google Shape;395;p18"/>
            <p:cNvSpPr/>
            <p:nvPr/>
          </p:nvSpPr>
          <p:spPr>
            <a:xfrm>
              <a:off x="0" y="0"/>
              <a:ext cx="3685921" cy="2294890"/>
            </a:xfrm>
            <a:custGeom>
              <a:rect b="b" l="l" r="r" t="t"/>
              <a:pathLst>
                <a:path extrusionOk="0" h="2294890" w="3685921">
                  <a:moveTo>
                    <a:pt x="0" y="0"/>
                  </a:moveTo>
                  <a:lnTo>
                    <a:pt x="3685921" y="0"/>
                  </a:lnTo>
                  <a:lnTo>
                    <a:pt x="3685921" y="2294890"/>
                  </a:lnTo>
                  <a:lnTo>
                    <a:pt x="0" y="229489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9E2E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93" name="Google Shape;393;p18"/>
            <p:cNvSpPr txBox="1"/>
            <p:nvPr/>
          </p:nvSpPr>
          <p:spPr>
            <a:xfrm>
              <a:off x="0" y="9525"/>
              <a:ext cx="3685883" cy="22853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6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브이월드 지도</a:t>
              </a:r>
              <a:endParaRPr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6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무료 배경지도 표시</a:t>
              </a:r>
              <a:endParaRPr/>
            </a:p>
          </p:txBody>
        </p:sp>
      </p:grpSp>
      <p:grpSp>
        <p:nvGrpSpPr>
          <p:cNvPr id="396" name="Google Shape;396;p18"/>
          <p:cNvGrpSpPr/>
          <p:nvPr/>
        </p:nvGrpSpPr>
        <p:grpSpPr>
          <a:xfrm>
            <a:off x="1166774" y="5984853"/>
            <a:ext cx="2608078" cy="411804"/>
            <a:chOff x="0" y="0"/>
            <a:chExt cx="3477438" cy="549072"/>
          </a:xfrm>
        </p:grpSpPr>
        <p:sp>
          <p:nvSpPr>
            <p:cNvPr id="397" name="Google Shape;397;p18"/>
            <p:cNvSpPr/>
            <p:nvPr/>
          </p:nvSpPr>
          <p:spPr>
            <a:xfrm>
              <a:off x="0" y="0"/>
              <a:ext cx="3477437" cy="549069"/>
            </a:xfrm>
            <a:custGeom>
              <a:rect b="b" l="l" r="r" t="t"/>
              <a:pathLst>
                <a:path extrusionOk="0" h="549069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3402" l="0" r="0" t="-73402"/>
              </a:stretch>
            </a:blipFill>
            <a:ln>
              <a:noFill/>
            </a:ln>
          </p:spPr>
        </p:sp>
        <p:sp>
          <p:nvSpPr>
            <p:cNvPr id="398" name="Google Shape;398;p18"/>
            <p:cNvSpPr txBox="1"/>
            <p:nvPr/>
          </p:nvSpPr>
          <p:spPr>
            <a:xfrm>
              <a:off x="0" y="9525"/>
              <a:ext cx="3477438" cy="539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운영 원칙</a:t>
              </a:r>
              <a:endParaRPr sz="1600"/>
            </a:p>
          </p:txBody>
        </p:sp>
      </p:grpSp>
      <p:grpSp>
        <p:nvGrpSpPr>
          <p:cNvPr id="399" name="Google Shape;399;p18"/>
          <p:cNvGrpSpPr/>
          <p:nvPr/>
        </p:nvGrpSpPr>
        <p:grpSpPr>
          <a:xfrm>
            <a:off x="1225877" y="6785200"/>
            <a:ext cx="1597638" cy="623041"/>
            <a:chOff x="0" y="0"/>
            <a:chExt cx="2130184" cy="830721"/>
          </a:xfrm>
        </p:grpSpPr>
        <p:sp>
          <p:nvSpPr>
            <p:cNvPr id="400" name="Google Shape;400;p18"/>
            <p:cNvSpPr/>
            <p:nvPr/>
          </p:nvSpPr>
          <p:spPr>
            <a:xfrm>
              <a:off x="0" y="0"/>
              <a:ext cx="2130171" cy="830708"/>
            </a:xfrm>
            <a:custGeom>
              <a:rect b="b" l="l" r="r" t="t"/>
              <a:pathLst>
                <a:path extrusionOk="0" h="830708" w="2130171">
                  <a:moveTo>
                    <a:pt x="0" y="0"/>
                  </a:moveTo>
                  <a:lnTo>
                    <a:pt x="2130171" y="0"/>
                  </a:lnTo>
                  <a:lnTo>
                    <a:pt x="2130171" y="830708"/>
                  </a:lnTo>
                  <a:lnTo>
                    <a:pt x="0" y="830708"/>
                  </a:lnTo>
                  <a:close/>
                </a:path>
              </a:pathLst>
            </a:custGeom>
            <a:solidFill>
              <a:srgbClr val="E9F7EE"/>
            </a:solidFill>
            <a:ln cap="sq" cmpd="sng" w="19050">
              <a:solidFill>
                <a:srgbClr val="CBEFD6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01" name="Google Shape;401;p18"/>
            <p:cNvSpPr txBox="1"/>
            <p:nvPr/>
          </p:nvSpPr>
          <p:spPr>
            <a:xfrm>
              <a:off x="0" y="9525"/>
              <a:ext cx="2130184" cy="821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26" u="none" cap="none" strike="noStrike">
                  <a:solidFill>
                    <a:srgbClr val="0F766E"/>
                  </a:solidFill>
                  <a:latin typeface="Noto Sans"/>
                  <a:ea typeface="Noto Sans"/>
                  <a:cs typeface="Noto Sans"/>
                  <a:sym typeface="Noto Sans"/>
                </a:rPr>
                <a:t>무료 우선</a:t>
              </a:r>
              <a:endParaRPr sz="1600"/>
            </a:p>
          </p:txBody>
        </p:sp>
      </p:grpSp>
      <p:sp>
        <p:nvSpPr>
          <p:cNvPr id="402" name="Google Shape;402;p18"/>
          <p:cNvSpPr txBox="1"/>
          <p:nvPr/>
        </p:nvSpPr>
        <p:spPr>
          <a:xfrm>
            <a:off x="2938306" y="6809168"/>
            <a:ext cx="34305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6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유료 지도·유료 서버·생성형 인공지능 호출 없음</a:t>
            </a:r>
            <a:endParaRPr sz="1600"/>
          </a:p>
        </p:txBody>
      </p:sp>
      <p:grpSp>
        <p:nvGrpSpPr>
          <p:cNvPr id="403" name="Google Shape;403;p18"/>
          <p:cNvGrpSpPr/>
          <p:nvPr/>
        </p:nvGrpSpPr>
        <p:grpSpPr>
          <a:xfrm>
            <a:off x="6785200" y="6785200"/>
            <a:ext cx="1597638" cy="623041"/>
            <a:chOff x="0" y="0"/>
            <a:chExt cx="2130184" cy="830721"/>
          </a:xfrm>
        </p:grpSpPr>
        <p:sp>
          <p:nvSpPr>
            <p:cNvPr id="404" name="Google Shape;404;p18"/>
            <p:cNvSpPr/>
            <p:nvPr/>
          </p:nvSpPr>
          <p:spPr>
            <a:xfrm>
              <a:off x="0" y="0"/>
              <a:ext cx="2130171" cy="830708"/>
            </a:xfrm>
            <a:custGeom>
              <a:rect b="b" l="l" r="r" t="t"/>
              <a:pathLst>
                <a:path extrusionOk="0" h="830708" w="2130171">
                  <a:moveTo>
                    <a:pt x="0" y="0"/>
                  </a:moveTo>
                  <a:lnTo>
                    <a:pt x="2130171" y="0"/>
                  </a:lnTo>
                  <a:lnTo>
                    <a:pt x="2130171" y="830708"/>
                  </a:lnTo>
                  <a:lnTo>
                    <a:pt x="0" y="830708"/>
                  </a:lnTo>
                  <a:close/>
                </a:path>
              </a:pathLst>
            </a:custGeom>
            <a:solidFill>
              <a:srgbClr val="FEEEEE"/>
            </a:solidFill>
            <a:ln cap="sq" cmpd="sng" w="19050">
              <a:solidFill>
                <a:srgbClr val="F9CACA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05" name="Google Shape;405;p18"/>
            <p:cNvSpPr txBox="1"/>
            <p:nvPr/>
          </p:nvSpPr>
          <p:spPr>
            <a:xfrm>
              <a:off x="0" y="9525"/>
              <a:ext cx="2130184" cy="821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26" u="none" cap="none" strike="noStrike">
                  <a:solidFill>
                    <a:srgbClr val="0F766E"/>
                  </a:solidFill>
                  <a:latin typeface="Noto Sans"/>
                  <a:ea typeface="Noto Sans"/>
                  <a:cs typeface="Noto Sans"/>
                  <a:sym typeface="Noto Sans"/>
                </a:rPr>
                <a:t>보안 분리</a:t>
              </a:r>
              <a:endParaRPr sz="1600"/>
            </a:p>
          </p:txBody>
        </p:sp>
      </p:grpSp>
      <p:sp>
        <p:nvSpPr>
          <p:cNvPr id="406" name="Google Shape;406;p18"/>
          <p:cNvSpPr txBox="1"/>
          <p:nvPr/>
        </p:nvSpPr>
        <p:spPr>
          <a:xfrm>
            <a:off x="8483825" y="6809168"/>
            <a:ext cx="34305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6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서울시 키와 데이터베이스 비밀키는 브라우저에 노출하지 않음</a:t>
            </a:r>
            <a:endParaRPr sz="1600"/>
          </a:p>
        </p:txBody>
      </p:sp>
      <p:grpSp>
        <p:nvGrpSpPr>
          <p:cNvPr id="407" name="Google Shape;407;p18"/>
          <p:cNvGrpSpPr/>
          <p:nvPr/>
        </p:nvGrpSpPr>
        <p:grpSpPr>
          <a:xfrm>
            <a:off x="12344524" y="6785200"/>
            <a:ext cx="1597638" cy="623041"/>
            <a:chOff x="0" y="0"/>
            <a:chExt cx="2130184" cy="830721"/>
          </a:xfrm>
        </p:grpSpPr>
        <p:sp>
          <p:nvSpPr>
            <p:cNvPr id="408" name="Google Shape;408;p18"/>
            <p:cNvSpPr/>
            <p:nvPr/>
          </p:nvSpPr>
          <p:spPr>
            <a:xfrm>
              <a:off x="0" y="0"/>
              <a:ext cx="2130171" cy="830708"/>
            </a:xfrm>
            <a:custGeom>
              <a:rect b="b" l="l" r="r" t="t"/>
              <a:pathLst>
                <a:path extrusionOk="0" h="830708" w="2130171">
                  <a:moveTo>
                    <a:pt x="0" y="0"/>
                  </a:moveTo>
                  <a:lnTo>
                    <a:pt x="2130171" y="0"/>
                  </a:lnTo>
                  <a:lnTo>
                    <a:pt x="2130171" y="830708"/>
                  </a:lnTo>
                  <a:lnTo>
                    <a:pt x="0" y="830708"/>
                  </a:lnTo>
                  <a:close/>
                </a:path>
              </a:pathLst>
            </a:custGeom>
            <a:solidFill>
              <a:srgbClr val="F1EAFF"/>
            </a:solidFill>
            <a:ln cap="sq" cmpd="sng" w="19050">
              <a:solidFill>
                <a:srgbClr val="DCD0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09" name="Google Shape;409;p18"/>
            <p:cNvSpPr txBox="1"/>
            <p:nvPr/>
          </p:nvSpPr>
          <p:spPr>
            <a:xfrm>
              <a:off x="0" y="9525"/>
              <a:ext cx="2130184" cy="821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26" u="none" cap="none" strike="noStrike">
                  <a:solidFill>
                    <a:srgbClr val="0F766E"/>
                  </a:solidFill>
                  <a:latin typeface="Noto Sans"/>
                  <a:ea typeface="Noto Sans"/>
                  <a:cs typeface="Noto Sans"/>
                  <a:sym typeface="Noto Sans"/>
                </a:rPr>
                <a:t>분기 갱신</a:t>
              </a:r>
              <a:endParaRPr sz="1600"/>
            </a:p>
          </p:txBody>
        </p:sp>
      </p:grpSp>
      <p:sp>
        <p:nvSpPr>
          <p:cNvPr id="410" name="Google Shape;410;p18"/>
          <p:cNvSpPr txBox="1"/>
          <p:nvPr/>
        </p:nvSpPr>
        <p:spPr>
          <a:xfrm>
            <a:off x="14043148" y="6795364"/>
            <a:ext cx="34305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6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실시간 연동보다 분기 단위 수집과 재분석에 최적화</a:t>
            </a:r>
            <a:endParaRPr sz="1600"/>
          </a:p>
        </p:txBody>
      </p:sp>
      <p:grpSp>
        <p:nvGrpSpPr>
          <p:cNvPr id="411" name="Google Shape;411;p18"/>
          <p:cNvGrpSpPr/>
          <p:nvPr/>
        </p:nvGrpSpPr>
        <p:grpSpPr>
          <a:xfrm>
            <a:off x="892235" y="9677343"/>
            <a:ext cx="5216157" cy="274539"/>
            <a:chOff x="0" y="0"/>
            <a:chExt cx="6954876" cy="366052"/>
          </a:xfrm>
        </p:grpSpPr>
        <p:sp>
          <p:nvSpPr>
            <p:cNvPr id="412" name="Google Shape;412;p18"/>
            <p:cNvSpPr/>
            <p:nvPr/>
          </p:nvSpPr>
          <p:spPr>
            <a:xfrm>
              <a:off x="0" y="0"/>
              <a:ext cx="6954873" cy="366046"/>
            </a:xfrm>
            <a:custGeom>
              <a:rect b="b" l="l" r="r" t="t"/>
              <a:pathLst>
                <a:path extrusionOk="0" h="366046" w="6954873">
                  <a:moveTo>
                    <a:pt x="0" y="0"/>
                  </a:moveTo>
                  <a:lnTo>
                    <a:pt x="6954873" y="0"/>
                  </a:lnTo>
                  <a:lnTo>
                    <a:pt x="6954873" y="366046"/>
                  </a:lnTo>
                  <a:lnTo>
                    <a:pt x="0" y="36604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20206" l="0" r="0" t="-320206"/>
              </a:stretch>
            </a:blipFill>
            <a:ln>
              <a:noFill/>
            </a:ln>
          </p:spPr>
        </p:sp>
        <p:sp>
          <p:nvSpPr>
            <p:cNvPr id="413" name="Google Shape;413;p18"/>
            <p:cNvSpPr txBox="1"/>
            <p:nvPr/>
          </p:nvSpPr>
          <p:spPr>
            <a:xfrm>
              <a:off x="0" y="9525"/>
              <a:ext cx="6954876" cy="356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상권나침반 바이브코딩 적용 보고</a:t>
              </a:r>
              <a:endParaRPr/>
            </a:p>
          </p:txBody>
        </p:sp>
      </p:grpSp>
      <p:grpSp>
        <p:nvGrpSpPr>
          <p:cNvPr id="414" name="Google Shape;414;p18"/>
          <p:cNvGrpSpPr/>
          <p:nvPr/>
        </p:nvGrpSpPr>
        <p:grpSpPr>
          <a:xfrm>
            <a:off x="16815235" y="9629013"/>
            <a:ext cx="617706" cy="336585"/>
            <a:chOff x="0" y="-9525"/>
            <a:chExt cx="823608" cy="448780"/>
          </a:xfrm>
        </p:grpSpPr>
        <p:sp>
          <p:nvSpPr>
            <p:cNvPr id="415" name="Google Shape;415;p18"/>
            <p:cNvSpPr/>
            <p:nvPr/>
          </p:nvSpPr>
          <p:spPr>
            <a:xfrm>
              <a:off x="0" y="0"/>
              <a:ext cx="823603" cy="439255"/>
            </a:xfrm>
            <a:custGeom>
              <a:rect b="b" l="l" r="r" t="t"/>
              <a:pathLst>
                <a:path extrusionOk="0" h="439255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439255"/>
                  </a:lnTo>
                  <a:lnTo>
                    <a:pt x="0" y="4392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8428" r="-18428" t="0"/>
              </a:stretch>
            </a:blipFill>
            <a:ln>
              <a:noFill/>
            </a:ln>
          </p:spPr>
        </p:sp>
        <p:sp>
          <p:nvSpPr>
            <p:cNvPr id="416" name="Google Shape;416;p18"/>
            <p:cNvSpPr txBox="1"/>
            <p:nvPr/>
          </p:nvSpPr>
          <p:spPr>
            <a:xfrm>
              <a:off x="0" y="-9525"/>
              <a:ext cx="823608" cy="448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05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19"/>
          <p:cNvGrpSpPr/>
          <p:nvPr/>
        </p:nvGrpSpPr>
        <p:grpSpPr>
          <a:xfrm>
            <a:off x="892235" y="521618"/>
            <a:ext cx="11667715" cy="620995"/>
            <a:chOff x="0" y="0"/>
            <a:chExt cx="15556954" cy="827993"/>
          </a:xfrm>
        </p:grpSpPr>
        <p:sp>
          <p:nvSpPr>
            <p:cNvPr id="426" name="Google Shape;426;p19"/>
            <p:cNvSpPr/>
            <p:nvPr/>
          </p:nvSpPr>
          <p:spPr>
            <a:xfrm>
              <a:off x="0" y="0"/>
              <a:ext cx="15556954" cy="827989"/>
            </a:xfrm>
            <a:custGeom>
              <a:rect b="b" l="l" r="r" t="t"/>
              <a:pathLst>
                <a:path extrusionOk="0" h="827989" w="15556954">
                  <a:moveTo>
                    <a:pt x="0" y="0"/>
                  </a:moveTo>
                  <a:lnTo>
                    <a:pt x="15556954" y="0"/>
                  </a:lnTo>
                  <a:lnTo>
                    <a:pt x="15556954" y="827989"/>
                  </a:lnTo>
                  <a:lnTo>
                    <a:pt x="0" y="82798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15822" l="0" r="0" t="-316349"/>
              </a:stretch>
            </a:blipFill>
            <a:ln>
              <a:noFill/>
            </a:ln>
          </p:spPr>
        </p:sp>
        <p:sp>
          <p:nvSpPr>
            <p:cNvPr id="427" name="Google Shape;427;p19"/>
            <p:cNvSpPr txBox="1"/>
            <p:nvPr/>
          </p:nvSpPr>
          <p:spPr>
            <a:xfrm>
              <a:off x="0" y="0"/>
              <a:ext cx="15556954" cy="82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5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개발 통제 방식</a:t>
              </a:r>
              <a:endParaRPr/>
            </a:p>
          </p:txBody>
        </p:sp>
      </p:grpSp>
      <p:grpSp>
        <p:nvGrpSpPr>
          <p:cNvPr id="428" name="Google Shape;428;p19"/>
          <p:cNvGrpSpPr/>
          <p:nvPr/>
        </p:nvGrpSpPr>
        <p:grpSpPr>
          <a:xfrm>
            <a:off x="919686" y="1207951"/>
            <a:ext cx="12079519" cy="343170"/>
            <a:chOff x="0" y="0"/>
            <a:chExt cx="16106026" cy="457559"/>
          </a:xfrm>
        </p:grpSpPr>
        <p:sp>
          <p:nvSpPr>
            <p:cNvPr id="429" name="Google Shape;429;p19"/>
            <p:cNvSpPr/>
            <p:nvPr/>
          </p:nvSpPr>
          <p:spPr>
            <a:xfrm>
              <a:off x="0" y="0"/>
              <a:ext cx="16106023" cy="457559"/>
            </a:xfrm>
            <a:custGeom>
              <a:rect b="b" l="l" r="r" t="t"/>
              <a:pathLst>
                <a:path extrusionOk="0" h="457559" w="16106023">
                  <a:moveTo>
                    <a:pt x="0" y="0"/>
                  </a:moveTo>
                  <a:lnTo>
                    <a:pt x="16106023" y="0"/>
                  </a:lnTo>
                  <a:lnTo>
                    <a:pt x="16106023" y="457559"/>
                  </a:lnTo>
                  <a:lnTo>
                    <a:pt x="0" y="45755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5871" l="0" r="0" t="-635871"/>
              </a:stretch>
            </a:blipFill>
            <a:ln>
              <a:noFill/>
            </a:ln>
          </p:spPr>
        </p:sp>
        <p:sp>
          <p:nvSpPr>
            <p:cNvPr id="430" name="Google Shape;430;p19"/>
            <p:cNvSpPr txBox="1"/>
            <p:nvPr/>
          </p:nvSpPr>
          <p:spPr>
            <a:xfrm>
              <a:off x="0" y="0"/>
              <a:ext cx="16106026" cy="457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자율 구현이 아니라 문서화된 계약 안에서 코덱스가 작업하도록 구성했습니다.</a:t>
              </a:r>
              <a:endParaRPr/>
            </a:p>
          </p:txBody>
        </p:sp>
      </p:grpSp>
      <p:cxnSp>
        <p:nvCxnSpPr>
          <p:cNvPr id="431" name="Google Shape;431;p19"/>
          <p:cNvCxnSpPr/>
          <p:nvPr/>
        </p:nvCxnSpPr>
        <p:spPr>
          <a:xfrm rot="3960">
            <a:off x="882701" y="1642443"/>
            <a:ext cx="16559774" cy="0"/>
          </a:xfrm>
          <a:prstGeom prst="straightConnector1">
            <a:avLst/>
          </a:prstGeom>
          <a:noFill/>
          <a:ln cap="rnd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32" name="Google Shape;432;p19"/>
          <p:cNvGrpSpPr/>
          <p:nvPr/>
        </p:nvGrpSpPr>
        <p:grpSpPr>
          <a:xfrm>
            <a:off x="1166774" y="2031559"/>
            <a:ext cx="2745344" cy="411804"/>
            <a:chOff x="0" y="0"/>
            <a:chExt cx="3660460" cy="549072"/>
          </a:xfrm>
        </p:grpSpPr>
        <p:sp>
          <p:nvSpPr>
            <p:cNvPr id="433" name="Google Shape;433;p19"/>
            <p:cNvSpPr/>
            <p:nvPr/>
          </p:nvSpPr>
          <p:spPr>
            <a:xfrm>
              <a:off x="0" y="0"/>
              <a:ext cx="3660460" cy="549069"/>
            </a:xfrm>
            <a:custGeom>
              <a:rect b="b" l="l" r="r" t="t"/>
              <a:pathLst>
                <a:path extrusionOk="0" h="549069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9902" l="0" r="0" t="-79899"/>
              </a:stretch>
            </a:blipFill>
            <a:ln>
              <a:noFill/>
            </a:ln>
          </p:spPr>
        </p:sp>
        <p:sp>
          <p:nvSpPr>
            <p:cNvPr id="434" name="Google Shape;434;p19"/>
            <p:cNvSpPr txBox="1"/>
            <p:nvPr/>
          </p:nvSpPr>
          <p:spPr>
            <a:xfrm>
              <a:off x="0" y="9525"/>
              <a:ext cx="3660458" cy="539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하네스 구조</a:t>
              </a:r>
              <a:endParaRPr sz="1600"/>
            </a:p>
          </p:txBody>
        </p:sp>
      </p:grpSp>
      <p:grpSp>
        <p:nvGrpSpPr>
          <p:cNvPr id="435" name="Google Shape;435;p19"/>
          <p:cNvGrpSpPr/>
          <p:nvPr/>
        </p:nvGrpSpPr>
        <p:grpSpPr>
          <a:xfrm>
            <a:off x="1157240" y="2756125"/>
            <a:ext cx="3244882" cy="781179"/>
            <a:chOff x="0" y="-9525"/>
            <a:chExt cx="4326509" cy="1041571"/>
          </a:xfrm>
        </p:grpSpPr>
        <p:sp>
          <p:nvSpPr>
            <p:cNvPr id="436" name="Google Shape;436;p19"/>
            <p:cNvSpPr/>
            <p:nvPr/>
          </p:nvSpPr>
          <p:spPr>
            <a:xfrm>
              <a:off x="0" y="0"/>
              <a:ext cx="4326509" cy="1032008"/>
            </a:xfrm>
            <a:custGeom>
              <a:rect b="b" l="l" r="r" t="t"/>
              <a:pathLst>
                <a:path extrusionOk="0" h="1032008" w="4326509">
                  <a:moveTo>
                    <a:pt x="0" y="0"/>
                  </a:moveTo>
                  <a:lnTo>
                    <a:pt x="4326509" y="0"/>
                  </a:lnTo>
                  <a:lnTo>
                    <a:pt x="4326509" y="1032008"/>
                  </a:lnTo>
                  <a:lnTo>
                    <a:pt x="0" y="1032008"/>
                  </a:lnTo>
                  <a:close/>
                </a:path>
              </a:pathLst>
            </a:custGeom>
            <a:solidFill>
              <a:srgbClr val="EAF1FF"/>
            </a:solidFill>
            <a:ln cap="sq" cmpd="sng" w="19050">
              <a:solidFill>
                <a:srgbClr val="EAF1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37" name="Google Shape;437;p19"/>
            <p:cNvSpPr txBox="1"/>
            <p:nvPr/>
          </p:nvSpPr>
          <p:spPr>
            <a:xfrm>
              <a:off x="0" y="-9525"/>
              <a:ext cx="4326458" cy="1041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1" u="none" cap="none" strike="noStrike">
                  <a:solidFill>
                    <a:srgbClr val="0F766E"/>
                  </a:solidFill>
                  <a:latin typeface="Noto Sans"/>
                  <a:ea typeface="Noto Sans"/>
                  <a:cs typeface="Noto Sans"/>
                  <a:sym typeface="Noto Sans"/>
                </a:rPr>
                <a:t>개발 규칙</a:t>
              </a:r>
              <a:endParaRPr sz="1600"/>
            </a:p>
          </p:txBody>
        </p:sp>
      </p:grpSp>
      <p:sp>
        <p:nvSpPr>
          <p:cNvPr id="438" name="Google Shape;438;p19"/>
          <p:cNvSpPr txBox="1"/>
          <p:nvPr/>
        </p:nvSpPr>
        <p:spPr>
          <a:xfrm>
            <a:off x="1277217" y="3775481"/>
            <a:ext cx="29499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6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항상 지켜야 할 제약과 금지사항</a:t>
            </a:r>
            <a:endParaRPr sz="1600"/>
          </a:p>
        </p:txBody>
      </p:sp>
      <p:grpSp>
        <p:nvGrpSpPr>
          <p:cNvPr id="439" name="Google Shape;439;p19"/>
          <p:cNvGrpSpPr/>
          <p:nvPr/>
        </p:nvGrpSpPr>
        <p:grpSpPr>
          <a:xfrm>
            <a:off x="5343887" y="2756125"/>
            <a:ext cx="3244882" cy="781179"/>
            <a:chOff x="0" y="-9525"/>
            <a:chExt cx="4326509" cy="1041571"/>
          </a:xfrm>
        </p:grpSpPr>
        <p:sp>
          <p:nvSpPr>
            <p:cNvPr id="440" name="Google Shape;440;p19"/>
            <p:cNvSpPr/>
            <p:nvPr/>
          </p:nvSpPr>
          <p:spPr>
            <a:xfrm>
              <a:off x="0" y="0"/>
              <a:ext cx="4326509" cy="1032008"/>
            </a:xfrm>
            <a:custGeom>
              <a:rect b="b" l="l" r="r" t="t"/>
              <a:pathLst>
                <a:path extrusionOk="0" h="1032008" w="4326509">
                  <a:moveTo>
                    <a:pt x="0" y="0"/>
                  </a:moveTo>
                  <a:lnTo>
                    <a:pt x="4326509" y="0"/>
                  </a:lnTo>
                  <a:lnTo>
                    <a:pt x="4326509" y="1032008"/>
                  </a:lnTo>
                  <a:lnTo>
                    <a:pt x="0" y="1032008"/>
                  </a:lnTo>
                  <a:close/>
                </a:path>
              </a:pathLst>
            </a:custGeom>
            <a:solidFill>
              <a:srgbClr val="E9F7EE"/>
            </a:solidFill>
            <a:ln cap="sq" cmpd="sng" w="19050">
              <a:solidFill>
                <a:srgbClr val="E9F7EE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41" name="Google Shape;441;p19"/>
            <p:cNvSpPr txBox="1"/>
            <p:nvPr/>
          </p:nvSpPr>
          <p:spPr>
            <a:xfrm>
              <a:off x="0" y="-9525"/>
              <a:ext cx="4326458" cy="1041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1" u="none" cap="none" strike="noStrike">
                  <a:solidFill>
                    <a:srgbClr val="0F766E"/>
                  </a:solidFill>
                  <a:latin typeface="Noto Sans"/>
                  <a:ea typeface="Noto Sans"/>
                  <a:cs typeface="Noto Sans"/>
                  <a:sym typeface="Noto Sans"/>
                </a:rPr>
                <a:t>제품 명세</a:t>
              </a:r>
              <a:endParaRPr sz="1600"/>
            </a:p>
          </p:txBody>
        </p:sp>
      </p:grpSp>
      <p:sp>
        <p:nvSpPr>
          <p:cNvPr id="442" name="Google Shape;442;p19"/>
          <p:cNvSpPr txBox="1"/>
          <p:nvPr/>
        </p:nvSpPr>
        <p:spPr>
          <a:xfrm>
            <a:off x="5463873" y="3775481"/>
            <a:ext cx="29499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6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기능·데이터·점수·화면 기준</a:t>
            </a:r>
            <a:endParaRPr sz="1600"/>
          </a:p>
        </p:txBody>
      </p:sp>
      <p:grpSp>
        <p:nvGrpSpPr>
          <p:cNvPr id="443" name="Google Shape;443;p19"/>
          <p:cNvGrpSpPr/>
          <p:nvPr/>
        </p:nvGrpSpPr>
        <p:grpSpPr>
          <a:xfrm>
            <a:off x="9530544" y="2756125"/>
            <a:ext cx="3244882" cy="781179"/>
            <a:chOff x="0" y="-9525"/>
            <a:chExt cx="4326509" cy="1041571"/>
          </a:xfrm>
        </p:grpSpPr>
        <p:sp>
          <p:nvSpPr>
            <p:cNvPr id="444" name="Google Shape;444;p19"/>
            <p:cNvSpPr/>
            <p:nvPr/>
          </p:nvSpPr>
          <p:spPr>
            <a:xfrm>
              <a:off x="0" y="0"/>
              <a:ext cx="4326509" cy="1032008"/>
            </a:xfrm>
            <a:custGeom>
              <a:rect b="b" l="l" r="r" t="t"/>
              <a:pathLst>
                <a:path extrusionOk="0" h="1032008" w="4326509">
                  <a:moveTo>
                    <a:pt x="0" y="0"/>
                  </a:moveTo>
                  <a:lnTo>
                    <a:pt x="4326509" y="0"/>
                  </a:lnTo>
                  <a:lnTo>
                    <a:pt x="4326509" y="1032008"/>
                  </a:lnTo>
                  <a:lnTo>
                    <a:pt x="0" y="1032008"/>
                  </a:lnTo>
                  <a:close/>
                </a:path>
              </a:pathLst>
            </a:custGeom>
            <a:solidFill>
              <a:srgbClr val="FFF7E6"/>
            </a:solidFill>
            <a:ln cap="sq" cmpd="sng" w="19050">
              <a:solidFill>
                <a:srgbClr val="FFF7E6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45" name="Google Shape;445;p19"/>
            <p:cNvSpPr txBox="1"/>
            <p:nvPr/>
          </p:nvSpPr>
          <p:spPr>
            <a:xfrm>
              <a:off x="0" y="-9525"/>
              <a:ext cx="4326458" cy="1041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1" u="none" cap="none" strike="noStrike">
                  <a:solidFill>
                    <a:srgbClr val="0F766E"/>
                  </a:solidFill>
                  <a:latin typeface="Noto Sans"/>
                  <a:ea typeface="Noto Sans"/>
                  <a:cs typeface="Noto Sans"/>
                  <a:sym typeface="Noto Sans"/>
                </a:rPr>
                <a:t>자료 요구</a:t>
              </a:r>
              <a:endParaRPr sz="1600"/>
            </a:p>
          </p:txBody>
        </p:sp>
      </p:grpSp>
      <p:sp>
        <p:nvSpPr>
          <p:cNvPr id="446" name="Google Shape;446;p19"/>
          <p:cNvSpPr txBox="1"/>
          <p:nvPr/>
        </p:nvSpPr>
        <p:spPr>
          <a:xfrm>
            <a:off x="9650520" y="3775481"/>
            <a:ext cx="29499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6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필요 인증키와 공개 자료 목록</a:t>
            </a:r>
            <a:endParaRPr sz="1600"/>
          </a:p>
        </p:txBody>
      </p:sp>
      <p:grpSp>
        <p:nvGrpSpPr>
          <p:cNvPr id="447" name="Google Shape;447;p19"/>
          <p:cNvGrpSpPr/>
          <p:nvPr/>
        </p:nvGrpSpPr>
        <p:grpSpPr>
          <a:xfrm>
            <a:off x="13717191" y="2756125"/>
            <a:ext cx="3244882" cy="781179"/>
            <a:chOff x="0" y="-9525"/>
            <a:chExt cx="4326509" cy="1041571"/>
          </a:xfrm>
        </p:grpSpPr>
        <p:sp>
          <p:nvSpPr>
            <p:cNvPr id="448" name="Google Shape;448;p19"/>
            <p:cNvSpPr/>
            <p:nvPr/>
          </p:nvSpPr>
          <p:spPr>
            <a:xfrm>
              <a:off x="0" y="0"/>
              <a:ext cx="4326509" cy="1032008"/>
            </a:xfrm>
            <a:custGeom>
              <a:rect b="b" l="l" r="r" t="t"/>
              <a:pathLst>
                <a:path extrusionOk="0" h="1032008" w="4326509">
                  <a:moveTo>
                    <a:pt x="0" y="0"/>
                  </a:moveTo>
                  <a:lnTo>
                    <a:pt x="4326509" y="0"/>
                  </a:lnTo>
                  <a:lnTo>
                    <a:pt x="4326509" y="1032008"/>
                  </a:lnTo>
                  <a:lnTo>
                    <a:pt x="0" y="1032008"/>
                  </a:lnTo>
                  <a:close/>
                </a:path>
              </a:pathLst>
            </a:custGeom>
            <a:solidFill>
              <a:srgbClr val="F1EAFF"/>
            </a:solidFill>
            <a:ln cap="sq" cmpd="sng" w="19050">
              <a:solidFill>
                <a:srgbClr val="F1EA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49" name="Google Shape;449;p19"/>
            <p:cNvSpPr txBox="1"/>
            <p:nvPr/>
          </p:nvSpPr>
          <p:spPr>
            <a:xfrm>
              <a:off x="0" y="-9525"/>
              <a:ext cx="4326458" cy="1041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1" u="none" cap="none" strike="noStrike">
                  <a:solidFill>
                    <a:srgbClr val="0F766E"/>
                  </a:solidFill>
                  <a:latin typeface="Noto Sans"/>
                  <a:ea typeface="Noto Sans"/>
                  <a:cs typeface="Noto Sans"/>
                  <a:sym typeface="Noto Sans"/>
                </a:rPr>
                <a:t>시작 요청</a:t>
              </a:r>
              <a:endParaRPr sz="1600"/>
            </a:p>
          </p:txBody>
        </p:sp>
      </p:grpSp>
      <p:sp>
        <p:nvSpPr>
          <p:cNvPr id="450" name="Google Shape;450;p19"/>
          <p:cNvSpPr txBox="1"/>
          <p:nvPr/>
        </p:nvSpPr>
        <p:spPr>
          <a:xfrm>
            <a:off x="13837177" y="3775481"/>
            <a:ext cx="29499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6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작업 순서와 완료 보고 형식</a:t>
            </a:r>
            <a:endParaRPr sz="1700"/>
          </a:p>
        </p:txBody>
      </p:sp>
      <p:grpSp>
        <p:nvGrpSpPr>
          <p:cNvPr id="451" name="Google Shape;451;p19"/>
          <p:cNvGrpSpPr/>
          <p:nvPr/>
        </p:nvGrpSpPr>
        <p:grpSpPr>
          <a:xfrm>
            <a:off x="1166774" y="5627961"/>
            <a:ext cx="2882613" cy="411804"/>
            <a:chOff x="0" y="0"/>
            <a:chExt cx="3843483" cy="549072"/>
          </a:xfrm>
        </p:grpSpPr>
        <p:sp>
          <p:nvSpPr>
            <p:cNvPr id="452" name="Google Shape;452;p19"/>
            <p:cNvSpPr/>
            <p:nvPr/>
          </p:nvSpPr>
          <p:spPr>
            <a:xfrm>
              <a:off x="0" y="0"/>
              <a:ext cx="3843483" cy="549069"/>
            </a:xfrm>
            <a:custGeom>
              <a:rect b="b" l="l" r="r" t="t"/>
              <a:pathLst>
                <a:path extrusionOk="0" h="549069" w="3843483">
                  <a:moveTo>
                    <a:pt x="0" y="0"/>
                  </a:moveTo>
                  <a:lnTo>
                    <a:pt x="3843483" y="0"/>
                  </a:lnTo>
                  <a:lnTo>
                    <a:pt x="3843483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396" l="0" r="0" t="-86396"/>
              </a:stretch>
            </a:blipFill>
            <a:ln>
              <a:noFill/>
            </a:ln>
          </p:spPr>
        </p:sp>
        <p:sp>
          <p:nvSpPr>
            <p:cNvPr id="453" name="Google Shape;453;p19"/>
            <p:cNvSpPr txBox="1"/>
            <p:nvPr/>
          </p:nvSpPr>
          <p:spPr>
            <a:xfrm>
              <a:off x="0" y="9525"/>
              <a:ext cx="3843477" cy="539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금지 규칙 예시</a:t>
              </a:r>
              <a:endParaRPr sz="1600"/>
            </a:p>
          </p:txBody>
        </p:sp>
      </p:grpSp>
      <p:grpSp>
        <p:nvGrpSpPr>
          <p:cNvPr id="454" name="Google Shape;454;p19"/>
          <p:cNvGrpSpPr/>
          <p:nvPr/>
        </p:nvGrpSpPr>
        <p:grpSpPr>
          <a:xfrm>
            <a:off x="1225877" y="6366253"/>
            <a:ext cx="4480275" cy="547824"/>
            <a:chOff x="0" y="-9525"/>
            <a:chExt cx="5973699" cy="730432"/>
          </a:xfrm>
        </p:grpSpPr>
        <p:sp>
          <p:nvSpPr>
            <p:cNvPr id="455" name="Google Shape;455;p19"/>
            <p:cNvSpPr/>
            <p:nvPr/>
          </p:nvSpPr>
          <p:spPr>
            <a:xfrm>
              <a:off x="0" y="0"/>
              <a:ext cx="5973699" cy="720856"/>
            </a:xfrm>
            <a:custGeom>
              <a:rect b="b" l="l" r="r" t="t"/>
              <a:pathLst>
                <a:path extrusionOk="0" h="720856" w="5973699">
                  <a:moveTo>
                    <a:pt x="0" y="0"/>
                  </a:moveTo>
                  <a:lnTo>
                    <a:pt x="5973699" y="0"/>
                  </a:lnTo>
                  <a:lnTo>
                    <a:pt x="5973699" y="720856"/>
                  </a:lnTo>
                  <a:lnTo>
                    <a:pt x="0" y="720856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9E2E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56" name="Google Shape;456;p19"/>
            <p:cNvSpPr txBox="1"/>
            <p:nvPr/>
          </p:nvSpPr>
          <p:spPr>
            <a:xfrm>
              <a:off x="0" y="-9525"/>
              <a:ext cx="5973661" cy="73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81">
                  <a:solidFill>
                    <a:srgbClr val="B91C1C"/>
                  </a:solidFill>
                  <a:latin typeface="Noto Sans"/>
                  <a:ea typeface="Noto Sans"/>
                  <a:cs typeface="Noto Sans"/>
                  <a:sym typeface="Noto Sans"/>
                </a:rPr>
                <a:t>        </a:t>
              </a:r>
              <a:r>
                <a:rPr b="1" i="0" lang="en-US" sz="1681" u="none" cap="none" strike="noStrike">
                  <a:solidFill>
                    <a:srgbClr val="B91C1C"/>
                  </a:solidFill>
                  <a:latin typeface="Noto Sans"/>
                  <a:ea typeface="Noto Sans"/>
                  <a:cs typeface="Noto Sans"/>
                  <a:sym typeface="Noto Sans"/>
                </a:rPr>
                <a:t>가짜 데이터 생성 금지</a:t>
              </a:r>
              <a:endParaRPr/>
            </a:p>
          </p:txBody>
        </p:sp>
      </p:grpSp>
      <p:grpSp>
        <p:nvGrpSpPr>
          <p:cNvPr id="457" name="Google Shape;457;p19"/>
          <p:cNvGrpSpPr/>
          <p:nvPr/>
        </p:nvGrpSpPr>
        <p:grpSpPr>
          <a:xfrm>
            <a:off x="1345216" y="6479010"/>
            <a:ext cx="247079" cy="247079"/>
            <a:chOff x="0" y="0"/>
            <a:chExt cx="329438" cy="329438"/>
          </a:xfrm>
        </p:grpSpPr>
        <p:sp>
          <p:nvSpPr>
            <p:cNvPr id="458" name="Google Shape;458;p19"/>
            <p:cNvSpPr/>
            <p:nvPr/>
          </p:nvSpPr>
          <p:spPr>
            <a:xfrm>
              <a:off x="0" y="0"/>
              <a:ext cx="329438" cy="329438"/>
            </a:xfrm>
            <a:custGeom>
              <a:rect b="b" l="l" r="r" t="t"/>
              <a:pathLst>
                <a:path extrusionOk="0" h="329438" w="329438">
                  <a:moveTo>
                    <a:pt x="0" y="0"/>
                  </a:moveTo>
                  <a:lnTo>
                    <a:pt x="329438" y="0"/>
                  </a:lnTo>
                  <a:lnTo>
                    <a:pt x="329438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459" name="Google Shape;459;p19"/>
            <p:cNvSpPr txBox="1"/>
            <p:nvPr/>
          </p:nvSpPr>
          <p:spPr>
            <a:xfrm>
              <a:off x="0" y="0"/>
              <a:ext cx="329438" cy="329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!</a:t>
              </a:r>
              <a:endParaRPr/>
            </a:p>
          </p:txBody>
        </p:sp>
      </p:grpSp>
      <p:grpSp>
        <p:nvGrpSpPr>
          <p:cNvPr id="460" name="Google Shape;460;p19"/>
          <p:cNvGrpSpPr/>
          <p:nvPr/>
        </p:nvGrpSpPr>
        <p:grpSpPr>
          <a:xfrm>
            <a:off x="6785200" y="6366253"/>
            <a:ext cx="4480275" cy="547824"/>
            <a:chOff x="0" y="-9525"/>
            <a:chExt cx="5973699" cy="730432"/>
          </a:xfrm>
        </p:grpSpPr>
        <p:sp>
          <p:nvSpPr>
            <p:cNvPr id="461" name="Google Shape;461;p19"/>
            <p:cNvSpPr/>
            <p:nvPr/>
          </p:nvSpPr>
          <p:spPr>
            <a:xfrm>
              <a:off x="0" y="0"/>
              <a:ext cx="5973699" cy="720856"/>
            </a:xfrm>
            <a:custGeom>
              <a:rect b="b" l="l" r="r" t="t"/>
              <a:pathLst>
                <a:path extrusionOk="0" h="720856" w="5973699">
                  <a:moveTo>
                    <a:pt x="0" y="0"/>
                  </a:moveTo>
                  <a:lnTo>
                    <a:pt x="5973699" y="0"/>
                  </a:lnTo>
                  <a:lnTo>
                    <a:pt x="5973699" y="720856"/>
                  </a:lnTo>
                  <a:lnTo>
                    <a:pt x="0" y="720856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9E2E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62" name="Google Shape;462;p19"/>
            <p:cNvSpPr txBox="1"/>
            <p:nvPr/>
          </p:nvSpPr>
          <p:spPr>
            <a:xfrm>
              <a:off x="0" y="-9525"/>
              <a:ext cx="5973661" cy="73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81">
                  <a:solidFill>
                    <a:srgbClr val="B91C1C"/>
                  </a:solidFill>
                  <a:latin typeface="Noto Sans"/>
                  <a:ea typeface="Noto Sans"/>
                  <a:cs typeface="Noto Sans"/>
                  <a:sym typeface="Noto Sans"/>
                </a:rPr>
                <a:t>        </a:t>
              </a:r>
              <a:r>
                <a:rPr b="1" i="0" lang="en-US" sz="1681" u="none" cap="none" strike="noStrike">
                  <a:solidFill>
                    <a:srgbClr val="B91C1C"/>
                  </a:solidFill>
                  <a:latin typeface="Noto Sans"/>
                  <a:ea typeface="Noto Sans"/>
                  <a:cs typeface="Noto Sans"/>
                  <a:sym typeface="Noto Sans"/>
                </a:rPr>
                <a:t>지도 플랫폼 임의 변경 금지</a:t>
              </a:r>
              <a:endParaRPr/>
            </a:p>
          </p:txBody>
        </p:sp>
      </p:grpSp>
      <p:grpSp>
        <p:nvGrpSpPr>
          <p:cNvPr id="463" name="Google Shape;463;p19"/>
          <p:cNvGrpSpPr/>
          <p:nvPr/>
        </p:nvGrpSpPr>
        <p:grpSpPr>
          <a:xfrm>
            <a:off x="6904539" y="6479010"/>
            <a:ext cx="247079" cy="247079"/>
            <a:chOff x="0" y="0"/>
            <a:chExt cx="329438" cy="329438"/>
          </a:xfrm>
        </p:grpSpPr>
        <p:sp>
          <p:nvSpPr>
            <p:cNvPr id="464" name="Google Shape;464;p19"/>
            <p:cNvSpPr/>
            <p:nvPr/>
          </p:nvSpPr>
          <p:spPr>
            <a:xfrm>
              <a:off x="0" y="0"/>
              <a:ext cx="329438" cy="329438"/>
            </a:xfrm>
            <a:custGeom>
              <a:rect b="b" l="l" r="r" t="t"/>
              <a:pathLst>
                <a:path extrusionOk="0" h="329438" w="329438">
                  <a:moveTo>
                    <a:pt x="0" y="0"/>
                  </a:moveTo>
                  <a:lnTo>
                    <a:pt x="329438" y="0"/>
                  </a:lnTo>
                  <a:lnTo>
                    <a:pt x="329438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465" name="Google Shape;465;p19"/>
            <p:cNvSpPr txBox="1"/>
            <p:nvPr/>
          </p:nvSpPr>
          <p:spPr>
            <a:xfrm>
              <a:off x="0" y="0"/>
              <a:ext cx="329438" cy="329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!</a:t>
              </a:r>
              <a:endParaRPr/>
            </a:p>
          </p:txBody>
        </p:sp>
      </p:grpSp>
      <p:grpSp>
        <p:nvGrpSpPr>
          <p:cNvPr id="466" name="Google Shape;466;p19"/>
          <p:cNvGrpSpPr/>
          <p:nvPr/>
        </p:nvGrpSpPr>
        <p:grpSpPr>
          <a:xfrm>
            <a:off x="12344524" y="6366253"/>
            <a:ext cx="4480275" cy="547824"/>
            <a:chOff x="0" y="-9525"/>
            <a:chExt cx="5973699" cy="730432"/>
          </a:xfrm>
        </p:grpSpPr>
        <p:sp>
          <p:nvSpPr>
            <p:cNvPr id="467" name="Google Shape;467;p19"/>
            <p:cNvSpPr/>
            <p:nvPr/>
          </p:nvSpPr>
          <p:spPr>
            <a:xfrm>
              <a:off x="0" y="0"/>
              <a:ext cx="5973699" cy="720856"/>
            </a:xfrm>
            <a:custGeom>
              <a:rect b="b" l="l" r="r" t="t"/>
              <a:pathLst>
                <a:path extrusionOk="0" h="720856" w="5973699">
                  <a:moveTo>
                    <a:pt x="0" y="0"/>
                  </a:moveTo>
                  <a:lnTo>
                    <a:pt x="5973699" y="0"/>
                  </a:lnTo>
                  <a:lnTo>
                    <a:pt x="5973699" y="720856"/>
                  </a:lnTo>
                  <a:lnTo>
                    <a:pt x="0" y="720856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9E2E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68" name="Google Shape;468;p19"/>
            <p:cNvSpPr txBox="1"/>
            <p:nvPr/>
          </p:nvSpPr>
          <p:spPr>
            <a:xfrm>
              <a:off x="0" y="-9525"/>
              <a:ext cx="5973661" cy="73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81">
                  <a:solidFill>
                    <a:srgbClr val="B91C1C"/>
                  </a:solidFill>
                  <a:latin typeface="Noto Sans"/>
                  <a:ea typeface="Noto Sans"/>
                  <a:cs typeface="Noto Sans"/>
                  <a:sym typeface="Noto Sans"/>
                </a:rPr>
                <a:t>        </a:t>
              </a:r>
              <a:r>
                <a:rPr b="1" i="0" lang="en-US" sz="1681" u="none" cap="none" strike="noStrike">
                  <a:solidFill>
                    <a:srgbClr val="B91C1C"/>
                  </a:solidFill>
                  <a:latin typeface="Noto Sans"/>
                  <a:ea typeface="Noto Sans"/>
                  <a:cs typeface="Noto Sans"/>
                  <a:sym typeface="Noto Sans"/>
                </a:rPr>
                <a:t>키 하드코딩 금지</a:t>
              </a:r>
              <a:endParaRPr/>
            </a:p>
          </p:txBody>
        </p:sp>
      </p:grpSp>
      <p:grpSp>
        <p:nvGrpSpPr>
          <p:cNvPr id="469" name="Google Shape;469;p19"/>
          <p:cNvGrpSpPr/>
          <p:nvPr/>
        </p:nvGrpSpPr>
        <p:grpSpPr>
          <a:xfrm>
            <a:off x="12463863" y="6479010"/>
            <a:ext cx="247079" cy="247079"/>
            <a:chOff x="0" y="0"/>
            <a:chExt cx="329438" cy="329438"/>
          </a:xfrm>
        </p:grpSpPr>
        <p:sp>
          <p:nvSpPr>
            <p:cNvPr id="470" name="Google Shape;470;p19"/>
            <p:cNvSpPr/>
            <p:nvPr/>
          </p:nvSpPr>
          <p:spPr>
            <a:xfrm>
              <a:off x="0" y="0"/>
              <a:ext cx="329438" cy="329438"/>
            </a:xfrm>
            <a:custGeom>
              <a:rect b="b" l="l" r="r" t="t"/>
              <a:pathLst>
                <a:path extrusionOk="0" h="329438" w="329438">
                  <a:moveTo>
                    <a:pt x="0" y="0"/>
                  </a:moveTo>
                  <a:lnTo>
                    <a:pt x="329438" y="0"/>
                  </a:lnTo>
                  <a:lnTo>
                    <a:pt x="329438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471" name="Google Shape;471;p19"/>
            <p:cNvSpPr txBox="1"/>
            <p:nvPr/>
          </p:nvSpPr>
          <p:spPr>
            <a:xfrm>
              <a:off x="0" y="0"/>
              <a:ext cx="329438" cy="329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!</a:t>
              </a:r>
              <a:endParaRPr/>
            </a:p>
          </p:txBody>
        </p:sp>
      </p:grpSp>
      <p:grpSp>
        <p:nvGrpSpPr>
          <p:cNvPr id="472" name="Google Shape;472;p19"/>
          <p:cNvGrpSpPr/>
          <p:nvPr/>
        </p:nvGrpSpPr>
        <p:grpSpPr>
          <a:xfrm>
            <a:off x="1225877" y="7217311"/>
            <a:ext cx="4480275" cy="547821"/>
            <a:chOff x="0" y="-9525"/>
            <a:chExt cx="5973699" cy="730428"/>
          </a:xfrm>
        </p:grpSpPr>
        <p:sp>
          <p:nvSpPr>
            <p:cNvPr id="473" name="Google Shape;473;p19"/>
            <p:cNvSpPr/>
            <p:nvPr/>
          </p:nvSpPr>
          <p:spPr>
            <a:xfrm>
              <a:off x="0" y="0"/>
              <a:ext cx="5973699" cy="720852"/>
            </a:xfrm>
            <a:custGeom>
              <a:rect b="b" l="l" r="r" t="t"/>
              <a:pathLst>
                <a:path extrusionOk="0" h="720852" w="5973699">
                  <a:moveTo>
                    <a:pt x="0" y="0"/>
                  </a:moveTo>
                  <a:lnTo>
                    <a:pt x="5973699" y="0"/>
                  </a:lnTo>
                  <a:lnTo>
                    <a:pt x="5973699" y="720852"/>
                  </a:lnTo>
                  <a:lnTo>
                    <a:pt x="0" y="72085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9E2E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74" name="Google Shape;474;p19"/>
            <p:cNvSpPr txBox="1"/>
            <p:nvPr/>
          </p:nvSpPr>
          <p:spPr>
            <a:xfrm>
              <a:off x="0" y="-9525"/>
              <a:ext cx="5973661" cy="730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81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        </a:t>
              </a:r>
              <a:r>
                <a:rPr b="0" i="0" lang="en-US" sz="168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검증 실패 은폐 금지</a:t>
              </a:r>
              <a:endParaRPr/>
            </a:p>
          </p:txBody>
        </p:sp>
      </p:grpSp>
      <p:grpSp>
        <p:nvGrpSpPr>
          <p:cNvPr id="475" name="Google Shape;475;p19"/>
          <p:cNvGrpSpPr/>
          <p:nvPr/>
        </p:nvGrpSpPr>
        <p:grpSpPr>
          <a:xfrm>
            <a:off x="1345216" y="7330069"/>
            <a:ext cx="247079" cy="247079"/>
            <a:chOff x="0" y="0"/>
            <a:chExt cx="329438" cy="329438"/>
          </a:xfrm>
        </p:grpSpPr>
        <p:sp>
          <p:nvSpPr>
            <p:cNvPr id="476" name="Google Shape;476;p19"/>
            <p:cNvSpPr/>
            <p:nvPr/>
          </p:nvSpPr>
          <p:spPr>
            <a:xfrm>
              <a:off x="0" y="0"/>
              <a:ext cx="329438" cy="329438"/>
            </a:xfrm>
            <a:custGeom>
              <a:rect b="b" l="l" r="r" t="t"/>
              <a:pathLst>
                <a:path extrusionOk="0" h="329438" w="329438">
                  <a:moveTo>
                    <a:pt x="0" y="0"/>
                  </a:moveTo>
                  <a:lnTo>
                    <a:pt x="329438" y="0"/>
                  </a:lnTo>
                  <a:lnTo>
                    <a:pt x="329438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477" name="Google Shape;477;p19"/>
            <p:cNvSpPr txBox="1"/>
            <p:nvPr/>
          </p:nvSpPr>
          <p:spPr>
            <a:xfrm>
              <a:off x="0" y="0"/>
              <a:ext cx="329438" cy="329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!</a:t>
              </a:r>
              <a:endParaRPr/>
            </a:p>
          </p:txBody>
        </p:sp>
      </p:grpSp>
      <p:grpSp>
        <p:nvGrpSpPr>
          <p:cNvPr id="478" name="Google Shape;478;p19"/>
          <p:cNvGrpSpPr/>
          <p:nvPr/>
        </p:nvGrpSpPr>
        <p:grpSpPr>
          <a:xfrm>
            <a:off x="6785200" y="7217311"/>
            <a:ext cx="4480275" cy="547821"/>
            <a:chOff x="0" y="-9525"/>
            <a:chExt cx="5973699" cy="730428"/>
          </a:xfrm>
        </p:grpSpPr>
        <p:sp>
          <p:nvSpPr>
            <p:cNvPr id="479" name="Google Shape;479;p19"/>
            <p:cNvSpPr/>
            <p:nvPr/>
          </p:nvSpPr>
          <p:spPr>
            <a:xfrm>
              <a:off x="0" y="0"/>
              <a:ext cx="5973699" cy="720852"/>
            </a:xfrm>
            <a:custGeom>
              <a:rect b="b" l="l" r="r" t="t"/>
              <a:pathLst>
                <a:path extrusionOk="0" h="720852" w="5973699">
                  <a:moveTo>
                    <a:pt x="0" y="0"/>
                  </a:moveTo>
                  <a:lnTo>
                    <a:pt x="5973699" y="0"/>
                  </a:lnTo>
                  <a:lnTo>
                    <a:pt x="5973699" y="720852"/>
                  </a:lnTo>
                  <a:lnTo>
                    <a:pt x="0" y="72085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9E2E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80" name="Google Shape;480;p19"/>
            <p:cNvSpPr txBox="1"/>
            <p:nvPr/>
          </p:nvSpPr>
          <p:spPr>
            <a:xfrm>
              <a:off x="0" y="-9525"/>
              <a:ext cx="5973661" cy="730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81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        </a:t>
              </a:r>
              <a:r>
                <a:rPr b="0" i="0" lang="en-US" sz="168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유료 서비스 추가 금지</a:t>
              </a:r>
              <a:endParaRPr/>
            </a:p>
          </p:txBody>
        </p:sp>
      </p:grpSp>
      <p:grpSp>
        <p:nvGrpSpPr>
          <p:cNvPr id="481" name="Google Shape;481;p19"/>
          <p:cNvGrpSpPr/>
          <p:nvPr/>
        </p:nvGrpSpPr>
        <p:grpSpPr>
          <a:xfrm>
            <a:off x="6904539" y="7330069"/>
            <a:ext cx="247079" cy="247079"/>
            <a:chOff x="0" y="0"/>
            <a:chExt cx="329438" cy="329438"/>
          </a:xfrm>
        </p:grpSpPr>
        <p:sp>
          <p:nvSpPr>
            <p:cNvPr id="482" name="Google Shape;482;p19"/>
            <p:cNvSpPr/>
            <p:nvPr/>
          </p:nvSpPr>
          <p:spPr>
            <a:xfrm>
              <a:off x="0" y="0"/>
              <a:ext cx="329438" cy="329438"/>
            </a:xfrm>
            <a:custGeom>
              <a:rect b="b" l="l" r="r" t="t"/>
              <a:pathLst>
                <a:path extrusionOk="0" h="329438" w="329438">
                  <a:moveTo>
                    <a:pt x="0" y="0"/>
                  </a:moveTo>
                  <a:lnTo>
                    <a:pt x="329438" y="0"/>
                  </a:lnTo>
                  <a:lnTo>
                    <a:pt x="329438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483" name="Google Shape;483;p19"/>
            <p:cNvSpPr txBox="1"/>
            <p:nvPr/>
          </p:nvSpPr>
          <p:spPr>
            <a:xfrm>
              <a:off x="0" y="0"/>
              <a:ext cx="329400" cy="3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!</a:t>
              </a:r>
              <a:endParaRPr/>
            </a:p>
          </p:txBody>
        </p:sp>
      </p:grpSp>
      <p:grpSp>
        <p:nvGrpSpPr>
          <p:cNvPr id="484" name="Google Shape;484;p19"/>
          <p:cNvGrpSpPr/>
          <p:nvPr/>
        </p:nvGrpSpPr>
        <p:grpSpPr>
          <a:xfrm>
            <a:off x="12344524" y="7217311"/>
            <a:ext cx="4480275" cy="547821"/>
            <a:chOff x="0" y="-9525"/>
            <a:chExt cx="5973699" cy="730428"/>
          </a:xfrm>
        </p:grpSpPr>
        <p:sp>
          <p:nvSpPr>
            <p:cNvPr id="485" name="Google Shape;485;p19"/>
            <p:cNvSpPr/>
            <p:nvPr/>
          </p:nvSpPr>
          <p:spPr>
            <a:xfrm>
              <a:off x="0" y="0"/>
              <a:ext cx="5973699" cy="720852"/>
            </a:xfrm>
            <a:custGeom>
              <a:rect b="b" l="l" r="r" t="t"/>
              <a:pathLst>
                <a:path extrusionOk="0" h="720852" w="5973699">
                  <a:moveTo>
                    <a:pt x="0" y="0"/>
                  </a:moveTo>
                  <a:lnTo>
                    <a:pt x="5973699" y="0"/>
                  </a:lnTo>
                  <a:lnTo>
                    <a:pt x="5973699" y="720852"/>
                  </a:lnTo>
                  <a:lnTo>
                    <a:pt x="0" y="72085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9E2E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86" name="Google Shape;486;p19"/>
            <p:cNvSpPr txBox="1"/>
            <p:nvPr/>
          </p:nvSpPr>
          <p:spPr>
            <a:xfrm>
              <a:off x="0" y="-9525"/>
              <a:ext cx="5973661" cy="730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81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        A</a:t>
              </a:r>
              <a:r>
                <a:rPr lang="en-US" sz="1681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I </a:t>
              </a:r>
              <a:r>
                <a:rPr b="0" i="0" lang="en-US" sz="168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양산형 화면 금지</a:t>
              </a:r>
              <a:endParaRPr/>
            </a:p>
          </p:txBody>
        </p:sp>
      </p:grpSp>
      <p:grpSp>
        <p:nvGrpSpPr>
          <p:cNvPr id="487" name="Google Shape;487;p19"/>
          <p:cNvGrpSpPr/>
          <p:nvPr/>
        </p:nvGrpSpPr>
        <p:grpSpPr>
          <a:xfrm>
            <a:off x="12463863" y="7330069"/>
            <a:ext cx="247079" cy="247079"/>
            <a:chOff x="0" y="0"/>
            <a:chExt cx="329438" cy="329438"/>
          </a:xfrm>
        </p:grpSpPr>
        <p:sp>
          <p:nvSpPr>
            <p:cNvPr id="488" name="Google Shape;488;p19"/>
            <p:cNvSpPr/>
            <p:nvPr/>
          </p:nvSpPr>
          <p:spPr>
            <a:xfrm>
              <a:off x="0" y="0"/>
              <a:ext cx="329438" cy="329438"/>
            </a:xfrm>
            <a:custGeom>
              <a:rect b="b" l="l" r="r" t="t"/>
              <a:pathLst>
                <a:path extrusionOk="0" h="329438" w="329438">
                  <a:moveTo>
                    <a:pt x="0" y="0"/>
                  </a:moveTo>
                  <a:lnTo>
                    <a:pt x="329438" y="0"/>
                  </a:lnTo>
                  <a:lnTo>
                    <a:pt x="329438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489" name="Google Shape;489;p19"/>
            <p:cNvSpPr txBox="1"/>
            <p:nvPr/>
          </p:nvSpPr>
          <p:spPr>
            <a:xfrm>
              <a:off x="0" y="0"/>
              <a:ext cx="329438" cy="329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!</a:t>
              </a:r>
              <a:endParaRPr/>
            </a:p>
          </p:txBody>
        </p:sp>
      </p:grpSp>
      <p:grpSp>
        <p:nvGrpSpPr>
          <p:cNvPr id="490" name="Google Shape;490;p19"/>
          <p:cNvGrpSpPr/>
          <p:nvPr/>
        </p:nvGrpSpPr>
        <p:grpSpPr>
          <a:xfrm>
            <a:off x="892235" y="9677343"/>
            <a:ext cx="5216157" cy="274539"/>
            <a:chOff x="0" y="0"/>
            <a:chExt cx="6954876" cy="366052"/>
          </a:xfrm>
        </p:grpSpPr>
        <p:sp>
          <p:nvSpPr>
            <p:cNvPr id="491" name="Google Shape;491;p19"/>
            <p:cNvSpPr/>
            <p:nvPr/>
          </p:nvSpPr>
          <p:spPr>
            <a:xfrm>
              <a:off x="0" y="0"/>
              <a:ext cx="6954873" cy="366046"/>
            </a:xfrm>
            <a:custGeom>
              <a:rect b="b" l="l" r="r" t="t"/>
              <a:pathLst>
                <a:path extrusionOk="0" h="366046" w="6954873">
                  <a:moveTo>
                    <a:pt x="0" y="0"/>
                  </a:moveTo>
                  <a:lnTo>
                    <a:pt x="6954873" y="0"/>
                  </a:lnTo>
                  <a:lnTo>
                    <a:pt x="6954873" y="366046"/>
                  </a:lnTo>
                  <a:lnTo>
                    <a:pt x="0" y="36604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20206" l="0" r="0" t="-320206"/>
              </a:stretch>
            </a:blipFill>
            <a:ln>
              <a:noFill/>
            </a:ln>
          </p:spPr>
        </p:sp>
        <p:sp>
          <p:nvSpPr>
            <p:cNvPr id="492" name="Google Shape;492;p19"/>
            <p:cNvSpPr txBox="1"/>
            <p:nvPr/>
          </p:nvSpPr>
          <p:spPr>
            <a:xfrm>
              <a:off x="0" y="9525"/>
              <a:ext cx="6954876" cy="356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상권나침반 바이브코딩 적용 보고</a:t>
              </a:r>
              <a:endParaRPr/>
            </a:p>
          </p:txBody>
        </p:sp>
      </p:grpSp>
      <p:grpSp>
        <p:nvGrpSpPr>
          <p:cNvPr id="493" name="Google Shape;493;p19"/>
          <p:cNvGrpSpPr/>
          <p:nvPr/>
        </p:nvGrpSpPr>
        <p:grpSpPr>
          <a:xfrm>
            <a:off x="16815235" y="9629013"/>
            <a:ext cx="617706" cy="336585"/>
            <a:chOff x="0" y="-9525"/>
            <a:chExt cx="823608" cy="448780"/>
          </a:xfrm>
        </p:grpSpPr>
        <p:sp>
          <p:nvSpPr>
            <p:cNvPr id="494" name="Google Shape;494;p19"/>
            <p:cNvSpPr/>
            <p:nvPr/>
          </p:nvSpPr>
          <p:spPr>
            <a:xfrm>
              <a:off x="0" y="0"/>
              <a:ext cx="823603" cy="439255"/>
            </a:xfrm>
            <a:custGeom>
              <a:rect b="b" l="l" r="r" t="t"/>
              <a:pathLst>
                <a:path extrusionOk="0" h="439255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439255"/>
                  </a:lnTo>
                  <a:lnTo>
                    <a:pt x="0" y="4392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8428" r="-18428" t="0"/>
              </a:stretch>
            </a:blipFill>
            <a:ln>
              <a:noFill/>
            </a:ln>
          </p:spPr>
        </p:sp>
        <p:sp>
          <p:nvSpPr>
            <p:cNvPr id="495" name="Google Shape;495;p19"/>
            <p:cNvSpPr txBox="1"/>
            <p:nvPr/>
          </p:nvSpPr>
          <p:spPr>
            <a:xfrm>
              <a:off x="0" y="-9525"/>
              <a:ext cx="823608" cy="448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06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20"/>
          <p:cNvGrpSpPr/>
          <p:nvPr/>
        </p:nvGrpSpPr>
        <p:grpSpPr>
          <a:xfrm>
            <a:off x="892235" y="521618"/>
            <a:ext cx="11667715" cy="620995"/>
            <a:chOff x="0" y="0"/>
            <a:chExt cx="15556954" cy="827993"/>
          </a:xfrm>
        </p:grpSpPr>
        <p:sp>
          <p:nvSpPr>
            <p:cNvPr id="505" name="Google Shape;505;p20"/>
            <p:cNvSpPr/>
            <p:nvPr/>
          </p:nvSpPr>
          <p:spPr>
            <a:xfrm>
              <a:off x="0" y="0"/>
              <a:ext cx="15556954" cy="827989"/>
            </a:xfrm>
            <a:custGeom>
              <a:rect b="b" l="l" r="r" t="t"/>
              <a:pathLst>
                <a:path extrusionOk="0" h="827989" w="15556954">
                  <a:moveTo>
                    <a:pt x="0" y="0"/>
                  </a:moveTo>
                  <a:lnTo>
                    <a:pt x="15556954" y="0"/>
                  </a:lnTo>
                  <a:lnTo>
                    <a:pt x="15556954" y="827989"/>
                  </a:lnTo>
                  <a:lnTo>
                    <a:pt x="0" y="82798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15822" l="0" r="0" t="-316349"/>
              </a:stretch>
            </a:blipFill>
            <a:ln>
              <a:noFill/>
            </a:ln>
          </p:spPr>
        </p:sp>
        <p:sp>
          <p:nvSpPr>
            <p:cNvPr id="506" name="Google Shape;506;p20"/>
            <p:cNvSpPr txBox="1"/>
            <p:nvPr/>
          </p:nvSpPr>
          <p:spPr>
            <a:xfrm>
              <a:off x="0" y="0"/>
              <a:ext cx="15556954" cy="82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5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분석 설계</a:t>
              </a:r>
              <a:endParaRPr/>
            </a:p>
          </p:txBody>
        </p:sp>
      </p:grpSp>
      <p:grpSp>
        <p:nvGrpSpPr>
          <p:cNvPr id="507" name="Google Shape;507;p20"/>
          <p:cNvGrpSpPr/>
          <p:nvPr/>
        </p:nvGrpSpPr>
        <p:grpSpPr>
          <a:xfrm>
            <a:off x="919686" y="1207951"/>
            <a:ext cx="12079519" cy="343170"/>
            <a:chOff x="0" y="0"/>
            <a:chExt cx="16106026" cy="457559"/>
          </a:xfrm>
        </p:grpSpPr>
        <p:sp>
          <p:nvSpPr>
            <p:cNvPr id="508" name="Google Shape;508;p20"/>
            <p:cNvSpPr/>
            <p:nvPr/>
          </p:nvSpPr>
          <p:spPr>
            <a:xfrm>
              <a:off x="0" y="0"/>
              <a:ext cx="16106023" cy="457559"/>
            </a:xfrm>
            <a:custGeom>
              <a:rect b="b" l="l" r="r" t="t"/>
              <a:pathLst>
                <a:path extrusionOk="0" h="457559" w="16106023">
                  <a:moveTo>
                    <a:pt x="0" y="0"/>
                  </a:moveTo>
                  <a:lnTo>
                    <a:pt x="16106023" y="0"/>
                  </a:lnTo>
                  <a:lnTo>
                    <a:pt x="16106023" y="457559"/>
                  </a:lnTo>
                  <a:lnTo>
                    <a:pt x="0" y="45755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5871" l="0" r="0" t="-635871"/>
              </a:stretch>
            </a:blipFill>
            <a:ln>
              <a:noFill/>
            </a:ln>
          </p:spPr>
        </p:sp>
        <p:sp>
          <p:nvSpPr>
            <p:cNvPr id="509" name="Google Shape;509;p20"/>
            <p:cNvSpPr txBox="1"/>
            <p:nvPr/>
          </p:nvSpPr>
          <p:spPr>
            <a:xfrm>
              <a:off x="0" y="0"/>
              <a:ext cx="16106026" cy="457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예비 창업자 관점에서 성장성과 안전성을 분리해 계산합니다.</a:t>
              </a:r>
              <a:endParaRPr/>
            </a:p>
          </p:txBody>
        </p:sp>
      </p:grpSp>
      <p:cxnSp>
        <p:nvCxnSpPr>
          <p:cNvPr id="510" name="Google Shape;510;p20"/>
          <p:cNvCxnSpPr/>
          <p:nvPr/>
        </p:nvCxnSpPr>
        <p:spPr>
          <a:xfrm rot="3960">
            <a:off x="882701" y="1642443"/>
            <a:ext cx="16559774" cy="0"/>
          </a:xfrm>
          <a:prstGeom prst="straightConnector1">
            <a:avLst/>
          </a:prstGeom>
          <a:noFill/>
          <a:ln cap="rnd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11" name="Google Shape;511;p20"/>
          <p:cNvGrpSpPr/>
          <p:nvPr/>
        </p:nvGrpSpPr>
        <p:grpSpPr>
          <a:xfrm>
            <a:off x="1166774" y="2059010"/>
            <a:ext cx="2470814" cy="411804"/>
            <a:chOff x="0" y="0"/>
            <a:chExt cx="3294418" cy="549072"/>
          </a:xfrm>
        </p:grpSpPr>
        <p:sp>
          <p:nvSpPr>
            <p:cNvPr id="512" name="Google Shape;512;p20"/>
            <p:cNvSpPr/>
            <p:nvPr/>
          </p:nvSpPr>
          <p:spPr>
            <a:xfrm>
              <a:off x="0" y="0"/>
              <a:ext cx="3294414" cy="549069"/>
            </a:xfrm>
            <a:custGeom>
              <a:rect b="b" l="l" r="r" t="t"/>
              <a:pathLst>
                <a:path extrusionOk="0" h="549069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6910" l="0" r="0" t="-66910"/>
              </a:stretch>
            </a:blipFill>
            <a:ln>
              <a:noFill/>
            </a:ln>
          </p:spPr>
        </p:sp>
        <p:sp>
          <p:nvSpPr>
            <p:cNvPr id="513" name="Google Shape;513;p20"/>
            <p:cNvSpPr txBox="1"/>
            <p:nvPr/>
          </p:nvSpPr>
          <p:spPr>
            <a:xfrm>
              <a:off x="0" y="9525"/>
              <a:ext cx="3294418" cy="539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점수 체계</a:t>
              </a:r>
              <a:endParaRPr sz="1600"/>
            </a:p>
          </p:txBody>
        </p:sp>
      </p:grpSp>
      <p:grpSp>
        <p:nvGrpSpPr>
          <p:cNvPr id="514" name="Google Shape;514;p20"/>
          <p:cNvGrpSpPr/>
          <p:nvPr/>
        </p:nvGrpSpPr>
        <p:grpSpPr>
          <a:xfrm>
            <a:off x="1166774" y="2745343"/>
            <a:ext cx="3019882" cy="356895"/>
            <a:chOff x="0" y="0"/>
            <a:chExt cx="4026510" cy="475860"/>
          </a:xfrm>
        </p:grpSpPr>
        <p:sp>
          <p:nvSpPr>
            <p:cNvPr id="515" name="Google Shape;515;p20"/>
            <p:cNvSpPr/>
            <p:nvPr/>
          </p:nvSpPr>
          <p:spPr>
            <a:xfrm>
              <a:off x="0" y="0"/>
              <a:ext cx="4026506" cy="475860"/>
            </a:xfrm>
            <a:custGeom>
              <a:rect b="b" l="l" r="r" t="t"/>
              <a:pathLst>
                <a:path extrusionOk="0" h="475860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475860"/>
                  </a:lnTo>
                  <a:lnTo>
                    <a:pt x="0" y="4758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875" l="0" r="0" t="-114875"/>
              </a:stretch>
            </a:blipFill>
            <a:ln>
              <a:noFill/>
            </a:ln>
          </p:spPr>
        </p:sp>
        <p:sp>
          <p:nvSpPr>
            <p:cNvPr id="516" name="Google Shape;516;p20"/>
            <p:cNvSpPr txBox="1"/>
            <p:nvPr/>
          </p:nvSpPr>
          <p:spPr>
            <a:xfrm>
              <a:off x="0" y="0"/>
              <a:ext cx="4026510" cy="475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6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매출 성장</a:t>
              </a:r>
              <a:endParaRPr sz="1600"/>
            </a:p>
          </p:txBody>
        </p:sp>
      </p:grpSp>
      <p:sp>
        <p:nvSpPr>
          <p:cNvPr id="517" name="Google Shape;517;p20"/>
          <p:cNvSpPr/>
          <p:nvPr/>
        </p:nvSpPr>
        <p:spPr>
          <a:xfrm>
            <a:off x="4245750" y="2845622"/>
            <a:ext cx="3999833" cy="156305"/>
          </a:xfrm>
          <a:custGeom>
            <a:rect b="b" l="l" r="r" t="t"/>
            <a:pathLst>
              <a:path extrusionOk="0" h="208407" w="5333111">
                <a:moveTo>
                  <a:pt x="0" y="0"/>
                </a:moveTo>
                <a:lnTo>
                  <a:pt x="5333111" y="0"/>
                </a:lnTo>
                <a:lnTo>
                  <a:pt x="5333111" y="208407"/>
                </a:lnTo>
                <a:lnTo>
                  <a:pt x="0" y="208407"/>
                </a:lnTo>
                <a:close/>
              </a:path>
            </a:pathLst>
          </a:custGeom>
          <a:solidFill>
            <a:srgbClr val="E5EAF1"/>
          </a:solidFill>
          <a:ln cap="sq" cmpd="sng" w="19050">
            <a:solidFill>
              <a:srgbClr val="E5EAF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18" name="Google Shape;518;p20"/>
          <p:cNvSpPr/>
          <p:nvPr/>
        </p:nvSpPr>
        <p:spPr>
          <a:xfrm>
            <a:off x="4245750" y="2845622"/>
            <a:ext cx="1412367" cy="156305"/>
          </a:xfrm>
          <a:custGeom>
            <a:rect b="b" l="l" r="r" t="t"/>
            <a:pathLst>
              <a:path extrusionOk="0" h="208407" w="1883156">
                <a:moveTo>
                  <a:pt x="0" y="0"/>
                </a:moveTo>
                <a:lnTo>
                  <a:pt x="1883156" y="0"/>
                </a:lnTo>
                <a:lnTo>
                  <a:pt x="1883156" y="208407"/>
                </a:lnTo>
                <a:lnTo>
                  <a:pt x="0" y="208407"/>
                </a:lnTo>
                <a:close/>
              </a:path>
            </a:pathLst>
          </a:custGeom>
          <a:solidFill>
            <a:srgbClr val="2563EB"/>
          </a:solidFill>
          <a:ln cap="sq" cmpd="sng" w="19050">
            <a:solidFill>
              <a:srgbClr val="2563EB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519" name="Google Shape;519;p20"/>
          <p:cNvGrpSpPr/>
          <p:nvPr/>
        </p:nvGrpSpPr>
        <p:grpSpPr>
          <a:xfrm>
            <a:off x="8483117" y="2731618"/>
            <a:ext cx="1304039" cy="446291"/>
            <a:chOff x="0" y="0"/>
            <a:chExt cx="1738719" cy="595055"/>
          </a:xfrm>
        </p:grpSpPr>
        <p:sp>
          <p:nvSpPr>
            <p:cNvPr id="520" name="Google Shape;520;p20"/>
            <p:cNvSpPr/>
            <p:nvPr/>
          </p:nvSpPr>
          <p:spPr>
            <a:xfrm>
              <a:off x="0" y="0"/>
              <a:ext cx="1738718" cy="595055"/>
            </a:xfrm>
            <a:custGeom>
              <a:rect b="b" l="l" r="r" t="t"/>
              <a:pathLst>
                <a:path extrusionOk="0" h="595055" w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595055"/>
                  </a:lnTo>
                  <a:lnTo>
                    <a:pt x="0" y="5950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3081" l="0" r="0" t="-16949"/>
              </a:stretch>
            </a:blipFill>
            <a:ln>
              <a:noFill/>
            </a:ln>
          </p:spPr>
        </p:sp>
        <p:sp>
          <p:nvSpPr>
            <p:cNvPr id="521" name="Google Shape;521;p20"/>
            <p:cNvSpPr txBox="1"/>
            <p:nvPr/>
          </p:nvSpPr>
          <p:spPr>
            <a:xfrm>
              <a:off x="0" y="0"/>
              <a:ext cx="1738719" cy="5950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0F766E"/>
                  </a:solidFill>
                  <a:latin typeface="Noto Sans"/>
                  <a:ea typeface="Noto Sans"/>
                  <a:cs typeface="Noto Sans"/>
                  <a:sym typeface="Noto Sans"/>
                </a:rPr>
                <a:t>35%</a:t>
              </a:r>
              <a:endParaRPr/>
            </a:p>
          </p:txBody>
        </p:sp>
      </p:grpSp>
      <p:grpSp>
        <p:nvGrpSpPr>
          <p:cNvPr id="522" name="Google Shape;522;p20"/>
          <p:cNvGrpSpPr/>
          <p:nvPr/>
        </p:nvGrpSpPr>
        <p:grpSpPr>
          <a:xfrm>
            <a:off x="1166774" y="3500314"/>
            <a:ext cx="3019882" cy="356895"/>
            <a:chOff x="0" y="0"/>
            <a:chExt cx="4026510" cy="475860"/>
          </a:xfrm>
        </p:grpSpPr>
        <p:sp>
          <p:nvSpPr>
            <p:cNvPr id="523" name="Google Shape;523;p20"/>
            <p:cNvSpPr/>
            <p:nvPr/>
          </p:nvSpPr>
          <p:spPr>
            <a:xfrm>
              <a:off x="0" y="0"/>
              <a:ext cx="4026506" cy="475860"/>
            </a:xfrm>
            <a:custGeom>
              <a:rect b="b" l="l" r="r" t="t"/>
              <a:pathLst>
                <a:path extrusionOk="0" h="475860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475860"/>
                  </a:lnTo>
                  <a:lnTo>
                    <a:pt x="0" y="4758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875" l="0" r="0" t="-114875"/>
              </a:stretch>
            </a:blipFill>
            <a:ln>
              <a:noFill/>
            </a:ln>
          </p:spPr>
        </p:sp>
        <p:sp>
          <p:nvSpPr>
            <p:cNvPr id="524" name="Google Shape;524;p20"/>
            <p:cNvSpPr txBox="1"/>
            <p:nvPr/>
          </p:nvSpPr>
          <p:spPr>
            <a:xfrm>
              <a:off x="0" y="0"/>
              <a:ext cx="4026510" cy="475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6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유동인구 성장</a:t>
              </a:r>
              <a:endParaRPr sz="1600"/>
            </a:p>
          </p:txBody>
        </p:sp>
      </p:grpSp>
      <p:sp>
        <p:nvSpPr>
          <p:cNvPr id="525" name="Google Shape;525;p20"/>
          <p:cNvSpPr/>
          <p:nvPr/>
        </p:nvSpPr>
        <p:spPr>
          <a:xfrm>
            <a:off x="4245750" y="3600593"/>
            <a:ext cx="3999833" cy="156305"/>
          </a:xfrm>
          <a:custGeom>
            <a:rect b="b" l="l" r="r" t="t"/>
            <a:pathLst>
              <a:path extrusionOk="0" h="208407" w="5333111">
                <a:moveTo>
                  <a:pt x="0" y="0"/>
                </a:moveTo>
                <a:lnTo>
                  <a:pt x="5333111" y="0"/>
                </a:lnTo>
                <a:lnTo>
                  <a:pt x="5333111" y="208407"/>
                </a:lnTo>
                <a:lnTo>
                  <a:pt x="0" y="208407"/>
                </a:lnTo>
                <a:close/>
              </a:path>
            </a:pathLst>
          </a:custGeom>
          <a:solidFill>
            <a:srgbClr val="E5EAF1"/>
          </a:solidFill>
          <a:ln cap="sq" cmpd="sng" w="19050">
            <a:solidFill>
              <a:srgbClr val="E5EAF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26" name="Google Shape;526;p20"/>
          <p:cNvSpPr/>
          <p:nvPr/>
        </p:nvSpPr>
        <p:spPr>
          <a:xfrm>
            <a:off x="4245750" y="3600593"/>
            <a:ext cx="1014222" cy="156305"/>
          </a:xfrm>
          <a:custGeom>
            <a:rect b="b" l="l" r="r" t="t"/>
            <a:pathLst>
              <a:path extrusionOk="0" h="208407" w="1352296">
                <a:moveTo>
                  <a:pt x="0" y="0"/>
                </a:moveTo>
                <a:lnTo>
                  <a:pt x="1352296" y="0"/>
                </a:lnTo>
                <a:lnTo>
                  <a:pt x="1352296" y="208407"/>
                </a:lnTo>
                <a:lnTo>
                  <a:pt x="0" y="208407"/>
                </a:lnTo>
                <a:close/>
              </a:path>
            </a:pathLst>
          </a:custGeom>
          <a:solidFill>
            <a:srgbClr val="16A34A"/>
          </a:solidFill>
          <a:ln cap="sq" cmpd="sng" w="19050">
            <a:solidFill>
              <a:srgbClr val="16A34A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527" name="Google Shape;527;p20"/>
          <p:cNvGrpSpPr/>
          <p:nvPr/>
        </p:nvGrpSpPr>
        <p:grpSpPr>
          <a:xfrm>
            <a:off x="8483117" y="3486588"/>
            <a:ext cx="1304039" cy="446291"/>
            <a:chOff x="0" y="0"/>
            <a:chExt cx="1738719" cy="595055"/>
          </a:xfrm>
        </p:grpSpPr>
        <p:sp>
          <p:nvSpPr>
            <p:cNvPr id="528" name="Google Shape;528;p20"/>
            <p:cNvSpPr/>
            <p:nvPr/>
          </p:nvSpPr>
          <p:spPr>
            <a:xfrm>
              <a:off x="0" y="0"/>
              <a:ext cx="1738718" cy="595055"/>
            </a:xfrm>
            <a:custGeom>
              <a:rect b="b" l="l" r="r" t="t"/>
              <a:pathLst>
                <a:path extrusionOk="0" h="595055" w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595055"/>
                  </a:lnTo>
                  <a:lnTo>
                    <a:pt x="0" y="5950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3081" l="0" r="0" t="-16949"/>
              </a:stretch>
            </a:blipFill>
            <a:ln>
              <a:noFill/>
            </a:ln>
          </p:spPr>
        </p:sp>
        <p:sp>
          <p:nvSpPr>
            <p:cNvPr id="529" name="Google Shape;529;p20"/>
            <p:cNvSpPr txBox="1"/>
            <p:nvPr/>
          </p:nvSpPr>
          <p:spPr>
            <a:xfrm>
              <a:off x="0" y="0"/>
              <a:ext cx="1738719" cy="5950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0F766E"/>
                  </a:solidFill>
                  <a:latin typeface="Noto Sans"/>
                  <a:ea typeface="Noto Sans"/>
                  <a:cs typeface="Noto Sans"/>
                  <a:sym typeface="Noto Sans"/>
                </a:rPr>
                <a:t>25%</a:t>
              </a:r>
              <a:endParaRPr/>
            </a:p>
          </p:txBody>
        </p:sp>
      </p:grpSp>
      <p:grpSp>
        <p:nvGrpSpPr>
          <p:cNvPr id="530" name="Google Shape;530;p20"/>
          <p:cNvGrpSpPr/>
          <p:nvPr/>
        </p:nvGrpSpPr>
        <p:grpSpPr>
          <a:xfrm>
            <a:off x="1166774" y="4255284"/>
            <a:ext cx="3019882" cy="356895"/>
            <a:chOff x="0" y="0"/>
            <a:chExt cx="4026510" cy="475860"/>
          </a:xfrm>
        </p:grpSpPr>
        <p:sp>
          <p:nvSpPr>
            <p:cNvPr id="531" name="Google Shape;531;p20"/>
            <p:cNvSpPr/>
            <p:nvPr/>
          </p:nvSpPr>
          <p:spPr>
            <a:xfrm>
              <a:off x="0" y="0"/>
              <a:ext cx="4026506" cy="475860"/>
            </a:xfrm>
            <a:custGeom>
              <a:rect b="b" l="l" r="r" t="t"/>
              <a:pathLst>
                <a:path extrusionOk="0" h="475860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475860"/>
                  </a:lnTo>
                  <a:lnTo>
                    <a:pt x="0" y="4758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875" l="0" r="0" t="-114875"/>
              </a:stretch>
            </a:blipFill>
            <a:ln>
              <a:noFill/>
            </a:ln>
          </p:spPr>
        </p:sp>
        <p:sp>
          <p:nvSpPr>
            <p:cNvPr id="532" name="Google Shape;532;p20"/>
            <p:cNvSpPr txBox="1"/>
            <p:nvPr/>
          </p:nvSpPr>
          <p:spPr>
            <a:xfrm>
              <a:off x="0" y="0"/>
              <a:ext cx="4026510" cy="475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6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점포당 매출 성장</a:t>
              </a:r>
              <a:endParaRPr sz="1600"/>
            </a:p>
          </p:txBody>
        </p:sp>
      </p:grpSp>
      <p:sp>
        <p:nvSpPr>
          <p:cNvPr id="533" name="Google Shape;533;p20"/>
          <p:cNvSpPr/>
          <p:nvPr/>
        </p:nvSpPr>
        <p:spPr>
          <a:xfrm>
            <a:off x="4245750" y="4355563"/>
            <a:ext cx="3999833" cy="156305"/>
          </a:xfrm>
          <a:custGeom>
            <a:rect b="b" l="l" r="r" t="t"/>
            <a:pathLst>
              <a:path extrusionOk="0" h="208407" w="5333111">
                <a:moveTo>
                  <a:pt x="0" y="0"/>
                </a:moveTo>
                <a:lnTo>
                  <a:pt x="5333111" y="0"/>
                </a:lnTo>
                <a:lnTo>
                  <a:pt x="5333111" y="208407"/>
                </a:lnTo>
                <a:lnTo>
                  <a:pt x="0" y="208407"/>
                </a:lnTo>
                <a:close/>
              </a:path>
            </a:pathLst>
          </a:custGeom>
          <a:solidFill>
            <a:srgbClr val="E5EAF1"/>
          </a:solidFill>
          <a:ln cap="sq" cmpd="sng" w="19050">
            <a:solidFill>
              <a:srgbClr val="E5EAF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34" name="Google Shape;534;p20"/>
          <p:cNvSpPr/>
          <p:nvPr/>
        </p:nvSpPr>
        <p:spPr>
          <a:xfrm>
            <a:off x="4245750" y="4355563"/>
            <a:ext cx="1611344" cy="156305"/>
          </a:xfrm>
          <a:custGeom>
            <a:rect b="b" l="l" r="r" t="t"/>
            <a:pathLst>
              <a:path extrusionOk="0" h="208407" w="2148459">
                <a:moveTo>
                  <a:pt x="0" y="0"/>
                </a:moveTo>
                <a:lnTo>
                  <a:pt x="2148459" y="0"/>
                </a:lnTo>
                <a:lnTo>
                  <a:pt x="2148459" y="208407"/>
                </a:lnTo>
                <a:lnTo>
                  <a:pt x="0" y="208407"/>
                </a:lnTo>
                <a:close/>
              </a:path>
            </a:pathLst>
          </a:custGeom>
          <a:solidFill>
            <a:srgbClr val="7C3AED"/>
          </a:solidFill>
          <a:ln cap="sq" cmpd="sng" w="19050">
            <a:solidFill>
              <a:srgbClr val="7C3AED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535" name="Google Shape;535;p20"/>
          <p:cNvGrpSpPr/>
          <p:nvPr/>
        </p:nvGrpSpPr>
        <p:grpSpPr>
          <a:xfrm>
            <a:off x="8483117" y="4241559"/>
            <a:ext cx="1304039" cy="446291"/>
            <a:chOff x="0" y="0"/>
            <a:chExt cx="1738719" cy="595055"/>
          </a:xfrm>
        </p:grpSpPr>
        <p:sp>
          <p:nvSpPr>
            <p:cNvPr id="536" name="Google Shape;536;p20"/>
            <p:cNvSpPr/>
            <p:nvPr/>
          </p:nvSpPr>
          <p:spPr>
            <a:xfrm>
              <a:off x="0" y="0"/>
              <a:ext cx="1738718" cy="595055"/>
            </a:xfrm>
            <a:custGeom>
              <a:rect b="b" l="l" r="r" t="t"/>
              <a:pathLst>
                <a:path extrusionOk="0" h="595055" w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595055"/>
                  </a:lnTo>
                  <a:lnTo>
                    <a:pt x="0" y="5950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3081" l="0" r="0" t="-16949"/>
              </a:stretch>
            </a:blipFill>
            <a:ln>
              <a:noFill/>
            </a:ln>
          </p:spPr>
        </p:sp>
        <p:sp>
          <p:nvSpPr>
            <p:cNvPr id="537" name="Google Shape;537;p20"/>
            <p:cNvSpPr txBox="1"/>
            <p:nvPr/>
          </p:nvSpPr>
          <p:spPr>
            <a:xfrm>
              <a:off x="0" y="0"/>
              <a:ext cx="1738719" cy="5950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0F766E"/>
                  </a:solidFill>
                  <a:latin typeface="Noto Sans"/>
                  <a:ea typeface="Noto Sans"/>
                  <a:cs typeface="Noto Sans"/>
                  <a:sym typeface="Noto Sans"/>
                </a:rPr>
                <a:t>40%</a:t>
              </a:r>
              <a:endParaRPr/>
            </a:p>
          </p:txBody>
        </p:sp>
      </p:grpSp>
      <p:grpSp>
        <p:nvGrpSpPr>
          <p:cNvPr id="538" name="Google Shape;538;p20"/>
          <p:cNvGrpSpPr/>
          <p:nvPr/>
        </p:nvGrpSpPr>
        <p:grpSpPr>
          <a:xfrm>
            <a:off x="1166774" y="5181562"/>
            <a:ext cx="7000628" cy="624850"/>
            <a:chOff x="0" y="-9525"/>
            <a:chExt cx="9334172" cy="833133"/>
          </a:xfrm>
        </p:grpSpPr>
        <p:sp>
          <p:nvSpPr>
            <p:cNvPr id="539" name="Google Shape;539;p20"/>
            <p:cNvSpPr/>
            <p:nvPr/>
          </p:nvSpPr>
          <p:spPr>
            <a:xfrm>
              <a:off x="0" y="0"/>
              <a:ext cx="9334172" cy="823603"/>
            </a:xfrm>
            <a:custGeom>
              <a:rect b="b" l="l" r="r" t="t"/>
              <a:pathLst>
                <a:path extrusionOk="0" h="823603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823603"/>
                  </a:lnTo>
                  <a:lnTo>
                    <a:pt x="0" y="82360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0829" l="0" r="0" t="-170829"/>
              </a:stretch>
            </a:blipFill>
            <a:ln>
              <a:noFill/>
            </a:ln>
          </p:spPr>
        </p:sp>
        <p:sp>
          <p:nvSpPr>
            <p:cNvPr id="540" name="Google Shape;540;p20"/>
            <p:cNvSpPr txBox="1"/>
            <p:nvPr/>
          </p:nvSpPr>
          <p:spPr>
            <a:xfrm>
              <a:off x="0" y="-9525"/>
              <a:ext cx="9334170" cy="833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81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현재 성장 건강도는 동일 분기·동일 업종·송파구 안에서 상대 점수화합니다.</a:t>
              </a:r>
              <a:endParaRPr sz="1500"/>
            </a:p>
          </p:txBody>
        </p:sp>
      </p:grpSp>
      <p:grpSp>
        <p:nvGrpSpPr>
          <p:cNvPr id="541" name="Google Shape;541;p20"/>
          <p:cNvGrpSpPr/>
          <p:nvPr/>
        </p:nvGrpSpPr>
        <p:grpSpPr>
          <a:xfrm>
            <a:off x="9993058" y="2059010"/>
            <a:ext cx="2470814" cy="411804"/>
            <a:chOff x="0" y="0"/>
            <a:chExt cx="3294418" cy="549072"/>
          </a:xfrm>
        </p:grpSpPr>
        <p:sp>
          <p:nvSpPr>
            <p:cNvPr id="542" name="Google Shape;542;p20"/>
            <p:cNvSpPr/>
            <p:nvPr/>
          </p:nvSpPr>
          <p:spPr>
            <a:xfrm>
              <a:off x="0" y="0"/>
              <a:ext cx="3294414" cy="549069"/>
            </a:xfrm>
            <a:custGeom>
              <a:rect b="b" l="l" r="r" t="t"/>
              <a:pathLst>
                <a:path extrusionOk="0" h="549069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6910" l="0" r="0" t="-66910"/>
              </a:stretch>
            </a:blipFill>
            <a:ln>
              <a:noFill/>
            </a:ln>
          </p:spPr>
        </p:sp>
        <p:sp>
          <p:nvSpPr>
            <p:cNvPr id="543" name="Google Shape;543;p20"/>
            <p:cNvSpPr txBox="1"/>
            <p:nvPr/>
          </p:nvSpPr>
          <p:spPr>
            <a:xfrm>
              <a:off x="0" y="9525"/>
              <a:ext cx="3294418" cy="539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위험 평가</a:t>
              </a:r>
              <a:endParaRPr sz="1600"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9993058" y="2745343"/>
            <a:ext cx="3019882" cy="356895"/>
            <a:chOff x="0" y="0"/>
            <a:chExt cx="4026510" cy="475860"/>
          </a:xfrm>
        </p:grpSpPr>
        <p:sp>
          <p:nvSpPr>
            <p:cNvPr id="545" name="Google Shape;545;p20"/>
            <p:cNvSpPr/>
            <p:nvPr/>
          </p:nvSpPr>
          <p:spPr>
            <a:xfrm>
              <a:off x="0" y="0"/>
              <a:ext cx="4026506" cy="475860"/>
            </a:xfrm>
            <a:custGeom>
              <a:rect b="b" l="l" r="r" t="t"/>
              <a:pathLst>
                <a:path extrusionOk="0" h="475860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475860"/>
                  </a:lnTo>
                  <a:lnTo>
                    <a:pt x="0" y="4758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875" l="0" r="0" t="-114875"/>
              </a:stretch>
            </a:blipFill>
            <a:ln>
              <a:noFill/>
            </a:ln>
          </p:spPr>
        </p:sp>
        <p:sp>
          <p:nvSpPr>
            <p:cNvPr id="546" name="Google Shape;546;p20"/>
            <p:cNvSpPr txBox="1"/>
            <p:nvPr/>
          </p:nvSpPr>
          <p:spPr>
            <a:xfrm>
              <a:off x="0" y="0"/>
              <a:ext cx="4026510" cy="475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6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점포 증가 위험</a:t>
              </a:r>
              <a:endParaRPr sz="1600"/>
            </a:p>
          </p:txBody>
        </p:sp>
      </p:grpSp>
      <p:sp>
        <p:nvSpPr>
          <p:cNvPr id="547" name="Google Shape;547;p20"/>
          <p:cNvSpPr/>
          <p:nvPr/>
        </p:nvSpPr>
        <p:spPr>
          <a:xfrm>
            <a:off x="13072034" y="2845622"/>
            <a:ext cx="3450717" cy="156305"/>
          </a:xfrm>
          <a:custGeom>
            <a:rect b="b" l="l" r="r" t="t"/>
            <a:pathLst>
              <a:path extrusionOk="0" h="208407" w="4600956">
                <a:moveTo>
                  <a:pt x="0" y="0"/>
                </a:moveTo>
                <a:lnTo>
                  <a:pt x="4600956" y="0"/>
                </a:lnTo>
                <a:lnTo>
                  <a:pt x="4600956" y="208407"/>
                </a:lnTo>
                <a:lnTo>
                  <a:pt x="0" y="208407"/>
                </a:lnTo>
                <a:close/>
              </a:path>
            </a:pathLst>
          </a:custGeom>
          <a:solidFill>
            <a:srgbClr val="E5EAF1"/>
          </a:solidFill>
          <a:ln cap="sq" cmpd="sng" w="19050">
            <a:solidFill>
              <a:srgbClr val="E5EAF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48" name="Google Shape;548;p20"/>
          <p:cNvSpPr/>
          <p:nvPr/>
        </p:nvSpPr>
        <p:spPr>
          <a:xfrm>
            <a:off x="13072034" y="2845622"/>
            <a:ext cx="1048607" cy="156305"/>
          </a:xfrm>
          <a:custGeom>
            <a:rect b="b" l="l" r="r" t="t"/>
            <a:pathLst>
              <a:path extrusionOk="0" h="208407" w="1398143">
                <a:moveTo>
                  <a:pt x="0" y="0"/>
                </a:moveTo>
                <a:lnTo>
                  <a:pt x="1398143" y="0"/>
                </a:lnTo>
                <a:lnTo>
                  <a:pt x="1398143" y="208407"/>
                </a:lnTo>
                <a:lnTo>
                  <a:pt x="0" y="208407"/>
                </a:lnTo>
                <a:close/>
              </a:path>
            </a:pathLst>
          </a:custGeom>
          <a:solidFill>
            <a:srgbClr val="F59E0B"/>
          </a:solidFill>
          <a:ln cap="sq" cmpd="sng" w="19050">
            <a:solidFill>
              <a:srgbClr val="F59E0B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549" name="Google Shape;549;p20"/>
          <p:cNvGrpSpPr/>
          <p:nvPr/>
        </p:nvGrpSpPr>
        <p:grpSpPr>
          <a:xfrm>
            <a:off x="16760333" y="2731618"/>
            <a:ext cx="1304039" cy="446291"/>
            <a:chOff x="0" y="0"/>
            <a:chExt cx="1738719" cy="595055"/>
          </a:xfrm>
        </p:grpSpPr>
        <p:sp>
          <p:nvSpPr>
            <p:cNvPr id="550" name="Google Shape;550;p20"/>
            <p:cNvSpPr/>
            <p:nvPr/>
          </p:nvSpPr>
          <p:spPr>
            <a:xfrm>
              <a:off x="0" y="0"/>
              <a:ext cx="1738718" cy="595055"/>
            </a:xfrm>
            <a:custGeom>
              <a:rect b="b" l="l" r="r" t="t"/>
              <a:pathLst>
                <a:path extrusionOk="0" h="595055" w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595055"/>
                  </a:lnTo>
                  <a:lnTo>
                    <a:pt x="0" y="5950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3081" l="0" r="0" t="-16949"/>
              </a:stretch>
            </a:blipFill>
            <a:ln>
              <a:noFill/>
            </a:ln>
          </p:spPr>
        </p:sp>
        <p:sp>
          <p:nvSpPr>
            <p:cNvPr id="551" name="Google Shape;551;p20"/>
            <p:cNvSpPr txBox="1"/>
            <p:nvPr/>
          </p:nvSpPr>
          <p:spPr>
            <a:xfrm>
              <a:off x="0" y="0"/>
              <a:ext cx="1738719" cy="5950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B45309"/>
                  </a:solidFill>
                  <a:latin typeface="Noto Sans"/>
                  <a:ea typeface="Noto Sans"/>
                  <a:cs typeface="Noto Sans"/>
                  <a:sym typeface="Noto Sans"/>
                </a:rPr>
                <a:t>30%</a:t>
              </a:r>
              <a:endParaRPr/>
            </a:p>
          </p:txBody>
        </p:sp>
      </p:grpSp>
      <p:grpSp>
        <p:nvGrpSpPr>
          <p:cNvPr id="552" name="Google Shape;552;p20"/>
          <p:cNvGrpSpPr/>
          <p:nvPr/>
        </p:nvGrpSpPr>
        <p:grpSpPr>
          <a:xfrm>
            <a:off x="9993058" y="3500314"/>
            <a:ext cx="3019882" cy="356895"/>
            <a:chOff x="0" y="0"/>
            <a:chExt cx="4026510" cy="475860"/>
          </a:xfrm>
        </p:grpSpPr>
        <p:sp>
          <p:nvSpPr>
            <p:cNvPr id="553" name="Google Shape;553;p20"/>
            <p:cNvSpPr/>
            <p:nvPr/>
          </p:nvSpPr>
          <p:spPr>
            <a:xfrm>
              <a:off x="0" y="0"/>
              <a:ext cx="4026506" cy="475860"/>
            </a:xfrm>
            <a:custGeom>
              <a:rect b="b" l="l" r="r" t="t"/>
              <a:pathLst>
                <a:path extrusionOk="0" h="475860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475860"/>
                  </a:lnTo>
                  <a:lnTo>
                    <a:pt x="0" y="4758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875" l="0" r="0" t="-114875"/>
              </a:stretch>
            </a:blipFill>
            <a:ln>
              <a:noFill/>
            </a:ln>
          </p:spPr>
        </p:sp>
        <p:sp>
          <p:nvSpPr>
            <p:cNvPr id="554" name="Google Shape;554;p20"/>
            <p:cNvSpPr txBox="1"/>
            <p:nvPr/>
          </p:nvSpPr>
          <p:spPr>
            <a:xfrm>
              <a:off x="0" y="0"/>
              <a:ext cx="4026510" cy="475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6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점포당 매출 감소</a:t>
              </a:r>
              <a:endParaRPr sz="1600"/>
            </a:p>
          </p:txBody>
        </p:sp>
      </p:grpSp>
      <p:sp>
        <p:nvSpPr>
          <p:cNvPr id="555" name="Google Shape;555;p20"/>
          <p:cNvSpPr/>
          <p:nvPr/>
        </p:nvSpPr>
        <p:spPr>
          <a:xfrm>
            <a:off x="13072034" y="3600593"/>
            <a:ext cx="3450717" cy="156305"/>
          </a:xfrm>
          <a:custGeom>
            <a:rect b="b" l="l" r="r" t="t"/>
            <a:pathLst>
              <a:path extrusionOk="0" h="208407" w="4600956">
                <a:moveTo>
                  <a:pt x="0" y="0"/>
                </a:moveTo>
                <a:lnTo>
                  <a:pt x="4600956" y="0"/>
                </a:lnTo>
                <a:lnTo>
                  <a:pt x="4600956" y="208407"/>
                </a:lnTo>
                <a:lnTo>
                  <a:pt x="0" y="208407"/>
                </a:lnTo>
                <a:close/>
              </a:path>
            </a:pathLst>
          </a:custGeom>
          <a:solidFill>
            <a:srgbClr val="E5EAF1"/>
          </a:solidFill>
          <a:ln cap="sq" cmpd="sng" w="19050">
            <a:solidFill>
              <a:srgbClr val="E5EAF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56" name="Google Shape;556;p20"/>
          <p:cNvSpPr/>
          <p:nvPr/>
        </p:nvSpPr>
        <p:spPr>
          <a:xfrm>
            <a:off x="13072034" y="3600593"/>
            <a:ext cx="1220152" cy="156305"/>
          </a:xfrm>
          <a:custGeom>
            <a:rect b="b" l="l" r="r" t="t"/>
            <a:pathLst>
              <a:path extrusionOk="0" h="208407" w="1626870">
                <a:moveTo>
                  <a:pt x="0" y="0"/>
                </a:moveTo>
                <a:lnTo>
                  <a:pt x="1626870" y="0"/>
                </a:lnTo>
                <a:lnTo>
                  <a:pt x="1626870" y="208407"/>
                </a:lnTo>
                <a:lnTo>
                  <a:pt x="0" y="208407"/>
                </a:lnTo>
                <a:close/>
              </a:path>
            </a:pathLst>
          </a:custGeom>
          <a:solidFill>
            <a:srgbClr val="DC2626"/>
          </a:solidFill>
          <a:ln cap="sq" cmpd="sng" w="19050">
            <a:solidFill>
              <a:srgbClr val="DC2626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557" name="Google Shape;557;p20"/>
          <p:cNvGrpSpPr/>
          <p:nvPr/>
        </p:nvGrpSpPr>
        <p:grpSpPr>
          <a:xfrm>
            <a:off x="16760333" y="3486588"/>
            <a:ext cx="1304039" cy="446291"/>
            <a:chOff x="0" y="0"/>
            <a:chExt cx="1738719" cy="595055"/>
          </a:xfrm>
        </p:grpSpPr>
        <p:sp>
          <p:nvSpPr>
            <p:cNvPr id="558" name="Google Shape;558;p20"/>
            <p:cNvSpPr/>
            <p:nvPr/>
          </p:nvSpPr>
          <p:spPr>
            <a:xfrm>
              <a:off x="0" y="0"/>
              <a:ext cx="1738718" cy="595055"/>
            </a:xfrm>
            <a:custGeom>
              <a:rect b="b" l="l" r="r" t="t"/>
              <a:pathLst>
                <a:path extrusionOk="0" h="595055" w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595055"/>
                  </a:lnTo>
                  <a:lnTo>
                    <a:pt x="0" y="5950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3081" l="0" r="0" t="-16949"/>
              </a:stretch>
            </a:blipFill>
            <a:ln>
              <a:noFill/>
            </a:ln>
          </p:spPr>
        </p:sp>
        <p:sp>
          <p:nvSpPr>
            <p:cNvPr id="559" name="Google Shape;559;p20"/>
            <p:cNvSpPr txBox="1"/>
            <p:nvPr/>
          </p:nvSpPr>
          <p:spPr>
            <a:xfrm>
              <a:off x="0" y="0"/>
              <a:ext cx="1738719" cy="5950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B45309"/>
                  </a:solidFill>
                  <a:latin typeface="Noto Sans"/>
                  <a:ea typeface="Noto Sans"/>
                  <a:cs typeface="Noto Sans"/>
                  <a:sym typeface="Noto Sans"/>
                </a:rPr>
                <a:t>35%</a:t>
              </a:r>
              <a:endParaRPr/>
            </a:p>
          </p:txBody>
        </p:sp>
      </p:grpSp>
      <p:grpSp>
        <p:nvGrpSpPr>
          <p:cNvPr id="560" name="Google Shape;560;p20"/>
          <p:cNvGrpSpPr/>
          <p:nvPr/>
        </p:nvGrpSpPr>
        <p:grpSpPr>
          <a:xfrm>
            <a:off x="9993058" y="4255284"/>
            <a:ext cx="3019882" cy="356895"/>
            <a:chOff x="0" y="0"/>
            <a:chExt cx="4026510" cy="475860"/>
          </a:xfrm>
        </p:grpSpPr>
        <p:sp>
          <p:nvSpPr>
            <p:cNvPr id="561" name="Google Shape;561;p20"/>
            <p:cNvSpPr/>
            <p:nvPr/>
          </p:nvSpPr>
          <p:spPr>
            <a:xfrm>
              <a:off x="0" y="0"/>
              <a:ext cx="4026506" cy="475860"/>
            </a:xfrm>
            <a:custGeom>
              <a:rect b="b" l="l" r="r" t="t"/>
              <a:pathLst>
                <a:path extrusionOk="0" h="475860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475860"/>
                  </a:lnTo>
                  <a:lnTo>
                    <a:pt x="0" y="4758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875" l="0" r="0" t="-114875"/>
              </a:stretch>
            </a:blipFill>
            <a:ln>
              <a:noFill/>
            </a:ln>
          </p:spPr>
        </p:sp>
        <p:sp>
          <p:nvSpPr>
            <p:cNvPr id="562" name="Google Shape;562;p20"/>
            <p:cNvSpPr txBox="1"/>
            <p:nvPr/>
          </p:nvSpPr>
          <p:spPr>
            <a:xfrm>
              <a:off x="0" y="0"/>
              <a:ext cx="4026510" cy="475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6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폐업 위험</a:t>
              </a:r>
              <a:endParaRPr sz="1600"/>
            </a:p>
          </p:txBody>
        </p:sp>
      </p:grpSp>
      <p:sp>
        <p:nvSpPr>
          <p:cNvPr id="563" name="Google Shape;563;p20"/>
          <p:cNvSpPr/>
          <p:nvPr/>
        </p:nvSpPr>
        <p:spPr>
          <a:xfrm>
            <a:off x="13072034" y="4355563"/>
            <a:ext cx="3450717" cy="156305"/>
          </a:xfrm>
          <a:custGeom>
            <a:rect b="b" l="l" r="r" t="t"/>
            <a:pathLst>
              <a:path extrusionOk="0" h="208407" w="4600956">
                <a:moveTo>
                  <a:pt x="0" y="0"/>
                </a:moveTo>
                <a:lnTo>
                  <a:pt x="4600956" y="0"/>
                </a:lnTo>
                <a:lnTo>
                  <a:pt x="4600956" y="208407"/>
                </a:lnTo>
                <a:lnTo>
                  <a:pt x="0" y="208407"/>
                </a:lnTo>
                <a:close/>
              </a:path>
            </a:pathLst>
          </a:custGeom>
          <a:solidFill>
            <a:srgbClr val="E5EAF1"/>
          </a:solidFill>
          <a:ln cap="sq" cmpd="sng" w="19050">
            <a:solidFill>
              <a:srgbClr val="E5EAF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4" name="Google Shape;564;p20"/>
          <p:cNvSpPr/>
          <p:nvPr/>
        </p:nvSpPr>
        <p:spPr>
          <a:xfrm>
            <a:off x="13072034" y="4355563"/>
            <a:ext cx="876967" cy="156305"/>
          </a:xfrm>
          <a:custGeom>
            <a:rect b="b" l="l" r="r" t="t"/>
            <a:pathLst>
              <a:path extrusionOk="0" h="208407" w="1169289">
                <a:moveTo>
                  <a:pt x="0" y="0"/>
                </a:moveTo>
                <a:lnTo>
                  <a:pt x="1169289" y="0"/>
                </a:lnTo>
                <a:lnTo>
                  <a:pt x="1169289" y="208407"/>
                </a:lnTo>
                <a:lnTo>
                  <a:pt x="0" y="208407"/>
                </a:lnTo>
                <a:close/>
              </a:path>
            </a:pathLst>
          </a:custGeom>
          <a:solidFill>
            <a:srgbClr val="F59E0B"/>
          </a:solidFill>
          <a:ln cap="sq" cmpd="sng" w="19050">
            <a:solidFill>
              <a:srgbClr val="F59E0B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565" name="Google Shape;565;p20"/>
          <p:cNvGrpSpPr/>
          <p:nvPr/>
        </p:nvGrpSpPr>
        <p:grpSpPr>
          <a:xfrm>
            <a:off x="16760333" y="4241559"/>
            <a:ext cx="1304039" cy="446291"/>
            <a:chOff x="0" y="0"/>
            <a:chExt cx="1738719" cy="595055"/>
          </a:xfrm>
        </p:grpSpPr>
        <p:sp>
          <p:nvSpPr>
            <p:cNvPr id="566" name="Google Shape;566;p20"/>
            <p:cNvSpPr/>
            <p:nvPr/>
          </p:nvSpPr>
          <p:spPr>
            <a:xfrm>
              <a:off x="0" y="0"/>
              <a:ext cx="1738718" cy="595055"/>
            </a:xfrm>
            <a:custGeom>
              <a:rect b="b" l="l" r="r" t="t"/>
              <a:pathLst>
                <a:path extrusionOk="0" h="595055" w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595055"/>
                  </a:lnTo>
                  <a:lnTo>
                    <a:pt x="0" y="5950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3081" l="0" r="0" t="-16949"/>
              </a:stretch>
            </a:blipFill>
            <a:ln>
              <a:noFill/>
            </a:ln>
          </p:spPr>
        </p:sp>
        <p:sp>
          <p:nvSpPr>
            <p:cNvPr id="567" name="Google Shape;567;p20"/>
            <p:cNvSpPr txBox="1"/>
            <p:nvPr/>
          </p:nvSpPr>
          <p:spPr>
            <a:xfrm>
              <a:off x="0" y="0"/>
              <a:ext cx="1738719" cy="5950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B45309"/>
                  </a:solidFill>
                  <a:latin typeface="Noto Sans"/>
                  <a:ea typeface="Noto Sans"/>
                  <a:cs typeface="Noto Sans"/>
                  <a:sym typeface="Noto Sans"/>
                </a:rPr>
                <a:t>25%</a:t>
              </a:r>
              <a:endParaRPr/>
            </a:p>
          </p:txBody>
        </p:sp>
      </p:grpSp>
      <p:grpSp>
        <p:nvGrpSpPr>
          <p:cNvPr id="568" name="Google Shape;568;p20"/>
          <p:cNvGrpSpPr/>
          <p:nvPr/>
        </p:nvGrpSpPr>
        <p:grpSpPr>
          <a:xfrm>
            <a:off x="9993058" y="5010255"/>
            <a:ext cx="3019882" cy="356895"/>
            <a:chOff x="0" y="0"/>
            <a:chExt cx="4026510" cy="475860"/>
          </a:xfrm>
        </p:grpSpPr>
        <p:sp>
          <p:nvSpPr>
            <p:cNvPr id="569" name="Google Shape;569;p20"/>
            <p:cNvSpPr/>
            <p:nvPr/>
          </p:nvSpPr>
          <p:spPr>
            <a:xfrm>
              <a:off x="0" y="0"/>
              <a:ext cx="4026506" cy="475860"/>
            </a:xfrm>
            <a:custGeom>
              <a:rect b="b" l="l" r="r" t="t"/>
              <a:pathLst>
                <a:path extrusionOk="0" h="475860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475860"/>
                  </a:lnTo>
                  <a:lnTo>
                    <a:pt x="0" y="4758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875" l="0" r="0" t="-114875"/>
              </a:stretch>
            </a:blipFill>
            <a:ln>
              <a:noFill/>
            </a:ln>
          </p:spPr>
        </p:sp>
        <p:sp>
          <p:nvSpPr>
            <p:cNvPr id="570" name="Google Shape;570;p20"/>
            <p:cNvSpPr txBox="1"/>
            <p:nvPr/>
          </p:nvSpPr>
          <p:spPr>
            <a:xfrm>
              <a:off x="0" y="0"/>
              <a:ext cx="4026510" cy="475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6" u="none" cap="none" strike="noStrike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매출 둔화</a:t>
              </a:r>
              <a:endParaRPr sz="1600"/>
            </a:p>
          </p:txBody>
        </p:sp>
      </p:grpSp>
      <p:sp>
        <p:nvSpPr>
          <p:cNvPr id="571" name="Google Shape;571;p20"/>
          <p:cNvSpPr/>
          <p:nvPr/>
        </p:nvSpPr>
        <p:spPr>
          <a:xfrm>
            <a:off x="13072034" y="5110534"/>
            <a:ext cx="3450717" cy="156305"/>
          </a:xfrm>
          <a:custGeom>
            <a:rect b="b" l="l" r="r" t="t"/>
            <a:pathLst>
              <a:path extrusionOk="0" h="208407" w="4600956">
                <a:moveTo>
                  <a:pt x="0" y="0"/>
                </a:moveTo>
                <a:lnTo>
                  <a:pt x="4600956" y="0"/>
                </a:lnTo>
                <a:lnTo>
                  <a:pt x="4600956" y="208407"/>
                </a:lnTo>
                <a:lnTo>
                  <a:pt x="0" y="208407"/>
                </a:lnTo>
                <a:close/>
              </a:path>
            </a:pathLst>
          </a:custGeom>
          <a:solidFill>
            <a:srgbClr val="E5EAF1"/>
          </a:solidFill>
          <a:ln cap="sq" cmpd="sng" w="19050">
            <a:solidFill>
              <a:srgbClr val="E5EAF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2" name="Google Shape;572;p20"/>
          <p:cNvSpPr/>
          <p:nvPr/>
        </p:nvSpPr>
        <p:spPr>
          <a:xfrm>
            <a:off x="13072034" y="5110534"/>
            <a:ext cx="362236" cy="156305"/>
          </a:xfrm>
          <a:custGeom>
            <a:rect b="b" l="l" r="r" t="t"/>
            <a:pathLst>
              <a:path extrusionOk="0" h="208407" w="482981">
                <a:moveTo>
                  <a:pt x="0" y="0"/>
                </a:moveTo>
                <a:lnTo>
                  <a:pt x="482981" y="0"/>
                </a:lnTo>
                <a:lnTo>
                  <a:pt x="482981" y="208407"/>
                </a:lnTo>
                <a:lnTo>
                  <a:pt x="0" y="208407"/>
                </a:lnTo>
                <a:close/>
              </a:path>
            </a:pathLst>
          </a:custGeom>
          <a:solidFill>
            <a:srgbClr val="64748B"/>
          </a:solidFill>
          <a:ln cap="sq" cmpd="sng" w="19050">
            <a:solidFill>
              <a:srgbClr val="64748B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573" name="Google Shape;573;p20"/>
          <p:cNvGrpSpPr/>
          <p:nvPr/>
        </p:nvGrpSpPr>
        <p:grpSpPr>
          <a:xfrm>
            <a:off x="16760333" y="4996529"/>
            <a:ext cx="1304039" cy="446291"/>
            <a:chOff x="0" y="0"/>
            <a:chExt cx="1738719" cy="595055"/>
          </a:xfrm>
        </p:grpSpPr>
        <p:sp>
          <p:nvSpPr>
            <p:cNvPr id="574" name="Google Shape;574;p20"/>
            <p:cNvSpPr/>
            <p:nvPr/>
          </p:nvSpPr>
          <p:spPr>
            <a:xfrm>
              <a:off x="0" y="0"/>
              <a:ext cx="1738718" cy="595055"/>
            </a:xfrm>
            <a:custGeom>
              <a:rect b="b" l="l" r="r" t="t"/>
              <a:pathLst>
                <a:path extrusionOk="0" h="595055" w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595055"/>
                  </a:lnTo>
                  <a:lnTo>
                    <a:pt x="0" y="5950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3081" l="0" r="0" t="-16949"/>
              </a:stretch>
            </a:blipFill>
            <a:ln>
              <a:noFill/>
            </a:ln>
          </p:spPr>
        </p:sp>
        <p:sp>
          <p:nvSpPr>
            <p:cNvPr id="575" name="Google Shape;575;p20"/>
            <p:cNvSpPr txBox="1"/>
            <p:nvPr/>
          </p:nvSpPr>
          <p:spPr>
            <a:xfrm>
              <a:off x="0" y="0"/>
              <a:ext cx="1738719" cy="5950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B45309"/>
                  </a:solidFill>
                  <a:latin typeface="Noto Sans"/>
                  <a:ea typeface="Noto Sans"/>
                  <a:cs typeface="Noto Sans"/>
                  <a:sym typeface="Noto Sans"/>
                </a:rPr>
                <a:t>10%</a:t>
              </a:r>
              <a:endParaRPr/>
            </a:p>
          </p:txBody>
        </p:sp>
      </p:grpSp>
      <p:cxnSp>
        <p:nvCxnSpPr>
          <p:cNvPr id="576" name="Google Shape;576;p20"/>
          <p:cNvCxnSpPr/>
          <p:nvPr/>
        </p:nvCxnSpPr>
        <p:spPr>
          <a:xfrm rot="5385038">
            <a:off x="7103560" y="4387729"/>
            <a:ext cx="4411542" cy="0"/>
          </a:xfrm>
          <a:prstGeom prst="straightConnector1">
            <a:avLst/>
          </a:prstGeom>
          <a:noFill/>
          <a:ln cap="rnd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77" name="Google Shape;577;p20"/>
          <p:cNvGrpSpPr/>
          <p:nvPr/>
        </p:nvGrpSpPr>
        <p:grpSpPr>
          <a:xfrm>
            <a:off x="1166774" y="6561372"/>
            <a:ext cx="2470814" cy="411804"/>
            <a:chOff x="0" y="0"/>
            <a:chExt cx="3294418" cy="549072"/>
          </a:xfrm>
        </p:grpSpPr>
        <p:sp>
          <p:nvSpPr>
            <p:cNvPr id="578" name="Google Shape;578;p20"/>
            <p:cNvSpPr/>
            <p:nvPr/>
          </p:nvSpPr>
          <p:spPr>
            <a:xfrm>
              <a:off x="0" y="0"/>
              <a:ext cx="3294414" cy="549069"/>
            </a:xfrm>
            <a:custGeom>
              <a:rect b="b" l="l" r="r" t="t"/>
              <a:pathLst>
                <a:path extrusionOk="0" h="549069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6910" l="0" r="0" t="-66910"/>
              </a:stretch>
            </a:blipFill>
            <a:ln>
              <a:noFill/>
            </a:ln>
          </p:spPr>
        </p:sp>
        <p:sp>
          <p:nvSpPr>
            <p:cNvPr id="579" name="Google Shape;579;p20"/>
            <p:cNvSpPr txBox="1"/>
            <p:nvPr/>
          </p:nvSpPr>
          <p:spPr>
            <a:xfrm>
              <a:off x="0" y="9525"/>
              <a:ext cx="3294418" cy="539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예측 원칙</a:t>
              </a:r>
              <a:endParaRPr sz="1600"/>
            </a:p>
          </p:txBody>
        </p:sp>
      </p:grpSp>
      <p:grpSp>
        <p:nvGrpSpPr>
          <p:cNvPr id="580" name="Google Shape;580;p20"/>
          <p:cNvGrpSpPr/>
          <p:nvPr/>
        </p:nvGrpSpPr>
        <p:grpSpPr>
          <a:xfrm>
            <a:off x="3147612" y="7196995"/>
            <a:ext cx="2764440" cy="787765"/>
            <a:chOff x="0" y="0"/>
            <a:chExt cx="3685921" cy="1050354"/>
          </a:xfrm>
        </p:grpSpPr>
        <p:sp>
          <p:nvSpPr>
            <p:cNvPr id="581" name="Google Shape;581;p20"/>
            <p:cNvSpPr/>
            <p:nvPr/>
          </p:nvSpPr>
          <p:spPr>
            <a:xfrm>
              <a:off x="0" y="0"/>
              <a:ext cx="3685921" cy="1050290"/>
            </a:xfrm>
            <a:custGeom>
              <a:rect b="b" l="l" r="r" t="t"/>
              <a:pathLst>
                <a:path extrusionOk="0" h="1050290" w="3685921">
                  <a:moveTo>
                    <a:pt x="0" y="0"/>
                  </a:moveTo>
                  <a:lnTo>
                    <a:pt x="3685921" y="0"/>
                  </a:lnTo>
                  <a:lnTo>
                    <a:pt x="3685921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9E2E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82" name="Google Shape;582;p20"/>
            <p:cNvSpPr txBox="1"/>
            <p:nvPr/>
          </p:nvSpPr>
          <p:spPr>
            <a:xfrm>
              <a:off x="0" y="9525"/>
              <a:ext cx="3685883" cy="1040829"/>
            </a:xfrm>
            <a:prstGeom prst="rect">
              <a:avLst/>
            </a:prstGeom>
            <a:solidFill>
              <a:srgbClr val="CBEFD6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현재 시점 데이터</a:t>
              </a:r>
              <a:endParaRPr sz="1600"/>
            </a:p>
          </p:txBody>
        </p:sp>
      </p:grpSp>
      <p:grpSp>
        <p:nvGrpSpPr>
          <p:cNvPr id="583" name="Google Shape;583;p20"/>
          <p:cNvGrpSpPr/>
          <p:nvPr/>
        </p:nvGrpSpPr>
        <p:grpSpPr>
          <a:xfrm>
            <a:off x="6922465" y="7196995"/>
            <a:ext cx="2764440" cy="787765"/>
            <a:chOff x="0" y="0"/>
            <a:chExt cx="3685921" cy="1050354"/>
          </a:xfrm>
        </p:grpSpPr>
        <p:sp>
          <p:nvSpPr>
            <p:cNvPr id="584" name="Google Shape;584;p20"/>
            <p:cNvSpPr/>
            <p:nvPr/>
          </p:nvSpPr>
          <p:spPr>
            <a:xfrm>
              <a:off x="0" y="0"/>
              <a:ext cx="3685921" cy="1050290"/>
            </a:xfrm>
            <a:custGeom>
              <a:rect b="b" l="l" r="r" t="t"/>
              <a:pathLst>
                <a:path extrusionOk="0" h="1050290" w="3685921">
                  <a:moveTo>
                    <a:pt x="0" y="0"/>
                  </a:moveTo>
                  <a:lnTo>
                    <a:pt x="3685921" y="0"/>
                  </a:lnTo>
                  <a:lnTo>
                    <a:pt x="3685921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9E2E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85" name="Google Shape;585;p20"/>
            <p:cNvSpPr txBox="1"/>
            <p:nvPr/>
          </p:nvSpPr>
          <p:spPr>
            <a:xfrm>
              <a:off x="0" y="9525"/>
              <a:ext cx="3685883" cy="1040829"/>
            </a:xfrm>
            <a:prstGeom prst="rect">
              <a:avLst/>
            </a:prstGeom>
            <a:solidFill>
              <a:srgbClr val="CBEFD6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4분기 뒤 결과</a:t>
              </a:r>
              <a:endParaRPr sz="1600"/>
            </a:p>
          </p:txBody>
        </p:sp>
      </p:grpSp>
      <p:grpSp>
        <p:nvGrpSpPr>
          <p:cNvPr id="586" name="Google Shape;586;p20"/>
          <p:cNvGrpSpPr/>
          <p:nvPr/>
        </p:nvGrpSpPr>
        <p:grpSpPr>
          <a:xfrm>
            <a:off x="10697308" y="7196995"/>
            <a:ext cx="3244882" cy="787765"/>
            <a:chOff x="0" y="0"/>
            <a:chExt cx="4326509" cy="1050354"/>
          </a:xfrm>
        </p:grpSpPr>
        <p:sp>
          <p:nvSpPr>
            <p:cNvPr id="587" name="Google Shape;587;p20"/>
            <p:cNvSpPr/>
            <p:nvPr/>
          </p:nvSpPr>
          <p:spPr>
            <a:xfrm>
              <a:off x="0" y="0"/>
              <a:ext cx="4326509" cy="1050290"/>
            </a:xfrm>
            <a:custGeom>
              <a:rect b="b" l="l" r="r" t="t"/>
              <a:pathLst>
                <a:path extrusionOk="0" h="1050290" w="4326509">
                  <a:moveTo>
                    <a:pt x="0" y="0"/>
                  </a:moveTo>
                  <a:lnTo>
                    <a:pt x="4326509" y="0"/>
                  </a:lnTo>
                  <a:lnTo>
                    <a:pt x="4326509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D8E2F0"/>
            </a:solidFill>
            <a:ln cap="sq" cmpd="sng" w="19050">
              <a:solidFill>
                <a:srgbClr val="CBEFD6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88" name="Google Shape;588;p20"/>
            <p:cNvSpPr txBox="1"/>
            <p:nvPr/>
          </p:nvSpPr>
          <p:spPr>
            <a:xfrm>
              <a:off x="0" y="9525"/>
              <a:ext cx="4326458" cy="1040829"/>
            </a:xfrm>
            <a:prstGeom prst="rect">
              <a:avLst/>
            </a:prstGeom>
            <a:solidFill>
              <a:srgbClr val="CBEFD6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1" u="none" cap="none" strike="noStrike">
                  <a:solidFill>
                    <a:srgbClr val="111827"/>
                  </a:solidFill>
                  <a:latin typeface="Noto Sans"/>
                  <a:ea typeface="Noto Sans"/>
                  <a:cs typeface="Noto Sans"/>
                  <a:sym typeface="Noto Sans"/>
                </a:rPr>
                <a:t>검증 통과 시 노출</a:t>
              </a:r>
              <a:endParaRPr sz="1600"/>
            </a:p>
          </p:txBody>
        </p:sp>
      </p:grpSp>
      <p:grpSp>
        <p:nvGrpSpPr>
          <p:cNvPr id="589" name="Google Shape;589;p20"/>
          <p:cNvGrpSpPr/>
          <p:nvPr/>
        </p:nvGrpSpPr>
        <p:grpSpPr>
          <a:xfrm>
            <a:off x="3157147" y="8304667"/>
            <a:ext cx="9334176" cy="411802"/>
            <a:chOff x="0" y="0"/>
            <a:chExt cx="12445568" cy="549069"/>
          </a:xfrm>
        </p:grpSpPr>
        <p:sp>
          <p:nvSpPr>
            <p:cNvPr id="590" name="Google Shape;590;p20"/>
            <p:cNvSpPr/>
            <p:nvPr/>
          </p:nvSpPr>
          <p:spPr>
            <a:xfrm>
              <a:off x="0" y="0"/>
              <a:ext cx="12445563" cy="549066"/>
            </a:xfrm>
            <a:custGeom>
              <a:rect b="b" l="l" r="r" t="t"/>
              <a:pathLst>
                <a:path extrusionOk="0" h="549066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549066"/>
                  </a:lnTo>
                  <a:lnTo>
                    <a:pt x="0" y="54906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1696" l="0" r="0" t="-391696"/>
              </a:stretch>
            </a:blipFill>
            <a:ln>
              <a:noFill/>
            </a:ln>
          </p:spPr>
        </p:sp>
        <p:sp>
          <p:nvSpPr>
            <p:cNvPr id="591" name="Google Shape;591;p20"/>
            <p:cNvSpPr txBox="1"/>
            <p:nvPr/>
          </p:nvSpPr>
          <p:spPr>
            <a:xfrm>
              <a:off x="0" y="0"/>
              <a:ext cx="12445568" cy="5490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651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검증 전에는 “확률”이 아니라 “점수”로 표현합니다.</a:t>
              </a:r>
              <a:endParaRPr/>
            </a:p>
          </p:txBody>
        </p:sp>
      </p:grpSp>
      <p:grpSp>
        <p:nvGrpSpPr>
          <p:cNvPr id="592" name="Google Shape;592;p20"/>
          <p:cNvGrpSpPr/>
          <p:nvPr/>
        </p:nvGrpSpPr>
        <p:grpSpPr>
          <a:xfrm>
            <a:off x="892235" y="9677343"/>
            <a:ext cx="5216157" cy="274539"/>
            <a:chOff x="0" y="0"/>
            <a:chExt cx="6954876" cy="366052"/>
          </a:xfrm>
        </p:grpSpPr>
        <p:sp>
          <p:nvSpPr>
            <p:cNvPr id="593" name="Google Shape;593;p20"/>
            <p:cNvSpPr/>
            <p:nvPr/>
          </p:nvSpPr>
          <p:spPr>
            <a:xfrm>
              <a:off x="0" y="0"/>
              <a:ext cx="6954873" cy="366046"/>
            </a:xfrm>
            <a:custGeom>
              <a:rect b="b" l="l" r="r" t="t"/>
              <a:pathLst>
                <a:path extrusionOk="0" h="366046" w="6954873">
                  <a:moveTo>
                    <a:pt x="0" y="0"/>
                  </a:moveTo>
                  <a:lnTo>
                    <a:pt x="6954873" y="0"/>
                  </a:lnTo>
                  <a:lnTo>
                    <a:pt x="6954873" y="366046"/>
                  </a:lnTo>
                  <a:lnTo>
                    <a:pt x="0" y="36604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20206" l="0" r="0" t="-320206"/>
              </a:stretch>
            </a:blipFill>
            <a:ln>
              <a:noFill/>
            </a:ln>
          </p:spPr>
        </p:sp>
        <p:sp>
          <p:nvSpPr>
            <p:cNvPr id="594" name="Google Shape;594;p20"/>
            <p:cNvSpPr txBox="1"/>
            <p:nvPr/>
          </p:nvSpPr>
          <p:spPr>
            <a:xfrm>
              <a:off x="0" y="9525"/>
              <a:ext cx="6954876" cy="356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상권나침반 바이브코딩 적용 보고</a:t>
              </a:r>
              <a:endParaRPr/>
            </a:p>
          </p:txBody>
        </p:sp>
      </p:grpSp>
      <p:grpSp>
        <p:nvGrpSpPr>
          <p:cNvPr id="595" name="Google Shape;595;p20"/>
          <p:cNvGrpSpPr/>
          <p:nvPr/>
        </p:nvGrpSpPr>
        <p:grpSpPr>
          <a:xfrm>
            <a:off x="16815235" y="9629013"/>
            <a:ext cx="617706" cy="336585"/>
            <a:chOff x="0" y="-9525"/>
            <a:chExt cx="823608" cy="448780"/>
          </a:xfrm>
        </p:grpSpPr>
        <p:sp>
          <p:nvSpPr>
            <p:cNvPr id="596" name="Google Shape;596;p20"/>
            <p:cNvSpPr/>
            <p:nvPr/>
          </p:nvSpPr>
          <p:spPr>
            <a:xfrm>
              <a:off x="0" y="0"/>
              <a:ext cx="823603" cy="439255"/>
            </a:xfrm>
            <a:custGeom>
              <a:rect b="b" l="l" r="r" t="t"/>
              <a:pathLst>
                <a:path extrusionOk="0" h="439255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439255"/>
                  </a:lnTo>
                  <a:lnTo>
                    <a:pt x="0" y="4392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8428" r="-18428" t="0"/>
              </a:stretch>
            </a:blipFill>
            <a:ln>
              <a:noFill/>
            </a:ln>
          </p:spPr>
        </p:sp>
        <p:sp>
          <p:nvSpPr>
            <p:cNvPr id="597" name="Google Shape;597;p20"/>
            <p:cNvSpPr txBox="1"/>
            <p:nvPr/>
          </p:nvSpPr>
          <p:spPr>
            <a:xfrm>
              <a:off x="0" y="-9525"/>
              <a:ext cx="823608" cy="448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07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6" name="Google Shape;606;p21"/>
          <p:cNvGrpSpPr/>
          <p:nvPr/>
        </p:nvGrpSpPr>
        <p:grpSpPr>
          <a:xfrm>
            <a:off x="892235" y="521618"/>
            <a:ext cx="11667825" cy="621000"/>
            <a:chOff x="0" y="0"/>
            <a:chExt cx="15557100" cy="828000"/>
          </a:xfrm>
        </p:grpSpPr>
        <p:sp>
          <p:nvSpPr>
            <p:cNvPr id="607" name="Google Shape;607;p21"/>
            <p:cNvSpPr/>
            <p:nvPr/>
          </p:nvSpPr>
          <p:spPr>
            <a:xfrm>
              <a:off x="0" y="0"/>
              <a:ext cx="15556954" cy="827989"/>
            </a:xfrm>
            <a:custGeom>
              <a:rect b="b" l="l" r="r" t="t"/>
              <a:pathLst>
                <a:path extrusionOk="0" h="827989" w="15556954">
                  <a:moveTo>
                    <a:pt x="0" y="0"/>
                  </a:moveTo>
                  <a:lnTo>
                    <a:pt x="15556954" y="0"/>
                  </a:lnTo>
                  <a:lnTo>
                    <a:pt x="15556954" y="827989"/>
                  </a:lnTo>
                  <a:lnTo>
                    <a:pt x="0" y="82798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15822" l="0" r="0" t="-316349"/>
              </a:stretch>
            </a:blipFill>
            <a:ln>
              <a:noFill/>
            </a:ln>
          </p:spPr>
        </p:sp>
        <p:sp>
          <p:nvSpPr>
            <p:cNvPr id="608" name="Google Shape;608;p21"/>
            <p:cNvSpPr txBox="1"/>
            <p:nvPr/>
          </p:nvSpPr>
          <p:spPr>
            <a:xfrm>
              <a:off x="0" y="0"/>
              <a:ext cx="15557100" cy="82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50">
                  <a:solidFill>
                    <a:srgbClr val="182A4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제작 </a:t>
              </a:r>
              <a:r>
                <a:rPr b="1" lang="en-US" sz="3150">
                  <a:solidFill>
                    <a:srgbClr val="182A4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도구 및</a:t>
              </a:r>
              <a:r>
                <a:rPr b="1" lang="en-US" sz="3150">
                  <a:solidFill>
                    <a:srgbClr val="182A4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방식</a:t>
              </a:r>
              <a:r>
                <a:rPr b="1" lang="en-US" sz="315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endParaRPr/>
            </a:p>
          </p:txBody>
        </p:sp>
      </p:grpSp>
      <p:grpSp>
        <p:nvGrpSpPr>
          <p:cNvPr id="609" name="Google Shape;609;p21"/>
          <p:cNvGrpSpPr/>
          <p:nvPr/>
        </p:nvGrpSpPr>
        <p:grpSpPr>
          <a:xfrm>
            <a:off x="919686" y="1207951"/>
            <a:ext cx="12079575" cy="343169"/>
            <a:chOff x="0" y="0"/>
            <a:chExt cx="16106100" cy="457559"/>
          </a:xfrm>
        </p:grpSpPr>
        <p:sp>
          <p:nvSpPr>
            <p:cNvPr id="610" name="Google Shape;610;p21"/>
            <p:cNvSpPr/>
            <p:nvPr/>
          </p:nvSpPr>
          <p:spPr>
            <a:xfrm>
              <a:off x="0" y="0"/>
              <a:ext cx="16106023" cy="457559"/>
            </a:xfrm>
            <a:custGeom>
              <a:rect b="b" l="l" r="r" t="t"/>
              <a:pathLst>
                <a:path extrusionOk="0" h="457559" w="16106023">
                  <a:moveTo>
                    <a:pt x="0" y="0"/>
                  </a:moveTo>
                  <a:lnTo>
                    <a:pt x="16106023" y="0"/>
                  </a:lnTo>
                  <a:lnTo>
                    <a:pt x="16106023" y="457559"/>
                  </a:lnTo>
                  <a:lnTo>
                    <a:pt x="0" y="45755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5871" l="0" r="0" t="-635871"/>
              </a:stretch>
            </a:blipFill>
            <a:ln>
              <a:noFill/>
            </a:ln>
          </p:spPr>
        </p:sp>
        <p:sp>
          <p:nvSpPr>
            <p:cNvPr id="611" name="Google Shape;611;p21"/>
            <p:cNvSpPr txBox="1"/>
            <p:nvPr/>
          </p:nvSpPr>
          <p:spPr>
            <a:xfrm>
              <a:off x="0" y="0"/>
              <a:ext cx="16106100" cy="4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5B6472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기획·구현·배포를 분리하고, 명세와 검증으로 통제한 당일 개발 흐름</a:t>
              </a:r>
              <a:endParaRPr/>
            </a:p>
          </p:txBody>
        </p:sp>
      </p:grpSp>
      <p:cxnSp>
        <p:nvCxnSpPr>
          <p:cNvPr id="612" name="Google Shape;612;p21"/>
          <p:cNvCxnSpPr/>
          <p:nvPr/>
        </p:nvCxnSpPr>
        <p:spPr>
          <a:xfrm rot="3986">
            <a:off x="882701" y="1642505"/>
            <a:ext cx="16559711" cy="0"/>
          </a:xfrm>
          <a:prstGeom prst="straightConnector1">
            <a:avLst/>
          </a:prstGeom>
          <a:noFill/>
          <a:ln cap="rnd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13" name="Google Shape;613;p21"/>
          <p:cNvGrpSpPr/>
          <p:nvPr/>
        </p:nvGrpSpPr>
        <p:grpSpPr>
          <a:xfrm>
            <a:off x="892235" y="9677343"/>
            <a:ext cx="5216175" cy="274535"/>
            <a:chOff x="0" y="0"/>
            <a:chExt cx="6954900" cy="366046"/>
          </a:xfrm>
        </p:grpSpPr>
        <p:sp>
          <p:nvSpPr>
            <p:cNvPr id="614" name="Google Shape;614;p21"/>
            <p:cNvSpPr/>
            <p:nvPr/>
          </p:nvSpPr>
          <p:spPr>
            <a:xfrm>
              <a:off x="0" y="0"/>
              <a:ext cx="6954873" cy="366046"/>
            </a:xfrm>
            <a:custGeom>
              <a:rect b="b" l="l" r="r" t="t"/>
              <a:pathLst>
                <a:path extrusionOk="0" h="366046" w="6954873">
                  <a:moveTo>
                    <a:pt x="0" y="0"/>
                  </a:moveTo>
                  <a:lnTo>
                    <a:pt x="6954873" y="0"/>
                  </a:lnTo>
                  <a:lnTo>
                    <a:pt x="6954873" y="366046"/>
                  </a:lnTo>
                  <a:lnTo>
                    <a:pt x="0" y="36604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20198" l="0" r="0" t="-320213"/>
              </a:stretch>
            </a:blipFill>
            <a:ln>
              <a:noFill/>
            </a:ln>
          </p:spPr>
        </p:sp>
        <p:sp>
          <p:nvSpPr>
            <p:cNvPr id="615" name="Google Shape;615;p21"/>
            <p:cNvSpPr txBox="1"/>
            <p:nvPr/>
          </p:nvSpPr>
          <p:spPr>
            <a:xfrm>
              <a:off x="0" y="9525"/>
              <a:ext cx="69549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상권나침반 바이브코딩 적용 보고</a:t>
              </a:r>
              <a:endParaRPr/>
            </a:p>
          </p:txBody>
        </p:sp>
      </p:grpSp>
      <p:grpSp>
        <p:nvGrpSpPr>
          <p:cNvPr id="616" name="Google Shape;616;p21"/>
          <p:cNvGrpSpPr/>
          <p:nvPr/>
        </p:nvGrpSpPr>
        <p:grpSpPr>
          <a:xfrm>
            <a:off x="16815235" y="9629013"/>
            <a:ext cx="617702" cy="336600"/>
            <a:chOff x="0" y="-9525"/>
            <a:chExt cx="823603" cy="448800"/>
          </a:xfrm>
        </p:grpSpPr>
        <p:sp>
          <p:nvSpPr>
            <p:cNvPr id="617" name="Google Shape;617;p21"/>
            <p:cNvSpPr/>
            <p:nvPr/>
          </p:nvSpPr>
          <p:spPr>
            <a:xfrm>
              <a:off x="0" y="0"/>
              <a:ext cx="823603" cy="439255"/>
            </a:xfrm>
            <a:custGeom>
              <a:rect b="b" l="l" r="r" t="t"/>
              <a:pathLst>
                <a:path extrusionOk="0" h="439255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439255"/>
                  </a:lnTo>
                  <a:lnTo>
                    <a:pt x="0" y="4392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8429" r="-18429" t="0"/>
              </a:stretch>
            </a:blipFill>
            <a:ln>
              <a:noFill/>
            </a:ln>
          </p:spPr>
        </p:sp>
        <p:sp>
          <p:nvSpPr>
            <p:cNvPr id="618" name="Google Shape;618;p21"/>
            <p:cNvSpPr txBox="1"/>
            <p:nvPr/>
          </p:nvSpPr>
          <p:spPr>
            <a:xfrm>
              <a:off x="0" y="-9525"/>
              <a:ext cx="823500" cy="4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09</a:t>
              </a:r>
              <a:endParaRPr/>
            </a:p>
          </p:txBody>
        </p:sp>
      </p:grpSp>
      <p:sp>
        <p:nvSpPr>
          <p:cNvPr id="619" name="Google Shape;619;p21"/>
          <p:cNvSpPr/>
          <p:nvPr/>
        </p:nvSpPr>
        <p:spPr>
          <a:xfrm>
            <a:off x="752016" y="2207713"/>
            <a:ext cx="2974800" cy="1855800"/>
          </a:xfrm>
          <a:prstGeom prst="roundRect">
            <a:avLst>
              <a:gd fmla="val 6618" name="adj"/>
            </a:avLst>
          </a:prstGeom>
          <a:solidFill>
            <a:srgbClr val="EAF1FF"/>
          </a:solidFill>
          <a:ln cap="flat" cmpd="sng" w="18950">
            <a:solidFill>
              <a:srgbClr val="D6E0EF"/>
            </a:solidFill>
            <a:prstDash val="solid"/>
            <a:round/>
            <a:headEnd len="sm" w="sm" type="none"/>
            <a:tailEnd len="sm" w="sm" type="none"/>
          </a:ln>
          <a:effectLst>
            <a:outerShdw blurRad="37904" rotWithShape="0" algn="bl" dir="2700000" dist="75808">
              <a:srgbClr val="D9E2F2">
                <a:alpha val="18040"/>
              </a:srgbClr>
            </a:outerShdw>
          </a:effectLst>
        </p:spPr>
        <p:txBody>
          <a:bodyPr anchorCtr="0" anchor="ctr" bIns="136425" lIns="136425" spcFirstLastPara="1" rIns="136425" wrap="square" tIns="13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1"/>
          <p:cNvSpPr/>
          <p:nvPr/>
        </p:nvSpPr>
        <p:spPr>
          <a:xfrm>
            <a:off x="970343" y="2426040"/>
            <a:ext cx="5184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42"/>
              <a:buFont typeface="Malgun Gothic"/>
              <a:buNone/>
            </a:pPr>
            <a:r>
              <a:rPr b="1" i="0" lang="en-US" sz="1642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1642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1" name="Google Shape;621;p21"/>
          <p:cNvSpPr/>
          <p:nvPr/>
        </p:nvSpPr>
        <p:spPr>
          <a:xfrm>
            <a:off x="1502514" y="2371459"/>
            <a:ext cx="19104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2388"/>
              <a:buFont typeface="Malgun Gothic"/>
              <a:buNone/>
            </a:pPr>
            <a:r>
              <a:rPr b="1" i="0" lang="en-US" sz="2388" u="none" cap="none" strike="noStrike">
                <a:solidFill>
                  <a:srgbClr val="182A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기획·명세</a:t>
            </a:r>
            <a:endParaRPr b="0" i="0" sz="238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2" name="Google Shape;622;p21"/>
          <p:cNvSpPr/>
          <p:nvPr/>
        </p:nvSpPr>
        <p:spPr>
          <a:xfrm>
            <a:off x="970343" y="2930923"/>
            <a:ext cx="23199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88"/>
              <a:buFont typeface="Malgun Gothic"/>
              <a:buNone/>
            </a:pPr>
            <a:r>
              <a:rPr b="1" i="0" lang="en-US" sz="2388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ChatGPT</a:t>
            </a:r>
            <a:endParaRPr b="0" i="0" sz="238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3" name="Google Shape;623;p21"/>
          <p:cNvSpPr/>
          <p:nvPr/>
        </p:nvSpPr>
        <p:spPr>
          <a:xfrm>
            <a:off x="970343" y="3381223"/>
            <a:ext cx="24834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716"/>
              <a:buFont typeface="Malgun Gothic"/>
              <a:buNone/>
            </a:pPr>
            <a:r>
              <a:rPr b="0" i="0" lang="en-US" sz="1716" u="none" cap="none" strike="noStrike">
                <a:solidFill>
                  <a:srgbClr val="5B64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요구사항 협의</a:t>
            </a:r>
            <a:endParaRPr b="0" i="0" sz="171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716"/>
              <a:buFont typeface="Malgun Gothic"/>
              <a:buNone/>
            </a:pPr>
            <a:r>
              <a:rPr b="0" i="0" lang="en-US" sz="1716" u="none" cap="none" strike="noStrike">
                <a:solidFill>
                  <a:srgbClr val="5B64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기획서·프롬프트 작성</a:t>
            </a:r>
            <a:endParaRPr b="0" i="0" sz="171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24" name="Google Shape;624;p21"/>
          <p:cNvCxnSpPr/>
          <p:nvPr/>
        </p:nvCxnSpPr>
        <p:spPr>
          <a:xfrm>
            <a:off x="3849526" y="3135605"/>
            <a:ext cx="245700" cy="0"/>
          </a:xfrm>
          <a:prstGeom prst="straightConnector1">
            <a:avLst/>
          </a:prstGeom>
          <a:noFill/>
          <a:ln cap="flat" cmpd="sng" w="22725">
            <a:solidFill>
              <a:srgbClr val="A7B5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5" name="Google Shape;625;p21"/>
          <p:cNvSpPr/>
          <p:nvPr/>
        </p:nvSpPr>
        <p:spPr>
          <a:xfrm>
            <a:off x="4204307" y="2207713"/>
            <a:ext cx="2974800" cy="1855800"/>
          </a:xfrm>
          <a:prstGeom prst="roundRect">
            <a:avLst>
              <a:gd fmla="val 6618" name="adj"/>
            </a:avLst>
          </a:prstGeom>
          <a:solidFill>
            <a:srgbClr val="EDF8F2"/>
          </a:solidFill>
          <a:ln cap="flat" cmpd="sng" w="18950">
            <a:solidFill>
              <a:srgbClr val="D6E0EF"/>
            </a:solidFill>
            <a:prstDash val="solid"/>
            <a:round/>
            <a:headEnd len="sm" w="sm" type="none"/>
            <a:tailEnd len="sm" w="sm" type="none"/>
          </a:ln>
          <a:effectLst>
            <a:outerShdw blurRad="37904" rotWithShape="0" algn="bl" dir="2700000" dist="75808">
              <a:srgbClr val="D9E2F2">
                <a:alpha val="18040"/>
              </a:srgbClr>
            </a:outerShdw>
          </a:effectLst>
        </p:spPr>
        <p:txBody>
          <a:bodyPr anchorCtr="0" anchor="ctr" bIns="136425" lIns="136425" spcFirstLastPara="1" rIns="136425" wrap="square" tIns="13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1"/>
          <p:cNvSpPr/>
          <p:nvPr/>
        </p:nvSpPr>
        <p:spPr>
          <a:xfrm>
            <a:off x="4422633" y="2426040"/>
            <a:ext cx="5184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42"/>
              <a:buFont typeface="Malgun Gothic"/>
              <a:buNone/>
            </a:pPr>
            <a:r>
              <a:rPr b="1" i="0" lang="en-US" sz="1642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1642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7" name="Google Shape;627;p21"/>
          <p:cNvSpPr/>
          <p:nvPr/>
        </p:nvSpPr>
        <p:spPr>
          <a:xfrm>
            <a:off x="4954805" y="2371459"/>
            <a:ext cx="19104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2388"/>
              <a:buFont typeface="Malgun Gothic"/>
              <a:buNone/>
            </a:pPr>
            <a:r>
              <a:rPr b="1" i="0" lang="en-US" sz="2388" u="none" cap="none" strike="noStrike">
                <a:solidFill>
                  <a:srgbClr val="182A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구현·수정</a:t>
            </a:r>
            <a:endParaRPr b="0" i="0" sz="238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8" name="Google Shape;628;p21"/>
          <p:cNvSpPr/>
          <p:nvPr/>
        </p:nvSpPr>
        <p:spPr>
          <a:xfrm>
            <a:off x="4422633" y="2930923"/>
            <a:ext cx="23199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88"/>
              <a:buFont typeface="Malgun Gothic"/>
              <a:buNone/>
            </a:pPr>
            <a:r>
              <a:rPr b="1" i="0" lang="en-US" sz="2388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Codex</a:t>
            </a:r>
            <a:endParaRPr b="0" i="0" sz="238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9" name="Google Shape;629;p21"/>
          <p:cNvSpPr/>
          <p:nvPr/>
        </p:nvSpPr>
        <p:spPr>
          <a:xfrm>
            <a:off x="4422633" y="3381223"/>
            <a:ext cx="24834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716"/>
              <a:buFont typeface="Malgun Gothic"/>
              <a:buNone/>
            </a:pPr>
            <a:r>
              <a:rPr b="0" i="0" lang="en-US" sz="1716" u="none" cap="none" strike="noStrike">
                <a:solidFill>
                  <a:srgbClr val="5B64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화면·ETL·연동</a:t>
            </a:r>
            <a:endParaRPr b="0" i="0" sz="171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716"/>
              <a:buFont typeface="Malgun Gothic"/>
              <a:buNone/>
            </a:pPr>
            <a:r>
              <a:rPr b="0" i="0" lang="en-US" sz="1716" u="none" cap="none" strike="noStrike">
                <a:solidFill>
                  <a:srgbClr val="5B64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반복</a:t>
            </a:r>
            <a:endParaRPr b="0" i="0" sz="171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30" name="Google Shape;630;p21"/>
          <p:cNvCxnSpPr/>
          <p:nvPr/>
        </p:nvCxnSpPr>
        <p:spPr>
          <a:xfrm>
            <a:off x="7301816" y="3135605"/>
            <a:ext cx="245700" cy="0"/>
          </a:xfrm>
          <a:prstGeom prst="straightConnector1">
            <a:avLst/>
          </a:prstGeom>
          <a:noFill/>
          <a:ln cap="flat" cmpd="sng" w="22725">
            <a:solidFill>
              <a:srgbClr val="A7B5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1" name="Google Shape;631;p21"/>
          <p:cNvSpPr/>
          <p:nvPr/>
        </p:nvSpPr>
        <p:spPr>
          <a:xfrm>
            <a:off x="7656597" y="2207713"/>
            <a:ext cx="2974800" cy="1855800"/>
          </a:xfrm>
          <a:prstGeom prst="roundRect">
            <a:avLst>
              <a:gd fmla="val 6618" name="adj"/>
            </a:avLst>
          </a:prstGeom>
          <a:solidFill>
            <a:srgbClr val="F3F4F6"/>
          </a:solidFill>
          <a:ln cap="flat" cmpd="sng" w="18950">
            <a:solidFill>
              <a:srgbClr val="D6E0EF"/>
            </a:solidFill>
            <a:prstDash val="solid"/>
            <a:round/>
            <a:headEnd len="sm" w="sm" type="none"/>
            <a:tailEnd len="sm" w="sm" type="none"/>
          </a:ln>
          <a:effectLst>
            <a:outerShdw blurRad="37904" rotWithShape="0" algn="bl" dir="2700000" dist="75808">
              <a:srgbClr val="D9E2F2">
                <a:alpha val="18040"/>
              </a:srgbClr>
            </a:outerShdw>
          </a:effectLst>
        </p:spPr>
        <p:txBody>
          <a:bodyPr anchorCtr="0" anchor="ctr" bIns="136425" lIns="136425" spcFirstLastPara="1" rIns="136425" wrap="square" tIns="13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1"/>
          <p:cNvSpPr/>
          <p:nvPr/>
        </p:nvSpPr>
        <p:spPr>
          <a:xfrm>
            <a:off x="7874924" y="2426040"/>
            <a:ext cx="5184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42"/>
              <a:buFont typeface="Malgun Gothic"/>
              <a:buNone/>
            </a:pPr>
            <a:r>
              <a:rPr b="1" i="0" lang="en-US" sz="1642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1642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3" name="Google Shape;633;p21"/>
          <p:cNvSpPr/>
          <p:nvPr/>
        </p:nvSpPr>
        <p:spPr>
          <a:xfrm>
            <a:off x="8407095" y="2371459"/>
            <a:ext cx="19104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2388"/>
              <a:buFont typeface="Malgun Gothic"/>
              <a:buNone/>
            </a:pPr>
            <a:r>
              <a:rPr b="1" i="0" lang="en-US" sz="2388" u="none" cap="none" strike="noStrike">
                <a:solidFill>
                  <a:srgbClr val="182A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형상관리</a:t>
            </a:r>
            <a:endParaRPr b="0" i="0" sz="238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4" name="Google Shape;634;p21"/>
          <p:cNvSpPr/>
          <p:nvPr/>
        </p:nvSpPr>
        <p:spPr>
          <a:xfrm>
            <a:off x="7874924" y="2930923"/>
            <a:ext cx="23199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88"/>
              <a:buFont typeface="Malgun Gothic"/>
              <a:buNone/>
            </a:pPr>
            <a:r>
              <a:rPr b="1" i="0" lang="en-US" sz="2388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GitHub</a:t>
            </a:r>
            <a:endParaRPr b="0" i="0" sz="238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5" name="Google Shape;635;p21"/>
          <p:cNvSpPr/>
          <p:nvPr/>
        </p:nvSpPr>
        <p:spPr>
          <a:xfrm>
            <a:off x="7874924" y="3381223"/>
            <a:ext cx="24834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716"/>
              <a:buFont typeface="Malgun Gothic"/>
              <a:buNone/>
            </a:pPr>
            <a:r>
              <a:rPr b="0" i="0" lang="en-US" sz="1716" u="none" cap="none" strike="noStrike">
                <a:solidFill>
                  <a:srgbClr val="5B64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소스 저장</a:t>
            </a:r>
            <a:endParaRPr b="0" i="0" sz="171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716"/>
              <a:buFont typeface="Malgun Gothic"/>
              <a:buNone/>
            </a:pPr>
            <a:r>
              <a:rPr b="0" i="0" lang="en-US" sz="1716" u="none" cap="none" strike="noStrike">
                <a:solidFill>
                  <a:srgbClr val="5B64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시크릿·워크플로</a:t>
            </a:r>
            <a:endParaRPr b="0" i="0" sz="171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36" name="Google Shape;636;p21"/>
          <p:cNvCxnSpPr/>
          <p:nvPr/>
        </p:nvCxnSpPr>
        <p:spPr>
          <a:xfrm>
            <a:off x="10754107" y="3135605"/>
            <a:ext cx="245700" cy="0"/>
          </a:xfrm>
          <a:prstGeom prst="straightConnector1">
            <a:avLst/>
          </a:prstGeom>
          <a:noFill/>
          <a:ln cap="flat" cmpd="sng" w="22725">
            <a:solidFill>
              <a:srgbClr val="A7B5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7" name="Google Shape;637;p21"/>
          <p:cNvSpPr/>
          <p:nvPr/>
        </p:nvSpPr>
        <p:spPr>
          <a:xfrm>
            <a:off x="11108888" y="2207713"/>
            <a:ext cx="2974800" cy="1855800"/>
          </a:xfrm>
          <a:prstGeom prst="roundRect">
            <a:avLst>
              <a:gd fmla="val 6618" name="adj"/>
            </a:avLst>
          </a:prstGeom>
          <a:solidFill>
            <a:srgbClr val="F4F0FF"/>
          </a:solidFill>
          <a:ln cap="flat" cmpd="sng" w="18950">
            <a:solidFill>
              <a:srgbClr val="D6E0EF"/>
            </a:solidFill>
            <a:prstDash val="solid"/>
            <a:round/>
            <a:headEnd len="sm" w="sm" type="none"/>
            <a:tailEnd len="sm" w="sm" type="none"/>
          </a:ln>
          <a:effectLst>
            <a:outerShdw blurRad="37904" rotWithShape="0" algn="bl" dir="2700000" dist="75808">
              <a:srgbClr val="D9E2F2">
                <a:alpha val="18040"/>
              </a:srgbClr>
            </a:outerShdw>
          </a:effectLst>
        </p:spPr>
        <p:txBody>
          <a:bodyPr anchorCtr="0" anchor="ctr" bIns="136425" lIns="136425" spcFirstLastPara="1" rIns="136425" wrap="square" tIns="13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1"/>
          <p:cNvSpPr/>
          <p:nvPr/>
        </p:nvSpPr>
        <p:spPr>
          <a:xfrm>
            <a:off x="11327215" y="2426040"/>
            <a:ext cx="5184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42"/>
              <a:buFont typeface="Malgun Gothic"/>
              <a:buNone/>
            </a:pPr>
            <a:r>
              <a:rPr b="1" i="0" lang="en-US" sz="1642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1642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9" name="Google Shape;639;p21"/>
          <p:cNvSpPr/>
          <p:nvPr/>
        </p:nvSpPr>
        <p:spPr>
          <a:xfrm>
            <a:off x="11859386" y="2371459"/>
            <a:ext cx="19104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2388"/>
              <a:buFont typeface="Malgun Gothic"/>
              <a:buNone/>
            </a:pPr>
            <a:r>
              <a:rPr b="1" i="0" lang="en-US" sz="2388" u="none" cap="none" strike="noStrike">
                <a:solidFill>
                  <a:srgbClr val="182A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배포</a:t>
            </a:r>
            <a:endParaRPr b="0" i="0" sz="238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0" name="Google Shape;640;p21"/>
          <p:cNvSpPr/>
          <p:nvPr/>
        </p:nvSpPr>
        <p:spPr>
          <a:xfrm>
            <a:off x="11327215" y="2930923"/>
            <a:ext cx="23199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88"/>
              <a:buFont typeface="Malgun Gothic"/>
              <a:buNone/>
            </a:pPr>
            <a:r>
              <a:rPr b="1" i="0" lang="en-US" sz="2388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Vercel</a:t>
            </a:r>
            <a:endParaRPr b="0" i="0" sz="238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1" name="Google Shape;641;p21"/>
          <p:cNvSpPr/>
          <p:nvPr/>
        </p:nvSpPr>
        <p:spPr>
          <a:xfrm>
            <a:off x="11327215" y="3381223"/>
            <a:ext cx="24834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716"/>
              <a:buFont typeface="Malgun Gothic"/>
              <a:buNone/>
            </a:pPr>
            <a:r>
              <a:rPr b="0" i="0" lang="en-US" sz="1716" u="none" cap="none" strike="noStrike">
                <a:solidFill>
                  <a:srgbClr val="5B64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정적 웹 배포</a:t>
            </a:r>
            <a:endParaRPr b="0" i="0" sz="171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716"/>
              <a:buFont typeface="Malgun Gothic"/>
              <a:buNone/>
            </a:pPr>
            <a:r>
              <a:rPr b="0" i="0" lang="en-US" sz="1716" u="none" cap="none" strike="noStrike">
                <a:solidFill>
                  <a:srgbClr val="5B64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접속 URL 제공</a:t>
            </a:r>
            <a:endParaRPr b="0" i="0" sz="171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42" name="Google Shape;642;p21"/>
          <p:cNvCxnSpPr/>
          <p:nvPr/>
        </p:nvCxnSpPr>
        <p:spPr>
          <a:xfrm>
            <a:off x="14206398" y="3135605"/>
            <a:ext cx="245700" cy="0"/>
          </a:xfrm>
          <a:prstGeom prst="straightConnector1">
            <a:avLst/>
          </a:prstGeom>
          <a:noFill/>
          <a:ln cap="flat" cmpd="sng" w="22725">
            <a:solidFill>
              <a:srgbClr val="A7B5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3" name="Google Shape;643;p21"/>
          <p:cNvSpPr/>
          <p:nvPr/>
        </p:nvSpPr>
        <p:spPr>
          <a:xfrm>
            <a:off x="14561179" y="2207713"/>
            <a:ext cx="2974800" cy="1855800"/>
          </a:xfrm>
          <a:prstGeom prst="roundRect">
            <a:avLst>
              <a:gd fmla="val 6618" name="adj"/>
            </a:avLst>
          </a:prstGeom>
          <a:solidFill>
            <a:srgbClr val="FFF7E6"/>
          </a:solidFill>
          <a:ln cap="flat" cmpd="sng" w="18950">
            <a:solidFill>
              <a:srgbClr val="D6E0EF"/>
            </a:solidFill>
            <a:prstDash val="solid"/>
            <a:round/>
            <a:headEnd len="sm" w="sm" type="none"/>
            <a:tailEnd len="sm" w="sm" type="none"/>
          </a:ln>
          <a:effectLst>
            <a:outerShdw blurRad="37904" rotWithShape="0" algn="bl" dir="2700000" dist="75808">
              <a:srgbClr val="D9E2F2">
                <a:alpha val="18040"/>
              </a:srgbClr>
            </a:outerShdw>
          </a:effectLst>
        </p:spPr>
        <p:txBody>
          <a:bodyPr anchorCtr="0" anchor="ctr" bIns="136425" lIns="136425" spcFirstLastPara="1" rIns="136425" wrap="square" tIns="13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1"/>
          <p:cNvSpPr/>
          <p:nvPr/>
        </p:nvSpPr>
        <p:spPr>
          <a:xfrm>
            <a:off x="14779505" y="2426040"/>
            <a:ext cx="5184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42"/>
              <a:buFont typeface="Malgun Gothic"/>
              <a:buNone/>
            </a:pPr>
            <a:r>
              <a:rPr b="1" i="0" lang="en-US" sz="1642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1642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5" name="Google Shape;645;p21"/>
          <p:cNvSpPr/>
          <p:nvPr/>
        </p:nvSpPr>
        <p:spPr>
          <a:xfrm>
            <a:off x="15311677" y="2371459"/>
            <a:ext cx="19104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2388"/>
              <a:buFont typeface="Malgun Gothic"/>
              <a:buNone/>
            </a:pPr>
            <a:r>
              <a:rPr b="1" i="0" lang="en-US" sz="2388" u="none" cap="none" strike="noStrike">
                <a:solidFill>
                  <a:srgbClr val="182A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운영</a:t>
            </a:r>
            <a:endParaRPr b="0" i="0" sz="238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6" name="Google Shape;646;p21"/>
          <p:cNvSpPr/>
          <p:nvPr/>
        </p:nvSpPr>
        <p:spPr>
          <a:xfrm>
            <a:off x="14779505" y="2930923"/>
            <a:ext cx="23199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88"/>
              <a:buFont typeface="Malgun Gothic"/>
              <a:buNone/>
            </a:pPr>
            <a:r>
              <a:rPr b="1" i="0" lang="en-US" sz="2388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</a:t>
            </a:r>
            <a:endParaRPr b="0" i="0" sz="238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7" name="Google Shape;647;p21"/>
          <p:cNvSpPr/>
          <p:nvPr/>
        </p:nvSpPr>
        <p:spPr>
          <a:xfrm>
            <a:off x="14779499" y="3381211"/>
            <a:ext cx="27564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716"/>
              <a:buFont typeface="Malgun Gothic"/>
              <a:buNone/>
            </a:pPr>
            <a:r>
              <a:rPr b="0" i="0" lang="en-US" sz="1716" u="none" cap="none" strike="noStrike">
                <a:solidFill>
                  <a:srgbClr val="5B64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DB 연동(</a:t>
            </a:r>
            <a:r>
              <a:rPr lang="en-US" sz="1716">
                <a:solidFill>
                  <a:srgbClr val="5B64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서울시 공공데이터)</a:t>
            </a:r>
            <a:r>
              <a:rPr lang="en-US" sz="1716"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0" i="0" lang="en-US" sz="1716" u="none" cap="none" strike="noStrike">
                <a:solidFill>
                  <a:srgbClr val="5B64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결과 조회</a:t>
            </a:r>
            <a:endParaRPr b="0" i="0" sz="171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8" name="Google Shape;648;p21"/>
          <p:cNvSpPr/>
          <p:nvPr/>
        </p:nvSpPr>
        <p:spPr>
          <a:xfrm>
            <a:off x="752016" y="4323536"/>
            <a:ext cx="16210500" cy="1446600"/>
          </a:xfrm>
          <a:prstGeom prst="roundRect">
            <a:avLst>
              <a:gd fmla="val 8491" name="adj"/>
            </a:avLst>
          </a:prstGeom>
          <a:solidFill>
            <a:srgbClr val="FFFFFF"/>
          </a:solidFill>
          <a:ln cap="flat" cmpd="sng" w="18950">
            <a:solidFill>
              <a:srgbClr val="CFE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6425" lIns="136425" spcFirstLastPara="1" rIns="136425" wrap="square" tIns="13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1"/>
          <p:cNvSpPr/>
          <p:nvPr/>
        </p:nvSpPr>
        <p:spPr>
          <a:xfrm>
            <a:off x="752016" y="4323536"/>
            <a:ext cx="136500" cy="1446600"/>
          </a:xfrm>
          <a:prstGeom prst="rect">
            <a:avLst/>
          </a:prstGeom>
          <a:solidFill>
            <a:srgbClr val="2563EB"/>
          </a:solidFill>
          <a:ln cap="flat" cmpd="sng" w="189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6425" lIns="136425" spcFirstLastPara="1" rIns="136425" wrap="square" tIns="13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1"/>
          <p:cNvSpPr/>
          <p:nvPr/>
        </p:nvSpPr>
        <p:spPr>
          <a:xfrm>
            <a:off x="1106797" y="4541864"/>
            <a:ext cx="2115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2537"/>
              <a:buFont typeface="Malgun Gothic"/>
              <a:buNone/>
            </a:pPr>
            <a:r>
              <a:rPr b="1" i="0" lang="en-US" sz="2537" u="none" cap="none" strike="noStrike">
                <a:solidFill>
                  <a:srgbClr val="182A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하네스</a:t>
            </a:r>
            <a:endParaRPr b="0" i="0" sz="2537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1" name="Google Shape;651;p21"/>
          <p:cNvSpPr/>
          <p:nvPr/>
        </p:nvSpPr>
        <p:spPr>
          <a:xfrm>
            <a:off x="3344645" y="4555509"/>
            <a:ext cx="7505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13"/>
              <a:buFont typeface="Malgun Gothic"/>
              <a:buNone/>
            </a:pPr>
            <a:r>
              <a:rPr b="1" i="0" lang="en-US" sz="2313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AGENTS.md · SPEC.md · 빌드 검증 · 데이터 검증</a:t>
            </a:r>
            <a:endParaRPr b="0" i="0" sz="2313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2" name="Google Shape;652;p21"/>
          <p:cNvSpPr/>
          <p:nvPr/>
        </p:nvSpPr>
        <p:spPr>
          <a:xfrm>
            <a:off x="3344645" y="5087682"/>
            <a:ext cx="103020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970"/>
              <a:buFont typeface="Malgun Gothic"/>
              <a:buNone/>
            </a:pPr>
            <a:r>
              <a:rPr b="0" i="0" lang="en-US" sz="1970" u="none" cap="none" strike="noStrike">
                <a:solidFill>
                  <a:srgbClr val="5B64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가짜 데이터 금지  ·  키 하드코딩 금지  ·  검증 실패 시 예측 숨김  ·  </a:t>
            </a:r>
            <a:r>
              <a:rPr lang="en-US" sz="1970">
                <a:solidFill>
                  <a:srgbClr val="5B6472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양산형 화면 금지</a:t>
            </a:r>
            <a:endParaRPr b="0" i="0" sz="197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3" name="Google Shape;653;p21"/>
          <p:cNvSpPr/>
          <p:nvPr/>
        </p:nvSpPr>
        <p:spPr>
          <a:xfrm>
            <a:off x="14561175" y="4541851"/>
            <a:ext cx="1487100" cy="946500"/>
          </a:xfrm>
          <a:prstGeom prst="roundRect">
            <a:avLst>
              <a:gd fmla="val 18182" name="adj"/>
            </a:avLst>
          </a:prstGeom>
          <a:solidFill>
            <a:srgbClr val="EFF6FF"/>
          </a:solidFill>
          <a:ln cap="flat" cmpd="sng" w="14225">
            <a:solidFill>
              <a:srgbClr val="EAF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6425" lIns="136425" spcFirstLastPara="1" rIns="136425" wrap="square" tIns="13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1"/>
          <p:cNvSpPr/>
          <p:nvPr/>
        </p:nvSpPr>
        <p:spPr>
          <a:xfrm>
            <a:off x="14561175" y="4618885"/>
            <a:ext cx="1487100" cy="869400"/>
          </a:xfrm>
          <a:prstGeom prst="rect">
            <a:avLst/>
          </a:prstGeom>
          <a:solidFill>
            <a:srgbClr val="CBEF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16"/>
              <a:buFont typeface="Malgun Gothic"/>
              <a:buNone/>
            </a:pPr>
            <a:r>
              <a:rPr b="1" i="0" lang="en-US" sz="1716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임의 판단 차단</a:t>
            </a:r>
            <a:endParaRPr b="0" i="0" sz="1716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5" name="Google Shape;655;p21"/>
          <p:cNvSpPr/>
          <p:nvPr/>
        </p:nvSpPr>
        <p:spPr>
          <a:xfrm>
            <a:off x="752025" y="6457822"/>
            <a:ext cx="7757100" cy="2791200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18950">
            <a:solidFill>
              <a:srgbClr val="D9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6425" lIns="136425" spcFirstLastPara="1" rIns="136425" wrap="square" tIns="13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1"/>
          <p:cNvSpPr/>
          <p:nvPr/>
        </p:nvSpPr>
        <p:spPr>
          <a:xfrm>
            <a:off x="1161379" y="6614224"/>
            <a:ext cx="20469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2686"/>
              <a:buFont typeface="Malgun Gothic"/>
              <a:buNone/>
            </a:pPr>
            <a:r>
              <a:rPr b="1" i="0" lang="en-US" sz="2686" u="none" cap="none" strike="noStrike">
                <a:solidFill>
                  <a:srgbClr val="182A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제작 방식</a:t>
            </a:r>
            <a:endParaRPr b="0" i="0" sz="268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7" name="Google Shape;657;p21"/>
          <p:cNvSpPr/>
          <p:nvPr/>
        </p:nvSpPr>
        <p:spPr>
          <a:xfrm>
            <a:off x="1202315" y="7168126"/>
            <a:ext cx="273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67"/>
              <a:buFont typeface="Malgun Gothic"/>
              <a:buNone/>
            </a:pPr>
            <a:r>
              <a:rPr b="1" i="0" lang="en-US" sz="1567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567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8" name="Google Shape;658;p21"/>
          <p:cNvSpPr/>
          <p:nvPr/>
        </p:nvSpPr>
        <p:spPr>
          <a:xfrm>
            <a:off x="1570741" y="7154480"/>
            <a:ext cx="6140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36"/>
              <a:buFont typeface="Malgun Gothic"/>
              <a:buNone/>
            </a:pPr>
            <a:r>
              <a:rPr b="0" i="0" lang="en-US" sz="1836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기준을 먼저 m</a:t>
            </a:r>
            <a:r>
              <a:rPr lang="en-US" sz="1836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d 파일 </a:t>
            </a:r>
            <a:r>
              <a:rPr b="0" i="0" lang="en-US" sz="1836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문서화</a:t>
            </a:r>
            <a:endParaRPr b="0" i="0" sz="183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9" name="Google Shape;659;p21"/>
          <p:cNvSpPr/>
          <p:nvPr/>
        </p:nvSpPr>
        <p:spPr>
          <a:xfrm>
            <a:off x="1202315" y="7569420"/>
            <a:ext cx="273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67"/>
              <a:buFont typeface="Malgun Gothic"/>
              <a:buNone/>
            </a:pPr>
            <a:r>
              <a:rPr b="1" i="0" lang="en-US" sz="1567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567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0" name="Google Shape;660;p21"/>
          <p:cNvSpPr/>
          <p:nvPr/>
        </p:nvSpPr>
        <p:spPr>
          <a:xfrm>
            <a:off x="1570741" y="7555775"/>
            <a:ext cx="6140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36"/>
              <a:buFont typeface="Malgun Gothic"/>
              <a:buNone/>
            </a:pPr>
            <a:r>
              <a:rPr b="0" i="0" lang="en-US" sz="1836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Codex가 문서 기준으로 구현</a:t>
            </a:r>
            <a:endParaRPr b="0" i="0" sz="183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1" name="Google Shape;661;p21"/>
          <p:cNvSpPr/>
          <p:nvPr/>
        </p:nvSpPr>
        <p:spPr>
          <a:xfrm>
            <a:off x="1202315" y="8411873"/>
            <a:ext cx="273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67"/>
              <a:buFont typeface="Malgun Gothic"/>
              <a:buNone/>
            </a:pPr>
            <a:r>
              <a:rPr b="1" lang="en-US" sz="1567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567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2" name="Google Shape;662;p21"/>
          <p:cNvSpPr/>
          <p:nvPr/>
        </p:nvSpPr>
        <p:spPr>
          <a:xfrm>
            <a:off x="1570741" y="8398227"/>
            <a:ext cx="6140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36"/>
              <a:buFont typeface="Malgun Gothic"/>
              <a:buNone/>
            </a:pPr>
            <a:r>
              <a:rPr b="0" i="0" lang="en-US" sz="1836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GitHub에 소스와 변경 이력 관리</a:t>
            </a:r>
            <a:endParaRPr b="0" i="0" sz="183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3" name="Google Shape;663;p21"/>
          <p:cNvSpPr/>
          <p:nvPr/>
        </p:nvSpPr>
        <p:spPr>
          <a:xfrm>
            <a:off x="1202315" y="8813167"/>
            <a:ext cx="273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67"/>
              <a:buFont typeface="Malgun Gothic"/>
              <a:buNone/>
            </a:pPr>
            <a:r>
              <a:rPr b="1" lang="en-US" sz="1567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567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4" name="Google Shape;664;p21"/>
          <p:cNvSpPr/>
          <p:nvPr/>
        </p:nvSpPr>
        <p:spPr>
          <a:xfrm>
            <a:off x="1570741" y="8799522"/>
            <a:ext cx="6140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36"/>
              <a:buFont typeface="Malgun Gothic"/>
              <a:buNone/>
            </a:pPr>
            <a:r>
              <a:rPr b="0" i="0" lang="en-US" sz="1836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Vercel 배포와 Supabase 조회 연결</a:t>
            </a:r>
            <a:endParaRPr b="0" i="0" sz="183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5" name="Google Shape;665;p21"/>
          <p:cNvSpPr/>
          <p:nvPr/>
        </p:nvSpPr>
        <p:spPr>
          <a:xfrm>
            <a:off x="1204320" y="7982746"/>
            <a:ext cx="273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67"/>
              <a:buFont typeface="Malgun Gothic"/>
              <a:buNone/>
            </a:pPr>
            <a:r>
              <a:rPr b="1" i="0" lang="en-US" sz="1567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567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6" name="Google Shape;666;p21"/>
          <p:cNvSpPr/>
          <p:nvPr/>
        </p:nvSpPr>
        <p:spPr>
          <a:xfrm>
            <a:off x="1572746" y="7969101"/>
            <a:ext cx="6140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36"/>
              <a:buFont typeface="Malgun Gothic"/>
              <a:buNone/>
            </a:pPr>
            <a:r>
              <a:rPr lang="en-US" sz="1836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방식으로 수정안 처리</a:t>
            </a:r>
            <a:endParaRPr b="0" i="0" sz="183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7" name="Google Shape;667;p21"/>
          <p:cNvSpPr/>
          <p:nvPr/>
        </p:nvSpPr>
        <p:spPr>
          <a:xfrm>
            <a:off x="9210675" y="6446047"/>
            <a:ext cx="7757100" cy="2791200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18950">
            <a:solidFill>
              <a:srgbClr val="D9E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6425" lIns="136425" spcFirstLastPara="1" rIns="136425" wrap="square" tIns="13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1"/>
          <p:cNvSpPr/>
          <p:nvPr/>
        </p:nvSpPr>
        <p:spPr>
          <a:xfrm>
            <a:off x="9620022" y="6602372"/>
            <a:ext cx="20469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2686"/>
              <a:buFont typeface="Malgun Gothic"/>
              <a:buNone/>
            </a:pPr>
            <a:r>
              <a:rPr b="1" i="0" lang="en-US" sz="2686" u="none" cap="none" strike="noStrike">
                <a:solidFill>
                  <a:srgbClr val="182A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제작 </a:t>
            </a:r>
            <a:r>
              <a:rPr b="1" lang="en-US" sz="2686">
                <a:solidFill>
                  <a:srgbClr val="182A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</a:t>
            </a:r>
            <a:endParaRPr b="0" i="0" sz="268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9" name="Google Shape;669;p21"/>
          <p:cNvSpPr/>
          <p:nvPr/>
        </p:nvSpPr>
        <p:spPr>
          <a:xfrm>
            <a:off x="9660958" y="7156274"/>
            <a:ext cx="273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67"/>
              <a:buFont typeface="Malgun Gothic"/>
              <a:buNone/>
            </a:pPr>
            <a:r>
              <a:rPr b="1" i="0" lang="en-US" sz="1567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567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0" name="Google Shape;670;p21"/>
          <p:cNvSpPr/>
          <p:nvPr/>
        </p:nvSpPr>
        <p:spPr>
          <a:xfrm>
            <a:off x="10029384" y="7142628"/>
            <a:ext cx="6140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36"/>
              <a:buFont typeface="Malgun Gothic"/>
              <a:buNone/>
            </a:pPr>
            <a:r>
              <a:rPr lang="en-US" sz="1836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기획문서(</a:t>
            </a:r>
            <a:r>
              <a:rPr lang="en-US" sz="1621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서비스 목적, 기능 범위, 화면 원칙 확정)</a:t>
            </a:r>
            <a:endParaRPr b="0" i="0" sz="183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1" name="Google Shape;671;p21"/>
          <p:cNvSpPr/>
          <p:nvPr/>
        </p:nvSpPr>
        <p:spPr>
          <a:xfrm>
            <a:off x="9660958" y="7557568"/>
            <a:ext cx="273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67"/>
              <a:buFont typeface="Malgun Gothic"/>
              <a:buNone/>
            </a:pPr>
            <a:r>
              <a:rPr b="1" i="0" lang="en-US" sz="1567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567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2" name="Google Shape;672;p21"/>
          <p:cNvSpPr/>
          <p:nvPr/>
        </p:nvSpPr>
        <p:spPr>
          <a:xfrm>
            <a:off x="10029384" y="7543923"/>
            <a:ext cx="6140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36"/>
              <a:buFont typeface="Malgun Gothic"/>
              <a:buNone/>
            </a:pPr>
            <a:r>
              <a:rPr lang="en-US" sz="1836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하네스(</a:t>
            </a:r>
            <a:r>
              <a:rPr lang="en-US" sz="1621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코덱스가 지켜야 할 계약과 금지 규칙 정의)</a:t>
            </a:r>
            <a:endParaRPr b="0" i="0" sz="183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3" name="Google Shape;673;p21"/>
          <p:cNvSpPr/>
          <p:nvPr/>
        </p:nvSpPr>
        <p:spPr>
          <a:xfrm>
            <a:off x="9660958" y="8400020"/>
            <a:ext cx="273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67"/>
              <a:buFont typeface="Malgun Gothic"/>
              <a:buNone/>
            </a:pPr>
            <a:r>
              <a:rPr b="1" lang="en-US" sz="1567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567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4" name="Google Shape;674;p21"/>
          <p:cNvSpPr/>
          <p:nvPr/>
        </p:nvSpPr>
        <p:spPr>
          <a:xfrm>
            <a:off x="10029384" y="8386375"/>
            <a:ext cx="6140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36"/>
              <a:buFont typeface="Malgun Gothic"/>
              <a:buNone/>
            </a:pPr>
            <a:r>
              <a:rPr lang="en-US" sz="1836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공공지도(</a:t>
            </a:r>
            <a:r>
              <a:rPr lang="en-US" sz="1621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브이월드 인증키와 오픈레이어스 기반 버블맵)</a:t>
            </a:r>
            <a:endParaRPr b="0" i="0" sz="183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5" name="Google Shape;675;p21"/>
          <p:cNvSpPr/>
          <p:nvPr/>
        </p:nvSpPr>
        <p:spPr>
          <a:xfrm>
            <a:off x="9660958" y="8801315"/>
            <a:ext cx="273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67"/>
              <a:buFont typeface="Malgun Gothic"/>
              <a:buNone/>
            </a:pPr>
            <a:r>
              <a:rPr b="1" lang="en-US" sz="1567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567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6" name="Google Shape;676;p21"/>
          <p:cNvSpPr/>
          <p:nvPr/>
        </p:nvSpPr>
        <p:spPr>
          <a:xfrm>
            <a:off x="10029384" y="8787669"/>
            <a:ext cx="6140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36"/>
              <a:buFont typeface="Malgun Gothic"/>
              <a:buNone/>
            </a:pPr>
            <a:r>
              <a:rPr lang="en-US" sz="1836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운영원칙(</a:t>
            </a:r>
            <a:r>
              <a:rPr lang="en-US" sz="1621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무료 플랜 중심, 키 분리, 비밀값 노출 금지)</a:t>
            </a:r>
            <a:endParaRPr b="0" i="0" sz="183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7" name="Google Shape;677;p21"/>
          <p:cNvSpPr/>
          <p:nvPr/>
        </p:nvSpPr>
        <p:spPr>
          <a:xfrm>
            <a:off x="9662963" y="7970894"/>
            <a:ext cx="273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67"/>
              <a:buFont typeface="Malgun Gothic"/>
              <a:buNone/>
            </a:pPr>
            <a:r>
              <a:rPr b="1" i="0" lang="en-US" sz="1567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567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8" name="Google Shape;678;p21"/>
          <p:cNvSpPr/>
          <p:nvPr/>
        </p:nvSpPr>
        <p:spPr>
          <a:xfrm>
            <a:off x="10031389" y="7957249"/>
            <a:ext cx="6140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36"/>
              <a:buFont typeface="Malgun Gothic"/>
              <a:buNone/>
            </a:pPr>
            <a:r>
              <a:rPr lang="en-US" sz="1836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공공데이터(</a:t>
            </a:r>
            <a:r>
              <a:rPr lang="en-US" sz="1621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서울시 공개 자료와 외부 데이터베이스 연동 설계)</a:t>
            </a:r>
            <a:endParaRPr b="0" i="0" sz="183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9" name="Google Shape;679;p21"/>
          <p:cNvSpPr txBox="1"/>
          <p:nvPr/>
        </p:nvSpPr>
        <p:spPr>
          <a:xfrm>
            <a:off x="919686" y="5844573"/>
            <a:ext cx="120795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 ※ </a:t>
            </a:r>
            <a:r>
              <a:rPr lang="en-US" sz="165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바이브코딩 </a:t>
            </a:r>
            <a:r>
              <a:rPr b="0" i="0" lang="en-US" sz="16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개발을 위해 기획·하네스·인증·데이터 구조</a:t>
            </a:r>
            <a:r>
              <a:rPr lang="en-US" sz="165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를 선고정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p22"/>
          <p:cNvPicPr preferRelativeResize="0"/>
          <p:nvPr/>
        </p:nvPicPr>
        <p:blipFill rotWithShape="1">
          <a:blip r:embed="rId3">
            <a:alphaModFix/>
          </a:blip>
          <a:srcRect b="7604" l="0" r="0" t="0"/>
          <a:stretch/>
        </p:blipFill>
        <p:spPr>
          <a:xfrm>
            <a:off x="3555850" y="1996825"/>
            <a:ext cx="8043886" cy="754152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689" name="Google Shape;689;p22"/>
          <p:cNvGrpSpPr/>
          <p:nvPr/>
        </p:nvGrpSpPr>
        <p:grpSpPr>
          <a:xfrm>
            <a:off x="892235" y="521618"/>
            <a:ext cx="11667715" cy="620995"/>
            <a:chOff x="0" y="0"/>
            <a:chExt cx="15556954" cy="827993"/>
          </a:xfrm>
        </p:grpSpPr>
        <p:sp>
          <p:nvSpPr>
            <p:cNvPr id="690" name="Google Shape;690;p22"/>
            <p:cNvSpPr/>
            <p:nvPr/>
          </p:nvSpPr>
          <p:spPr>
            <a:xfrm>
              <a:off x="0" y="0"/>
              <a:ext cx="15556954" cy="827989"/>
            </a:xfrm>
            <a:custGeom>
              <a:rect b="b" l="l" r="r" t="t"/>
              <a:pathLst>
                <a:path extrusionOk="0" h="827989" w="15556954">
                  <a:moveTo>
                    <a:pt x="0" y="0"/>
                  </a:moveTo>
                  <a:lnTo>
                    <a:pt x="15556954" y="0"/>
                  </a:lnTo>
                  <a:lnTo>
                    <a:pt x="15556954" y="827989"/>
                  </a:lnTo>
                  <a:lnTo>
                    <a:pt x="0" y="82798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15822" l="0" r="0" t="-316349"/>
              </a:stretch>
            </a:blipFill>
            <a:ln>
              <a:noFill/>
            </a:ln>
          </p:spPr>
        </p:sp>
        <p:sp>
          <p:nvSpPr>
            <p:cNvPr id="691" name="Google Shape;691;p22"/>
            <p:cNvSpPr txBox="1"/>
            <p:nvPr/>
          </p:nvSpPr>
          <p:spPr>
            <a:xfrm>
              <a:off x="0" y="0"/>
              <a:ext cx="15556954" cy="82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5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바이브코딩 MVP 산출물 결과</a:t>
              </a:r>
              <a:endParaRPr/>
            </a:p>
          </p:txBody>
        </p:sp>
      </p:grpSp>
      <p:grpSp>
        <p:nvGrpSpPr>
          <p:cNvPr id="692" name="Google Shape;692;p22"/>
          <p:cNvGrpSpPr/>
          <p:nvPr/>
        </p:nvGrpSpPr>
        <p:grpSpPr>
          <a:xfrm>
            <a:off x="919686" y="1207951"/>
            <a:ext cx="12079519" cy="343170"/>
            <a:chOff x="0" y="0"/>
            <a:chExt cx="16106026" cy="457559"/>
          </a:xfrm>
        </p:grpSpPr>
        <p:sp>
          <p:nvSpPr>
            <p:cNvPr id="693" name="Google Shape;693;p22"/>
            <p:cNvSpPr/>
            <p:nvPr/>
          </p:nvSpPr>
          <p:spPr>
            <a:xfrm>
              <a:off x="0" y="0"/>
              <a:ext cx="16106023" cy="457559"/>
            </a:xfrm>
            <a:custGeom>
              <a:rect b="b" l="l" r="r" t="t"/>
              <a:pathLst>
                <a:path extrusionOk="0" h="457559" w="16106023">
                  <a:moveTo>
                    <a:pt x="0" y="0"/>
                  </a:moveTo>
                  <a:lnTo>
                    <a:pt x="16106023" y="0"/>
                  </a:lnTo>
                  <a:lnTo>
                    <a:pt x="16106023" y="457559"/>
                  </a:lnTo>
                  <a:lnTo>
                    <a:pt x="0" y="45755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35871" l="0" r="0" t="-635871"/>
              </a:stretch>
            </a:blipFill>
            <a:ln>
              <a:noFill/>
            </a:ln>
          </p:spPr>
        </p:sp>
        <p:sp>
          <p:nvSpPr>
            <p:cNvPr id="694" name="Google Shape;694;p22"/>
            <p:cNvSpPr txBox="1"/>
            <p:nvPr/>
          </p:nvSpPr>
          <p:spPr>
            <a:xfrm>
              <a:off x="0" y="0"/>
              <a:ext cx="16106026" cy="457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서비스 URL : </a:t>
              </a:r>
              <a:r>
                <a:rPr lang="en-US" sz="1650" u="sng">
                  <a:solidFill>
                    <a:schemeClr val="hlink"/>
                  </a:solidFill>
                  <a:latin typeface="Noto Sans"/>
                  <a:ea typeface="Noto Sans"/>
                  <a:cs typeface="Noto Sans"/>
                  <a:sym typeface="Noto Sans"/>
                  <a:hlinkClick r:id="rId5"/>
                </a:rPr>
                <a:t>https://mymapmk1.vercel.app</a:t>
              </a:r>
              <a:r>
                <a:rPr lang="en-US" sz="165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 (모바일 접속도 가능)</a:t>
              </a:r>
              <a:endParaRPr/>
            </a:p>
          </p:txBody>
        </p:sp>
      </p:grpSp>
      <p:cxnSp>
        <p:nvCxnSpPr>
          <p:cNvPr id="695" name="Google Shape;695;p22"/>
          <p:cNvCxnSpPr/>
          <p:nvPr/>
        </p:nvCxnSpPr>
        <p:spPr>
          <a:xfrm rot="3960">
            <a:off x="882701" y="1642443"/>
            <a:ext cx="16559774" cy="0"/>
          </a:xfrm>
          <a:prstGeom prst="straightConnector1">
            <a:avLst/>
          </a:prstGeom>
          <a:noFill/>
          <a:ln cap="rnd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96" name="Google Shape;696;p22"/>
          <p:cNvGrpSpPr/>
          <p:nvPr/>
        </p:nvGrpSpPr>
        <p:grpSpPr>
          <a:xfrm>
            <a:off x="892235" y="9677343"/>
            <a:ext cx="5216157" cy="274539"/>
            <a:chOff x="0" y="0"/>
            <a:chExt cx="6954876" cy="366052"/>
          </a:xfrm>
        </p:grpSpPr>
        <p:sp>
          <p:nvSpPr>
            <p:cNvPr id="697" name="Google Shape;697;p22"/>
            <p:cNvSpPr/>
            <p:nvPr/>
          </p:nvSpPr>
          <p:spPr>
            <a:xfrm>
              <a:off x="0" y="0"/>
              <a:ext cx="6954873" cy="366046"/>
            </a:xfrm>
            <a:custGeom>
              <a:rect b="b" l="l" r="r" t="t"/>
              <a:pathLst>
                <a:path extrusionOk="0" h="366046" w="6954873">
                  <a:moveTo>
                    <a:pt x="0" y="0"/>
                  </a:moveTo>
                  <a:lnTo>
                    <a:pt x="6954873" y="0"/>
                  </a:lnTo>
                  <a:lnTo>
                    <a:pt x="6954873" y="366046"/>
                  </a:lnTo>
                  <a:lnTo>
                    <a:pt x="0" y="366046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20206" l="0" r="0" t="-320206"/>
              </a:stretch>
            </a:blipFill>
            <a:ln>
              <a:noFill/>
            </a:ln>
          </p:spPr>
        </p:sp>
        <p:sp>
          <p:nvSpPr>
            <p:cNvPr id="698" name="Google Shape;698;p22"/>
            <p:cNvSpPr txBox="1"/>
            <p:nvPr/>
          </p:nvSpPr>
          <p:spPr>
            <a:xfrm>
              <a:off x="0" y="9525"/>
              <a:ext cx="6954876" cy="356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상권나침반 바이브코딩 적용 보고</a:t>
              </a:r>
              <a:endParaRPr/>
            </a:p>
          </p:txBody>
        </p:sp>
      </p:grpSp>
      <p:grpSp>
        <p:nvGrpSpPr>
          <p:cNvPr id="699" name="Google Shape;699;p22"/>
          <p:cNvGrpSpPr/>
          <p:nvPr/>
        </p:nvGrpSpPr>
        <p:grpSpPr>
          <a:xfrm>
            <a:off x="16815235" y="9629013"/>
            <a:ext cx="617706" cy="336585"/>
            <a:chOff x="0" y="-9525"/>
            <a:chExt cx="823608" cy="448780"/>
          </a:xfrm>
        </p:grpSpPr>
        <p:sp>
          <p:nvSpPr>
            <p:cNvPr id="700" name="Google Shape;700;p22"/>
            <p:cNvSpPr/>
            <p:nvPr/>
          </p:nvSpPr>
          <p:spPr>
            <a:xfrm>
              <a:off x="0" y="0"/>
              <a:ext cx="823603" cy="439255"/>
            </a:xfrm>
            <a:custGeom>
              <a:rect b="b" l="l" r="r" t="t"/>
              <a:pathLst>
                <a:path extrusionOk="0" h="439255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439255"/>
                  </a:lnTo>
                  <a:lnTo>
                    <a:pt x="0" y="4392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18428" r="-18428" t="0"/>
              </a:stretch>
            </a:blipFill>
            <a:ln>
              <a:noFill/>
            </a:ln>
          </p:spPr>
        </p:sp>
        <p:sp>
          <p:nvSpPr>
            <p:cNvPr id="701" name="Google Shape;701;p22"/>
            <p:cNvSpPr txBox="1"/>
            <p:nvPr/>
          </p:nvSpPr>
          <p:spPr>
            <a:xfrm>
              <a:off x="0" y="-9525"/>
              <a:ext cx="823608" cy="448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10</a:t>
              </a:r>
              <a:endParaRPr/>
            </a:p>
          </p:txBody>
        </p:sp>
      </p:grpSp>
      <p:cxnSp>
        <p:nvCxnSpPr>
          <p:cNvPr id="702" name="Google Shape;702;p22"/>
          <p:cNvCxnSpPr>
            <a:endCxn id="703" idx="1"/>
          </p:cNvCxnSpPr>
          <p:nvPr/>
        </p:nvCxnSpPr>
        <p:spPr>
          <a:xfrm>
            <a:off x="5678700" y="3897675"/>
            <a:ext cx="2316600" cy="48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4" name="Google Shape;704;p22"/>
          <p:cNvSpPr/>
          <p:nvPr/>
        </p:nvSpPr>
        <p:spPr>
          <a:xfrm>
            <a:off x="11128025" y="5890550"/>
            <a:ext cx="3401700" cy="480900"/>
          </a:xfrm>
          <a:prstGeom prst="leftArrowCallout">
            <a:avLst>
              <a:gd fmla="val 17010" name="adj1"/>
              <a:gd fmla="val 25000" name="adj2"/>
              <a:gd fmla="val 25000" name="adj3"/>
              <a:gd fmla="val 90869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상권 상세 분석</a:t>
            </a:r>
            <a:endParaRPr b="1" sz="1100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매출, 유동인구, 점포수, 점포당 매출 등 핵심 지표와 추이 확인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2"/>
          <p:cNvSpPr/>
          <p:nvPr/>
        </p:nvSpPr>
        <p:spPr>
          <a:xfrm>
            <a:off x="11329100" y="7881275"/>
            <a:ext cx="3838200" cy="480900"/>
          </a:xfrm>
          <a:prstGeom prst="leftArrowCallout">
            <a:avLst>
              <a:gd fmla="val 17010" name="adj1"/>
              <a:gd fmla="val 25000" name="adj2"/>
              <a:gd fmla="val 25000" name="adj3"/>
              <a:gd fmla="val 89293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위험·과열 상권 경고</a:t>
            </a:r>
            <a:endParaRPr b="1" sz="1100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점포 증가, 폐업, 점포당 매출 감소 등을 기준으로 과열·위험 상권 구분</a:t>
            </a:r>
            <a:endParaRPr b="1" sz="1100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2"/>
          <p:cNvSpPr/>
          <p:nvPr/>
        </p:nvSpPr>
        <p:spPr>
          <a:xfrm>
            <a:off x="798275" y="7809575"/>
            <a:ext cx="3066000" cy="552600"/>
          </a:xfrm>
          <a:prstGeom prst="rightArrowCallout">
            <a:avLst>
              <a:gd fmla="val 17427" name="adj1"/>
              <a:gd fmla="val 25000" name="adj2"/>
              <a:gd fmla="val 27882" name="adj3"/>
              <a:gd fmla="val 84323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추천 상권 순위 제공</a:t>
            </a:r>
            <a:endParaRPr b="1" sz="1100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성장성과 안정성을 종합한 추천 기반 상권 순위 제공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2"/>
          <p:cNvSpPr/>
          <p:nvPr/>
        </p:nvSpPr>
        <p:spPr>
          <a:xfrm>
            <a:off x="798275" y="5337938"/>
            <a:ext cx="3066000" cy="552600"/>
          </a:xfrm>
          <a:prstGeom prst="rightArrowCallout">
            <a:avLst>
              <a:gd fmla="val 17427" name="adj1"/>
              <a:gd fmla="val 25000" name="adj2"/>
              <a:gd fmla="val 27882" name="adj3"/>
              <a:gd fmla="val 84323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상권 성장도 시각화</a:t>
            </a:r>
            <a:endParaRPr b="1" sz="1100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버블맵을 통해 상권별 성장도를 직관적으로 비교</a:t>
            </a:r>
            <a:endParaRPr b="1" sz="1100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2"/>
          <p:cNvSpPr/>
          <p:nvPr/>
        </p:nvSpPr>
        <p:spPr>
          <a:xfrm>
            <a:off x="798275" y="3218663"/>
            <a:ext cx="3066000" cy="552600"/>
          </a:xfrm>
          <a:prstGeom prst="rightArrowCallout">
            <a:avLst>
              <a:gd fmla="val 17427" name="adj1"/>
              <a:gd fmla="val 25000" name="adj2"/>
              <a:gd fmla="val 27882" name="adj3"/>
              <a:gd fmla="val 89117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업종 카테고리 선택</a:t>
            </a:r>
            <a:endParaRPr b="1" sz="1100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음식점 → 한식·중식·일식·양식·치킨 등 세부 업종까지 선택 가능</a:t>
            </a:r>
            <a:endParaRPr b="1" sz="1100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9" name="Google Shape;70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90461" y="1996831"/>
            <a:ext cx="3662026" cy="393967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" name="Google Shape;718;p23"/>
          <p:cNvGrpSpPr/>
          <p:nvPr/>
        </p:nvGrpSpPr>
        <p:grpSpPr>
          <a:xfrm>
            <a:off x="892235" y="521618"/>
            <a:ext cx="11667825" cy="621000"/>
            <a:chOff x="0" y="0"/>
            <a:chExt cx="15557100" cy="828000"/>
          </a:xfrm>
        </p:grpSpPr>
        <p:sp>
          <p:nvSpPr>
            <p:cNvPr id="719" name="Google Shape;719;p23"/>
            <p:cNvSpPr/>
            <p:nvPr/>
          </p:nvSpPr>
          <p:spPr>
            <a:xfrm>
              <a:off x="0" y="0"/>
              <a:ext cx="15556954" cy="827989"/>
            </a:xfrm>
            <a:custGeom>
              <a:rect b="b" l="l" r="r" t="t"/>
              <a:pathLst>
                <a:path extrusionOk="0" h="827989" w="15556954">
                  <a:moveTo>
                    <a:pt x="0" y="0"/>
                  </a:moveTo>
                  <a:lnTo>
                    <a:pt x="15556954" y="0"/>
                  </a:lnTo>
                  <a:lnTo>
                    <a:pt x="15556954" y="827989"/>
                  </a:lnTo>
                  <a:lnTo>
                    <a:pt x="0" y="82798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15822" l="0" r="0" t="-316349"/>
              </a:stretch>
            </a:blipFill>
            <a:ln>
              <a:noFill/>
            </a:ln>
          </p:spPr>
        </p:sp>
        <p:sp>
          <p:nvSpPr>
            <p:cNvPr id="720" name="Google Shape;720;p23"/>
            <p:cNvSpPr txBox="1"/>
            <p:nvPr/>
          </p:nvSpPr>
          <p:spPr>
            <a:xfrm>
              <a:off x="0" y="0"/>
              <a:ext cx="15557100" cy="82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15223B"/>
                </a:buClr>
                <a:buSzPts val="3400"/>
                <a:buFont typeface="Malgun Gothic"/>
                <a:buNone/>
              </a:pPr>
              <a:r>
                <a:rPr b="1" lang="en-US" sz="3400">
                  <a:solidFill>
                    <a:srgbClr val="15223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추후 과제</a:t>
              </a:r>
              <a:endParaRPr/>
            </a:p>
          </p:txBody>
        </p:sp>
      </p:grpSp>
      <p:grpSp>
        <p:nvGrpSpPr>
          <p:cNvPr id="721" name="Google Shape;721;p23"/>
          <p:cNvGrpSpPr/>
          <p:nvPr/>
        </p:nvGrpSpPr>
        <p:grpSpPr>
          <a:xfrm>
            <a:off x="919686" y="1207951"/>
            <a:ext cx="12079575" cy="343169"/>
            <a:chOff x="0" y="0"/>
            <a:chExt cx="16106100" cy="457559"/>
          </a:xfrm>
        </p:grpSpPr>
        <p:sp>
          <p:nvSpPr>
            <p:cNvPr id="722" name="Google Shape;722;p23"/>
            <p:cNvSpPr/>
            <p:nvPr/>
          </p:nvSpPr>
          <p:spPr>
            <a:xfrm>
              <a:off x="0" y="0"/>
              <a:ext cx="16106023" cy="457559"/>
            </a:xfrm>
            <a:custGeom>
              <a:rect b="b" l="l" r="r" t="t"/>
              <a:pathLst>
                <a:path extrusionOk="0" h="457559" w="16106023">
                  <a:moveTo>
                    <a:pt x="0" y="0"/>
                  </a:moveTo>
                  <a:lnTo>
                    <a:pt x="16106023" y="0"/>
                  </a:lnTo>
                  <a:lnTo>
                    <a:pt x="16106023" y="457559"/>
                  </a:lnTo>
                  <a:lnTo>
                    <a:pt x="0" y="45755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5871" l="0" r="0" t="-635871"/>
              </a:stretch>
            </a:blipFill>
            <a:ln>
              <a:noFill/>
            </a:ln>
          </p:spPr>
        </p:sp>
        <p:sp>
          <p:nvSpPr>
            <p:cNvPr id="723" name="Google Shape;723;p23"/>
            <p:cNvSpPr txBox="1"/>
            <p:nvPr/>
          </p:nvSpPr>
          <p:spPr>
            <a:xfrm>
              <a:off x="0" y="0"/>
              <a:ext cx="16106100" cy="4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500"/>
                <a:buFont typeface="Malgun Gothic"/>
                <a:buNone/>
              </a:pPr>
              <a:r>
                <a:rPr lang="en-US" sz="1500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바이브코딩 역량을 안정적인 개발 방식으로 확장하기 위한 심화 학습 계획</a:t>
              </a:r>
              <a:endParaRPr/>
            </a:p>
          </p:txBody>
        </p:sp>
      </p:grpSp>
      <p:cxnSp>
        <p:nvCxnSpPr>
          <p:cNvPr id="724" name="Google Shape;724;p23"/>
          <p:cNvCxnSpPr/>
          <p:nvPr/>
        </p:nvCxnSpPr>
        <p:spPr>
          <a:xfrm rot="3986">
            <a:off x="882701" y="1642505"/>
            <a:ext cx="16559711" cy="0"/>
          </a:xfrm>
          <a:prstGeom prst="straightConnector1">
            <a:avLst/>
          </a:prstGeom>
          <a:noFill/>
          <a:ln cap="rnd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25" name="Google Shape;725;p23"/>
          <p:cNvGrpSpPr/>
          <p:nvPr/>
        </p:nvGrpSpPr>
        <p:grpSpPr>
          <a:xfrm>
            <a:off x="892235" y="9677343"/>
            <a:ext cx="5216175" cy="274535"/>
            <a:chOff x="0" y="0"/>
            <a:chExt cx="6954900" cy="366046"/>
          </a:xfrm>
        </p:grpSpPr>
        <p:sp>
          <p:nvSpPr>
            <p:cNvPr id="726" name="Google Shape;726;p23"/>
            <p:cNvSpPr/>
            <p:nvPr/>
          </p:nvSpPr>
          <p:spPr>
            <a:xfrm>
              <a:off x="0" y="0"/>
              <a:ext cx="6954873" cy="366046"/>
            </a:xfrm>
            <a:custGeom>
              <a:rect b="b" l="l" r="r" t="t"/>
              <a:pathLst>
                <a:path extrusionOk="0" h="366046" w="6954873">
                  <a:moveTo>
                    <a:pt x="0" y="0"/>
                  </a:moveTo>
                  <a:lnTo>
                    <a:pt x="6954873" y="0"/>
                  </a:lnTo>
                  <a:lnTo>
                    <a:pt x="6954873" y="366046"/>
                  </a:lnTo>
                  <a:lnTo>
                    <a:pt x="0" y="36604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20198" l="0" r="0" t="-320213"/>
              </a:stretch>
            </a:blipFill>
            <a:ln>
              <a:noFill/>
            </a:ln>
          </p:spPr>
        </p:sp>
        <p:sp>
          <p:nvSpPr>
            <p:cNvPr id="727" name="Google Shape;727;p23"/>
            <p:cNvSpPr txBox="1"/>
            <p:nvPr/>
          </p:nvSpPr>
          <p:spPr>
            <a:xfrm>
              <a:off x="0" y="9525"/>
              <a:ext cx="69549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상권나침반 바이브코딩 적용 보고</a:t>
              </a:r>
              <a:endParaRPr/>
            </a:p>
          </p:txBody>
        </p:sp>
      </p:grpSp>
      <p:grpSp>
        <p:nvGrpSpPr>
          <p:cNvPr id="728" name="Google Shape;728;p23"/>
          <p:cNvGrpSpPr/>
          <p:nvPr/>
        </p:nvGrpSpPr>
        <p:grpSpPr>
          <a:xfrm>
            <a:off x="16815235" y="9629013"/>
            <a:ext cx="617702" cy="336600"/>
            <a:chOff x="0" y="-9525"/>
            <a:chExt cx="823603" cy="448800"/>
          </a:xfrm>
        </p:grpSpPr>
        <p:sp>
          <p:nvSpPr>
            <p:cNvPr id="729" name="Google Shape;729;p23"/>
            <p:cNvSpPr/>
            <p:nvPr/>
          </p:nvSpPr>
          <p:spPr>
            <a:xfrm>
              <a:off x="0" y="0"/>
              <a:ext cx="823603" cy="439255"/>
            </a:xfrm>
            <a:custGeom>
              <a:rect b="b" l="l" r="r" t="t"/>
              <a:pathLst>
                <a:path extrusionOk="0" h="439255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439255"/>
                  </a:lnTo>
                  <a:lnTo>
                    <a:pt x="0" y="4392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8429" r="-18429" t="0"/>
              </a:stretch>
            </a:blipFill>
            <a:ln>
              <a:noFill/>
            </a:ln>
          </p:spPr>
        </p:sp>
        <p:sp>
          <p:nvSpPr>
            <p:cNvPr id="730" name="Google Shape;730;p23"/>
            <p:cNvSpPr txBox="1"/>
            <p:nvPr/>
          </p:nvSpPr>
          <p:spPr>
            <a:xfrm>
              <a:off x="0" y="-9525"/>
              <a:ext cx="823500" cy="4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10</a:t>
              </a:r>
              <a:endParaRPr/>
            </a:p>
          </p:txBody>
        </p:sp>
      </p:grpSp>
      <p:sp>
        <p:nvSpPr>
          <p:cNvPr id="731" name="Google Shape;731;p23"/>
          <p:cNvSpPr/>
          <p:nvPr/>
        </p:nvSpPr>
        <p:spPr>
          <a:xfrm>
            <a:off x="658375" y="1831288"/>
            <a:ext cx="16774500" cy="1478100"/>
          </a:xfrm>
          <a:prstGeom prst="roundRect">
            <a:avLst>
              <a:gd fmla="val 8511" name="adj"/>
            </a:avLst>
          </a:prstGeom>
          <a:solidFill>
            <a:srgbClr val="FFFFFF"/>
          </a:solidFill>
          <a:ln cap="flat" cmpd="sng" w="19600">
            <a:solidFill>
              <a:srgbClr val="CFE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950" lIns="140950" spcFirstLastPara="1" rIns="140950" wrap="square" tIns="14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3"/>
          <p:cNvSpPr/>
          <p:nvPr/>
        </p:nvSpPr>
        <p:spPr>
          <a:xfrm>
            <a:off x="677238" y="1916950"/>
            <a:ext cx="99300" cy="1306800"/>
          </a:xfrm>
          <a:prstGeom prst="rect">
            <a:avLst/>
          </a:prstGeom>
          <a:solidFill>
            <a:srgbClr val="2563EB"/>
          </a:solidFill>
          <a:ln cap="flat" cmpd="sng" w="196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950" lIns="140950" spcFirstLastPara="1" rIns="140950" wrap="square" tIns="14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3"/>
          <p:cNvSpPr/>
          <p:nvPr/>
        </p:nvSpPr>
        <p:spPr>
          <a:xfrm>
            <a:off x="1053072" y="2223888"/>
            <a:ext cx="9870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23B"/>
              </a:buClr>
              <a:buSzPts val="2621"/>
              <a:buFont typeface="Malgun Gothic"/>
              <a:buNone/>
            </a:pPr>
            <a:r>
              <a:rPr b="1" i="0" lang="en-US" sz="2621" u="none" cap="none" strike="noStrike">
                <a:solidFill>
                  <a:srgbClr val="1522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</a:t>
            </a:r>
            <a:endParaRPr b="0" i="0" sz="2621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4" name="Google Shape;734;p23"/>
          <p:cNvSpPr/>
          <p:nvPr/>
        </p:nvSpPr>
        <p:spPr>
          <a:xfrm>
            <a:off x="2152587" y="2195695"/>
            <a:ext cx="140259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75"/>
              <a:buFont typeface="Malgun Gothic"/>
              <a:buNone/>
            </a:pPr>
            <a:r>
              <a:rPr b="1" i="0" lang="en-US" sz="2775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하네스 세팅, MCP 연동, 스킬 활용법을 체계적으로 학습하여 반복 가능한 바이브코딩 개발 체계를 만든다.</a:t>
            </a:r>
            <a:endParaRPr b="0" i="0" sz="2775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5" name="Google Shape;735;p23"/>
          <p:cNvSpPr/>
          <p:nvPr/>
        </p:nvSpPr>
        <p:spPr>
          <a:xfrm>
            <a:off x="2152587" y="2870304"/>
            <a:ext cx="135327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73"/>
              <a:buFont typeface="Malgun Gothic"/>
              <a:buNone/>
            </a:pPr>
            <a:r>
              <a:rPr b="0" i="0" lang="en-US" sz="1973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단순 프롬프트 작성이 아니라, 요구사항 통제·도구 연결·검증 자동화까지 포함한 개발 운영 방식으로 고도화한다.</a:t>
            </a:r>
            <a:endParaRPr b="0" i="0" sz="1973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6" name="Google Shape;736;p23"/>
          <p:cNvSpPr/>
          <p:nvPr/>
        </p:nvSpPr>
        <p:spPr>
          <a:xfrm>
            <a:off x="658375" y="4070508"/>
            <a:ext cx="3876300" cy="232590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9600">
            <a:solidFill>
              <a:srgbClr val="D8E2F0"/>
            </a:solidFill>
            <a:prstDash val="solid"/>
            <a:round/>
            <a:headEnd len="sm" w="sm" type="none"/>
            <a:tailEnd len="sm" w="sm" type="none"/>
          </a:ln>
          <a:effectLst>
            <a:outerShdw blurRad="39156" rotWithShape="0" algn="bl" dir="2700000" dist="78313">
              <a:srgbClr val="C9D5E7">
                <a:alpha val="16080"/>
              </a:srgbClr>
            </a:outerShdw>
          </a:effectLst>
        </p:spPr>
        <p:txBody>
          <a:bodyPr anchorCtr="0" anchor="ctr" bIns="140950" lIns="140950" spcFirstLastPara="1" rIns="140950" wrap="square" tIns="14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3"/>
          <p:cNvSpPr/>
          <p:nvPr/>
        </p:nvSpPr>
        <p:spPr>
          <a:xfrm>
            <a:off x="658375" y="4070508"/>
            <a:ext cx="3876300" cy="113100"/>
          </a:xfrm>
          <a:prstGeom prst="rect">
            <a:avLst/>
          </a:prstGeom>
          <a:solidFill>
            <a:srgbClr val="2563EB"/>
          </a:solidFill>
          <a:ln cap="flat" cmpd="sng" w="196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950" lIns="140950" spcFirstLastPara="1" rIns="140950" wrap="square" tIns="14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3"/>
          <p:cNvSpPr/>
          <p:nvPr/>
        </p:nvSpPr>
        <p:spPr>
          <a:xfrm>
            <a:off x="912109" y="4394724"/>
            <a:ext cx="6765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50"/>
              <a:buFont typeface="Malgun Gothic"/>
              <a:buNone/>
            </a:pPr>
            <a:r>
              <a:rPr b="1" i="0" lang="en-US" sz="185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18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9" name="Google Shape;739;p23"/>
          <p:cNvSpPr/>
          <p:nvPr/>
        </p:nvSpPr>
        <p:spPr>
          <a:xfrm>
            <a:off x="912109" y="4845807"/>
            <a:ext cx="33693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23B"/>
              </a:buClr>
              <a:buSzPts val="2775"/>
              <a:buFont typeface="Malgun Gothic"/>
              <a:buNone/>
            </a:pPr>
            <a:r>
              <a:rPr b="1" i="0" lang="en-US" sz="2775" u="none" cap="none" strike="noStrike">
                <a:solidFill>
                  <a:srgbClr val="1522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하네스 표준화</a:t>
            </a:r>
            <a:endParaRPr b="0" i="0" sz="2775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0" name="Google Shape;740;p23"/>
          <p:cNvSpPr/>
          <p:nvPr/>
        </p:nvSpPr>
        <p:spPr>
          <a:xfrm>
            <a:off x="912109" y="5451950"/>
            <a:ext cx="33693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8"/>
              <a:buFont typeface="Malgun Gothic"/>
              <a:buNone/>
            </a:pPr>
            <a:r>
              <a:rPr b="0" i="0" lang="en-US" sz="1958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AGENTS, SPEC, 검증 기준을 프로젝트별 템플릿으로 정리</a:t>
            </a:r>
            <a:endParaRPr b="0" i="0" sz="195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41" name="Google Shape;741;p23"/>
          <p:cNvCxnSpPr/>
          <p:nvPr/>
        </p:nvCxnSpPr>
        <p:spPr>
          <a:xfrm>
            <a:off x="4647639" y="5240505"/>
            <a:ext cx="239700" cy="0"/>
          </a:xfrm>
          <a:prstGeom prst="straightConnector1">
            <a:avLst/>
          </a:prstGeom>
          <a:noFill/>
          <a:ln cap="flat" cmpd="sng" w="27400">
            <a:solidFill>
              <a:srgbClr val="A7B5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2" name="Google Shape;742;p23"/>
          <p:cNvSpPr/>
          <p:nvPr/>
        </p:nvSpPr>
        <p:spPr>
          <a:xfrm>
            <a:off x="4957758" y="4070508"/>
            <a:ext cx="3876300" cy="232590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9600">
            <a:solidFill>
              <a:srgbClr val="D8E2F0"/>
            </a:solidFill>
            <a:prstDash val="solid"/>
            <a:round/>
            <a:headEnd len="sm" w="sm" type="none"/>
            <a:tailEnd len="sm" w="sm" type="none"/>
          </a:ln>
          <a:effectLst>
            <a:outerShdw blurRad="39156" rotWithShape="0" algn="bl" dir="2700000" dist="78313">
              <a:srgbClr val="C9D5E7">
                <a:alpha val="16080"/>
              </a:srgbClr>
            </a:outerShdw>
          </a:effectLst>
        </p:spPr>
        <p:txBody>
          <a:bodyPr anchorCtr="0" anchor="ctr" bIns="140950" lIns="140950" spcFirstLastPara="1" rIns="140950" wrap="square" tIns="14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3"/>
          <p:cNvSpPr/>
          <p:nvPr/>
        </p:nvSpPr>
        <p:spPr>
          <a:xfrm>
            <a:off x="4957758" y="4070508"/>
            <a:ext cx="3876300" cy="113100"/>
          </a:xfrm>
          <a:prstGeom prst="rect">
            <a:avLst/>
          </a:prstGeom>
          <a:solidFill>
            <a:srgbClr val="0F766E"/>
          </a:solidFill>
          <a:ln cap="flat" cmpd="sng" w="196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950" lIns="140950" spcFirstLastPara="1" rIns="140950" wrap="square" tIns="14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3"/>
          <p:cNvSpPr/>
          <p:nvPr/>
        </p:nvSpPr>
        <p:spPr>
          <a:xfrm>
            <a:off x="5211492" y="4394724"/>
            <a:ext cx="6765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50"/>
              <a:buFont typeface="Malgun Gothic"/>
              <a:buNone/>
            </a:pPr>
            <a:r>
              <a:rPr b="1" i="0" lang="en-US" sz="1850" u="none" cap="none" strike="noStrike">
                <a:solidFill>
                  <a:srgbClr val="0F766E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18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5" name="Google Shape;745;p23"/>
          <p:cNvSpPr/>
          <p:nvPr/>
        </p:nvSpPr>
        <p:spPr>
          <a:xfrm>
            <a:off x="5211492" y="4845807"/>
            <a:ext cx="33693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23B"/>
              </a:buClr>
              <a:buSzPts val="2775"/>
              <a:buFont typeface="Malgun Gothic"/>
              <a:buNone/>
            </a:pPr>
            <a:r>
              <a:rPr b="1" i="0" lang="en-US" sz="2775" u="none" cap="none" strike="noStrike">
                <a:solidFill>
                  <a:srgbClr val="15223B"/>
                </a:solidFill>
                <a:latin typeface="Malgun Gothic"/>
                <a:ea typeface="Malgun Gothic"/>
                <a:cs typeface="Malgun Gothic"/>
                <a:sym typeface="Malgun Gothic"/>
              </a:rPr>
              <a:t>MCP 활용 학습</a:t>
            </a:r>
            <a:endParaRPr b="0" i="0" sz="2775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6" name="Google Shape;746;p23"/>
          <p:cNvSpPr/>
          <p:nvPr/>
        </p:nvSpPr>
        <p:spPr>
          <a:xfrm>
            <a:off x="5211492" y="5451950"/>
            <a:ext cx="33693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8"/>
              <a:buFont typeface="Malgun Gothic"/>
              <a:buNone/>
            </a:pPr>
            <a:r>
              <a:rPr b="0" i="0" lang="en-US" sz="1958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도구·데이터·저장소를 안전하게 연결하는 사용법 습득</a:t>
            </a:r>
            <a:endParaRPr b="0" i="0" sz="195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47" name="Google Shape;747;p23"/>
          <p:cNvCxnSpPr/>
          <p:nvPr/>
        </p:nvCxnSpPr>
        <p:spPr>
          <a:xfrm>
            <a:off x="8947022" y="5240505"/>
            <a:ext cx="239700" cy="0"/>
          </a:xfrm>
          <a:prstGeom prst="straightConnector1">
            <a:avLst/>
          </a:prstGeom>
          <a:noFill/>
          <a:ln cap="flat" cmpd="sng" w="27400">
            <a:solidFill>
              <a:srgbClr val="A7B5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8" name="Google Shape;748;p23"/>
          <p:cNvSpPr/>
          <p:nvPr/>
        </p:nvSpPr>
        <p:spPr>
          <a:xfrm>
            <a:off x="9257142" y="4070508"/>
            <a:ext cx="3876300" cy="232590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9600">
            <a:solidFill>
              <a:srgbClr val="D8E2F0"/>
            </a:solidFill>
            <a:prstDash val="solid"/>
            <a:round/>
            <a:headEnd len="sm" w="sm" type="none"/>
            <a:tailEnd len="sm" w="sm" type="none"/>
          </a:ln>
          <a:effectLst>
            <a:outerShdw blurRad="39156" rotWithShape="0" algn="bl" dir="2700000" dist="78313">
              <a:srgbClr val="C9D5E7">
                <a:alpha val="16080"/>
              </a:srgbClr>
            </a:outerShdw>
          </a:effectLst>
        </p:spPr>
        <p:txBody>
          <a:bodyPr anchorCtr="0" anchor="ctr" bIns="140950" lIns="140950" spcFirstLastPara="1" rIns="140950" wrap="square" tIns="14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3"/>
          <p:cNvSpPr/>
          <p:nvPr/>
        </p:nvSpPr>
        <p:spPr>
          <a:xfrm>
            <a:off x="9257142" y="4070508"/>
            <a:ext cx="3876300" cy="113100"/>
          </a:xfrm>
          <a:prstGeom prst="rect">
            <a:avLst/>
          </a:prstGeom>
          <a:solidFill>
            <a:srgbClr val="7C3AED"/>
          </a:solidFill>
          <a:ln cap="flat" cmpd="sng" w="196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950" lIns="140950" spcFirstLastPara="1" rIns="140950" wrap="square" tIns="14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3"/>
          <p:cNvSpPr/>
          <p:nvPr/>
        </p:nvSpPr>
        <p:spPr>
          <a:xfrm>
            <a:off x="9510876" y="4394724"/>
            <a:ext cx="6765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850"/>
              <a:buFont typeface="Malgun Gothic"/>
              <a:buNone/>
            </a:pPr>
            <a:r>
              <a:rPr b="1" i="0" lang="en-US" sz="1850" u="none" cap="none" strike="noStrike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18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1" name="Google Shape;751;p23"/>
          <p:cNvSpPr/>
          <p:nvPr/>
        </p:nvSpPr>
        <p:spPr>
          <a:xfrm>
            <a:off x="9510876" y="4845807"/>
            <a:ext cx="33693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23B"/>
              </a:buClr>
              <a:buSzPts val="2775"/>
              <a:buFont typeface="Malgun Gothic"/>
              <a:buNone/>
            </a:pPr>
            <a:r>
              <a:rPr b="1" i="0" lang="en-US" sz="2775" u="none" cap="none" strike="noStrike">
                <a:solidFill>
                  <a:srgbClr val="1522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설계 이해</a:t>
            </a:r>
            <a:endParaRPr b="0" i="0" sz="2775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2" name="Google Shape;752;p23"/>
          <p:cNvSpPr/>
          <p:nvPr/>
        </p:nvSpPr>
        <p:spPr>
          <a:xfrm>
            <a:off x="9510876" y="5451950"/>
            <a:ext cx="33693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8"/>
              <a:buFont typeface="Malgun Gothic"/>
              <a:buNone/>
            </a:pPr>
            <a:r>
              <a:rPr b="0" i="0" lang="en-US" sz="1958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 작업을 자동화할 수 있는 스킬 구조와 적용 범위 학습</a:t>
            </a:r>
            <a:endParaRPr b="0" i="0" sz="195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53" name="Google Shape;753;p23"/>
          <p:cNvCxnSpPr/>
          <p:nvPr/>
        </p:nvCxnSpPr>
        <p:spPr>
          <a:xfrm>
            <a:off x="13246406" y="5240505"/>
            <a:ext cx="239700" cy="0"/>
          </a:xfrm>
          <a:prstGeom prst="straightConnector1">
            <a:avLst/>
          </a:prstGeom>
          <a:noFill/>
          <a:ln cap="flat" cmpd="sng" w="27400">
            <a:solidFill>
              <a:srgbClr val="A7B5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4" name="Google Shape;754;p23"/>
          <p:cNvSpPr/>
          <p:nvPr/>
        </p:nvSpPr>
        <p:spPr>
          <a:xfrm>
            <a:off x="13556525" y="4070508"/>
            <a:ext cx="3876300" cy="232590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9600">
            <a:solidFill>
              <a:srgbClr val="D8E2F0"/>
            </a:solidFill>
            <a:prstDash val="solid"/>
            <a:round/>
            <a:headEnd len="sm" w="sm" type="none"/>
            <a:tailEnd len="sm" w="sm" type="none"/>
          </a:ln>
          <a:effectLst>
            <a:outerShdw blurRad="39156" rotWithShape="0" algn="bl" dir="2700000" dist="78313">
              <a:srgbClr val="C9D5E7">
                <a:alpha val="16080"/>
              </a:srgbClr>
            </a:outerShdw>
          </a:effectLst>
        </p:spPr>
        <p:txBody>
          <a:bodyPr anchorCtr="0" anchor="ctr" bIns="140950" lIns="140950" spcFirstLastPara="1" rIns="140950" wrap="square" tIns="14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3"/>
          <p:cNvSpPr/>
          <p:nvPr/>
        </p:nvSpPr>
        <p:spPr>
          <a:xfrm>
            <a:off x="13556525" y="4070508"/>
            <a:ext cx="3876300" cy="113100"/>
          </a:xfrm>
          <a:prstGeom prst="rect">
            <a:avLst/>
          </a:prstGeom>
          <a:solidFill>
            <a:srgbClr val="EA580C"/>
          </a:solidFill>
          <a:ln cap="flat" cmpd="sng" w="196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950" lIns="140950" spcFirstLastPara="1" rIns="140950" wrap="square" tIns="14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3"/>
          <p:cNvSpPr/>
          <p:nvPr/>
        </p:nvSpPr>
        <p:spPr>
          <a:xfrm>
            <a:off x="13810259" y="4394724"/>
            <a:ext cx="6765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850"/>
              <a:buFont typeface="Malgun Gothic"/>
              <a:buNone/>
            </a:pPr>
            <a:r>
              <a:rPr b="1" i="0" lang="en-US" sz="1850" u="none" cap="none" strike="noStrike">
                <a:solidFill>
                  <a:srgbClr val="EA580C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18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7" name="Google Shape;757;p23"/>
          <p:cNvSpPr/>
          <p:nvPr/>
        </p:nvSpPr>
        <p:spPr>
          <a:xfrm>
            <a:off x="13810259" y="4845807"/>
            <a:ext cx="33693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23B"/>
              </a:buClr>
              <a:buSzPts val="2775"/>
              <a:buFont typeface="Malgun Gothic"/>
              <a:buNone/>
            </a:pPr>
            <a:r>
              <a:rPr b="1" i="0" lang="en-US" sz="2775" u="none" cap="none" strike="noStrike">
                <a:solidFill>
                  <a:srgbClr val="1522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적용 확장</a:t>
            </a:r>
            <a:endParaRPr b="0" i="0" sz="2775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8" name="Google Shape;758;p23"/>
          <p:cNvSpPr/>
          <p:nvPr/>
        </p:nvSpPr>
        <p:spPr>
          <a:xfrm>
            <a:off x="13810259" y="5451950"/>
            <a:ext cx="33693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8"/>
              <a:buFont typeface="Malgun Gothic"/>
              <a:buNone/>
            </a:pPr>
            <a:r>
              <a:rPr b="0" i="0" lang="en-US" sz="1958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PoC 사례를 기반으로 다른 업무에도 재사용 가능한 절차 마련</a:t>
            </a:r>
            <a:endParaRPr b="0" i="0" sz="195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9" name="Google Shape;759;p23"/>
          <p:cNvSpPr/>
          <p:nvPr/>
        </p:nvSpPr>
        <p:spPr>
          <a:xfrm>
            <a:off x="658375" y="7316091"/>
            <a:ext cx="16774500" cy="987000"/>
          </a:xfrm>
          <a:prstGeom prst="roundRect">
            <a:avLst>
              <a:gd fmla="val 11429" name="adj"/>
            </a:avLst>
          </a:prstGeom>
          <a:solidFill>
            <a:srgbClr val="F3F7FF"/>
          </a:solidFill>
          <a:ln cap="flat" cmpd="sng" w="196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950" lIns="140950" spcFirstLastPara="1" rIns="140950" wrap="square" tIns="14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3"/>
          <p:cNvSpPr/>
          <p:nvPr/>
        </p:nvSpPr>
        <p:spPr>
          <a:xfrm>
            <a:off x="1053072" y="7665076"/>
            <a:ext cx="14802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389"/>
              <a:buFont typeface="Malgun Gothic"/>
              <a:buNone/>
            </a:pPr>
            <a:r>
              <a:rPr b="1" i="0" lang="en-US" sz="2389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</a:t>
            </a:r>
            <a:endParaRPr b="0" i="0" sz="238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1" name="Google Shape;761;p23"/>
          <p:cNvSpPr/>
          <p:nvPr/>
        </p:nvSpPr>
        <p:spPr>
          <a:xfrm>
            <a:off x="2716440" y="7636883"/>
            <a:ext cx="124047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23B"/>
              </a:buClr>
              <a:buSzPts val="2389"/>
              <a:buFont typeface="Malgun Gothic"/>
              <a:buNone/>
            </a:pPr>
            <a:r>
              <a:rPr b="1" i="0" lang="en-US" sz="2389" u="none" cap="none" strike="noStrike">
                <a:solidFill>
                  <a:srgbClr val="1522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바이브코딩 결과물의 품질 편차를 줄이고, 기획·개발·검증을 하나의 표준 프로세스로 관리</a:t>
            </a:r>
            <a:endParaRPr b="0" i="0" sz="238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