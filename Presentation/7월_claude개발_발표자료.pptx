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?>
<Relationships xmlns="http://schemas.openxmlformats.org/package/2006/relationships"><Relationship Id="rId1" Type="http://schemas.openxmlformats.org/officeDocument/2006/relationships/officeDocument" Target="ppt/presentation.xml"></Relationship><Relationship Id="rId2" Type="http://schemas.openxmlformats.org/package/2006/relationships/metadata/core-properties" Target="docProps/core.xml"></Relationship><Relationship Id="rId3" Type="http://schemas.openxmlformats.org/officeDocument/2006/relationships/extended-properties" Target="docProps/app.xml"></Relationship><Relationship Id="rId4" Type="http://schemas.openxmlformats.org/package/2006/relationships/metadata/thumbnail" Target="docProps/thumbnail.jpeg"></Relationship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saveSubsetFonts="1" autoCompressPictures="0">
  <p:sldMasterIdLst>
    <p:sldMasterId id="2147483661" r:id="rId14"/>
  </p:sldMasterIdLst>
  <p:sldIdLst>
    <p:sldId id="256" r:id="rId16"/>
    <p:sldId id="269" r:id="rId17"/>
    <p:sldId id="270" r:id="rId18"/>
    <p:sldId id="257" r:id="rId19"/>
    <p:sldId id="258" r:id="rId20"/>
    <p:sldId id="268" r:id="rId21"/>
    <p:sldId id="259" r:id="rId22"/>
    <p:sldId id="260" r:id="rId23"/>
    <p:sldId id="261" r:id="rId24"/>
    <p:sldId id="262" r:id="rId25"/>
    <p:sldId id="263" r:id="rId26"/>
    <p:sldId id="264" r:id="rId27"/>
    <p:sldId id="265" r:id="rId28"/>
    <p:sldId id="267" r:id="rId29"/>
    <p:sldId id="271" r:id="rId30"/>
    <p:sldId id="266" r:id="rId31"/>
    <p:sldId id="272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0" orient="horz" pos="2158" userDrawn="1">
          <p15:clr>
            <a:srgbClr val="A4A3A4"/>
          </p15:clr>
        </p15:guide>
        <p15:guide id="1" pos="287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58"/>
        <p:guide pos="287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
<Relationships xmlns="http://schemas.openxmlformats.org/package/2006/relationships"><Relationship Id="rId1" Type="http://schemas.openxmlformats.org/officeDocument/2006/relationships/printerSettings" Target="printerSettings/printerSettings1.bin"></Relationship><Relationship Id="rId2" Type="http://schemas.openxmlformats.org/officeDocument/2006/relationships/tableStyles" Target="tableStyles.xml"></Relationship><Relationship Id="rId14" Type="http://schemas.openxmlformats.org/officeDocument/2006/relationships/slideMaster" Target="slideMasters/slideMaster1.xml"></Relationship><Relationship Id="rId15" Type="http://schemas.openxmlformats.org/officeDocument/2006/relationships/theme" Target="theme/theme1.xml"></Relationship><Relationship Id="rId16" Type="http://schemas.openxmlformats.org/officeDocument/2006/relationships/slide" Target="slides/slide1.xml"></Relationship><Relationship Id="rId17" Type="http://schemas.openxmlformats.org/officeDocument/2006/relationships/slide" Target="slides/slide2.xml"></Relationship><Relationship Id="rId18" Type="http://schemas.openxmlformats.org/officeDocument/2006/relationships/slide" Target="slides/slide3.xml"></Relationship><Relationship Id="rId19" Type="http://schemas.openxmlformats.org/officeDocument/2006/relationships/slide" Target="slides/slide4.xml"></Relationship><Relationship Id="rId20" Type="http://schemas.openxmlformats.org/officeDocument/2006/relationships/slide" Target="slides/slide5.xml"></Relationship><Relationship Id="rId21" Type="http://schemas.openxmlformats.org/officeDocument/2006/relationships/slide" Target="slides/slide6.xml"></Relationship><Relationship Id="rId22" Type="http://schemas.openxmlformats.org/officeDocument/2006/relationships/slide" Target="slides/slide7.xml"></Relationship><Relationship Id="rId23" Type="http://schemas.openxmlformats.org/officeDocument/2006/relationships/slide" Target="slides/slide8.xml"></Relationship><Relationship Id="rId24" Type="http://schemas.openxmlformats.org/officeDocument/2006/relationships/slide" Target="slides/slide9.xml"></Relationship><Relationship Id="rId25" Type="http://schemas.openxmlformats.org/officeDocument/2006/relationships/slide" Target="slides/slide10.xml"></Relationship><Relationship Id="rId26" Type="http://schemas.openxmlformats.org/officeDocument/2006/relationships/slide" Target="slides/slide11.xml"></Relationship><Relationship Id="rId27" Type="http://schemas.openxmlformats.org/officeDocument/2006/relationships/slide" Target="slides/slide12.xml"></Relationship><Relationship Id="rId28" Type="http://schemas.openxmlformats.org/officeDocument/2006/relationships/slide" Target="slides/slide13.xml"></Relationship><Relationship Id="rId29" Type="http://schemas.openxmlformats.org/officeDocument/2006/relationships/slide" Target="slides/slide14.xml"></Relationship><Relationship Id="rId30" Type="http://schemas.openxmlformats.org/officeDocument/2006/relationships/slide" Target="slides/slide15.xml"></Relationship><Relationship Id="rId31" Type="http://schemas.openxmlformats.org/officeDocument/2006/relationships/slide" Target="slides/slide16.xml"></Relationship><Relationship Id="rId32" Type="http://schemas.openxmlformats.org/officeDocument/2006/relationships/slide" Target="slides/slide17.xml"></Relationship><Relationship Id="rId33" Type="http://schemas.openxmlformats.org/officeDocument/2006/relationships/viewProps" Target="viewProps.xml"></Relationship><Relationship Id="rId34" Type="http://schemas.openxmlformats.org/officeDocument/2006/relationships/presProps" Target="presProps.xml"></Relationship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3172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8B7CF6"/>
                </a:solidFill>
                <a:latin typeface="맑은 고딕"/>
              </a:rPr>
              <a:t>APP DEVELOPMENT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0" b="1">
                <a:solidFill>
                  <a:srgbClr val="F3F3F6"/>
                </a:solidFill>
                <a:latin typeface="맑은 고딕"/>
              </a:rPr>
              <a:t>OfficeFit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6118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B8B8C4"/>
                </a:solidFill>
                <a:latin typeface="맑은 고딕"/>
              </a:rPr>
              <a:t>말로 시작하는 오프라인 업무일지 · 투두리스트 안드로이드 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035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B8B8C4"/>
                </a:solidFill>
                <a:latin typeface="맑은 고딕"/>
              </a:rPr>
              <a:t>개발 과정 공유  ·  2026.07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520440"/>
            <a:ext cx="548640" cy="50800"/>
          </a:xfrm>
          <a:prstGeom prst="rect">
            <a:avLst/>
          </a:prstGeom>
          <a:solidFill>
            <a:srgbClr val="8B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8B7CF6"/>
                </a:solidFill>
                <a:latin typeface="맑은 고딕"/>
              </a:rPr>
              <a:t>IDEATION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3000" b="1">
                <a:solidFill>
                  <a:srgbClr val="F3F3F6"/>
                </a:solidFill>
                <a:latin typeface="맑은 고딕"/>
              </a:rPr>
              <a:t>Gemini로 아이디어 구상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548640" cy="50800"/>
          </a:xfrm>
          <a:prstGeom prst="rect">
            <a:avLst/>
          </a:prstGeom>
          <a:solidFill>
            <a:srgbClr val="8B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gemini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5799" y="1920240"/>
            <a:ext cx="2375800" cy="4070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195799" y="6128000"/>
            <a:ext cx="23758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3F3F6"/>
                </a:solidFill>
                <a:latin typeface="맑은 고딕"/>
              </a:rPr>
              <a:t>①  서버 없이 구현하고 싶어</a:t>
            </a:r>
          </a:p>
        </p:txBody>
      </p:sp>
      <p:pic>
        <p:nvPicPr>
          <p:cNvPr id="8" name="Picture 7" descr="gemini2P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079" y="1920240"/>
            <a:ext cx="2416138" cy="4070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83079" y="6128000"/>
            <a:ext cx="2416138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3F3F6"/>
                </a:solidFill>
                <a:latin typeface="맑은 고딕"/>
              </a:rPr>
              <a:t>②  사무 업무용 앱을 만들 수 있을까?</a:t>
            </a:r>
          </a:p>
        </p:txBody>
      </p:sp>
      <p:pic>
        <p:nvPicPr>
          <p:cNvPr id="10" name="Picture 9" descr="gemini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0697" y="1920240"/>
            <a:ext cx="2155023" cy="4070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810697" y="6128000"/>
            <a:ext cx="2155023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3F3F6"/>
                </a:solidFill>
                <a:latin typeface="맑은 고딕"/>
              </a:rPr>
              <a:t>③  음성으로 투두리스트 자동 정리 — 킬러 피처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8B7CF6"/>
                </a:solidFill>
                <a:latin typeface="맑은 고딕"/>
              </a:rPr>
              <a:t>PROMPT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3000" b="1">
                <a:solidFill>
                  <a:srgbClr val="F3F3F6"/>
                </a:solidFill>
                <a:latin typeface="맑은 고딕"/>
              </a:rPr>
              <a:t>Claude Code에 사용할 프롬프트 설계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548640" cy="50800"/>
          </a:xfrm>
          <a:prstGeom prst="rect">
            <a:avLst/>
          </a:prstGeom>
          <a:solidFill>
            <a:srgbClr val="8B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881360" cy="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B8B8C4"/>
                </a:solidFill>
                <a:latin typeface="맑은 고딕"/>
              </a:rPr>
              <a:t>Gemini가 Phase 1~3에 걸쳐 작성해 준 프롬프트를 그대로 복사해 Claude Code에 입력하며 진행했다</a:t>
            </a:r>
          </a:p>
        </p:txBody>
      </p:sp>
      <p:pic>
        <p:nvPicPr>
          <p:cNvPr id="7" name="Picture 6" descr="gemini4_phas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06556"/>
            <a:ext cx="3535680" cy="2725128"/>
          </a:xfrm>
          <a:prstGeom prst="rect">
            <a:avLst/>
          </a:prstGeom>
        </p:spPr>
      </p:pic>
      <p:pic>
        <p:nvPicPr>
          <p:cNvPr id="8" name="Picture 7" descr="gemini4_phas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2920" y="3555931"/>
            <a:ext cx="3535680" cy="2026377"/>
          </a:xfrm>
          <a:prstGeom prst="rect">
            <a:avLst/>
          </a:prstGeom>
        </p:spPr>
      </p:pic>
      <p:pic>
        <p:nvPicPr>
          <p:cNvPr id="9" name="Picture 8" descr="gemini4_phase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5760" y="3183264"/>
            <a:ext cx="3535680" cy="277171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8B7CF6"/>
                </a:solidFill>
                <a:latin typeface="맑은 고딕"/>
              </a:rP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3F3F6"/>
                </a:solidFill>
                <a:latin typeface="맑은 고딕"/>
              </a:rPr>
              <a:t>프로젝트 개요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548640" cy="50800"/>
          </a:xfrm>
          <a:prstGeom prst="rect">
            <a:avLst/>
          </a:prstGeom>
          <a:solidFill>
            <a:srgbClr val="8B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212080" cy="4206240"/>
          </a:xfrm>
          <a:prstGeom prst="roundRect">
            <a:avLst>
              <a:gd name="adj" fmla="val 6000"/>
            </a:avLst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8B7CF6"/>
                </a:solidFill>
                <a:latin typeface="맑은 고딕"/>
              </a:rPr>
              <a:t>무엇을 만들었나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46634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64"/>
              </a:spcAft>
            </a:pPr>
            <a:r>
              <a:rPr sz="1500">
                <a:solidFill>
                  <a:srgbClr val="B8B8C4"/>
                </a:solidFill>
                <a:latin typeface="맑은 고딕"/>
              </a:rPr>
              <a:t>▸  서버 없이 기기 안에서만 동작하는 오프라인 전용 업무일지 앱</a:t>
            </a:r>
          </a:p>
          <a:p>
            <a:pPr>
              <a:lnSpc>
                <a:spcPct val="120000"/>
              </a:lnSpc>
              <a:spcAft>
                <a:spcPts val="864"/>
              </a:spcAft>
            </a:pPr>
            <a:r>
              <a:rPr sz="1500">
                <a:solidFill>
                  <a:srgbClr val="B8B8C4"/>
                </a:solidFill>
                <a:latin typeface="맑은 고딕"/>
              </a:rPr>
              <a:t>▸  매일 아침 마이크에 대고 말하면 자동으로 정리되는 것이 핵심 차별점</a:t>
            </a:r>
          </a:p>
          <a:p>
            <a:pPr>
              <a:lnSpc>
                <a:spcPct val="120000"/>
              </a:lnSpc>
              <a:spcAft>
                <a:spcPts val="864"/>
              </a:spcAft>
            </a:pPr>
            <a:r>
              <a:rPr sz="1500">
                <a:solidFill>
                  <a:srgbClr val="B8B8C4"/>
                </a:solidFill>
                <a:latin typeface="맑은 고딕"/>
              </a:rPr>
              <a:t>▸  Room DB가 유일한 데이터 소스(SSOT) — 동기화 서버 없음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28800"/>
            <a:ext cx="5212080" cy="4206240"/>
          </a:xfrm>
          <a:prstGeom prst="roundRect">
            <a:avLst>
              <a:gd name="adj" fmla="val 6000"/>
            </a:avLst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05740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8B7CF6"/>
                </a:solidFill>
                <a:latin typeface="맑은 고딕"/>
              </a:rPr>
              <a:t>기술 스택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514600"/>
            <a:ext cx="46634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64"/>
              </a:spcAft>
            </a:pPr>
            <a:r>
              <a:rPr sz="1500">
                <a:solidFill>
                  <a:srgbClr val="B8B8C4"/>
                </a:solidFill>
                <a:latin typeface="맑은 고딕"/>
              </a:rPr>
              <a:t>▸  Kotlin + Jetpack Compose (Material 3, 다크 모드 기본)</a:t>
            </a:r>
          </a:p>
          <a:p>
            <a:pPr>
              <a:lnSpc>
                <a:spcPct val="120000"/>
              </a:lnSpc>
              <a:spcAft>
                <a:spcPts val="864"/>
              </a:spcAft>
            </a:pPr>
            <a:r>
              <a:rPr sz="1500">
                <a:solidFill>
                  <a:srgbClr val="B8B8C4"/>
                </a:solidFill>
                <a:latin typeface="맑은 고딕"/>
              </a:rPr>
              <a:t>▸  MVVM + Repository + Room (Coroutines / Flow)</a:t>
            </a:r>
          </a:p>
          <a:p>
            <a:pPr>
              <a:lnSpc>
                <a:spcPct val="120000"/>
              </a:lnSpc>
              <a:spcAft>
                <a:spcPts val="864"/>
              </a:spcAft>
            </a:pPr>
            <a:r>
              <a:rPr sz="1500">
                <a:solidFill>
                  <a:srgbClr val="B8B8C4"/>
                </a:solidFill>
                <a:latin typeface="맑은 고딕"/>
              </a:rPr>
              <a:t>▸  Android SpeechRecognizer (온디바이스 우선 음성 인식)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8B7CF6"/>
                </a:solidFill>
                <a:latin typeface="맑은 고딕"/>
              </a:rPr>
              <a:t>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3F3F6"/>
                </a:solidFill>
                <a:latin typeface="맑은 고딕"/>
              </a:rPr>
              <a:t>개발 타임라인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548640" cy="50800"/>
          </a:xfrm>
          <a:prstGeom prst="rect">
            <a:avLst/>
          </a:prstGeom>
          <a:solidFill>
            <a:srgbClr val="8B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984247"/>
            <a:ext cx="146304" cy="146304"/>
          </a:xfrm>
          <a:prstGeom prst="ellipse">
            <a:avLst/>
          </a:prstGeom>
          <a:solidFill>
            <a:srgbClr val="8B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" y="2130551"/>
            <a:ext cx="25400" cy="786384"/>
          </a:xfrm>
          <a:prstGeom prst="rect">
            <a:avLst/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874519"/>
            <a:ext cx="1005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2B84B"/>
                </a:solidFill>
                <a:latin typeface="맑은 고딕"/>
              </a:rPr>
              <a:t>07/03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0280" y="1847087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3F3F6"/>
                </a:solidFill>
                <a:latin typeface="맑은 고딕"/>
              </a:rPr>
              <a:t>기본 설계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4920" y="1847087"/>
            <a:ext cx="6400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B8B8C4"/>
                </a:solidFill>
                <a:latin typeface="맑은 고딕"/>
              </a:rPr>
              <a:t>TodoItem·Category·WeekDay·TimeUtils 등 Room 데이터 모델과 Repository/ViewModel 스켈레톤 작성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2916935"/>
            <a:ext cx="146304" cy="146304"/>
          </a:xfrm>
          <a:prstGeom prst="ellipse">
            <a:avLst/>
          </a:prstGeom>
          <a:solidFill>
            <a:srgbClr val="8B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1248" y="3063239"/>
            <a:ext cx="25400" cy="786384"/>
          </a:xfrm>
          <a:prstGeom prst="rect">
            <a:avLst/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2807207"/>
            <a:ext cx="1005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2B84B"/>
                </a:solidFill>
                <a:latin typeface="맑은 고딕"/>
              </a:rPr>
              <a:t>07/04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779775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3F3F6"/>
                </a:solidFill>
                <a:latin typeface="맑은 고딕"/>
              </a:rPr>
              <a:t>모닝 보이스 덤프 + SmartTextParser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2779775"/>
            <a:ext cx="6400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B8B8C4"/>
                </a:solidFill>
                <a:latin typeface="맑은 고딕"/>
              </a:rPr>
              <a:t>연속 음성 인식(자동 재세션)과, 받아쓴 텍스트를 카테고리별 마크다운 할 일로 바꾸는 파서 구현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3849623"/>
            <a:ext cx="146304" cy="146304"/>
          </a:xfrm>
          <a:prstGeom prst="ellipse">
            <a:avLst/>
          </a:prstGeom>
          <a:solidFill>
            <a:srgbClr val="8B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1248" y="3995927"/>
            <a:ext cx="25400" cy="786384"/>
          </a:xfrm>
          <a:prstGeom prst="rect">
            <a:avLst/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3739895"/>
            <a:ext cx="1005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2B84B"/>
                </a:solidFill>
                <a:latin typeface="맑은 고딕"/>
              </a:rPr>
              <a:t>07/04-05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3712463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3F3F6"/>
                </a:solidFill>
                <a:latin typeface="맑은 고딕"/>
              </a:rPr>
              <a:t>Gradle 스캐폴드 + Compose UI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3712463"/>
            <a:ext cx="6400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B8B8C4"/>
                </a:solidFill>
                <a:latin typeface="맑은 고딕"/>
              </a:rPr>
              <a:t>실제 빌드 가능한 앱으로 전환, 대시보드 화면과 음성 덤프 다이얼로그 완성, 에뮬레이터 실행 검증</a:t>
            </a:r>
          </a:p>
        </p:txBody>
      </p:sp>
      <p:sp>
        <p:nvSpPr>
          <p:cNvPr id="21" name="Oval 20"/>
          <p:cNvSpPr/>
          <p:nvPr/>
        </p:nvSpPr>
        <p:spPr>
          <a:xfrm>
            <a:off x="777240" y="4782311"/>
            <a:ext cx="146304" cy="146304"/>
          </a:xfrm>
          <a:prstGeom prst="ellipse">
            <a:avLst/>
          </a:prstGeom>
          <a:solidFill>
            <a:srgbClr val="8B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1248" y="4928615"/>
            <a:ext cx="25400" cy="786384"/>
          </a:xfrm>
          <a:prstGeom prst="rect">
            <a:avLst/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4672583"/>
            <a:ext cx="1005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2B84B"/>
                </a:solidFill>
                <a:latin typeface="맑은 고딕"/>
              </a:rPr>
              <a:t>07/05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4645151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3F3F6"/>
                </a:solidFill>
                <a:latin typeface="맑은 고딕"/>
              </a:rPr>
              <a:t>실기기 연동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74920" y="4645151"/>
            <a:ext cx="6400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B8B8C4"/>
                </a:solidFill>
                <a:latin typeface="맑은 고딕"/>
              </a:rPr>
              <a:t>Galaxy Z Fold5 실기기에 설치, adb 인식 트러블슈팅, 한글 인코딩(CP949) 버그 수정</a:t>
            </a:r>
          </a:p>
        </p:txBody>
      </p:sp>
      <p:sp>
        <p:nvSpPr>
          <p:cNvPr id="26" name="Oval 25"/>
          <p:cNvSpPr/>
          <p:nvPr/>
        </p:nvSpPr>
        <p:spPr>
          <a:xfrm>
            <a:off x="777240" y="5714999"/>
            <a:ext cx="146304" cy="146304"/>
          </a:xfrm>
          <a:prstGeom prst="ellipse">
            <a:avLst/>
          </a:prstGeom>
          <a:solidFill>
            <a:srgbClr val="8B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5605271"/>
            <a:ext cx="1005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2B84B"/>
                </a:solidFill>
                <a:latin typeface="맑은 고딕"/>
              </a:rPr>
              <a:t>07/06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5577839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3F3F6"/>
                </a:solidFill>
                <a:latin typeface="맑은 고딕"/>
              </a:rPr>
              <a:t>기능 고도화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74920" y="5577839"/>
            <a:ext cx="6400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B8B8C4"/>
                </a:solidFill>
                <a:latin typeface="맑은 고딕"/>
              </a:rPr>
              <a:t>말하기 예시 힌트 UI, 할 일 수정/삭제, 일자별 조회 화면, 수동 등록, 'CM' 키워드 추가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8B7CF6"/>
                </a:solidFill>
                <a:latin typeface="맑은 고딕"/>
              </a:rPr>
              <a:t>DEVELOPMENT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3F3F6"/>
                </a:solidFill>
                <a:latin typeface="맑은 고딕"/>
              </a:rPr>
              <a:t>Claude Code와의 협업 워크플로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548640" cy="50800"/>
          </a:xfrm>
          <a:prstGeom prst="rect">
            <a:avLst/>
          </a:prstGeom>
          <a:solidFill>
            <a:srgbClr val="8B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64"/>
              </a:spcAft>
            </a:pPr>
            <a:r>
              <a:rPr sz="1600">
                <a:solidFill>
                  <a:srgbClr val="B8B8C4"/>
                </a:solidFill>
                <a:latin typeface="맑은 고딕"/>
              </a:rPr>
              <a:t>▸  기능 요청부터 실기기 검증까지, 하나의 사이클을 반복하며 개발한다</a:t>
            </a:r>
          </a:p>
          <a:p>
            <a:pPr>
              <a:lnSpc>
                <a:spcPct val="120000"/>
              </a:lnSpc>
              <a:spcAft>
                <a:spcPts val="864"/>
              </a:spcAft>
            </a:pPr>
            <a:r>
              <a:rPr sz="1600">
                <a:solidFill>
                  <a:srgbClr val="B8B8C4"/>
                </a:solidFill>
                <a:latin typeface="맑은 고딕"/>
              </a:rPr>
              <a:t>▸  요청 → 탐색·구현 → 검증 → 기록, 네 단계가 한 바퀴 돈다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794760"/>
            <a:ext cx="2583180" cy="2468880"/>
          </a:xfrm>
          <a:prstGeom prst="roundRect">
            <a:avLst>
              <a:gd name="adj" fmla="val 6000"/>
            </a:avLst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023360"/>
            <a:ext cx="21259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8B7CF6"/>
                </a:solidFill>
                <a:latin typeface="맑은 고딕"/>
              </a:rPr>
              <a:t>① 요청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572000"/>
            <a:ext cx="21259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B8B8C4"/>
                </a:solidFill>
                <a:latin typeface="맑은 고딕"/>
              </a:rPr>
              <a:t>자연어로 기능·문제를 설명 (예: '음성 인식이 부정확해')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6140" y="3794760"/>
            <a:ext cx="2583180" cy="2468880"/>
          </a:xfrm>
          <a:prstGeom prst="roundRect">
            <a:avLst>
              <a:gd name="adj" fmla="val 6000"/>
            </a:avLst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4740" y="4023360"/>
            <a:ext cx="21259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8B7CF6"/>
                </a:solidFill>
                <a:latin typeface="맑은 고딕"/>
              </a:rPr>
              <a:t>② 탐색·구현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4740" y="4572000"/>
            <a:ext cx="21259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B8B8C4"/>
                </a:solidFill>
                <a:latin typeface="맑은 고딕"/>
              </a:rPr>
              <a:t>코드베이스를 파악한 뒤 CLAUDE.md의 결정 사항·제약을 반영해 구현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794760"/>
            <a:ext cx="2583180" cy="2468880"/>
          </a:xfrm>
          <a:prstGeom prst="roundRect">
            <a:avLst>
              <a:gd name="adj" fmla="val 6000"/>
            </a:avLst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023360"/>
            <a:ext cx="21259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8B7CF6"/>
                </a:solidFill>
                <a:latin typeface="맑은 고딕"/>
              </a:rPr>
              <a:t>③ 검증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572000"/>
            <a:ext cx="21259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B8B8C4"/>
                </a:solidFill>
                <a:latin typeface="맑은 고딕"/>
              </a:rPr>
              <a:t>유니트테스트(testDebugUnitTest)와 실기기(adb) 설치로 실제 동작 확인</a:t>
            </a:r>
          </a:p>
        </p:txBody>
      </p:sp>
      <p:sp>
        <p:nvSpPr>
          <p:cNvPr id="16" name="Rounded Rectangle 12 Col4"/>
          <p:cNvSpPr/>
          <p:nvPr/>
        </p:nvSpPr>
        <p:spPr>
          <a:xfrm>
            <a:off x="8938260" y="3794760"/>
            <a:ext cx="2583180" cy="2468880"/>
          </a:xfrm>
          <a:prstGeom prst="roundRect">
            <a:avLst>
              <a:gd name="adj" fmla="val 6000"/>
            </a:avLst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3 Col4"/>
          <p:cNvSpPr txBox="1"/>
          <p:nvPr/>
        </p:nvSpPr>
        <p:spPr>
          <a:xfrm>
            <a:off x="9166860" y="4023360"/>
            <a:ext cx="21259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8B7CF6"/>
                </a:solidFill>
                <a:latin typeface="맑은 고딕"/>
              </a:rPr>
              <a:t>④ 기록</a:t>
            </a:r>
          </a:p>
        </p:txBody>
      </p:sp>
      <p:sp>
        <p:nvSpPr>
          <p:cNvPr id="18" name="TextBox 14 Col4"/>
          <p:cNvSpPr txBox="1"/>
          <p:nvPr/>
        </p:nvSpPr>
        <p:spPr>
          <a:xfrm>
            <a:off x="9166860" y="4572000"/>
            <a:ext cx="21259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B8B8C4"/>
                </a:solidFill>
                <a:latin typeface="맑은 고딕"/>
              </a:rPr>
              <a:t>새로 발견한 제약·트러블슈팅을 CLAUDE.md에 남겨 다음 세션에 재사용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8B7CF6"/>
                </a:solidFill>
                <a:latin typeface="맑은 고딕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3F3F6"/>
                </a:solidFill>
                <a:latin typeface="맑은 고딕"/>
              </a:rPr>
              <a:t>아키텍처 — MVVM + Repository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548640" cy="50800"/>
          </a:xfrm>
          <a:prstGeom prst="rect">
            <a:avLst/>
          </a:prstGeom>
          <a:solidFill>
            <a:srgbClr val="8B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2468880" cy="1463040"/>
          </a:xfrm>
          <a:prstGeom prst="roundRect">
            <a:avLst>
              <a:gd name="adj" fmla="val 6000"/>
            </a:avLst>
          </a:prstGeom>
          <a:solidFill>
            <a:srgbClr val="2A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67712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8B7CF6"/>
                </a:solidFill>
                <a:latin typeface="맑은 고딕"/>
              </a:rPr>
              <a:t>Compose 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70048"/>
            <a:ext cx="2103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B8B8C4"/>
                </a:solidFill>
                <a:latin typeface="맑은 고딕"/>
              </a:rPr>
              <a:t>MainDashboardScreen</a:t>
            </a:r>
          </a:p>
          <a:p>
            <a:pPr algn="l">
              <a:lnSpc>
                <a:spcPct val="120000"/>
              </a:lnSpc>
            </a:pPr>
            <a:r>
              <a:rPr sz="1150" b="0">
                <a:solidFill>
                  <a:srgbClr val="B8B8C4"/>
                </a:solidFill>
                <a:latin typeface="맑은 고딕"/>
              </a:rPr>
              <a:t>DateTodoListScreen</a:t>
            </a:r>
          </a:p>
          <a:p>
            <a:pPr algn="l">
              <a:lnSpc>
                <a:spcPct val="120000"/>
              </a:lnSpc>
            </a:pPr>
            <a:r>
              <a:rPr sz="1150" b="0">
                <a:solidFill>
                  <a:srgbClr val="B8B8C4"/>
                </a:solidFill>
                <a:latin typeface="맑은 고딕"/>
              </a:rPr>
              <a:t>VoiceDumpDialog / EditTodoDialog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136392" y="2724912"/>
            <a:ext cx="265176" cy="219456"/>
          </a:xfrm>
          <a:prstGeom prst="rightArrow">
            <a:avLst/>
          </a:prstGeom>
          <a:solidFill>
            <a:srgbClr val="8B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29000" y="2103120"/>
            <a:ext cx="2468880" cy="1463040"/>
          </a:xfrm>
          <a:prstGeom prst="roundRect">
            <a:avLst>
              <a:gd name="adj" fmla="val 6000"/>
            </a:avLst>
          </a:prstGeom>
          <a:solidFill>
            <a:srgbClr val="2A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2267712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8B7CF6"/>
                </a:solidFill>
                <a:latin typeface="맑은 고딕"/>
              </a:rPr>
              <a:t>ViewModel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670048"/>
            <a:ext cx="2103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B8B8C4"/>
                </a:solidFill>
                <a:latin typeface="맑은 고딕"/>
              </a:rPr>
              <a:t>MainViewModel</a:t>
            </a:r>
          </a:p>
          <a:p>
            <a:pPr algn="l">
              <a:lnSpc>
                <a:spcPct val="120000"/>
              </a:lnSpc>
            </a:pPr>
            <a:r>
              <a:rPr sz="1150" b="0">
                <a:solidFill>
                  <a:srgbClr val="B8B8C4"/>
                </a:solidFill>
                <a:latin typeface="맑은 고딕"/>
              </a:rPr>
              <a:t>StateFlow로 화면 상태 관리</a:t>
            </a:r>
          </a:p>
          <a:p>
            <a:pPr algn="l">
              <a:lnSpc>
                <a:spcPct val="120000"/>
              </a:lnSpc>
            </a:pPr>
            <a:r>
              <a:rPr sz="1150" b="0">
                <a:solidFill>
                  <a:srgbClr val="B8B8C4"/>
                </a:solidFill>
                <a:latin typeface="맑은 고딕"/>
              </a:rPr>
              <a:t>viewModelScope 코루틴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925312" y="2724912"/>
            <a:ext cx="265176" cy="219456"/>
          </a:xfrm>
          <a:prstGeom prst="rightArrow">
            <a:avLst/>
          </a:prstGeom>
          <a:solidFill>
            <a:srgbClr val="8B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2103120"/>
            <a:ext cx="2468880" cy="1463040"/>
          </a:xfrm>
          <a:prstGeom prst="roundRect">
            <a:avLst>
              <a:gd name="adj" fmla="val 6000"/>
            </a:avLst>
          </a:prstGeom>
          <a:solidFill>
            <a:srgbClr val="2A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267712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8B7CF6"/>
                </a:solidFill>
                <a:latin typeface="맑은 고딕"/>
              </a:rPr>
              <a:t>Repository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670048"/>
            <a:ext cx="2103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B8B8C4"/>
                </a:solidFill>
                <a:latin typeface="맑은 고딕"/>
              </a:rPr>
              <a:t>TodoRepository</a:t>
            </a:r>
          </a:p>
          <a:p>
            <a:pPr algn="l">
              <a:lnSpc>
                <a:spcPct val="120000"/>
              </a:lnSpc>
            </a:pPr>
            <a:r>
              <a:rPr sz="1150" b="0">
                <a:solidFill>
                  <a:srgbClr val="B8B8C4"/>
                </a:solidFill>
                <a:latin typeface="맑은 고딕"/>
              </a:rPr>
              <a:t>DAO 호출을 감싸는 중간 계층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714232" y="2724912"/>
            <a:ext cx="265176" cy="219456"/>
          </a:xfrm>
          <a:prstGeom prst="rightArrow">
            <a:avLst/>
          </a:prstGeom>
          <a:solidFill>
            <a:srgbClr val="8B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006840" y="2103120"/>
            <a:ext cx="2468880" cy="1463040"/>
          </a:xfrm>
          <a:prstGeom prst="roundRect">
            <a:avLst>
              <a:gd name="adj" fmla="val 6000"/>
            </a:avLst>
          </a:prstGeom>
          <a:solidFill>
            <a:srgbClr val="2A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9720" y="2267712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8B7CF6"/>
                </a:solidFill>
                <a:latin typeface="맑은 고딕"/>
              </a:rPr>
              <a:t>Room DB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2670048"/>
            <a:ext cx="2103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B8B8C4"/>
                </a:solidFill>
                <a:latin typeface="맑은 고딕"/>
              </a:rPr>
              <a:t>TodoDao / AppDatabase</a:t>
            </a:r>
          </a:p>
          <a:p>
            <a:pPr algn="l">
              <a:lnSpc>
                <a:spcPct val="120000"/>
              </a:lnSpc>
            </a:pPr>
            <a:r>
              <a:rPr sz="1150" b="0">
                <a:solidFill>
                  <a:srgbClr val="B8B8C4"/>
                </a:solidFill>
                <a:latin typeface="맑은 고딕"/>
              </a:rPr>
              <a:t>기기 내 SQLite (SSOT)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977639"/>
            <a:ext cx="5257800" cy="1371600"/>
          </a:xfrm>
          <a:prstGeom prst="roundRect">
            <a:avLst>
              <a:gd name="adj" fmla="val 6000"/>
            </a:avLst>
          </a:prstGeom>
          <a:solidFill>
            <a:srgbClr val="332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142231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2B84B"/>
                </a:solidFill>
                <a:latin typeface="맑은 고딕"/>
              </a:rPr>
              <a:t>SmartTextParser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526279"/>
            <a:ext cx="4754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B8B8C4"/>
                </a:solidFill>
                <a:latin typeface="맑은 고딕"/>
              </a:rPr>
              <a:t>음성 인식 원문 → 절 분리 → 시간 추출 → 카테고리 분류 → 마크다운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B8B8C4"/>
                </a:solidFill>
                <a:latin typeface="맑은 고딕"/>
              </a:rPr>
              <a:t>(외부 API 없이 정규식/문자열 처리만으로 동작)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3154680" y="3566160"/>
            <a:ext cx="1508760.0" cy="411479"/>
          </a:xfrm>
          <a:prstGeom prst="bentConnector3">
            <a:avLst/>
          </a:prstGeom>
          <a:ln w="19050">
            <a:solidFill>
              <a:srgbClr val="F2B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309360" y="3977639"/>
            <a:ext cx="52120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B8B8C4"/>
                </a:solidFill>
                <a:latin typeface="맑은 고딕"/>
              </a:rPr>
              <a:t>일자별 조회 화면에서는 '+' 버튼으로 특정 날짜에</a:t>
            </a: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B8B8C4"/>
                </a:solidFill>
                <a:latin typeface="맑은 고딕"/>
              </a:rPr>
              <a:t>createdAt을 직접 지정해 수동 등록도 가능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8B7CF6"/>
                </a:solidFill>
                <a:latin typeface="맑은 고딕"/>
              </a:rPr>
              <a:t>KEY FEATURE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3F3F6"/>
                </a:solidFill>
                <a:latin typeface="맑은 고딕"/>
              </a:rPr>
              <a:t>모닝 보이스 덤프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548640" cy="50800"/>
          </a:xfrm>
          <a:prstGeom prst="rect">
            <a:avLst/>
          </a:prstGeom>
          <a:solidFill>
            <a:srgbClr val="8B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6035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64"/>
              </a:spcAft>
            </a:pPr>
            <a:r>
              <a:rPr sz="1500">
                <a:solidFill>
                  <a:srgbClr val="B8B8C4"/>
                </a:solidFill>
                <a:latin typeface="맑은 고딕"/>
              </a:rPr>
              <a:t>▸  마이크를 누르고 오늘 할 일을 끊김 없이 쭉 말하면 자동으로 받아쓴다</a:t>
            </a:r>
          </a:p>
          <a:p>
            <a:pPr>
              <a:lnSpc>
                <a:spcPct val="120000"/>
              </a:lnSpc>
              <a:spcAft>
                <a:spcPts val="864"/>
              </a:spcAft>
            </a:pPr>
            <a:r>
              <a:rPr sz="1500">
                <a:solidFill>
                  <a:srgbClr val="B8B8C4"/>
                </a:solidFill>
                <a:latin typeface="맑은 고딕"/>
              </a:rPr>
              <a:t>▸  SpeechRecognizer는 한 번 말하면 세션이 끝나버리는데, 매번 자동으로 재시작해 '계속 듣는' 느낌을 만든다</a:t>
            </a:r>
          </a:p>
          <a:p>
            <a:pPr>
              <a:lnSpc>
                <a:spcPct val="120000"/>
              </a:lnSpc>
              <a:spcAft>
                <a:spcPts val="864"/>
              </a:spcAft>
            </a:pPr>
            <a:r>
              <a:rPr sz="1500">
                <a:solidFill>
                  <a:srgbClr val="B8B8C4"/>
                </a:solidFill>
                <a:latin typeface="맑은 고딕"/>
              </a:rPr>
              <a:t>▸  온디바이스 인식(createOnDeviceSpeechRecognizer)을 우선 사용해 오프라인에서도 동작</a:t>
            </a:r>
          </a:p>
          <a:p>
            <a:pPr>
              <a:lnSpc>
                <a:spcPct val="120000"/>
              </a:lnSpc>
              <a:spcAft>
                <a:spcPts val="864"/>
              </a:spcAft>
            </a:pPr>
            <a:r>
              <a:rPr sz="1500">
                <a:solidFill>
                  <a:srgbClr val="B8B8C4"/>
                </a:solidFill>
                <a:latin typeface="맑은 고딕"/>
              </a:rPr>
              <a:t>▸  인식이 부정확하다는 피드백을 받아, '이렇게 말하면 더 정확해요' 힌트 카드를 추가</a:t>
            </a:r>
          </a:p>
          <a:p>
            <a:pPr>
              <a:lnSpc>
                <a:spcPct val="120000"/>
              </a:lnSpc>
              <a:spcAft>
                <a:spcPts val="864"/>
              </a:spcAft>
            </a:pPr>
            <a:r>
              <a:rPr sz="1500">
                <a:solidFill>
                  <a:srgbClr val="B8B8C4"/>
                </a:solidFill>
                <a:latin typeface="맑은 고딕"/>
              </a:rPr>
              <a:t>▸  힌트는 실제 파서가 인식하는 접속사·시간표현·업무/스터디 키워드를 그대로 보여줘 안내와 실제 동작이 어긋나지 않는다</a:t>
            </a:r>
          </a:p>
        </p:txBody>
      </p:sp>
      <p:pic>
        <p:nvPicPr>
          <p:cNvPr id="7" name="Picture 6" descr="shot_check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417320"/>
            <a:ext cx="2016575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8B7CF6"/>
                </a:solidFill>
                <a:latin typeface="맑은 고딕"/>
              </a:rPr>
              <a:t>KEY FEATURE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3F3F6"/>
                </a:solidFill>
                <a:latin typeface="맑은 고딕"/>
              </a:rPr>
              <a:t>SmartTextParser — 자동 분류 엔진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548640" cy="50800"/>
          </a:xfrm>
          <a:prstGeom prst="rect">
            <a:avLst/>
          </a:prstGeom>
          <a:solidFill>
            <a:srgbClr val="8B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64"/>
              </a:spcAft>
            </a:pPr>
            <a:r>
              <a:rPr sz="1600">
                <a:solidFill>
                  <a:srgbClr val="B8B8C4"/>
                </a:solidFill>
                <a:latin typeface="맑은 고딕"/>
              </a:rPr>
              <a:t>▸  "오전 10시에 팀 회의 하고, SQL 코드 검토하고, 오후 3시에 스터디 문서 읽기" 한 문장을</a:t>
            </a:r>
          </a:p>
          <a:p>
            <a:pPr>
              <a:lnSpc>
                <a:spcPct val="120000"/>
              </a:lnSpc>
              <a:spcAft>
                <a:spcPts val="864"/>
              </a:spcAft>
            </a:pPr>
            <a:r>
              <a:rPr sz="1600">
                <a:solidFill>
                  <a:srgbClr val="B8B8C4"/>
                </a:solidFill>
                <a:latin typeface="맑은 고딕"/>
              </a:rPr>
              <a:t>▸  절 단위로 쪼개고, 시간을 뽑아내고, 카테고리를 나눠 마크다운 체크리스트로 바꾼다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794760"/>
            <a:ext cx="3429000" cy="2468880"/>
          </a:xfrm>
          <a:prstGeom prst="roundRect">
            <a:avLst>
              <a:gd name="adj" fmla="val 6000"/>
            </a:avLst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023360"/>
            <a:ext cx="2971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8B7CF6"/>
                </a:solidFill>
                <a:latin typeface="맑은 고딕"/>
              </a:rPr>
              <a:t>① 절 분리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572000"/>
            <a:ext cx="29718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B8B8C4"/>
                </a:solidFill>
                <a:latin typeface="맑은 고딕"/>
              </a:rPr>
              <a:t>"그리고/하고/-고" 등 접속사·연결어미 기준으로 문장을 태스크 단위로 분리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B8B8C4"/>
                </a:solidFill>
                <a:latin typeface="맑은 고딕"/>
              </a:rPr>
              <a:t>(문장 끝의 '-고'는 분리하지 않도록 예외 처리)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3794760"/>
            <a:ext cx="3429000" cy="2468880"/>
          </a:xfrm>
          <a:prstGeom prst="roundRect">
            <a:avLst>
              <a:gd name="adj" fmla="val 6000"/>
            </a:avLst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4023360"/>
            <a:ext cx="2971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8B7CF6"/>
                </a:solidFill>
                <a:latin typeface="맑은 고딕"/>
              </a:rPr>
              <a:t>② 시간 추출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4572000"/>
            <a:ext cx="29718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B8B8C4"/>
                </a:solidFill>
                <a:latin typeface="맑은 고딕"/>
              </a:rPr>
              <a:t>"오후 2시", "저녁 7시 30분" 같은 표현을 24시간제 HH:MM으로 변환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3794760"/>
            <a:ext cx="3429000" cy="2468880"/>
          </a:xfrm>
          <a:prstGeom prst="roundRect">
            <a:avLst>
              <a:gd name="adj" fmla="val 6000"/>
            </a:avLst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38744" y="4023360"/>
            <a:ext cx="2971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8B7CF6"/>
                </a:solidFill>
                <a:latin typeface="맑은 고딕"/>
              </a:rPr>
              <a:t>③ 카테고리 분류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38744" y="4572000"/>
            <a:ext cx="29718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B8B8C4"/>
                </a:solidFill>
                <a:latin typeface="맑은 고딕"/>
              </a:rPr>
              <a:t>회의·검토·SQL·CM 등은 업무, 스터디·공부·강의 등은 스터디, 나머지는 일반으로 자동 분류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8B7CF6"/>
                </a:solidFill>
                <a:latin typeface="맑은 고딕"/>
              </a:rPr>
              <a:t>TROUBLESHOOTING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3F3F6"/>
                </a:solidFill>
                <a:latin typeface="맑은 고딕"/>
              </a:rPr>
              <a:t>개발 중 만난 문제와 해결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548640" cy="50800"/>
          </a:xfrm>
          <a:prstGeom prst="rect">
            <a:avLst/>
          </a:prstGeom>
          <a:solidFill>
            <a:srgbClr val="8B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48256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2B84B"/>
                </a:solidFill>
                <a:latin typeface="맑은 고딕"/>
              </a:rPr>
              <a:t>한글 문자열이 컴파일 시 깨짐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50592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B8B8C4"/>
                </a:solidFill>
                <a:latin typeface="맑은 고딕"/>
              </a:rPr>
              <a:t>문제: Kotlin 컴파일 데몬이 소스를 플랫폼 기본 인코딩(CP949)으로 읽어 정규식·키워드의 한글이 손상 → 테스트 16개 중 10개 실패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52928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3F3F6"/>
                </a:solidFill>
                <a:latin typeface="맑은 고딕"/>
              </a:rPr>
              <a:t>해결: gradle.properties에 kotlin.daemon.jvmargs=-Dfile.encoding=UTF-8 추가 + 데몬 재시작으로 해결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4290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557016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2B84B"/>
                </a:solidFill>
                <a:latin typeface="맑은 고딕"/>
              </a:rPr>
              <a:t>실기기(Z Fold5)가 adb에 안 잡힘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959352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B8B8C4"/>
                </a:solidFill>
                <a:latin typeface="맑은 고딕"/>
              </a:rPr>
              <a:t>문제: USB 드라이버 미설치로 Windows 장치관리자에 "Unknown" 상태로만 표시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61688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3F3F6"/>
                </a:solidFill>
                <a:latin typeface="맑은 고딕"/>
              </a:rPr>
              <a:t>해결: 삼성 USB 드라이버 설치 → USB 연결 모드를 파일 전송으로 변경 → 기기의 디버깅 허용 팝업 승인 순서로 해결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93776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065776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2B84B"/>
                </a:solidFill>
                <a:latin typeface="맑은 고딕"/>
              </a:rPr>
              <a:t>음성 인식 정확도에 대한 사용자 피드백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468112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B8B8C4"/>
                </a:solidFill>
                <a:latin typeface="맑은 고딕"/>
              </a:rPr>
              <a:t>문제: 실기기 테스트 중 인식률이 기대만큼 안정적이지 않다는 의견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870448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3F3F6"/>
                </a:solidFill>
                <a:latin typeface="맑은 고딕"/>
              </a:rPr>
              <a:t>해결: 파서가 실제로 인식하는 문형을 그대로 보여주는 말하기 예시 힌트 UI를 추가해 사용자가 스스로 발화를 맞출 수 있게 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8B7CF6"/>
                </a:solidFill>
                <a:latin typeface="맑은 고딕"/>
              </a:rPr>
              <a:t>NEW 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3F3F6"/>
                </a:solidFill>
                <a:latin typeface="맑은 고딕"/>
              </a:rPr>
              <a:t>할 일 수정 · 삭제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548640" cy="50800"/>
          </a:xfrm>
          <a:prstGeom prst="rect">
            <a:avLst/>
          </a:prstGeom>
          <a:solidFill>
            <a:srgbClr val="8B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5577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64"/>
              </a:spcAft>
            </a:pPr>
            <a:r>
              <a:rPr sz="1550">
                <a:solidFill>
                  <a:srgbClr val="B8B8C4"/>
                </a:solidFill>
                <a:latin typeface="맑은 고딕"/>
              </a:rPr>
              <a:t>▸  할 일 행을 탭하면 내용 / 카테고리 / 시작 시각을 수정하는 다이얼로그가 열림</a:t>
            </a:r>
          </a:p>
          <a:p>
            <a:pPr>
              <a:lnSpc>
                <a:spcPct val="120000"/>
              </a:lnSpc>
              <a:spcAft>
                <a:spcPts val="864"/>
              </a:spcAft>
            </a:pPr>
            <a:r>
              <a:rPr sz="1550">
                <a:solidFill>
                  <a:srgbClr val="B8B8C4"/>
                </a:solidFill>
                <a:latin typeface="맑은 고딕"/>
              </a:rPr>
              <a:t>▸  행 끝의 휴지통 아이콘으로 바로 삭제 요청 가능</a:t>
            </a:r>
          </a:p>
          <a:p>
            <a:pPr>
              <a:lnSpc>
                <a:spcPct val="120000"/>
              </a:lnSpc>
              <a:spcAft>
                <a:spcPts val="864"/>
              </a:spcAft>
            </a:pPr>
            <a:r>
              <a:rPr sz="1550">
                <a:solidFill>
                  <a:srgbClr val="B8B8C4"/>
                </a:solidFill>
                <a:latin typeface="맑은 고딕"/>
              </a:rPr>
              <a:t>▸  실수로 지우는 것을 막기 위해 삭제 전 확인 다이얼로그를 한 번 더 거침</a:t>
            </a:r>
          </a:p>
          <a:p>
            <a:pPr>
              <a:lnSpc>
                <a:spcPct val="120000"/>
              </a:lnSpc>
              <a:spcAft>
                <a:spcPts val="864"/>
              </a:spcAft>
            </a:pPr>
            <a:r>
              <a:rPr sz="1550">
                <a:solidFill>
                  <a:srgbClr val="B8B8C4"/>
                </a:solidFill>
                <a:latin typeface="맑은 고딕"/>
              </a:rPr>
              <a:t>▸  수정/삭제 UI는 대시보드와 일자별 조회 화면이 동일한 컴포넌트를 재사용</a:t>
            </a:r>
          </a:p>
        </p:txBody>
      </p:sp>
      <p:pic>
        <p:nvPicPr>
          <p:cNvPr id="7" name="Picture 6" descr="shot_editdialo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280160"/>
            <a:ext cx="2087958" cy="5349240"/>
          </a:xfrm>
          <a:prstGeom prst="rect">
            <a:avLst/>
          </a:prstGeom>
        </p:spPr>
      </p:pic>
      <p:pic>
        <p:nvPicPr>
          <p:cNvPr id="8" name="Picture 7" descr="shot_delete_dial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0" y="1280160"/>
            <a:ext cx="2087958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8B7CF6"/>
                </a:solidFill>
                <a:latin typeface="맑은 고딕"/>
              </a:rPr>
              <a:t>NEW 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3F3F6"/>
                </a:solidFill>
                <a:latin typeface="맑은 고딕"/>
              </a:rPr>
              <a:t>일자별 조회 &amp; 수동 등록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548640" cy="50800"/>
          </a:xfrm>
          <a:prstGeom prst="rect">
            <a:avLst/>
          </a:prstGeom>
          <a:solidFill>
            <a:srgbClr val="8B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5577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64"/>
              </a:spcAft>
            </a:pPr>
            <a:r>
              <a:rPr sz="1450">
                <a:solidFill>
                  <a:srgbClr val="B8B8C4"/>
                </a:solidFill>
                <a:latin typeface="맑은 고딕"/>
              </a:rPr>
              <a:t>▸  "날짜별 보기"로 이동해 네이티브 날짜 선택기로 과거/미래 아무 날짜나 조회</a:t>
            </a:r>
          </a:p>
          <a:p>
            <a:pPr>
              <a:lnSpc>
                <a:spcPct val="120000"/>
              </a:lnSpc>
              <a:spcAft>
                <a:spcPts val="864"/>
              </a:spcAft>
            </a:pPr>
            <a:r>
              <a:rPr sz="1450">
                <a:solidFill>
                  <a:srgbClr val="B8B8C4"/>
                </a:solidFill>
                <a:latin typeface="맑은 고딕"/>
              </a:rPr>
              <a:t>▸  오늘을 보고 있을 때만 마이크 버튼 노출 — 음성 덤프는 항상 '지금'을 기준으로 오늘에 저장되기 때문</a:t>
            </a:r>
          </a:p>
          <a:p>
            <a:pPr>
              <a:lnSpc>
                <a:spcPct val="120000"/>
              </a:lnSpc>
              <a:spcAft>
                <a:spcPts val="864"/>
              </a:spcAft>
            </a:pPr>
            <a:r>
              <a:rPr sz="1450">
                <a:solidFill>
                  <a:srgbClr val="B8B8C4"/>
                </a:solidFill>
                <a:latin typeface="맑은 고딕"/>
              </a:rPr>
              <a:t>▸  오늘이 아닐 때는 "오늘로" 버튼으로 화면 이탈 없이 날짜만 되돌릴 수 있음</a:t>
            </a:r>
          </a:p>
          <a:p>
            <a:pPr>
              <a:lnSpc>
                <a:spcPct val="120000"/>
              </a:lnSpc>
              <a:spcAft>
                <a:spcPts val="864"/>
              </a:spcAft>
            </a:pPr>
            <a:r>
              <a:rPr sz="1450">
                <a:solidFill>
                  <a:srgbClr val="B8B8C4"/>
                </a:solidFill>
                <a:latin typeface="맑은 고딕"/>
              </a:rPr>
              <a:t>▸  '+' 버튼은 날짜와 무관하게 항상 노출 — 다른 날짜를 보고 있어도 그 날짜에 바로 할 일을 등록</a:t>
            </a:r>
          </a:p>
          <a:p>
            <a:pPr>
              <a:lnSpc>
                <a:spcPct val="120000"/>
              </a:lnSpc>
              <a:spcAft>
                <a:spcPts val="864"/>
              </a:spcAft>
            </a:pPr>
            <a:r>
              <a:rPr sz="1450">
                <a:solidFill>
                  <a:srgbClr val="B8B8C4"/>
                </a:solidFill>
                <a:latin typeface="맑은 고딕"/>
              </a:rPr>
              <a:t>▸  화면 나가기는 시스템 뒤로가기로 처리, 나갈 때 자동으로 오늘 날짜로 리셋</a:t>
            </a:r>
          </a:p>
        </p:txBody>
      </p:sp>
      <p:pic>
        <p:nvPicPr>
          <p:cNvPr id="7" name="Picture 6" descr="shot_otherd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280160"/>
            <a:ext cx="2087958" cy="5349240"/>
          </a:xfrm>
          <a:prstGeom prst="rect">
            <a:avLst/>
          </a:prstGeom>
        </p:spPr>
      </p:pic>
      <p:pic>
        <p:nvPicPr>
          <p:cNvPr id="8" name="Picture 7" descr="shot_adddial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0" y="1280160"/>
            <a:ext cx="2087958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8B7CF6"/>
                </a:solidFill>
                <a:latin typeface="맑은 고딕"/>
              </a:rPr>
              <a:t>SCREENSHOT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3F3F6"/>
                </a:solidFill>
                <a:latin typeface="맑은 고딕"/>
              </a:rPr>
              <a:t>실기기(Galaxy Z Fold5) 실행 화면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548640" cy="50800"/>
          </a:xfrm>
          <a:prstGeom prst="rect">
            <a:avLst/>
          </a:prstGeom>
          <a:solidFill>
            <a:srgbClr val="8B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hot_main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234440"/>
            <a:ext cx="2105804" cy="5394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2743200"/>
            <a:ext cx="35661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F3F3F6"/>
                </a:solidFill>
                <a:latin typeface="맑은 고딕"/>
              </a:rPr>
              <a:t>메인 대시보드</a:t>
            </a:r>
          </a:p>
          <a:p>
            <a:pPr algn="l">
              <a:lnSpc>
                <a:spcPct val="130000"/>
              </a:lnSpc>
            </a:pPr>
            <a:r>
              <a:rPr sz="1800" b="1">
                <a:solidFill>
                  <a:srgbClr val="F3F3F6"/>
                </a:solidFill>
                <a:latin typeface="맑은 고딕"/>
              </a:rPr>
              <a:t>오늘의 할 일이</a:t>
            </a:r>
          </a:p>
          <a:p>
            <a:pPr algn="l">
              <a:lnSpc>
                <a:spcPct val="130000"/>
              </a:lnSpc>
            </a:pPr>
            <a:r>
              <a:rPr sz="1800" b="1">
                <a:solidFill>
                  <a:srgbClr val="F3F3F6"/>
                </a:solidFill>
                <a:latin typeface="맑은 고딕"/>
              </a:rPr>
              <a:t>카테고리별로</a:t>
            </a:r>
          </a:p>
          <a:p>
            <a:pPr algn="l">
              <a:lnSpc>
                <a:spcPct val="130000"/>
              </a:lnSpc>
            </a:pPr>
            <a:r>
              <a:rPr sz="1800" b="1">
                <a:solidFill>
                  <a:srgbClr val="F3F3F6"/>
                </a:solidFill>
                <a:latin typeface="맑은 고딕"/>
              </a:rPr>
              <a:t>정리되어 보인다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8B7CF6"/>
                </a:solidFill>
                <a:latin typeface="맑은 고딕"/>
              </a:rPr>
              <a:t>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3F3F6"/>
                </a:solidFill>
                <a:latin typeface="맑은 고딕"/>
              </a:rPr>
              <a:t>GitHub 배포 과정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548640" cy="50800"/>
          </a:xfrm>
          <a:prstGeom prst="rect">
            <a:avLst/>
          </a:prstGeom>
          <a:solidFill>
            <a:srgbClr val="8B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984247"/>
            <a:ext cx="146304" cy="146304"/>
          </a:xfrm>
          <a:prstGeom prst="ellipse">
            <a:avLst/>
          </a:prstGeom>
          <a:solidFill>
            <a:srgbClr val="8B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" y="2130551"/>
            <a:ext cx="25400" cy="786384"/>
          </a:xfrm>
          <a:prstGeom prst="rect">
            <a:avLst/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874519"/>
            <a:ext cx="1005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2B84B"/>
                </a:solidFill>
                <a:latin typeface="맑은 고딕"/>
              </a:rPr>
              <a:t>STEP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0280" y="1847087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3F3F6"/>
                </a:solidFill>
                <a:latin typeface="맑은 고딕"/>
              </a:rPr>
              <a:t>git init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4920" y="1847087"/>
            <a:ext cx="6400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B8B8C4"/>
                </a:solidFill>
                <a:latin typeface="맑은 고딕"/>
              </a:rPr>
              <a:t>프로젝트 루트에 git 저장소를 초기화하고 기본 브랜치를 main으로 설정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2916935"/>
            <a:ext cx="146304" cy="146304"/>
          </a:xfrm>
          <a:prstGeom prst="ellipse">
            <a:avLst/>
          </a:prstGeom>
          <a:solidFill>
            <a:srgbClr val="8B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1248" y="3063239"/>
            <a:ext cx="25400" cy="786384"/>
          </a:xfrm>
          <a:prstGeom prst="rect">
            <a:avLst/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2807207"/>
            <a:ext cx="1005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2B84B"/>
                </a:solidFill>
                <a:latin typeface="맑은 고딕"/>
              </a:rP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779775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3F3F6"/>
                </a:solidFill>
                <a:latin typeface="맑은 고딕"/>
              </a:rPr>
              <a:t>.gitignore 작성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2779775"/>
            <a:ext cx="6400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B8B8C4"/>
                </a:solidFill>
                <a:latin typeface="맑은 고딕"/>
              </a:rPr>
              <a:t>build/, .gradle/, local.properties, .idea/ 등 빌드 산출물과 로컬 설정을 커밋 대상에서 제외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3849623"/>
            <a:ext cx="146304" cy="146304"/>
          </a:xfrm>
          <a:prstGeom prst="ellipse">
            <a:avLst/>
          </a:prstGeom>
          <a:solidFill>
            <a:srgbClr val="8B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1248" y="3995927"/>
            <a:ext cx="25400" cy="786384"/>
          </a:xfrm>
          <a:prstGeom prst="rect">
            <a:avLst/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3739895"/>
            <a:ext cx="1005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2B84B"/>
                </a:solidFill>
                <a:latin typeface="맑은 고딕"/>
              </a:rPr>
              <a:t>STEP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3712463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3F3F6"/>
                </a:solidFill>
                <a:latin typeface="맑은 고딕"/>
              </a:rPr>
              <a:t>git add &amp; commit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3712463"/>
            <a:ext cx="6400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B8B8C4"/>
                </a:solidFill>
                <a:latin typeface="맑은 고딕"/>
              </a:rPr>
              <a:t>빌드 산출물을 제외한 소스 코드와 문서 44개 파일만 스테이징해 최초 커밋 생성</a:t>
            </a:r>
          </a:p>
        </p:txBody>
      </p:sp>
      <p:sp>
        <p:nvSpPr>
          <p:cNvPr id="21" name="Oval 20"/>
          <p:cNvSpPr/>
          <p:nvPr/>
        </p:nvSpPr>
        <p:spPr>
          <a:xfrm>
            <a:off x="777240" y="4782311"/>
            <a:ext cx="146304" cy="146304"/>
          </a:xfrm>
          <a:prstGeom prst="ellipse">
            <a:avLst/>
          </a:prstGeom>
          <a:solidFill>
            <a:srgbClr val="8B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1248" y="4928615"/>
            <a:ext cx="25400" cy="786384"/>
          </a:xfrm>
          <a:prstGeom prst="rect">
            <a:avLst/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4672583"/>
            <a:ext cx="1005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2B84B"/>
                </a:solidFill>
                <a:latin typeface="맑은 고딕"/>
              </a:rPr>
              <a:t>STEP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4645151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3F3F6"/>
                </a:solidFill>
                <a:latin typeface="맑은 고딕"/>
              </a:rPr>
              <a:t>remote 연결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74920" y="4645151"/>
            <a:ext cx="6400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B8B8C4"/>
                </a:solidFill>
                <a:latin typeface="맑은 고딕"/>
              </a:rPr>
              <a:t>git remote add origin으로 GitHub 저장소(audmslpl/memberSimsaClaudeProject)와 연결</a:t>
            </a:r>
          </a:p>
        </p:txBody>
      </p:sp>
      <p:sp>
        <p:nvSpPr>
          <p:cNvPr id="26" name="Oval 25"/>
          <p:cNvSpPr/>
          <p:nvPr/>
        </p:nvSpPr>
        <p:spPr>
          <a:xfrm>
            <a:off x="777240" y="5714999"/>
            <a:ext cx="146304" cy="146304"/>
          </a:xfrm>
          <a:prstGeom prst="ellipse">
            <a:avLst/>
          </a:prstGeom>
          <a:solidFill>
            <a:srgbClr val="8B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5605271"/>
            <a:ext cx="1005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2B84B"/>
                </a:solidFill>
                <a:latin typeface="맑은 고딕"/>
              </a:rPr>
              <a:t>STEP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5577839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3F3F6"/>
                </a:solidFill>
                <a:latin typeface="맑은 고딕"/>
              </a:rPr>
              <a:t>git push (인증)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74920" y="5577839"/>
            <a:ext cx="6400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B8B8C4"/>
                </a:solidFill>
                <a:latin typeface="맑은 고딕"/>
              </a:rPr>
              <a:t>Git Credential Manager 브라우저 로그인으로 인증한 뒤 main 브랜치를 push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8B7CF6"/>
                </a:solidFill>
                <a:latin typeface="맑은 고딕"/>
              </a:rPr>
              <a:t>REPOSITORY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3000" b="1">
                <a:solidFill>
                  <a:srgbClr val="F3F3F6"/>
                </a:solidFill>
                <a:latin typeface="맑은 고딕"/>
              </a:rPr>
              <a:t>GitHub 저장소 구조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548640" cy="50800"/>
          </a:xfrm>
          <a:prstGeom prst="rect">
            <a:avLst/>
          </a:prstGeom>
          <a:solidFill>
            <a:srgbClr val="8B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212080" cy="4206240"/>
          </a:xfrm>
          <a:prstGeom prst="roundRect">
            <a:avLst>
              <a:gd name="adj" fmla="val 6000"/>
            </a:avLst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26480" y="1828800"/>
            <a:ext cx="5212080" cy="4206240"/>
          </a:xfrm>
          <a:prstGeom prst="roundRect">
            <a:avLst>
              <a:gd name="adj" fmla="val 6000"/>
            </a:avLst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8B7CF6"/>
                </a:solidFill>
                <a:latin typeface="맑은 고딕"/>
              </a:rPr>
              <a:t>메인 저장소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574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8B7CF6"/>
                </a:solidFill>
                <a:latin typeface="맑은 고딕"/>
              </a:rPr>
              <a:t>OfficeFit 프로젝트 폴더</a:t>
            </a:r>
          </a:p>
        </p:txBody>
      </p:sp>
      <p:pic>
        <p:nvPicPr>
          <p:cNvPr id="10" name="Picture 9" descr="github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9168" y="2514600"/>
            <a:ext cx="2513904" cy="2611880"/>
          </a:xfrm>
          <a:prstGeom prst="rect">
            <a:avLst/>
          </a:prstGeom>
        </p:spPr>
      </p:pic>
      <p:pic>
        <p:nvPicPr>
          <p:cNvPr id="11" name="Picture 10" descr="github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2629" y="2514600"/>
            <a:ext cx="3099781" cy="26118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14400" y="5263640"/>
            <a:ext cx="466344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>
                <a:solidFill>
                  <a:srgbClr val="F3F3F6"/>
                </a:solidFill>
                <a:latin typeface="맑은 고딕"/>
              </a:rPr>
              <a:t>audmslpl/memberSimsaClaudeProject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B8B8C4"/>
                </a:solidFill>
                <a:latin typeface="맑은 고딕"/>
              </a:rPr>
              <a:t>Contributors 2명(claude, audmslpl) · Kotlin 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5263640"/>
            <a:ext cx="466344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>
                <a:solidFill>
                  <a:srgbClr val="F3F3F6"/>
                </a:solidFill>
                <a:latin typeface="맑은 고딕"/>
              </a:rPr>
              <a:t>app · docs · gradle/wrapper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B8B8C4"/>
                </a:solidFill>
                <a:latin typeface="맑은 고딕"/>
              </a:rPr>
              <a:t>CLAUDE.md, 발표자료 pptx까지 함께 커밋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8B7CF6"/>
                </a:solidFill>
                <a:latin typeface="맑은 고딕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3F3F6"/>
                </a:solidFill>
                <a:latin typeface="맑은 고딕"/>
              </a:rPr>
              <a:t>정리 및 다음 단계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548640" cy="50800"/>
          </a:xfrm>
          <a:prstGeom prst="rect">
            <a:avLst/>
          </a:prstGeom>
          <a:solidFill>
            <a:srgbClr val="8B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8B7CF6"/>
                </a:solidFill>
                <a:latin typeface="맑은 고딕"/>
              </a:rPr>
              <a:t>지금까지 완료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64"/>
              </a:spcAft>
            </a:pPr>
            <a:r>
              <a:rPr sz="1450">
                <a:solidFill>
                  <a:srgbClr val="B8B8C4"/>
                </a:solidFill>
                <a:latin typeface="맑은 고딕"/>
              </a:rPr>
              <a:t>▸  Room 기반 오프라인 데이터 모델 + MVVM/Repository 구조</a:t>
            </a:r>
          </a:p>
          <a:p>
            <a:pPr>
              <a:lnSpc>
                <a:spcPct val="120000"/>
              </a:lnSpc>
              <a:spcAft>
                <a:spcPts val="864"/>
              </a:spcAft>
            </a:pPr>
            <a:r>
              <a:rPr sz="1450">
                <a:solidFill>
                  <a:srgbClr val="B8B8C4"/>
                </a:solidFill>
                <a:latin typeface="맑은 고딕"/>
              </a:rPr>
              <a:t>▸  연속 음성 인식 + SmartTextParser 자동 분류</a:t>
            </a:r>
          </a:p>
          <a:p>
            <a:pPr>
              <a:lnSpc>
                <a:spcPct val="120000"/>
              </a:lnSpc>
              <a:spcAft>
                <a:spcPts val="864"/>
              </a:spcAft>
            </a:pPr>
            <a:r>
              <a:rPr sz="1450">
                <a:solidFill>
                  <a:srgbClr val="B8B8C4"/>
                </a:solidFill>
                <a:latin typeface="맑은 고딕"/>
              </a:rPr>
              <a:t>▸  실기기(Z Fold5) 빌드/설치/실행 검증</a:t>
            </a:r>
          </a:p>
          <a:p>
            <a:pPr>
              <a:lnSpc>
                <a:spcPct val="120000"/>
              </a:lnSpc>
              <a:spcAft>
                <a:spcPts val="864"/>
              </a:spcAft>
            </a:pPr>
            <a:r>
              <a:rPr sz="1450">
                <a:solidFill>
                  <a:srgbClr val="B8B8C4"/>
                </a:solidFill>
                <a:latin typeface="맑은 고딕"/>
              </a:rPr>
              <a:t>▸  할 일 수정 · 삭제, 일자별 조회, 날짜 지정 수동 등록</a:t>
            </a:r>
          </a:p>
          <a:p>
            <a:pPr>
              <a:lnSpc>
                <a:spcPct val="120000"/>
              </a:lnSpc>
              <a:spcAft>
                <a:spcPts val="864"/>
              </a:spcAft>
            </a:pPr>
            <a:r>
              <a:rPr sz="1450">
                <a:solidFill>
                  <a:srgbClr val="B8B8C4"/>
                </a:solidFill>
                <a:latin typeface="맑은 고딕"/>
              </a:rPr>
              <a:t>▸  말하기 정확도를 돕는 예시 힌트 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874519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2B84B"/>
                </a:solidFill>
                <a:latin typeface="맑은 고딕"/>
              </a:rPr>
              <a:t>앞으로 할 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331720"/>
            <a:ext cx="5212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64"/>
              </a:spcAft>
            </a:pPr>
            <a:r>
              <a:rPr sz="1450">
                <a:solidFill>
                  <a:srgbClr val="B8B8C4"/>
                </a:solidFill>
                <a:latin typeface="맑은 고딕"/>
              </a:rPr>
              <a:t>▸  실사용 기반 음성 인식 정확도 개선 (오탐 케이스 수집)</a:t>
            </a:r>
          </a:p>
          <a:p>
            <a:pPr>
              <a:lnSpc>
                <a:spcPct val="120000"/>
              </a:lnSpc>
              <a:spcAft>
                <a:spcPts val="864"/>
              </a:spcAft>
            </a:pPr>
            <a:r>
              <a:rPr sz="1450">
                <a:solidFill>
                  <a:srgbClr val="B8B8C4"/>
                </a:solidFill>
                <a:latin typeface="맑은 고딕"/>
              </a:rPr>
              <a:t>▸  화/목 스터디 같은 주간 반복 일정 전용 UI</a:t>
            </a:r>
          </a:p>
          <a:p>
            <a:pPr>
              <a:lnSpc>
                <a:spcPct val="120000"/>
              </a:lnSpc>
              <a:spcAft>
                <a:spcPts val="864"/>
              </a:spcAft>
            </a:pPr>
            <a:r>
              <a:rPr sz="1450">
                <a:solidFill>
                  <a:srgbClr val="B8B8C4"/>
                </a:solidFill>
                <a:latin typeface="맑은 고딕"/>
              </a:rPr>
              <a:t>▸  카테고리 필터 · 완료 항목 통계/회고 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8B7CF6"/>
                </a:solidFill>
                <a:latin typeface="맑은 고딕"/>
              </a:rPr>
              <a:t>TEAM SHARING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3000" b="1">
                <a:solidFill>
                  <a:srgbClr val="F3F3F6"/>
                </a:solidFill>
                <a:latin typeface="맑은 고딕"/>
              </a:rPr>
              <a:t>각자 발표자료 올리기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548640" cy="50800"/>
          </a:xfrm>
          <a:prstGeom prst="rect">
            <a:avLst/>
          </a:prstGeom>
          <a:solidFill>
            <a:srgbClr val="8B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4800600" cy="1308735"/>
          </a:xfrm>
          <a:prstGeom prst="rect">
            <a:avLst/>
          </a:prstGeom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 algn="l">
              <a:lnSpc>
                <a:spcPct val="120000"/>
              </a:lnSpc>
              <a:spcAft>
                <a:spcPts val="864"/>
              </a:spcAft>
              <a:buFontTx/>
              <a:buNone/>
            </a:pPr>
            <a:r>
              <a:rPr sz="1500" b="0">
                <a:solidFill>
                  <a:srgbClr val="B8B8C4"/>
                </a:solidFill>
                <a:latin typeface="맑은 고딕" charset="0"/>
              </a:rPr>
              <a:t>▸  Presentation 폴더에 본인 발표자료(pptx)를 그대로 올려주시면 됩니다</a:t>
            </a:r>
            <a:endParaRPr lang="ko-KR" altLang="en-US" sz="1500" b="0">
              <a:solidFill>
                <a:srgbClr val="B8B8C4"/>
              </a:solidFill>
              <a:latin typeface="맑은 고딕" charset="0"/>
            </a:endParaRPr>
          </a:p>
          <a:p>
            <a:pPr marL="0" indent="0" algn="l">
              <a:lnSpc>
                <a:spcPct val="120000"/>
              </a:lnSpc>
              <a:spcAft>
                <a:spcPts val="864"/>
              </a:spcAft>
              <a:buFontTx/>
              <a:buNone/>
            </a:pPr>
            <a:r>
              <a:rPr sz="1500" b="0">
                <a:solidFill>
                  <a:srgbClr val="B8B8C4"/>
                </a:solidFill>
                <a:latin typeface="맑은 고딕" charset="0"/>
              </a:rPr>
              <a:t>▸  매월 진행한 내용을 각자 파일로 남겨 팀 전체가 </a:t>
            </a:r>
            <a:r>
              <a:rPr sz="1500" b="0">
                <a:solidFill>
                  <a:srgbClr val="B8B8C4"/>
                </a:solidFill>
                <a:latin typeface="맑은 고딕" charset="0"/>
              </a:rPr>
              <a:t>사</a:t>
            </a:r>
            <a:r>
              <a:rPr lang="ko-KR" sz="1500" b="0">
                <a:solidFill>
                  <a:srgbClr val="B8B8C4"/>
                </a:solidFill>
                <a:latin typeface="맑은 고딕" charset="0"/>
              </a:rPr>
              <a:t>용 </a:t>
            </a:r>
            <a:r>
              <a:rPr lang="ko-KR" sz="1500" b="0">
                <a:solidFill>
                  <a:srgbClr val="B8B8C4"/>
                </a:solidFill>
                <a:latin typeface="맑은 고딕" charset="0"/>
              </a:rPr>
              <a:t>예제</a:t>
            </a:r>
            <a:r>
              <a:rPr lang="ko-KR" sz="1500" b="0">
                <a:solidFill>
                  <a:srgbClr val="B8B8C4"/>
                </a:solidFill>
                <a:latin typeface="맑은 고딕" charset="0"/>
              </a:rPr>
              <a:t>를</a:t>
            </a:r>
            <a:r>
              <a:rPr sz="1500" b="0">
                <a:solidFill>
                  <a:srgbClr val="B8B8C4"/>
                </a:solidFill>
                <a:latin typeface="맑은 고딕" charset="0"/>
              </a:rPr>
              <a:t> 함께 볼 수 있습니다</a:t>
            </a:r>
            <a:endParaRPr lang="ko-KR" altLang="en-US" sz="1500" b="0">
              <a:solidFill>
                <a:srgbClr val="B8B8C4"/>
              </a:solidFill>
              <a:latin typeface="맑은 고딕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085" y="1920240"/>
            <a:ext cx="5057140" cy="42062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Polaris Office Slide</Application>
  <AppVersion>12.000</AppVersion>
  <Characters>0</Characters>
  <CharactersWithSpaces>0</CharactersWithSpaces>
  <DocSecurity>0</DocSecurity>
  <HyperlinksChanged>false</HyperlinksChanged>
  <Lines>0</Lines>
  <LinksUpToDate>false</LinksUpToDate>
  <Pages>17</Pages>
  <Paragraphs>0</Paragraphs>
  <Words>0</Words>
  <TotalTime>0</TotalTime>
  <MMClips>0</MMClips>
  <ScaleCrop>false</ScaleCrop>
  <HeadingPairs>
    <vt:vector size="2" baseType="variant">
      <vt:variant>
        <vt:lpstr>Title</vt:lpstr>
      </vt:variant>
      <vt:variant>
        <vt:i4>1</vt:i4>
      </vt:variant>
    </vt:vector>
  </HeadingPairs>
  <TitlesOfParts>
    <vt:vector size="1" baseType="lpstr">
      <vt:lpstr>Title text</vt:lpstr>
    </vt:vector>
  </TitlesOfPart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cp:lastModifiedBy>설정훈</cp:lastModifiedBy>
  <cp:version>10.105.267.55260</cp:version>
  <dcterms:modified xsi:type="dcterms:W3CDTF">2013-01-27T09:15:58Z</dcterms:modified>
</cp:coreProperties>
</file>