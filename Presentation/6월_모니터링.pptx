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embeddedFontLst>
    <p:embeddedFont>
      <p:font typeface="Poppins"/>
      <p:regular r:id="rId25"/>
      <p:bold r:id="rId26"/>
      <p:italic r:id="rId27"/>
      <p:boldItalic r:id="rId28"/>
    </p:embeddedFont>
    <p:embeddedFont>
      <p:font typeface="Lat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3" roundtripDataSignature="AMtx7mi3QbUm580ME6Ews+H3V0Prw689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bold.fntdata"/><Relationship Id="rId25" Type="http://schemas.openxmlformats.org/officeDocument/2006/relationships/font" Target="fonts/Poppins-regular.fntdata"/><Relationship Id="rId28" Type="http://schemas.openxmlformats.org/officeDocument/2006/relationships/font" Target="fonts/Poppins-boldItalic.fntdata"/><Relationship Id="rId27" Type="http://schemas.openxmlformats.org/officeDocument/2006/relationships/font" Target="fonts/Poppi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italic.fntdata"/><Relationship Id="rId30" Type="http://schemas.openxmlformats.org/officeDocument/2006/relationships/font" Target="fonts/Lato-bold.fntdata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332982"/>
            <a:ext cx="10668000" cy="75426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/>
          <p:nvPr/>
        </p:nvSpPr>
        <p:spPr>
          <a:xfrm>
            <a:off x="762000" y="1770757"/>
            <a:ext cx="1428750" cy="9525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495300" y="1860000"/>
            <a:ext cx="112014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BC00"/>
              </a:buClr>
              <a:buSzPts val="4200"/>
              <a:buFont typeface="Poppins"/>
              <a:buNone/>
            </a:pPr>
            <a:r>
              <a:rPr b="1" lang="en-US" sz="6900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모니터링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762000" y="3880000"/>
            <a:ext cx="10668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800"/>
              <a:buFont typeface="Poppins"/>
              <a:buNone/>
            </a:pPr>
            <a:r>
              <a:rPr b="1" i="0" lang="en-US" sz="18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Spring Boot 서비스 모니터링 구축 — 메트릭 수집부터 대시보드까지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762000" y="4180000"/>
            <a:ext cx="10668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Lato"/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Actuator · Prometheus · Grafana · Docker Compose · 커스텀 메트릭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333500" y="4523482"/>
            <a:ext cx="952500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2100"/>
              <a:buFont typeface="Poppins"/>
              <a:buNone/>
            </a:pPr>
            <a:r>
              <a:rPr b="1" i="0" lang="en-US" sz="21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발표자: 설정훈 과장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3150"/>
              <a:buFont typeface="Poppins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목차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762000" y="1480000"/>
            <a:ext cx="2700000" cy="105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762000" y="1480000"/>
            <a:ext cx="320000" cy="10500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822000" y="1780000"/>
            <a:ext cx="22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oppin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1142000" y="1640000"/>
            <a:ext cx="227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왜 모니터링이 필요한가?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1142000" y="1940000"/>
            <a:ext cx="227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Lato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장애 대응 · 가시화 필요성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3562000" y="1480000"/>
            <a:ext cx="2700000" cy="105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3562000" y="1480000"/>
            <a:ext cx="320000" cy="10500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3622000" y="1780000"/>
            <a:ext cx="22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oppin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3942000" y="1640000"/>
            <a:ext cx="227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모니터링 4대 지표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3942000" y="1940000"/>
            <a:ext cx="227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Lato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Latency · Traffic · Errors · Saturation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6362000" y="1480000"/>
            <a:ext cx="2700000" cy="105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6362000" y="1480000"/>
            <a:ext cx="320000" cy="105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6422000" y="1780000"/>
            <a:ext cx="22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oppin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6742000" y="1640000"/>
            <a:ext cx="227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모니터링 아키텍처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6742000" y="1940000"/>
            <a:ext cx="227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Lato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Actuator → Prometheus → Grafana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9162000" y="1480000"/>
            <a:ext cx="2700000" cy="105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9162000" y="1480000"/>
            <a:ext cx="320000" cy="105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9222000" y="1780000"/>
            <a:ext cx="22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oppin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9542000" y="1640000"/>
            <a:ext cx="227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Spring Actuator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9542000" y="1940000"/>
            <a:ext cx="227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Lato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엔드포인트 · 메트릭 · 설정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762000" y="2650000"/>
            <a:ext cx="2700000" cy="105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762000" y="2650000"/>
            <a:ext cx="320000" cy="105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822000" y="2950000"/>
            <a:ext cx="22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oppin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1142000" y="2810000"/>
            <a:ext cx="227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Prometheus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1142000" y="3110000"/>
            <a:ext cx="227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Lato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Pull 방식 · PromQL · 설정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3562000" y="2650000"/>
            <a:ext cx="2700000" cy="105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3562000" y="2650000"/>
            <a:ext cx="320000" cy="105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3622000" y="2950000"/>
            <a:ext cx="22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oppin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3942000" y="2810000"/>
            <a:ext cx="227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Grafana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3942000" y="3110000"/>
            <a:ext cx="227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Lato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대시보드 · 알림 · Import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6362000" y="2650000"/>
            <a:ext cx="2700000" cy="105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6362000" y="2650000"/>
            <a:ext cx="320000" cy="10500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6422000" y="2950000"/>
            <a:ext cx="22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oppin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6742000" y="2810000"/>
            <a:ext cx="227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Docker Compose 구축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 txBox="1"/>
          <p:nvPr/>
        </p:nvSpPr>
        <p:spPr>
          <a:xfrm>
            <a:off x="6742000" y="3110000"/>
            <a:ext cx="227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Lato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전체 스택 한 번에 실행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9162000" y="2650000"/>
            <a:ext cx="2700000" cy="105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"/>
          <p:cNvSpPr/>
          <p:nvPr/>
        </p:nvSpPr>
        <p:spPr>
          <a:xfrm>
            <a:off x="9162000" y="2650000"/>
            <a:ext cx="320000" cy="10500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"/>
          <p:cNvSpPr txBox="1"/>
          <p:nvPr/>
        </p:nvSpPr>
        <p:spPr>
          <a:xfrm>
            <a:off x="9222000" y="2950000"/>
            <a:ext cx="22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oppin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"/>
          <p:cNvSpPr txBox="1"/>
          <p:nvPr/>
        </p:nvSpPr>
        <p:spPr>
          <a:xfrm>
            <a:off x="9542000" y="2810000"/>
            <a:ext cx="227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커스텀 메트릭 &amp; 실무 팁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"/>
          <p:cNvSpPr txBox="1"/>
          <p:nvPr/>
        </p:nvSpPr>
        <p:spPr>
          <a:xfrm>
            <a:off x="9542000" y="3110000"/>
            <a:ext cx="227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Lato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@Timed · MeterRegistry · 보안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"/>
          <p:cNvSpPr/>
          <p:nvPr/>
        </p:nvSpPr>
        <p:spPr>
          <a:xfrm>
            <a:off x="762000" y="3820000"/>
            <a:ext cx="10668000" cy="60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"/>
          <p:cNvSpPr txBox="1"/>
          <p:nvPr/>
        </p:nvSpPr>
        <p:spPr>
          <a:xfrm>
            <a:off x="762000" y="3900000"/>
            <a:ext cx="10668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총 16슬라이드  |  Spring Boot 3.x 기준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3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3150"/>
              <a:buFont typeface="Poppins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01  왜 모니터링이 필요한가?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 txBox="1"/>
          <p:nvPr/>
        </p:nvSpPr>
        <p:spPr>
          <a:xfrm>
            <a:off x="952500" y="1220000"/>
            <a:ext cx="11001375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Lato"/>
              <a:buNone/>
            </a:pPr>
            <a:r>
              <a:rPr b="0" i="0" lang="en-US" sz="16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장애는 언제나 예고 없이 옵니다 — 보기 전까지는 아무도 모릅니다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762000" y="1620000"/>
            <a:ext cx="5300000" cy="4750000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762000" y="1620000"/>
            <a:ext cx="5300000" cy="800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900000" y="1680000"/>
            <a:ext cx="51000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800"/>
              <a:buFont typeface="Poppins"/>
              <a:buNone/>
            </a:pPr>
            <a:r>
              <a:rPr b="1" i="0" lang="en-US" sz="1800" u="none" cap="none" strike="noStrike">
                <a:solidFill>
                  <a:srgbClr val="DC2626"/>
                </a:solidFill>
                <a:latin typeface="Poppins"/>
                <a:ea typeface="Poppins"/>
                <a:cs typeface="Poppins"/>
                <a:sym typeface="Poppins"/>
              </a:rPr>
              <a:t>❌  모니터링 없을 때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900000" y="2230000"/>
            <a:ext cx="70000" cy="7000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 txBox="1"/>
          <p:nvPr/>
        </p:nvSpPr>
        <p:spPr>
          <a:xfrm>
            <a:off x="1040000" y="2140000"/>
            <a:ext cx="497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CPU 100% 폭주 — 원인 파악에 수 시간 소요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900000" y="2540000"/>
            <a:ext cx="70000" cy="7000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 txBox="1"/>
          <p:nvPr/>
        </p:nvSpPr>
        <p:spPr>
          <a:xfrm>
            <a:off x="1040000" y="2450000"/>
            <a:ext cx="497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메모리 누수 — 재시작 전까지 감지 불가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900000" y="2850000"/>
            <a:ext cx="70000" cy="7000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 txBox="1"/>
          <p:nvPr/>
        </p:nvSpPr>
        <p:spPr>
          <a:xfrm>
            <a:off x="1040000" y="2760000"/>
            <a:ext cx="497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DB 커넥션 고갈 — 로그만으론 추적 어려움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900000" y="3160000"/>
            <a:ext cx="70000" cy="7000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 txBox="1"/>
          <p:nvPr/>
        </p:nvSpPr>
        <p:spPr>
          <a:xfrm>
            <a:off x="1040000" y="3070000"/>
            <a:ext cx="497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API 응답 지연 — 사용자 신고 후에야 인지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900000" y="3470000"/>
            <a:ext cx="70000" cy="7000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"/>
          <p:cNvSpPr txBox="1"/>
          <p:nvPr/>
        </p:nvSpPr>
        <p:spPr>
          <a:xfrm>
            <a:off x="1040000" y="3380000"/>
            <a:ext cx="497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JVM GC 과다 발생 — 내부 상태 불투명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900000" y="3780000"/>
            <a:ext cx="70000" cy="7000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 txBox="1"/>
          <p:nvPr/>
        </p:nvSpPr>
        <p:spPr>
          <a:xfrm>
            <a:off x="1040000" y="3690000"/>
            <a:ext cx="497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디스크 부족 — 임박해서야 알림 수신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/>
          <p:nvPr/>
        </p:nvSpPr>
        <p:spPr>
          <a:xfrm>
            <a:off x="900000" y="4090000"/>
            <a:ext cx="70000" cy="7000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 txBox="1"/>
          <p:nvPr/>
        </p:nvSpPr>
        <p:spPr>
          <a:xfrm>
            <a:off x="1040000" y="4000000"/>
            <a:ext cx="497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배포 후 성능 저하 — 비교 기준 없음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6630000" y="1620000"/>
            <a:ext cx="5300000" cy="4750000"/>
          </a:xfrm>
          <a:prstGeom prst="rect">
            <a:avLst/>
          </a:prstGeom>
          <a:solidFill>
            <a:srgbClr val="DCFCE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6630000" y="1620000"/>
            <a:ext cx="5300000" cy="8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"/>
          <p:cNvSpPr txBox="1"/>
          <p:nvPr/>
        </p:nvSpPr>
        <p:spPr>
          <a:xfrm>
            <a:off x="6770000" y="1680000"/>
            <a:ext cx="51000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800"/>
              <a:buFont typeface="Poppins"/>
              <a:buNone/>
            </a:pPr>
            <a:r>
              <a:rPr b="1" i="0" lang="en-US" sz="1800" u="none" cap="none" strike="noStrike">
                <a:solidFill>
                  <a:srgbClr val="16A34A"/>
                </a:solidFill>
                <a:latin typeface="Poppins"/>
                <a:ea typeface="Poppins"/>
                <a:cs typeface="Poppins"/>
                <a:sym typeface="Poppins"/>
              </a:rPr>
              <a:t>✅  모니터링 도입 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3"/>
          <p:cNvSpPr/>
          <p:nvPr/>
        </p:nvSpPr>
        <p:spPr>
          <a:xfrm>
            <a:off x="6770000" y="2230000"/>
            <a:ext cx="70000" cy="7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"/>
          <p:cNvSpPr txBox="1"/>
          <p:nvPr/>
        </p:nvSpPr>
        <p:spPr>
          <a:xfrm>
            <a:off x="6910000" y="2140000"/>
            <a:ext cx="497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실시간 CPU·메모리·디스크 그래프 확인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3"/>
          <p:cNvSpPr/>
          <p:nvPr/>
        </p:nvSpPr>
        <p:spPr>
          <a:xfrm>
            <a:off x="6770000" y="2540000"/>
            <a:ext cx="70000" cy="7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"/>
          <p:cNvSpPr txBox="1"/>
          <p:nvPr/>
        </p:nvSpPr>
        <p:spPr>
          <a:xfrm>
            <a:off x="6910000" y="2450000"/>
            <a:ext cx="497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메모리 증가 추세 → 누수 조기 감지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3"/>
          <p:cNvSpPr/>
          <p:nvPr/>
        </p:nvSpPr>
        <p:spPr>
          <a:xfrm>
            <a:off x="6770000" y="2850000"/>
            <a:ext cx="70000" cy="7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3"/>
          <p:cNvSpPr txBox="1"/>
          <p:nvPr/>
        </p:nvSpPr>
        <p:spPr>
          <a:xfrm>
            <a:off x="6910000" y="2760000"/>
            <a:ext cx="497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DB 커넥션 풀 현황 → 임계값 알림 자동화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3"/>
          <p:cNvSpPr/>
          <p:nvPr/>
        </p:nvSpPr>
        <p:spPr>
          <a:xfrm>
            <a:off x="6770000" y="3160000"/>
            <a:ext cx="70000" cy="7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"/>
          <p:cNvSpPr txBox="1"/>
          <p:nvPr/>
        </p:nvSpPr>
        <p:spPr>
          <a:xfrm>
            <a:off x="6910000" y="3070000"/>
            <a:ext cx="497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API별 응답시간 P95/P99 추적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"/>
          <p:cNvSpPr/>
          <p:nvPr/>
        </p:nvSpPr>
        <p:spPr>
          <a:xfrm>
            <a:off x="6770000" y="3470000"/>
            <a:ext cx="70000" cy="7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3"/>
          <p:cNvSpPr txBox="1"/>
          <p:nvPr/>
        </p:nvSpPr>
        <p:spPr>
          <a:xfrm>
            <a:off x="6910000" y="3380000"/>
            <a:ext cx="497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JVM GC pause time 시각화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3"/>
          <p:cNvSpPr/>
          <p:nvPr/>
        </p:nvSpPr>
        <p:spPr>
          <a:xfrm>
            <a:off x="6770000" y="3780000"/>
            <a:ext cx="70000" cy="7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"/>
          <p:cNvSpPr txBox="1"/>
          <p:nvPr/>
        </p:nvSpPr>
        <p:spPr>
          <a:xfrm>
            <a:off x="6910000" y="3690000"/>
            <a:ext cx="497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디스크 사용률 예측 → 사전 대응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"/>
          <p:cNvSpPr/>
          <p:nvPr/>
        </p:nvSpPr>
        <p:spPr>
          <a:xfrm>
            <a:off x="6770000" y="4090000"/>
            <a:ext cx="70000" cy="7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3"/>
          <p:cNvSpPr txBox="1"/>
          <p:nvPr/>
        </p:nvSpPr>
        <p:spPr>
          <a:xfrm>
            <a:off x="6910000" y="4000000"/>
            <a:ext cx="497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배포 전후 성능 비교 대시보드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3"/>
          <p:cNvSpPr/>
          <p:nvPr/>
        </p:nvSpPr>
        <p:spPr>
          <a:xfrm>
            <a:off x="762000" y="6500000"/>
            <a:ext cx="10668000" cy="80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3"/>
          <p:cNvSpPr txBox="1"/>
          <p:nvPr/>
        </p:nvSpPr>
        <p:spPr>
          <a:xfrm>
            <a:off x="762000" y="6560000"/>
            <a:ext cx="10668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BC00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FFBC00"/>
                </a:solidFill>
                <a:latin typeface="Poppins"/>
                <a:ea typeface="Poppins"/>
                <a:cs typeface="Poppins"/>
                <a:sym typeface="Poppins"/>
              </a:rPr>
              <a:t>💡  </a:t>
            </a:r>
            <a:r>
              <a:rPr b="1" i="0" lang="en-US" sz="13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"측정할 수 없으면 개선할 수 없다"  </a:t>
            </a:r>
            <a:r>
              <a:rPr b="0" i="0" lang="en-US" sz="13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— Peter Drucker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4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3150"/>
              <a:buFont typeface="Poppins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02  모니터링 4대 지표 (Google SRE Golden Signals)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 txBox="1"/>
          <p:nvPr/>
        </p:nvSpPr>
        <p:spPr>
          <a:xfrm>
            <a:off x="952500" y="1220000"/>
            <a:ext cx="11001375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Google SRE 팀이 정의한 4가지 핵심 모니터링 지표 — 이 4가지만 봐도 서비스 상태를 파악할 수 있습니다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762000" y="1650000"/>
            <a:ext cx="2670000" cy="4900000"/>
          </a:xfrm>
          <a:prstGeom prst="rect">
            <a:avLst/>
          </a:prstGeom>
          <a:solidFill>
            <a:srgbClr val="DBEA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/>
          <p:nvPr/>
        </p:nvSpPr>
        <p:spPr>
          <a:xfrm>
            <a:off x="762000" y="1650000"/>
            <a:ext cx="2670000" cy="8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"/>
          <p:cNvSpPr txBox="1"/>
          <p:nvPr/>
        </p:nvSpPr>
        <p:spPr>
          <a:xfrm>
            <a:off x="853440" y="1710000"/>
            <a:ext cx="26700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000"/>
              <a:buFont typeface="Poppins"/>
              <a:buNone/>
            </a:pPr>
            <a:r>
              <a:rPr b="1" i="0" lang="en-US" sz="30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⚡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 txBox="1"/>
          <p:nvPr/>
        </p:nvSpPr>
        <p:spPr>
          <a:xfrm>
            <a:off x="853440" y="2140000"/>
            <a:ext cx="248712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800"/>
              <a:buFont typeface="Poppins"/>
              <a:buNone/>
            </a:pPr>
            <a:r>
              <a:rPr b="1" i="0" lang="en-US" sz="18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Latency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4"/>
          <p:cNvSpPr txBox="1"/>
          <p:nvPr/>
        </p:nvSpPr>
        <p:spPr>
          <a:xfrm>
            <a:off x="853440" y="2420000"/>
            <a:ext cx="248712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응답 시간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"/>
          <p:cNvSpPr/>
          <p:nvPr/>
        </p:nvSpPr>
        <p:spPr>
          <a:xfrm>
            <a:off x="853440" y="2700000"/>
            <a:ext cx="2487120" cy="6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892000" y="2890000"/>
            <a:ext cx="60000" cy="6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4"/>
          <p:cNvSpPr txBox="1"/>
          <p:nvPr/>
        </p:nvSpPr>
        <p:spPr>
          <a:xfrm>
            <a:off x="1022000" y="2800000"/>
            <a:ext cx="232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Lato"/>
              <a:buNone/>
            </a:pPr>
            <a:r>
              <a:rPr b="0" i="0" lang="en-US" sz="12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API 요청 처리에 걸리는 시간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4"/>
          <p:cNvSpPr/>
          <p:nvPr/>
        </p:nvSpPr>
        <p:spPr>
          <a:xfrm>
            <a:off x="892000" y="3180000"/>
            <a:ext cx="60000" cy="6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4"/>
          <p:cNvSpPr txBox="1"/>
          <p:nvPr/>
        </p:nvSpPr>
        <p:spPr>
          <a:xfrm>
            <a:off x="1022000" y="3090000"/>
            <a:ext cx="232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Lato"/>
              <a:buNone/>
            </a:pPr>
            <a:r>
              <a:rPr b="0" i="0" lang="en-US" sz="12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P50 / P95 / P99 기준 측정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4"/>
          <p:cNvSpPr/>
          <p:nvPr/>
        </p:nvSpPr>
        <p:spPr>
          <a:xfrm>
            <a:off x="892000" y="3470000"/>
            <a:ext cx="60000" cy="6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4"/>
          <p:cNvSpPr txBox="1"/>
          <p:nvPr/>
        </p:nvSpPr>
        <p:spPr>
          <a:xfrm>
            <a:off x="1022000" y="3380000"/>
            <a:ext cx="232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Lato"/>
              <a:buNone/>
            </a:pPr>
            <a:r>
              <a:rPr b="0" i="0" lang="en-US" sz="12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성공 vs 실패 응답 구분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4"/>
          <p:cNvSpPr/>
          <p:nvPr/>
        </p:nvSpPr>
        <p:spPr>
          <a:xfrm>
            <a:off x="892000" y="3760000"/>
            <a:ext cx="60000" cy="6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4"/>
          <p:cNvSpPr txBox="1"/>
          <p:nvPr/>
        </p:nvSpPr>
        <p:spPr>
          <a:xfrm>
            <a:off x="1022000" y="3670000"/>
            <a:ext cx="232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Lato"/>
              <a:buNone/>
            </a:pPr>
            <a:r>
              <a:rPr b="0" i="0" lang="en-US" sz="12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목표: P99 &lt; 500ms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3512000" y="1650000"/>
            <a:ext cx="2670000" cy="4900000"/>
          </a:xfrm>
          <a:prstGeom prst="rect">
            <a:avLst/>
          </a:prstGeom>
          <a:solidFill>
            <a:srgbClr val="DCFCE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4"/>
          <p:cNvSpPr/>
          <p:nvPr/>
        </p:nvSpPr>
        <p:spPr>
          <a:xfrm>
            <a:off x="3512000" y="1650000"/>
            <a:ext cx="2670000" cy="8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4"/>
          <p:cNvSpPr txBox="1"/>
          <p:nvPr/>
        </p:nvSpPr>
        <p:spPr>
          <a:xfrm>
            <a:off x="3603440" y="1710000"/>
            <a:ext cx="26700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3000"/>
              <a:buFont typeface="Poppins"/>
              <a:buNone/>
            </a:pPr>
            <a:r>
              <a:rPr b="1" i="0" lang="en-US" sz="3000" u="none" cap="none" strike="noStrike">
                <a:solidFill>
                  <a:srgbClr val="16A34A"/>
                </a:solidFill>
                <a:latin typeface="Poppins"/>
                <a:ea typeface="Poppins"/>
                <a:cs typeface="Poppins"/>
                <a:sym typeface="Poppins"/>
              </a:rPr>
              <a:t>📊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4"/>
          <p:cNvSpPr txBox="1"/>
          <p:nvPr/>
        </p:nvSpPr>
        <p:spPr>
          <a:xfrm>
            <a:off x="3603440" y="2140000"/>
            <a:ext cx="248712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800"/>
              <a:buFont typeface="Poppins"/>
              <a:buNone/>
            </a:pPr>
            <a:r>
              <a:rPr b="1" i="0" lang="en-US" sz="18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Traffic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4"/>
          <p:cNvSpPr txBox="1"/>
          <p:nvPr/>
        </p:nvSpPr>
        <p:spPr>
          <a:xfrm>
            <a:off x="3603440" y="2420000"/>
            <a:ext cx="248712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트래픽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4"/>
          <p:cNvSpPr/>
          <p:nvPr/>
        </p:nvSpPr>
        <p:spPr>
          <a:xfrm>
            <a:off x="3603440" y="2700000"/>
            <a:ext cx="2487120" cy="6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4"/>
          <p:cNvSpPr/>
          <p:nvPr/>
        </p:nvSpPr>
        <p:spPr>
          <a:xfrm>
            <a:off x="3642000" y="2890000"/>
            <a:ext cx="60000" cy="6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4"/>
          <p:cNvSpPr txBox="1"/>
          <p:nvPr/>
        </p:nvSpPr>
        <p:spPr>
          <a:xfrm>
            <a:off x="3772000" y="2800000"/>
            <a:ext cx="232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Lato"/>
              <a:buNone/>
            </a:pPr>
            <a:r>
              <a:rPr b="0" i="0" lang="en-US" sz="12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초당 요청 수 (RPS)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4"/>
          <p:cNvSpPr/>
          <p:nvPr/>
        </p:nvSpPr>
        <p:spPr>
          <a:xfrm>
            <a:off x="3642000" y="3180000"/>
            <a:ext cx="60000" cy="6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4"/>
          <p:cNvSpPr txBox="1"/>
          <p:nvPr/>
        </p:nvSpPr>
        <p:spPr>
          <a:xfrm>
            <a:off x="3772000" y="3090000"/>
            <a:ext cx="232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Lato"/>
              <a:buNone/>
            </a:pPr>
            <a:r>
              <a:rPr b="0" i="0" lang="en-US" sz="12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사용자 활동량 지표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4"/>
          <p:cNvSpPr/>
          <p:nvPr/>
        </p:nvSpPr>
        <p:spPr>
          <a:xfrm>
            <a:off x="3642000" y="3470000"/>
            <a:ext cx="60000" cy="6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4"/>
          <p:cNvSpPr txBox="1"/>
          <p:nvPr/>
        </p:nvSpPr>
        <p:spPr>
          <a:xfrm>
            <a:off x="3772000" y="3380000"/>
            <a:ext cx="232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Lato"/>
              <a:buNone/>
            </a:pPr>
            <a:r>
              <a:rPr b="0" i="0" lang="en-US" sz="12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피크 시간대 패턴 분석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4"/>
          <p:cNvSpPr/>
          <p:nvPr/>
        </p:nvSpPr>
        <p:spPr>
          <a:xfrm>
            <a:off x="3642000" y="3760000"/>
            <a:ext cx="60000" cy="6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4"/>
          <p:cNvSpPr txBox="1"/>
          <p:nvPr/>
        </p:nvSpPr>
        <p:spPr>
          <a:xfrm>
            <a:off x="3772000" y="3670000"/>
            <a:ext cx="232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Lato"/>
              <a:buNone/>
            </a:pPr>
            <a:r>
              <a:rPr b="0" i="0" lang="en-US" sz="12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목표: 정상 패턴 벗어나면 알림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4"/>
          <p:cNvSpPr/>
          <p:nvPr/>
        </p:nvSpPr>
        <p:spPr>
          <a:xfrm>
            <a:off x="6262000" y="1650000"/>
            <a:ext cx="2670000" cy="4900000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4"/>
          <p:cNvSpPr/>
          <p:nvPr/>
        </p:nvSpPr>
        <p:spPr>
          <a:xfrm>
            <a:off x="6262000" y="1650000"/>
            <a:ext cx="2670000" cy="800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4"/>
          <p:cNvSpPr txBox="1"/>
          <p:nvPr/>
        </p:nvSpPr>
        <p:spPr>
          <a:xfrm>
            <a:off x="6353440" y="1710000"/>
            <a:ext cx="26700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3000"/>
              <a:buFont typeface="Poppins"/>
              <a:buNone/>
            </a:pPr>
            <a:r>
              <a:rPr b="1" i="0" lang="en-US" sz="3000" u="none" cap="none" strike="noStrike">
                <a:solidFill>
                  <a:srgbClr val="DC2626"/>
                </a:solidFill>
                <a:latin typeface="Poppins"/>
                <a:ea typeface="Poppins"/>
                <a:cs typeface="Poppins"/>
                <a:sym typeface="Poppins"/>
              </a:rPr>
              <a:t>🔴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4"/>
          <p:cNvSpPr txBox="1"/>
          <p:nvPr/>
        </p:nvSpPr>
        <p:spPr>
          <a:xfrm>
            <a:off x="6353440" y="2140000"/>
            <a:ext cx="248712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800"/>
              <a:buFont typeface="Poppins"/>
              <a:buNone/>
            </a:pPr>
            <a:r>
              <a:rPr b="1" i="0" lang="en-US" sz="18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Errors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4"/>
          <p:cNvSpPr txBox="1"/>
          <p:nvPr/>
        </p:nvSpPr>
        <p:spPr>
          <a:xfrm>
            <a:off x="6353440" y="2420000"/>
            <a:ext cx="248712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오류율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4"/>
          <p:cNvSpPr/>
          <p:nvPr/>
        </p:nvSpPr>
        <p:spPr>
          <a:xfrm>
            <a:off x="6353440" y="2700000"/>
            <a:ext cx="2487120" cy="600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4"/>
          <p:cNvSpPr/>
          <p:nvPr/>
        </p:nvSpPr>
        <p:spPr>
          <a:xfrm>
            <a:off x="6392000" y="2890000"/>
            <a:ext cx="60000" cy="6000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4"/>
          <p:cNvSpPr txBox="1"/>
          <p:nvPr/>
        </p:nvSpPr>
        <p:spPr>
          <a:xfrm>
            <a:off x="6522000" y="2800000"/>
            <a:ext cx="232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Lato"/>
              <a:buNone/>
            </a:pPr>
            <a:r>
              <a:rPr b="0" i="0" lang="en-US" sz="12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HTTP 5xx 에러 비율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4"/>
          <p:cNvSpPr/>
          <p:nvPr/>
        </p:nvSpPr>
        <p:spPr>
          <a:xfrm>
            <a:off x="6392000" y="3180000"/>
            <a:ext cx="60000" cy="6000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4"/>
          <p:cNvSpPr txBox="1"/>
          <p:nvPr/>
        </p:nvSpPr>
        <p:spPr>
          <a:xfrm>
            <a:off x="6522000" y="3090000"/>
            <a:ext cx="232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Lato"/>
              <a:buNone/>
            </a:pPr>
            <a:r>
              <a:rPr b="0" i="0" lang="en-US" sz="12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명시적 실패 + 암묵적 실패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4"/>
          <p:cNvSpPr/>
          <p:nvPr/>
        </p:nvSpPr>
        <p:spPr>
          <a:xfrm>
            <a:off x="6392000" y="3470000"/>
            <a:ext cx="60000" cy="6000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4"/>
          <p:cNvSpPr txBox="1"/>
          <p:nvPr/>
        </p:nvSpPr>
        <p:spPr>
          <a:xfrm>
            <a:off x="6522000" y="3380000"/>
            <a:ext cx="232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Lato"/>
              <a:buNone/>
            </a:pPr>
            <a:r>
              <a:rPr b="0" i="0" lang="en-US" sz="12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비즈니스 로직 오류 포함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4"/>
          <p:cNvSpPr/>
          <p:nvPr/>
        </p:nvSpPr>
        <p:spPr>
          <a:xfrm>
            <a:off x="6392000" y="3760000"/>
            <a:ext cx="60000" cy="6000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4"/>
          <p:cNvSpPr txBox="1"/>
          <p:nvPr/>
        </p:nvSpPr>
        <p:spPr>
          <a:xfrm>
            <a:off x="6522000" y="3670000"/>
            <a:ext cx="232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Lato"/>
              <a:buNone/>
            </a:pPr>
            <a:r>
              <a:rPr b="0" i="0" lang="en-US" sz="12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목표: 에러율 &lt; 1%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4"/>
          <p:cNvSpPr/>
          <p:nvPr/>
        </p:nvSpPr>
        <p:spPr>
          <a:xfrm>
            <a:off x="9012000" y="1650000"/>
            <a:ext cx="2670000" cy="4900000"/>
          </a:xfrm>
          <a:prstGeom prst="rect">
            <a:avLst/>
          </a:prstGeom>
          <a:solidFill>
            <a:srgbClr val="FFEDD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4"/>
          <p:cNvSpPr/>
          <p:nvPr/>
        </p:nvSpPr>
        <p:spPr>
          <a:xfrm>
            <a:off x="9012000" y="1650000"/>
            <a:ext cx="2670000" cy="80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4"/>
          <p:cNvSpPr txBox="1"/>
          <p:nvPr/>
        </p:nvSpPr>
        <p:spPr>
          <a:xfrm>
            <a:off x="9103440" y="1710000"/>
            <a:ext cx="26700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3000"/>
              <a:buFont typeface="Poppins"/>
              <a:buNone/>
            </a:pPr>
            <a:r>
              <a:rPr b="1" i="0" lang="en-US" sz="3000" u="none" cap="none" strike="noStrike">
                <a:solidFill>
                  <a:srgbClr val="EA580C"/>
                </a:solidFill>
                <a:latin typeface="Poppins"/>
                <a:ea typeface="Poppins"/>
                <a:cs typeface="Poppins"/>
                <a:sym typeface="Poppins"/>
              </a:rPr>
              <a:t>💾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4"/>
          <p:cNvSpPr txBox="1"/>
          <p:nvPr/>
        </p:nvSpPr>
        <p:spPr>
          <a:xfrm>
            <a:off x="9103440" y="2140000"/>
            <a:ext cx="248712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800"/>
              <a:buFont typeface="Poppins"/>
              <a:buNone/>
            </a:pPr>
            <a:r>
              <a:rPr b="1" i="0" lang="en-US" sz="18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Saturation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4"/>
          <p:cNvSpPr txBox="1"/>
          <p:nvPr/>
        </p:nvSpPr>
        <p:spPr>
          <a:xfrm>
            <a:off x="9103440" y="2420000"/>
            <a:ext cx="248712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포화도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4"/>
          <p:cNvSpPr/>
          <p:nvPr/>
        </p:nvSpPr>
        <p:spPr>
          <a:xfrm>
            <a:off x="9103440" y="2700000"/>
            <a:ext cx="2487120" cy="60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4"/>
          <p:cNvSpPr/>
          <p:nvPr/>
        </p:nvSpPr>
        <p:spPr>
          <a:xfrm>
            <a:off x="9142000" y="2890000"/>
            <a:ext cx="60000" cy="600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4"/>
          <p:cNvSpPr txBox="1"/>
          <p:nvPr/>
        </p:nvSpPr>
        <p:spPr>
          <a:xfrm>
            <a:off x="9272000" y="2800000"/>
            <a:ext cx="232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Lato"/>
              <a:buNone/>
            </a:pPr>
            <a:r>
              <a:rPr b="0" i="0" lang="en-US" sz="12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자원 사용률 (CPU·메모리)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4"/>
          <p:cNvSpPr/>
          <p:nvPr/>
        </p:nvSpPr>
        <p:spPr>
          <a:xfrm>
            <a:off x="9142000" y="3180000"/>
            <a:ext cx="60000" cy="600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4"/>
          <p:cNvSpPr txBox="1"/>
          <p:nvPr/>
        </p:nvSpPr>
        <p:spPr>
          <a:xfrm>
            <a:off x="9272000" y="3090000"/>
            <a:ext cx="232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Lato"/>
              <a:buNone/>
            </a:pPr>
            <a:r>
              <a:rPr b="0" i="0" lang="en-US" sz="12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DB 커넥션 풀 사용률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4"/>
          <p:cNvSpPr/>
          <p:nvPr/>
        </p:nvSpPr>
        <p:spPr>
          <a:xfrm>
            <a:off x="9142000" y="3470000"/>
            <a:ext cx="60000" cy="600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4"/>
          <p:cNvSpPr txBox="1"/>
          <p:nvPr/>
        </p:nvSpPr>
        <p:spPr>
          <a:xfrm>
            <a:off x="9272000" y="3380000"/>
            <a:ext cx="232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Lato"/>
              <a:buNone/>
            </a:pPr>
            <a:r>
              <a:rPr b="0" i="0" lang="en-US" sz="12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큐 적체 수준 측정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4"/>
          <p:cNvSpPr/>
          <p:nvPr/>
        </p:nvSpPr>
        <p:spPr>
          <a:xfrm>
            <a:off x="9142000" y="3760000"/>
            <a:ext cx="60000" cy="600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4"/>
          <p:cNvSpPr txBox="1"/>
          <p:nvPr/>
        </p:nvSpPr>
        <p:spPr>
          <a:xfrm>
            <a:off x="9272000" y="3670000"/>
            <a:ext cx="232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Lato"/>
              <a:buNone/>
            </a:pPr>
            <a:r>
              <a:rPr b="0" i="0" lang="en-US" sz="12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목표: 사용률 &lt; 80%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4"/>
          <p:cNvSpPr/>
          <p:nvPr/>
        </p:nvSpPr>
        <p:spPr>
          <a:xfrm>
            <a:off x="762000" y="6650000"/>
            <a:ext cx="10668000" cy="80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4"/>
          <p:cNvSpPr txBox="1"/>
          <p:nvPr/>
        </p:nvSpPr>
        <p:spPr>
          <a:xfrm>
            <a:off x="762000" y="6700000"/>
            <a:ext cx="10668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Prometheus 메트릭 매핑: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Latency→http_server_requests_seconds  Traffic→http_server_requests_count  Errors→5xx_count  Saturation→jvm_memory_used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4" name="Google Shape;25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5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5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3150"/>
              <a:buFont typeface="Poppins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03  모니터링 아키텍처 전체 구조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5"/>
          <p:cNvSpPr txBox="1"/>
          <p:nvPr/>
        </p:nvSpPr>
        <p:spPr>
          <a:xfrm>
            <a:off x="952500" y="1220000"/>
            <a:ext cx="11001375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4단계 파이프라인 — Spring Boot에서 Grafana 대시보드까지 자동 데이터 흐름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5"/>
          <p:cNvSpPr/>
          <p:nvPr/>
        </p:nvSpPr>
        <p:spPr>
          <a:xfrm>
            <a:off x="762000" y="1660000"/>
            <a:ext cx="2500000" cy="360000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5"/>
          <p:cNvSpPr/>
          <p:nvPr/>
        </p:nvSpPr>
        <p:spPr>
          <a:xfrm>
            <a:off x="762000" y="1660000"/>
            <a:ext cx="2500000" cy="80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5"/>
          <p:cNvSpPr txBox="1"/>
          <p:nvPr/>
        </p:nvSpPr>
        <p:spPr>
          <a:xfrm>
            <a:off x="853440" y="1740000"/>
            <a:ext cx="2317120" cy="3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600"/>
              <a:buFont typeface="Poppins"/>
              <a:buNone/>
            </a:pPr>
            <a:r>
              <a:rPr b="1" i="0" lang="en-US" sz="2600" u="none" cap="none" strike="noStrike">
                <a:solidFill>
                  <a:srgbClr val="7C3AED"/>
                </a:solidFill>
                <a:latin typeface="Poppins"/>
                <a:ea typeface="Poppins"/>
                <a:cs typeface="Poppins"/>
                <a:sym typeface="Poppins"/>
              </a:rPr>
              <a:t>🟣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5"/>
          <p:cNvSpPr txBox="1"/>
          <p:nvPr/>
        </p:nvSpPr>
        <p:spPr>
          <a:xfrm>
            <a:off x="853440" y="2130000"/>
            <a:ext cx="2317120" cy="4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Spring Boot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Application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5"/>
          <p:cNvSpPr txBox="1"/>
          <p:nvPr/>
        </p:nvSpPr>
        <p:spPr>
          <a:xfrm>
            <a:off x="853440" y="2630000"/>
            <a:ext cx="2317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7C3AED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5"/>
          <p:cNvSpPr/>
          <p:nvPr/>
        </p:nvSpPr>
        <p:spPr>
          <a:xfrm>
            <a:off x="853440" y="2920000"/>
            <a:ext cx="2317120" cy="60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5"/>
          <p:cNvSpPr txBox="1"/>
          <p:nvPr/>
        </p:nvSpPr>
        <p:spPr>
          <a:xfrm>
            <a:off x="902000" y="3010000"/>
            <a:ext cx="222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Lato"/>
              <a:buNone/>
            </a:pPr>
            <a:r>
              <a:rPr b="0" i="0" lang="en-US" sz="12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비즈니스 로직 실행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5"/>
          <p:cNvSpPr txBox="1"/>
          <p:nvPr/>
        </p:nvSpPr>
        <p:spPr>
          <a:xfrm>
            <a:off x="902000" y="3290000"/>
            <a:ext cx="222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Lato"/>
              <a:buNone/>
            </a:pPr>
            <a:r>
              <a:rPr b="0" i="0" lang="en-US" sz="12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Micrometer 자동 수집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5"/>
          <p:cNvSpPr txBox="1"/>
          <p:nvPr/>
        </p:nvSpPr>
        <p:spPr>
          <a:xfrm>
            <a:off x="902000" y="3570000"/>
            <a:ext cx="222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Lato"/>
              <a:buNone/>
            </a:pPr>
            <a:r>
              <a:rPr b="0" i="0" lang="en-US" sz="12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메트릭 생성·관리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5"/>
          <p:cNvSpPr txBox="1"/>
          <p:nvPr/>
        </p:nvSpPr>
        <p:spPr>
          <a:xfrm>
            <a:off x="3232000" y="3320000"/>
            <a:ext cx="2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BC00"/>
              </a:buClr>
              <a:buSzPts val="2000"/>
              <a:buFont typeface="Poppins"/>
              <a:buNone/>
            </a:pPr>
            <a:r>
              <a:rPr b="1" i="0" lang="en-US" sz="2000" u="none" cap="none" strike="noStrike">
                <a:solidFill>
                  <a:srgbClr val="FFBC00"/>
                </a:solidFill>
                <a:latin typeface="Poppins"/>
                <a:ea typeface="Poppins"/>
                <a:cs typeface="Poppins"/>
                <a:sym typeface="Poppins"/>
              </a:rPr>
              <a:t>▶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5"/>
          <p:cNvSpPr/>
          <p:nvPr/>
        </p:nvSpPr>
        <p:spPr>
          <a:xfrm>
            <a:off x="3442000" y="1660000"/>
            <a:ext cx="2500000" cy="3600000"/>
          </a:xfrm>
          <a:prstGeom prst="rect">
            <a:avLst/>
          </a:prstGeom>
          <a:solidFill>
            <a:srgbClr val="DBEA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5"/>
          <p:cNvSpPr/>
          <p:nvPr/>
        </p:nvSpPr>
        <p:spPr>
          <a:xfrm>
            <a:off x="3442000" y="1660000"/>
            <a:ext cx="2500000" cy="8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5"/>
          <p:cNvSpPr txBox="1"/>
          <p:nvPr/>
        </p:nvSpPr>
        <p:spPr>
          <a:xfrm>
            <a:off x="3533440" y="1740000"/>
            <a:ext cx="2317120" cy="3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600"/>
              <a:buFont typeface="Poppins"/>
              <a:buNone/>
            </a:pPr>
            <a:r>
              <a:rPr b="1" i="0" lang="en-US" sz="26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📡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5"/>
          <p:cNvSpPr txBox="1"/>
          <p:nvPr/>
        </p:nvSpPr>
        <p:spPr>
          <a:xfrm>
            <a:off x="3533440" y="2130000"/>
            <a:ext cx="2317120" cy="4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Spring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Actuator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5"/>
          <p:cNvSpPr/>
          <p:nvPr/>
        </p:nvSpPr>
        <p:spPr>
          <a:xfrm>
            <a:off x="3533440" y="2920000"/>
            <a:ext cx="2317120" cy="6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5"/>
          <p:cNvSpPr txBox="1"/>
          <p:nvPr/>
        </p:nvSpPr>
        <p:spPr>
          <a:xfrm>
            <a:off x="3582000" y="3010000"/>
            <a:ext cx="222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Lato"/>
              <a:buNone/>
            </a:pPr>
            <a:r>
              <a:rPr b="0" i="0" lang="en-US" sz="12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/actuator/prometheus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5"/>
          <p:cNvSpPr txBox="1"/>
          <p:nvPr/>
        </p:nvSpPr>
        <p:spPr>
          <a:xfrm>
            <a:off x="3582000" y="3290000"/>
            <a:ext cx="222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Lato"/>
              <a:buNone/>
            </a:pPr>
            <a:r>
              <a:rPr b="0" i="0" lang="en-US" sz="12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HTTP 엔드포인트 노출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5"/>
          <p:cNvSpPr txBox="1"/>
          <p:nvPr/>
        </p:nvSpPr>
        <p:spPr>
          <a:xfrm>
            <a:off x="3582000" y="3570000"/>
            <a:ext cx="222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Lato"/>
              <a:buNone/>
            </a:pPr>
            <a:r>
              <a:rPr b="0" i="0" lang="en-US" sz="12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접근 권한 제어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5"/>
          <p:cNvSpPr txBox="1"/>
          <p:nvPr/>
        </p:nvSpPr>
        <p:spPr>
          <a:xfrm>
            <a:off x="5912000" y="3320000"/>
            <a:ext cx="2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BC00"/>
              </a:buClr>
              <a:buSzPts val="2000"/>
              <a:buFont typeface="Poppins"/>
              <a:buNone/>
            </a:pPr>
            <a:r>
              <a:rPr b="1" i="0" lang="en-US" sz="2000" u="none" cap="none" strike="noStrike">
                <a:solidFill>
                  <a:srgbClr val="FFBC00"/>
                </a:solidFill>
                <a:latin typeface="Poppins"/>
                <a:ea typeface="Poppins"/>
                <a:cs typeface="Poppins"/>
                <a:sym typeface="Poppins"/>
              </a:rPr>
              <a:t>▶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5"/>
          <p:cNvSpPr/>
          <p:nvPr/>
        </p:nvSpPr>
        <p:spPr>
          <a:xfrm>
            <a:off x="6122000" y="1660000"/>
            <a:ext cx="2500000" cy="3600000"/>
          </a:xfrm>
          <a:prstGeom prst="rect">
            <a:avLst/>
          </a:prstGeom>
          <a:solidFill>
            <a:srgbClr val="FFEDD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5"/>
          <p:cNvSpPr/>
          <p:nvPr/>
        </p:nvSpPr>
        <p:spPr>
          <a:xfrm>
            <a:off x="6122000" y="1660000"/>
            <a:ext cx="2500000" cy="80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5"/>
          <p:cNvSpPr txBox="1"/>
          <p:nvPr/>
        </p:nvSpPr>
        <p:spPr>
          <a:xfrm>
            <a:off x="6213440" y="1740000"/>
            <a:ext cx="2317120" cy="3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2600"/>
              <a:buFont typeface="Poppins"/>
              <a:buNone/>
            </a:pPr>
            <a:r>
              <a:rPr b="1" i="0" lang="en-US" sz="2600" u="none" cap="none" strike="noStrike">
                <a:solidFill>
                  <a:srgbClr val="EA580C"/>
                </a:solidFill>
                <a:latin typeface="Poppins"/>
                <a:ea typeface="Poppins"/>
                <a:cs typeface="Poppins"/>
                <a:sym typeface="Poppins"/>
              </a:rPr>
              <a:t>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5"/>
          <p:cNvSpPr txBox="1"/>
          <p:nvPr/>
        </p:nvSpPr>
        <p:spPr>
          <a:xfrm>
            <a:off x="6213440" y="2130000"/>
            <a:ext cx="2317120" cy="4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Prometheus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5"/>
          <p:cNvSpPr/>
          <p:nvPr/>
        </p:nvSpPr>
        <p:spPr>
          <a:xfrm>
            <a:off x="6213440" y="2920000"/>
            <a:ext cx="2317120" cy="60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5"/>
          <p:cNvSpPr txBox="1"/>
          <p:nvPr/>
        </p:nvSpPr>
        <p:spPr>
          <a:xfrm>
            <a:off x="6262000" y="3010000"/>
            <a:ext cx="222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Lato"/>
              <a:buNone/>
            </a:pPr>
            <a:r>
              <a:rPr b="0" i="0" lang="en-US" sz="12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15초마다 Pull 수집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5"/>
          <p:cNvSpPr txBox="1"/>
          <p:nvPr/>
        </p:nvSpPr>
        <p:spPr>
          <a:xfrm>
            <a:off x="6262000" y="3290000"/>
            <a:ext cx="222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Lato"/>
              <a:buNone/>
            </a:pPr>
            <a:r>
              <a:rPr b="0" i="0" lang="en-US" sz="12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Time-Series DB 저장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5"/>
          <p:cNvSpPr txBox="1"/>
          <p:nvPr/>
        </p:nvSpPr>
        <p:spPr>
          <a:xfrm>
            <a:off x="6262000" y="3570000"/>
            <a:ext cx="222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Lato"/>
              <a:buNone/>
            </a:pPr>
            <a:r>
              <a:rPr b="0" i="0" lang="en-US" sz="12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PromQL 쿼리 지원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5"/>
          <p:cNvSpPr txBox="1"/>
          <p:nvPr/>
        </p:nvSpPr>
        <p:spPr>
          <a:xfrm>
            <a:off x="8592000" y="3320000"/>
            <a:ext cx="2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BC00"/>
              </a:buClr>
              <a:buSzPts val="2000"/>
              <a:buFont typeface="Poppins"/>
              <a:buNone/>
            </a:pPr>
            <a:r>
              <a:rPr b="1" i="0" lang="en-US" sz="2000" u="none" cap="none" strike="noStrike">
                <a:solidFill>
                  <a:srgbClr val="FFBC00"/>
                </a:solidFill>
                <a:latin typeface="Poppins"/>
                <a:ea typeface="Poppins"/>
                <a:cs typeface="Poppins"/>
                <a:sym typeface="Poppins"/>
              </a:rPr>
              <a:t>▶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5"/>
          <p:cNvSpPr/>
          <p:nvPr/>
        </p:nvSpPr>
        <p:spPr>
          <a:xfrm>
            <a:off x="8802000" y="1660000"/>
            <a:ext cx="2500000" cy="3600000"/>
          </a:xfrm>
          <a:prstGeom prst="rect">
            <a:avLst/>
          </a:prstGeom>
          <a:solidFill>
            <a:srgbClr val="DCFCE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5"/>
          <p:cNvSpPr/>
          <p:nvPr/>
        </p:nvSpPr>
        <p:spPr>
          <a:xfrm>
            <a:off x="8802000" y="1660000"/>
            <a:ext cx="2500000" cy="8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5"/>
          <p:cNvSpPr txBox="1"/>
          <p:nvPr/>
        </p:nvSpPr>
        <p:spPr>
          <a:xfrm>
            <a:off x="8893440" y="1740000"/>
            <a:ext cx="2317120" cy="3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2600"/>
              <a:buFont typeface="Poppins"/>
              <a:buNone/>
            </a:pPr>
            <a:r>
              <a:rPr b="1" i="0" lang="en-US" sz="2600" u="none" cap="none" strike="noStrike">
                <a:solidFill>
                  <a:srgbClr val="16A34A"/>
                </a:solidFill>
                <a:latin typeface="Poppins"/>
                <a:ea typeface="Poppins"/>
                <a:cs typeface="Poppins"/>
                <a:sym typeface="Poppins"/>
              </a:rPr>
              <a:t>📊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5"/>
          <p:cNvSpPr txBox="1"/>
          <p:nvPr/>
        </p:nvSpPr>
        <p:spPr>
          <a:xfrm>
            <a:off x="8893440" y="2130000"/>
            <a:ext cx="2317120" cy="4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Grafana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5"/>
          <p:cNvSpPr/>
          <p:nvPr/>
        </p:nvSpPr>
        <p:spPr>
          <a:xfrm>
            <a:off x="8893440" y="2920000"/>
            <a:ext cx="2317120" cy="6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5"/>
          <p:cNvSpPr txBox="1"/>
          <p:nvPr/>
        </p:nvSpPr>
        <p:spPr>
          <a:xfrm>
            <a:off x="8942000" y="3010000"/>
            <a:ext cx="222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Lato"/>
              <a:buNone/>
            </a:pPr>
            <a:r>
              <a:rPr b="0" i="0" lang="en-US" sz="12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PromQL 쿼리 시각화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5"/>
          <p:cNvSpPr txBox="1"/>
          <p:nvPr/>
        </p:nvSpPr>
        <p:spPr>
          <a:xfrm>
            <a:off x="8942000" y="3290000"/>
            <a:ext cx="222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Lato"/>
              <a:buNone/>
            </a:pPr>
            <a:r>
              <a:rPr b="0" i="0" lang="en-US" sz="12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대시보드 · 알림 설정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5"/>
          <p:cNvSpPr txBox="1"/>
          <p:nvPr/>
        </p:nvSpPr>
        <p:spPr>
          <a:xfrm>
            <a:off x="8942000" y="3570000"/>
            <a:ext cx="222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Lato"/>
              <a:buNone/>
            </a:pPr>
            <a:r>
              <a:rPr b="0" i="0" lang="en-US" sz="12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팀 공유 대시보드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5"/>
          <p:cNvSpPr/>
          <p:nvPr/>
        </p:nvSpPr>
        <p:spPr>
          <a:xfrm>
            <a:off x="762000" y="5440000"/>
            <a:ext cx="10668000" cy="80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5"/>
          <p:cNvSpPr txBox="1"/>
          <p:nvPr/>
        </p:nvSpPr>
        <p:spPr>
          <a:xfrm>
            <a:off x="762000" y="5520000"/>
            <a:ext cx="10668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Pull 방식: </a:t>
            </a:r>
            <a:r>
              <a:rPr b="0" i="0" lang="en-US" sz="14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Prometheus가 /actuator/prometheus 를 15초마다 호출하여 메트릭 수집 (Push 방식과 달리 Prometheus가 주도권 보유)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5"/>
          <p:cNvSpPr/>
          <p:nvPr/>
        </p:nvSpPr>
        <p:spPr>
          <a:xfrm>
            <a:off x="762000" y="5920000"/>
            <a:ext cx="2670000" cy="64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5"/>
          <p:cNvSpPr txBox="1"/>
          <p:nvPr/>
        </p:nvSpPr>
        <p:spPr>
          <a:xfrm>
            <a:off x="862000" y="5980000"/>
            <a:ext cx="247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Poppins"/>
                <a:ea typeface="Poppins"/>
                <a:cs typeface="Poppins"/>
                <a:sym typeface="Poppins"/>
              </a:rPr>
              <a:t>Spring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localhost:8080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5"/>
          <p:cNvSpPr/>
          <p:nvPr/>
        </p:nvSpPr>
        <p:spPr>
          <a:xfrm>
            <a:off x="3512000" y="5920000"/>
            <a:ext cx="2670000" cy="64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5"/>
          <p:cNvSpPr txBox="1"/>
          <p:nvPr/>
        </p:nvSpPr>
        <p:spPr>
          <a:xfrm>
            <a:off x="3612000" y="5980000"/>
            <a:ext cx="247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Actuator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localhost:8080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5"/>
          <p:cNvSpPr/>
          <p:nvPr/>
        </p:nvSpPr>
        <p:spPr>
          <a:xfrm>
            <a:off x="6262000" y="5920000"/>
            <a:ext cx="2670000" cy="64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5"/>
          <p:cNvSpPr txBox="1"/>
          <p:nvPr/>
        </p:nvSpPr>
        <p:spPr>
          <a:xfrm>
            <a:off x="6362000" y="5980000"/>
            <a:ext cx="247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EA580C"/>
                </a:solidFill>
                <a:latin typeface="Poppins"/>
                <a:ea typeface="Poppins"/>
                <a:cs typeface="Poppins"/>
                <a:sym typeface="Poppins"/>
              </a:rPr>
              <a:t>Prometheus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localhost:9090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5"/>
          <p:cNvSpPr/>
          <p:nvPr/>
        </p:nvSpPr>
        <p:spPr>
          <a:xfrm>
            <a:off x="9012000" y="5920000"/>
            <a:ext cx="2670000" cy="64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5"/>
          <p:cNvSpPr txBox="1"/>
          <p:nvPr/>
        </p:nvSpPr>
        <p:spPr>
          <a:xfrm>
            <a:off x="9112000" y="5980000"/>
            <a:ext cx="247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Poppins"/>
                <a:ea typeface="Poppins"/>
                <a:cs typeface="Poppins"/>
                <a:sym typeface="Poppins"/>
              </a:rPr>
              <a:t>Grafana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localhost:3000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8" name="Google Shape;30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6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6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3150"/>
              <a:buFont typeface="Poppins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04  서버 간 호출 설계 (Call Flow)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6"/>
          <p:cNvSpPr txBox="1"/>
          <p:nvPr/>
        </p:nvSpPr>
        <p:spPr>
          <a:xfrm>
            <a:off x="952500" y="1230000"/>
            <a:ext cx="11001375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Spring Actuator · Prometheus · Grafana 가 실제로 어떻게 통신하는지 — 프로토콜, 포트, 방향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6"/>
          <p:cNvSpPr/>
          <p:nvPr/>
        </p:nvSpPr>
        <p:spPr>
          <a:xfrm>
            <a:off x="762000" y="1660000"/>
            <a:ext cx="3300000" cy="2800000"/>
          </a:xfrm>
          <a:prstGeom prst="rect">
            <a:avLst/>
          </a:prstGeom>
          <a:solidFill>
            <a:srgbClr val="EDE9FE"/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6"/>
          <p:cNvSpPr/>
          <p:nvPr/>
        </p:nvSpPr>
        <p:spPr>
          <a:xfrm>
            <a:off x="762000" y="1660000"/>
            <a:ext cx="3300000" cy="5600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6"/>
          <p:cNvSpPr txBox="1"/>
          <p:nvPr/>
        </p:nvSpPr>
        <p:spPr>
          <a:xfrm>
            <a:off x="842000" y="1740000"/>
            <a:ext cx="3800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oppin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🟣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6"/>
          <p:cNvSpPr txBox="1"/>
          <p:nvPr/>
        </p:nvSpPr>
        <p:spPr>
          <a:xfrm>
            <a:off x="1252000" y="1760000"/>
            <a:ext cx="274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oppi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Spring Boot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6"/>
          <p:cNvSpPr txBox="1"/>
          <p:nvPr/>
        </p:nvSpPr>
        <p:spPr>
          <a:xfrm>
            <a:off x="1252000" y="2020000"/>
            <a:ext cx="274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E580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FFE580"/>
                </a:solidFill>
                <a:latin typeface="Lato"/>
                <a:ea typeface="Lato"/>
                <a:cs typeface="Lato"/>
                <a:sym typeface="Lato"/>
              </a:rPr>
              <a:t>:8080  /actuator/prometheus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6"/>
          <p:cNvSpPr/>
          <p:nvPr/>
        </p:nvSpPr>
        <p:spPr>
          <a:xfrm>
            <a:off x="822000" y="2280000"/>
            <a:ext cx="3180000" cy="60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6"/>
          <p:cNvSpPr txBox="1"/>
          <p:nvPr/>
        </p:nvSpPr>
        <p:spPr>
          <a:xfrm>
            <a:off x="842000" y="2360000"/>
            <a:ext cx="314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Poppins"/>
                <a:ea typeface="Poppins"/>
                <a:cs typeface="Poppins"/>
                <a:sym typeface="Poppins"/>
              </a:rPr>
              <a:t>Micrometer: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메트릭 자동 수집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6"/>
          <p:cNvSpPr txBox="1"/>
          <p:nvPr/>
        </p:nvSpPr>
        <p:spPr>
          <a:xfrm>
            <a:off x="842000" y="2620000"/>
            <a:ext cx="314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Poppins"/>
                <a:ea typeface="Poppins"/>
                <a:cs typeface="Poppins"/>
                <a:sym typeface="Poppins"/>
              </a:rPr>
              <a:t>JVM · HTTP · DB</a:t>
            </a: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메트릭 생성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6"/>
          <p:cNvSpPr txBox="1"/>
          <p:nvPr/>
        </p:nvSpPr>
        <p:spPr>
          <a:xfrm>
            <a:off x="842000" y="2880000"/>
            <a:ext cx="314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Poppins"/>
                <a:ea typeface="Poppins"/>
                <a:cs typeface="Poppins"/>
                <a:sym typeface="Poppins"/>
              </a:rPr>
              <a:t>Actuator: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HTTP 엔드포인트 노출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6"/>
          <p:cNvSpPr txBox="1"/>
          <p:nvPr/>
        </p:nvSpPr>
        <p:spPr>
          <a:xfrm>
            <a:off x="842000" y="3140000"/>
            <a:ext cx="314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/actuator/health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6"/>
          <p:cNvSpPr txBox="1"/>
          <p:nvPr/>
        </p:nvSpPr>
        <p:spPr>
          <a:xfrm>
            <a:off x="842000" y="3400000"/>
            <a:ext cx="314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/actuator/prometheus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6"/>
          <p:cNvSpPr txBox="1"/>
          <p:nvPr/>
        </p:nvSpPr>
        <p:spPr>
          <a:xfrm>
            <a:off x="842000" y="3660000"/>
            <a:ext cx="314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Lato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6"/>
          <p:cNvSpPr txBox="1"/>
          <p:nvPr/>
        </p:nvSpPr>
        <p:spPr>
          <a:xfrm>
            <a:off x="842000" y="3920000"/>
            <a:ext cx="314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Poppins"/>
                <a:ea typeface="Poppins"/>
                <a:cs typeface="Poppins"/>
                <a:sym typeface="Poppins"/>
              </a:rPr>
              <a:t>노출 형식: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Prometheus text format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6"/>
          <p:cNvSpPr/>
          <p:nvPr/>
        </p:nvSpPr>
        <p:spPr>
          <a:xfrm>
            <a:off x="3742000" y="1668000"/>
            <a:ext cx="300000" cy="1800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6"/>
          <p:cNvSpPr txBox="1"/>
          <p:nvPr/>
        </p:nvSpPr>
        <p:spPr>
          <a:xfrm>
            <a:off x="3752000" y="1675000"/>
            <a:ext cx="290000" cy="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Poppin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EXPOSE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6"/>
          <p:cNvSpPr/>
          <p:nvPr/>
        </p:nvSpPr>
        <p:spPr>
          <a:xfrm>
            <a:off x="4446000" y="1660000"/>
            <a:ext cx="3300000" cy="2800000"/>
          </a:xfrm>
          <a:prstGeom prst="rect">
            <a:avLst/>
          </a:prstGeom>
          <a:solidFill>
            <a:srgbClr val="FFEDD5"/>
          </a:solidFill>
          <a:ln cap="flat" cmpd="sng" w="254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6"/>
          <p:cNvSpPr/>
          <p:nvPr/>
        </p:nvSpPr>
        <p:spPr>
          <a:xfrm>
            <a:off x="4446000" y="1660000"/>
            <a:ext cx="3300000" cy="5600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6"/>
          <p:cNvSpPr txBox="1"/>
          <p:nvPr/>
        </p:nvSpPr>
        <p:spPr>
          <a:xfrm>
            <a:off x="4526000" y="1740000"/>
            <a:ext cx="3800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oppin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6"/>
          <p:cNvSpPr txBox="1"/>
          <p:nvPr/>
        </p:nvSpPr>
        <p:spPr>
          <a:xfrm>
            <a:off x="4936000" y="1760000"/>
            <a:ext cx="274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oppi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Prometheus 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6"/>
          <p:cNvSpPr txBox="1"/>
          <p:nvPr/>
        </p:nvSpPr>
        <p:spPr>
          <a:xfrm>
            <a:off x="4936000" y="2020000"/>
            <a:ext cx="274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E580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FFE580"/>
                </a:solidFill>
                <a:latin typeface="Lato"/>
                <a:ea typeface="Lato"/>
                <a:cs typeface="Lato"/>
                <a:sym typeface="Lato"/>
              </a:rPr>
              <a:t>:9090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6"/>
          <p:cNvSpPr/>
          <p:nvPr/>
        </p:nvSpPr>
        <p:spPr>
          <a:xfrm>
            <a:off x="4506000" y="2280000"/>
            <a:ext cx="3180000" cy="60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6"/>
          <p:cNvSpPr txBox="1"/>
          <p:nvPr/>
        </p:nvSpPr>
        <p:spPr>
          <a:xfrm>
            <a:off x="4526000" y="2360000"/>
            <a:ext cx="314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EA580C"/>
                </a:solidFill>
                <a:latin typeface="Poppins"/>
                <a:ea typeface="Poppins"/>
                <a:cs typeface="Poppins"/>
                <a:sym typeface="Poppins"/>
              </a:rPr>
              <a:t>수집 방식: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Pull (15초 간격)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6"/>
          <p:cNvSpPr txBox="1"/>
          <p:nvPr/>
        </p:nvSpPr>
        <p:spPr>
          <a:xfrm>
            <a:off x="4526000" y="2620000"/>
            <a:ext cx="314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EA580C"/>
                </a:solidFill>
                <a:latin typeface="Poppins"/>
                <a:ea typeface="Poppins"/>
                <a:cs typeface="Poppins"/>
                <a:sym typeface="Poppins"/>
              </a:rPr>
              <a:t>저장소: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Time-Series DB (TSDB)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6"/>
          <p:cNvSpPr txBox="1"/>
          <p:nvPr/>
        </p:nvSpPr>
        <p:spPr>
          <a:xfrm>
            <a:off x="4526000" y="2880000"/>
            <a:ext cx="314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EA580C"/>
                </a:solidFill>
                <a:latin typeface="Poppins"/>
                <a:ea typeface="Poppins"/>
                <a:cs typeface="Poppins"/>
                <a:sym typeface="Poppins"/>
              </a:rPr>
              <a:t>데이터 보존: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기본 15일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6"/>
          <p:cNvSpPr txBox="1"/>
          <p:nvPr/>
        </p:nvSpPr>
        <p:spPr>
          <a:xfrm>
            <a:off x="4526000" y="3140000"/>
            <a:ext cx="314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Lato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6"/>
          <p:cNvSpPr txBox="1"/>
          <p:nvPr/>
        </p:nvSpPr>
        <p:spPr>
          <a:xfrm>
            <a:off x="4526000" y="3400000"/>
            <a:ext cx="314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EA580C"/>
                </a:solidFill>
                <a:latin typeface="Poppins"/>
                <a:ea typeface="Poppins"/>
                <a:cs typeface="Poppins"/>
                <a:sym typeface="Poppins"/>
              </a:rPr>
              <a:t>HTTP API: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/api/v1/query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6"/>
          <p:cNvSpPr txBox="1"/>
          <p:nvPr/>
        </p:nvSpPr>
        <p:spPr>
          <a:xfrm>
            <a:off x="4526000" y="3660000"/>
            <a:ext cx="314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EA580C"/>
                </a:solidFill>
                <a:latin typeface="Poppins"/>
                <a:ea typeface="Poppins"/>
                <a:cs typeface="Poppins"/>
                <a:sym typeface="Poppins"/>
              </a:rPr>
              <a:t>웹 UI: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/graph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6"/>
          <p:cNvSpPr txBox="1"/>
          <p:nvPr/>
        </p:nvSpPr>
        <p:spPr>
          <a:xfrm>
            <a:off x="4526000" y="3920000"/>
            <a:ext cx="314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EA580C"/>
                </a:solidFill>
                <a:latin typeface="Poppins"/>
                <a:ea typeface="Poppins"/>
                <a:cs typeface="Poppins"/>
                <a:sym typeface="Poppins"/>
              </a:rPr>
              <a:t>알림 규칙: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rules/*.yml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6"/>
          <p:cNvSpPr/>
          <p:nvPr/>
        </p:nvSpPr>
        <p:spPr>
          <a:xfrm>
            <a:off x="7426000" y="1668000"/>
            <a:ext cx="300000" cy="1800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6"/>
          <p:cNvSpPr txBox="1"/>
          <p:nvPr/>
        </p:nvSpPr>
        <p:spPr>
          <a:xfrm>
            <a:off x="7436000" y="1675000"/>
            <a:ext cx="290000" cy="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Poppin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PULL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6"/>
          <p:cNvSpPr/>
          <p:nvPr/>
        </p:nvSpPr>
        <p:spPr>
          <a:xfrm>
            <a:off x="8128000" y="1660000"/>
            <a:ext cx="3300000" cy="2800000"/>
          </a:xfrm>
          <a:prstGeom prst="rect">
            <a:avLst/>
          </a:prstGeom>
          <a:solidFill>
            <a:srgbClr val="DCFCE7"/>
          </a:solidFill>
          <a:ln cap="flat" cmpd="sng" w="254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6"/>
          <p:cNvSpPr/>
          <p:nvPr/>
        </p:nvSpPr>
        <p:spPr>
          <a:xfrm>
            <a:off x="8128000" y="1660000"/>
            <a:ext cx="3300000" cy="56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6"/>
          <p:cNvSpPr txBox="1"/>
          <p:nvPr/>
        </p:nvSpPr>
        <p:spPr>
          <a:xfrm>
            <a:off x="8208000" y="1740000"/>
            <a:ext cx="3800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oppin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📊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6"/>
          <p:cNvSpPr txBox="1"/>
          <p:nvPr/>
        </p:nvSpPr>
        <p:spPr>
          <a:xfrm>
            <a:off x="8618000" y="1760000"/>
            <a:ext cx="274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oppi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Grafana 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6"/>
          <p:cNvSpPr txBox="1"/>
          <p:nvPr/>
        </p:nvSpPr>
        <p:spPr>
          <a:xfrm>
            <a:off x="8618000" y="2020000"/>
            <a:ext cx="274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E580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FFE580"/>
                </a:solidFill>
                <a:latin typeface="Lato"/>
                <a:ea typeface="Lato"/>
                <a:cs typeface="Lato"/>
                <a:sym typeface="Lato"/>
              </a:rPr>
              <a:t>:3000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6"/>
          <p:cNvSpPr/>
          <p:nvPr/>
        </p:nvSpPr>
        <p:spPr>
          <a:xfrm>
            <a:off x="8188000" y="2280000"/>
            <a:ext cx="3180000" cy="6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6"/>
          <p:cNvSpPr txBox="1"/>
          <p:nvPr/>
        </p:nvSpPr>
        <p:spPr>
          <a:xfrm>
            <a:off x="8208000" y="2360000"/>
            <a:ext cx="314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Poppins"/>
                <a:ea typeface="Poppins"/>
                <a:cs typeface="Poppins"/>
                <a:sym typeface="Poppins"/>
              </a:rPr>
              <a:t>데이터소스: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Prometheus 연동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6"/>
          <p:cNvSpPr txBox="1"/>
          <p:nvPr/>
        </p:nvSpPr>
        <p:spPr>
          <a:xfrm>
            <a:off x="8208000" y="2620000"/>
            <a:ext cx="314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Poppins"/>
                <a:ea typeface="Poppins"/>
                <a:cs typeface="Poppins"/>
                <a:sym typeface="Poppins"/>
              </a:rPr>
              <a:t>쿼리 언어: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PromQL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6"/>
          <p:cNvSpPr txBox="1"/>
          <p:nvPr/>
        </p:nvSpPr>
        <p:spPr>
          <a:xfrm>
            <a:off x="8208000" y="2880000"/>
            <a:ext cx="314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Poppins"/>
                <a:ea typeface="Poppins"/>
                <a:cs typeface="Poppins"/>
                <a:sym typeface="Poppins"/>
              </a:rPr>
              <a:t>시각화: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Graph / Gauge / Table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6"/>
          <p:cNvSpPr txBox="1"/>
          <p:nvPr/>
        </p:nvSpPr>
        <p:spPr>
          <a:xfrm>
            <a:off x="8208000" y="3140000"/>
            <a:ext cx="314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Lato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6"/>
          <p:cNvSpPr txBox="1"/>
          <p:nvPr/>
        </p:nvSpPr>
        <p:spPr>
          <a:xfrm>
            <a:off x="8208000" y="3400000"/>
            <a:ext cx="314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Poppins"/>
                <a:ea typeface="Poppins"/>
                <a:cs typeface="Poppins"/>
                <a:sym typeface="Poppins"/>
              </a:rPr>
              <a:t>알림: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Alert Rules 설정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6"/>
          <p:cNvSpPr txBox="1"/>
          <p:nvPr/>
        </p:nvSpPr>
        <p:spPr>
          <a:xfrm>
            <a:off x="8208000" y="3660000"/>
            <a:ext cx="314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Poppins"/>
                <a:ea typeface="Poppins"/>
                <a:cs typeface="Poppins"/>
                <a:sym typeface="Poppins"/>
              </a:rPr>
              <a:t>연락처: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Slack / Email / PD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6"/>
          <p:cNvSpPr txBox="1"/>
          <p:nvPr/>
        </p:nvSpPr>
        <p:spPr>
          <a:xfrm>
            <a:off x="8208000" y="3920000"/>
            <a:ext cx="314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Poppins"/>
                <a:ea typeface="Poppins"/>
                <a:cs typeface="Poppins"/>
                <a:sym typeface="Poppins"/>
              </a:rPr>
              <a:t>대시보드: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JSON export/import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6"/>
          <p:cNvSpPr/>
          <p:nvPr/>
        </p:nvSpPr>
        <p:spPr>
          <a:xfrm>
            <a:off x="11108000" y="1668000"/>
            <a:ext cx="300000" cy="18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6"/>
          <p:cNvSpPr txBox="1"/>
          <p:nvPr/>
        </p:nvSpPr>
        <p:spPr>
          <a:xfrm>
            <a:off x="11118000" y="1675000"/>
            <a:ext cx="290000" cy="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Poppin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VISUALIZE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6"/>
          <p:cNvSpPr/>
          <p:nvPr/>
        </p:nvSpPr>
        <p:spPr>
          <a:xfrm>
            <a:off x="3704000" y="2490000"/>
            <a:ext cx="1100000" cy="340000"/>
          </a:xfrm>
          <a:prstGeom prst="rect">
            <a:avLst/>
          </a:prstGeom>
          <a:solidFill>
            <a:srgbClr val="FFEDD5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6"/>
          <p:cNvSpPr txBox="1"/>
          <p:nvPr/>
        </p:nvSpPr>
        <p:spPr>
          <a:xfrm>
            <a:off x="3724000" y="2500000"/>
            <a:ext cx="106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EA580C"/>
                </a:solidFill>
                <a:latin typeface="Poppins"/>
                <a:ea typeface="Poppins"/>
                <a:cs typeface="Poppins"/>
                <a:sym typeface="Poppins"/>
              </a:rPr>
              <a:t>① Pull (HTTP GET)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6"/>
          <p:cNvSpPr/>
          <p:nvPr/>
        </p:nvSpPr>
        <p:spPr>
          <a:xfrm>
            <a:off x="4062000" y="2840000"/>
            <a:ext cx="384000" cy="400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6"/>
          <p:cNvSpPr/>
          <p:nvPr/>
        </p:nvSpPr>
        <p:spPr>
          <a:xfrm>
            <a:off x="4052000" y="2740000"/>
            <a:ext cx="180000" cy="240000"/>
          </a:xfrm>
          <a:prstGeom prst="roundRect">
            <a:avLst>
              <a:gd fmla="val 16667" name="adj"/>
            </a:avLst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6"/>
          <p:cNvSpPr txBox="1"/>
          <p:nvPr/>
        </p:nvSpPr>
        <p:spPr>
          <a:xfrm>
            <a:off x="3404000" y="2940000"/>
            <a:ext cx="17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000"/>
              <a:buFont typeface="Poppins"/>
              <a:buNone/>
            </a:pPr>
            <a:r>
              <a:rPr b="1" i="0" lang="en-US" sz="1000" u="none" cap="none" strike="noStrike">
                <a:solidFill>
                  <a:srgbClr val="EA580C"/>
                </a:solidFill>
                <a:latin typeface="Poppins"/>
                <a:ea typeface="Poppins"/>
                <a:cs typeface="Poppins"/>
                <a:sym typeface="Poppins"/>
              </a:rPr>
              <a:t>요청: </a:t>
            </a:r>
            <a:r>
              <a:rPr b="0" i="0" lang="en-US" sz="10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GET /actuator/prometheus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6"/>
          <p:cNvSpPr txBox="1"/>
          <p:nvPr/>
        </p:nvSpPr>
        <p:spPr>
          <a:xfrm>
            <a:off x="3404000" y="3130000"/>
            <a:ext cx="17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000"/>
              <a:buFont typeface="Poppins"/>
              <a:buNone/>
            </a:pPr>
            <a:r>
              <a:rPr b="1" i="0" lang="en-US" sz="1000" u="none" cap="none" strike="noStrike">
                <a:solidFill>
                  <a:srgbClr val="EA580C"/>
                </a:solidFill>
                <a:latin typeface="Poppins"/>
                <a:ea typeface="Poppins"/>
                <a:cs typeface="Poppins"/>
                <a:sym typeface="Poppins"/>
              </a:rPr>
              <a:t>주기: </a:t>
            </a:r>
            <a:r>
              <a:rPr b="0" i="0" lang="en-US" sz="10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15초 (scrape_interval)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6"/>
          <p:cNvSpPr txBox="1"/>
          <p:nvPr/>
        </p:nvSpPr>
        <p:spPr>
          <a:xfrm>
            <a:off x="3404000" y="3320000"/>
            <a:ext cx="17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000"/>
              <a:buFont typeface="Poppins"/>
              <a:buNone/>
            </a:pPr>
            <a:r>
              <a:rPr b="1" i="0" lang="en-US" sz="1000" u="none" cap="none" strike="noStrike">
                <a:solidFill>
                  <a:srgbClr val="EA580C"/>
                </a:solidFill>
                <a:latin typeface="Poppins"/>
                <a:ea typeface="Poppins"/>
                <a:cs typeface="Poppins"/>
                <a:sym typeface="Poppins"/>
              </a:rPr>
              <a:t>응답: </a:t>
            </a:r>
            <a:r>
              <a:rPr b="0" i="0" lang="en-US" sz="10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Prometheus text format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6"/>
          <p:cNvSpPr/>
          <p:nvPr/>
        </p:nvSpPr>
        <p:spPr>
          <a:xfrm>
            <a:off x="7357000" y="2890000"/>
            <a:ext cx="1160000" cy="340000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6"/>
          <p:cNvSpPr txBox="1"/>
          <p:nvPr/>
        </p:nvSpPr>
        <p:spPr>
          <a:xfrm>
            <a:off x="7377000" y="2900000"/>
            <a:ext cx="112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② PromQL Query (HTTP)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6"/>
          <p:cNvSpPr/>
          <p:nvPr/>
        </p:nvSpPr>
        <p:spPr>
          <a:xfrm>
            <a:off x="7746000" y="3240000"/>
            <a:ext cx="382000" cy="4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6"/>
          <p:cNvSpPr/>
          <p:nvPr/>
        </p:nvSpPr>
        <p:spPr>
          <a:xfrm>
            <a:off x="7736000" y="3140000"/>
            <a:ext cx="180000" cy="24000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6"/>
          <p:cNvSpPr txBox="1"/>
          <p:nvPr/>
        </p:nvSpPr>
        <p:spPr>
          <a:xfrm>
            <a:off x="7087000" y="3340000"/>
            <a:ext cx="17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Poppins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API: </a:t>
            </a:r>
            <a:r>
              <a:rPr b="0" i="0" lang="en-US" sz="10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GET /api/v1/query_range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6"/>
          <p:cNvSpPr txBox="1"/>
          <p:nvPr/>
        </p:nvSpPr>
        <p:spPr>
          <a:xfrm>
            <a:off x="7087000" y="3530000"/>
            <a:ext cx="17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Poppins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시점: </a:t>
            </a:r>
            <a:r>
              <a:rPr b="0" i="0" lang="en-US" sz="10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대시보드 열람 시 (On-demand)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6"/>
          <p:cNvSpPr txBox="1"/>
          <p:nvPr/>
        </p:nvSpPr>
        <p:spPr>
          <a:xfrm>
            <a:off x="7087000" y="3720000"/>
            <a:ext cx="17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Poppins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응답: </a:t>
            </a:r>
            <a:r>
              <a:rPr b="0" i="0" lang="en-US" sz="10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JSON (result, resultType)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6"/>
          <p:cNvSpPr/>
          <p:nvPr/>
        </p:nvSpPr>
        <p:spPr>
          <a:xfrm>
            <a:off x="8678000" y="4960000"/>
            <a:ext cx="2200000" cy="780000"/>
          </a:xfrm>
          <a:prstGeom prst="rect">
            <a:avLst/>
          </a:prstGeom>
          <a:solidFill>
            <a:srgbClr val="F1F5F9"/>
          </a:solidFill>
          <a:ln cap="flat" cmpd="sng" w="190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6"/>
          <p:cNvSpPr txBox="1"/>
          <p:nvPr/>
        </p:nvSpPr>
        <p:spPr>
          <a:xfrm>
            <a:off x="8758000" y="5060000"/>
            <a:ext cx="204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👤 사용자 (Browser)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6"/>
          <p:cNvSpPr txBox="1"/>
          <p:nvPr/>
        </p:nvSpPr>
        <p:spPr>
          <a:xfrm>
            <a:off x="8758000" y="5340000"/>
            <a:ext cx="204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http://localhost:3000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6"/>
          <p:cNvSpPr/>
          <p:nvPr/>
        </p:nvSpPr>
        <p:spPr>
          <a:xfrm>
            <a:off x="9758000" y="4460000"/>
            <a:ext cx="40000" cy="50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6"/>
          <p:cNvSpPr/>
          <p:nvPr/>
        </p:nvSpPr>
        <p:spPr>
          <a:xfrm>
            <a:off x="9658000" y="4780000"/>
            <a:ext cx="240000" cy="180000"/>
          </a:xfrm>
          <a:prstGeom prst="roundRect">
            <a:avLst>
              <a:gd fmla="val 16667" name="adj"/>
            </a:avLst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6"/>
          <p:cNvSpPr txBox="1"/>
          <p:nvPr/>
        </p:nvSpPr>
        <p:spPr>
          <a:xfrm>
            <a:off x="9838000" y="4560000"/>
            <a:ext cx="90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16A34A"/>
                </a:solidFill>
                <a:latin typeface="Poppins"/>
                <a:ea typeface="Poppins"/>
                <a:cs typeface="Poppins"/>
                <a:sym typeface="Poppins"/>
              </a:rPr>
              <a:t>③ HTTP :3000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6"/>
          <p:cNvSpPr/>
          <p:nvPr/>
        </p:nvSpPr>
        <p:spPr>
          <a:xfrm>
            <a:off x="4996000" y="4960000"/>
            <a:ext cx="2200000" cy="780000"/>
          </a:xfrm>
          <a:prstGeom prst="rect">
            <a:avLst/>
          </a:prstGeom>
          <a:solidFill>
            <a:srgbClr val="F1F5F9"/>
          </a:solidFill>
          <a:ln cap="flat" cmpd="sng" w="190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6"/>
          <p:cNvSpPr txBox="1"/>
          <p:nvPr/>
        </p:nvSpPr>
        <p:spPr>
          <a:xfrm>
            <a:off x="5076000" y="5060000"/>
            <a:ext cx="204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🔔 Alert 채널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6"/>
          <p:cNvSpPr txBox="1"/>
          <p:nvPr/>
        </p:nvSpPr>
        <p:spPr>
          <a:xfrm>
            <a:off x="5076000" y="5340000"/>
            <a:ext cx="204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Slack / Email / PagerDuty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"/>
          <p:cNvSpPr/>
          <p:nvPr/>
        </p:nvSpPr>
        <p:spPr>
          <a:xfrm>
            <a:off x="6076000" y="4460000"/>
            <a:ext cx="40000" cy="50000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6"/>
          <p:cNvSpPr/>
          <p:nvPr/>
        </p:nvSpPr>
        <p:spPr>
          <a:xfrm>
            <a:off x="5976000" y="4780000"/>
            <a:ext cx="240000" cy="180000"/>
          </a:xfrm>
          <a:prstGeom prst="roundRect">
            <a:avLst>
              <a:gd fmla="val 16667" name="adj"/>
            </a:avLst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6"/>
          <p:cNvSpPr/>
          <p:nvPr/>
        </p:nvSpPr>
        <p:spPr>
          <a:xfrm>
            <a:off x="6096000" y="4690000"/>
            <a:ext cx="3682000" cy="4000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6"/>
          <p:cNvSpPr txBox="1"/>
          <p:nvPr/>
        </p:nvSpPr>
        <p:spPr>
          <a:xfrm>
            <a:off x="6156000" y="4560000"/>
            <a:ext cx="90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Poppins"/>
                <a:ea typeface="Poppins"/>
                <a:cs typeface="Poppins"/>
                <a:sym typeface="Poppins"/>
              </a:rPr>
              <a:t>④ Alert 전송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6"/>
          <p:cNvSpPr/>
          <p:nvPr/>
        </p:nvSpPr>
        <p:spPr>
          <a:xfrm>
            <a:off x="10392000" y="1600000"/>
            <a:ext cx="1650000" cy="320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6"/>
          <p:cNvSpPr txBox="1"/>
          <p:nvPr/>
        </p:nvSpPr>
        <p:spPr>
          <a:xfrm>
            <a:off x="10462000" y="1660000"/>
            <a:ext cx="15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포트 요약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6"/>
          <p:cNvSpPr/>
          <p:nvPr/>
        </p:nvSpPr>
        <p:spPr>
          <a:xfrm>
            <a:off x="10462000" y="1980000"/>
            <a:ext cx="120000" cy="1200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6"/>
          <p:cNvSpPr txBox="1"/>
          <p:nvPr/>
        </p:nvSpPr>
        <p:spPr>
          <a:xfrm>
            <a:off x="10652000" y="1950000"/>
            <a:ext cx="139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:8080  Spring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6"/>
          <p:cNvSpPr/>
          <p:nvPr/>
        </p:nvSpPr>
        <p:spPr>
          <a:xfrm>
            <a:off x="10462000" y="2230000"/>
            <a:ext cx="120000" cy="1200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6"/>
          <p:cNvSpPr txBox="1"/>
          <p:nvPr/>
        </p:nvSpPr>
        <p:spPr>
          <a:xfrm>
            <a:off x="10652000" y="2200000"/>
            <a:ext cx="139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:8080  Actuator EP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6"/>
          <p:cNvSpPr/>
          <p:nvPr/>
        </p:nvSpPr>
        <p:spPr>
          <a:xfrm>
            <a:off x="10462000" y="2480000"/>
            <a:ext cx="120000" cy="1200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6"/>
          <p:cNvSpPr txBox="1"/>
          <p:nvPr/>
        </p:nvSpPr>
        <p:spPr>
          <a:xfrm>
            <a:off x="10652000" y="2450000"/>
            <a:ext cx="139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:9090  Prometheus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6"/>
          <p:cNvSpPr/>
          <p:nvPr/>
        </p:nvSpPr>
        <p:spPr>
          <a:xfrm>
            <a:off x="10462000" y="2730000"/>
            <a:ext cx="120000" cy="12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6"/>
          <p:cNvSpPr txBox="1"/>
          <p:nvPr/>
        </p:nvSpPr>
        <p:spPr>
          <a:xfrm>
            <a:off x="10652000" y="2700000"/>
            <a:ext cx="139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:3000  Grafana UI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6"/>
          <p:cNvSpPr/>
          <p:nvPr/>
        </p:nvSpPr>
        <p:spPr>
          <a:xfrm>
            <a:off x="10392000" y="4950000"/>
            <a:ext cx="1650000" cy="170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6"/>
          <p:cNvSpPr txBox="1"/>
          <p:nvPr/>
        </p:nvSpPr>
        <p:spPr>
          <a:xfrm>
            <a:off x="10462000" y="5010000"/>
            <a:ext cx="150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호출 방향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6"/>
          <p:cNvSpPr/>
          <p:nvPr/>
        </p:nvSpPr>
        <p:spPr>
          <a:xfrm>
            <a:off x="10462000" y="5360000"/>
            <a:ext cx="120000" cy="120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6"/>
          <p:cNvSpPr txBox="1"/>
          <p:nvPr/>
        </p:nvSpPr>
        <p:spPr>
          <a:xfrm>
            <a:off x="10652000" y="5300000"/>
            <a:ext cx="139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Lato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①  Prometheus → Actuator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6"/>
          <p:cNvSpPr/>
          <p:nvPr/>
        </p:nvSpPr>
        <p:spPr>
          <a:xfrm>
            <a:off x="10462000" y="5600000"/>
            <a:ext cx="120000" cy="12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6"/>
          <p:cNvSpPr txBox="1"/>
          <p:nvPr/>
        </p:nvSpPr>
        <p:spPr>
          <a:xfrm>
            <a:off x="10652000" y="5540000"/>
            <a:ext cx="139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Lato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②  Grafana → Prometheus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6"/>
          <p:cNvSpPr/>
          <p:nvPr/>
        </p:nvSpPr>
        <p:spPr>
          <a:xfrm>
            <a:off x="10462000" y="5840000"/>
            <a:ext cx="120000" cy="12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6"/>
          <p:cNvSpPr txBox="1"/>
          <p:nvPr/>
        </p:nvSpPr>
        <p:spPr>
          <a:xfrm>
            <a:off x="10652000" y="5780000"/>
            <a:ext cx="139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Lato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③  Browser → Grafana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6"/>
          <p:cNvSpPr/>
          <p:nvPr/>
        </p:nvSpPr>
        <p:spPr>
          <a:xfrm>
            <a:off x="10462000" y="6080000"/>
            <a:ext cx="120000" cy="1200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6"/>
          <p:cNvSpPr txBox="1"/>
          <p:nvPr/>
        </p:nvSpPr>
        <p:spPr>
          <a:xfrm>
            <a:off x="10652000" y="6020000"/>
            <a:ext cx="139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Lato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④  Grafana → Alert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8" name="Google Shape;40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7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7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3150"/>
              <a:buFont typeface="Poppins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04  Spring Actuator — 개념 &amp; 동작 원리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7"/>
          <p:cNvSpPr txBox="1"/>
          <p:nvPr/>
        </p:nvSpPr>
        <p:spPr>
          <a:xfrm>
            <a:off x="952500" y="1220000"/>
            <a:ext cx="11001375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Spring Boot가 기본 제공하는 운영 모니터링 엔드포인트 모음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7"/>
          <p:cNvSpPr/>
          <p:nvPr/>
        </p:nvSpPr>
        <p:spPr>
          <a:xfrm>
            <a:off x="762000" y="1640000"/>
            <a:ext cx="5400000" cy="4900000"/>
          </a:xfrm>
          <a:prstGeom prst="rect">
            <a:avLst/>
          </a:prstGeom>
          <a:solidFill>
            <a:srgbClr val="DBEA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7"/>
          <p:cNvSpPr/>
          <p:nvPr/>
        </p:nvSpPr>
        <p:spPr>
          <a:xfrm>
            <a:off x="762000" y="1640000"/>
            <a:ext cx="5400000" cy="8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7"/>
          <p:cNvSpPr txBox="1"/>
          <p:nvPr/>
        </p:nvSpPr>
        <p:spPr>
          <a:xfrm>
            <a:off x="900000" y="1720000"/>
            <a:ext cx="52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Poppins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📡  Actuator란?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7"/>
          <p:cNvSpPr/>
          <p:nvPr/>
        </p:nvSpPr>
        <p:spPr>
          <a:xfrm>
            <a:off x="900000" y="2270000"/>
            <a:ext cx="70000" cy="7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7"/>
          <p:cNvSpPr txBox="1"/>
          <p:nvPr/>
        </p:nvSpPr>
        <p:spPr>
          <a:xfrm>
            <a:off x="1040000" y="2180000"/>
            <a:ext cx="507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50"/>
              <a:buFont typeface="Lato"/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Spring Boot가 자동으로 제공하는 엔드포인트 모음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7"/>
          <p:cNvSpPr/>
          <p:nvPr/>
        </p:nvSpPr>
        <p:spPr>
          <a:xfrm>
            <a:off x="900000" y="2570000"/>
            <a:ext cx="70000" cy="7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7"/>
          <p:cNvSpPr txBox="1"/>
          <p:nvPr/>
        </p:nvSpPr>
        <p:spPr>
          <a:xfrm>
            <a:off x="1040000" y="2480000"/>
            <a:ext cx="507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50"/>
              <a:buFont typeface="Lato"/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애플리케이션 상태·메트릭·환경을 HTTP로 노출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7"/>
          <p:cNvSpPr/>
          <p:nvPr/>
        </p:nvSpPr>
        <p:spPr>
          <a:xfrm>
            <a:off x="900000" y="2870000"/>
            <a:ext cx="70000" cy="7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7"/>
          <p:cNvSpPr txBox="1"/>
          <p:nvPr/>
        </p:nvSpPr>
        <p:spPr>
          <a:xfrm>
            <a:off x="1040000" y="2780000"/>
            <a:ext cx="507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50"/>
              <a:buFont typeface="Lato"/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의존성 하나만 추가하면 즉시 사용 가능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7"/>
          <p:cNvSpPr/>
          <p:nvPr/>
        </p:nvSpPr>
        <p:spPr>
          <a:xfrm>
            <a:off x="900000" y="3170000"/>
            <a:ext cx="70000" cy="7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7"/>
          <p:cNvSpPr txBox="1"/>
          <p:nvPr/>
        </p:nvSpPr>
        <p:spPr>
          <a:xfrm>
            <a:off x="1040000" y="3080000"/>
            <a:ext cx="507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50"/>
              <a:buFont typeface="Lato"/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Micrometer와 통합 → 다양한 모니터링 시스템 지원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7"/>
          <p:cNvSpPr txBox="1"/>
          <p:nvPr/>
        </p:nvSpPr>
        <p:spPr>
          <a:xfrm>
            <a:off x="900000" y="3460000"/>
            <a:ext cx="52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Micrometer 지원 백엔드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7"/>
          <p:cNvSpPr/>
          <p:nvPr/>
        </p:nvSpPr>
        <p:spPr>
          <a:xfrm>
            <a:off x="900000" y="3820000"/>
            <a:ext cx="900000" cy="28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7"/>
          <p:cNvSpPr txBox="1"/>
          <p:nvPr/>
        </p:nvSpPr>
        <p:spPr>
          <a:xfrm>
            <a:off x="930000" y="3840000"/>
            <a:ext cx="86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Prometheus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7"/>
          <p:cNvSpPr/>
          <p:nvPr/>
        </p:nvSpPr>
        <p:spPr>
          <a:xfrm>
            <a:off x="1860000" y="3820000"/>
            <a:ext cx="900000" cy="28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7"/>
          <p:cNvSpPr txBox="1"/>
          <p:nvPr/>
        </p:nvSpPr>
        <p:spPr>
          <a:xfrm>
            <a:off x="1890000" y="3840000"/>
            <a:ext cx="86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Datadog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7"/>
          <p:cNvSpPr/>
          <p:nvPr/>
        </p:nvSpPr>
        <p:spPr>
          <a:xfrm>
            <a:off x="2820000" y="3820000"/>
            <a:ext cx="900000" cy="28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7"/>
          <p:cNvSpPr txBox="1"/>
          <p:nvPr/>
        </p:nvSpPr>
        <p:spPr>
          <a:xfrm>
            <a:off x="2850000" y="3840000"/>
            <a:ext cx="86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InfluxDB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7"/>
          <p:cNvSpPr/>
          <p:nvPr/>
        </p:nvSpPr>
        <p:spPr>
          <a:xfrm>
            <a:off x="3780000" y="3820000"/>
            <a:ext cx="900000" cy="28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7"/>
          <p:cNvSpPr txBox="1"/>
          <p:nvPr/>
        </p:nvSpPr>
        <p:spPr>
          <a:xfrm>
            <a:off x="3810000" y="3840000"/>
            <a:ext cx="86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CloudWatch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7"/>
          <p:cNvSpPr/>
          <p:nvPr/>
        </p:nvSpPr>
        <p:spPr>
          <a:xfrm>
            <a:off x="4740000" y="3820000"/>
            <a:ext cx="900000" cy="28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7"/>
          <p:cNvSpPr txBox="1"/>
          <p:nvPr/>
        </p:nvSpPr>
        <p:spPr>
          <a:xfrm>
            <a:off x="4770000" y="3840000"/>
            <a:ext cx="86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New Relic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7"/>
          <p:cNvSpPr/>
          <p:nvPr/>
        </p:nvSpPr>
        <p:spPr>
          <a:xfrm>
            <a:off x="6550000" y="1640000"/>
            <a:ext cx="5280000" cy="490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7"/>
          <p:cNvSpPr/>
          <p:nvPr/>
        </p:nvSpPr>
        <p:spPr>
          <a:xfrm>
            <a:off x="6550000" y="1640000"/>
            <a:ext cx="5280000" cy="8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7"/>
          <p:cNvSpPr txBox="1"/>
          <p:nvPr/>
        </p:nvSpPr>
        <p:spPr>
          <a:xfrm>
            <a:off x="6690000" y="1720000"/>
            <a:ext cx="508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Poppins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🔄  동작 원리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7"/>
          <p:cNvSpPr/>
          <p:nvPr/>
        </p:nvSpPr>
        <p:spPr>
          <a:xfrm>
            <a:off x="6640000" y="2180000"/>
            <a:ext cx="5100000" cy="52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7"/>
          <p:cNvSpPr/>
          <p:nvPr/>
        </p:nvSpPr>
        <p:spPr>
          <a:xfrm>
            <a:off x="6640000" y="2180000"/>
            <a:ext cx="8000" cy="52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7"/>
          <p:cNvSpPr txBox="1"/>
          <p:nvPr/>
        </p:nvSpPr>
        <p:spPr>
          <a:xfrm>
            <a:off x="6720000" y="2222947"/>
            <a:ext cx="4950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① 의존성 추가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7"/>
          <p:cNvSpPr txBox="1"/>
          <p:nvPr/>
        </p:nvSpPr>
        <p:spPr>
          <a:xfrm>
            <a:off x="6720000" y="2402367"/>
            <a:ext cx="49500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spring-boot-starter-actuator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7"/>
          <p:cNvSpPr txBox="1"/>
          <p:nvPr/>
        </p:nvSpPr>
        <p:spPr>
          <a:xfrm>
            <a:off x="6720000" y="2535314"/>
            <a:ext cx="49500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micrometer-registry-prometheus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7"/>
          <p:cNvSpPr/>
          <p:nvPr/>
        </p:nvSpPr>
        <p:spPr>
          <a:xfrm>
            <a:off x="6640000" y="2760000"/>
            <a:ext cx="5100000" cy="52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7"/>
          <p:cNvSpPr/>
          <p:nvPr/>
        </p:nvSpPr>
        <p:spPr>
          <a:xfrm>
            <a:off x="6640000" y="2760000"/>
            <a:ext cx="8000" cy="5200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7"/>
          <p:cNvSpPr txBox="1"/>
          <p:nvPr/>
        </p:nvSpPr>
        <p:spPr>
          <a:xfrm>
            <a:off x="6720000" y="2802947"/>
            <a:ext cx="4950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② 설정 활성화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7"/>
          <p:cNvSpPr txBox="1"/>
          <p:nvPr/>
        </p:nvSpPr>
        <p:spPr>
          <a:xfrm>
            <a:off x="6720000" y="2968840"/>
            <a:ext cx="49500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application.yml에서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7"/>
          <p:cNvSpPr txBox="1"/>
          <p:nvPr/>
        </p:nvSpPr>
        <p:spPr>
          <a:xfrm>
            <a:off x="6720000" y="3142367"/>
            <a:ext cx="49500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노출 엔드포인트 지정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7"/>
          <p:cNvSpPr/>
          <p:nvPr/>
        </p:nvSpPr>
        <p:spPr>
          <a:xfrm>
            <a:off x="6640000" y="3340000"/>
            <a:ext cx="5100000" cy="52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7"/>
          <p:cNvSpPr/>
          <p:nvPr/>
        </p:nvSpPr>
        <p:spPr>
          <a:xfrm>
            <a:off x="6640000" y="3340000"/>
            <a:ext cx="8000" cy="52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7"/>
          <p:cNvSpPr txBox="1"/>
          <p:nvPr/>
        </p:nvSpPr>
        <p:spPr>
          <a:xfrm>
            <a:off x="6720000" y="3355893"/>
            <a:ext cx="4950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③ 메트릭 자동 수집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7"/>
          <p:cNvSpPr txBox="1"/>
          <p:nvPr/>
        </p:nvSpPr>
        <p:spPr>
          <a:xfrm>
            <a:off x="6720000" y="3562367"/>
            <a:ext cx="49500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JVM / HTTP / DB / System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7"/>
          <p:cNvSpPr txBox="1"/>
          <p:nvPr/>
        </p:nvSpPr>
        <p:spPr>
          <a:xfrm>
            <a:off x="6720000" y="3708840"/>
            <a:ext cx="49500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자동으로 측정 &amp; 저장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7"/>
          <p:cNvSpPr/>
          <p:nvPr/>
        </p:nvSpPr>
        <p:spPr>
          <a:xfrm>
            <a:off x="6640000" y="3920000"/>
            <a:ext cx="5100000" cy="52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7"/>
          <p:cNvSpPr/>
          <p:nvPr/>
        </p:nvSpPr>
        <p:spPr>
          <a:xfrm>
            <a:off x="6640000" y="3920000"/>
            <a:ext cx="8000" cy="5200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7"/>
          <p:cNvSpPr txBox="1"/>
          <p:nvPr/>
        </p:nvSpPr>
        <p:spPr>
          <a:xfrm>
            <a:off x="6720000" y="3922367"/>
            <a:ext cx="4950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④ HTTP 노출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7"/>
          <p:cNvSpPr txBox="1"/>
          <p:nvPr/>
        </p:nvSpPr>
        <p:spPr>
          <a:xfrm>
            <a:off x="6720000" y="4101787"/>
            <a:ext cx="49500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/actuator/prometheus 로 </a:t>
            </a:r>
            <a:r>
              <a:rPr lang="en-US" sz="11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Prometheus 형식 출력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t/>
            </a:r>
            <a:endParaRPr sz="115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6" name="Google Shape;456;p7"/>
          <p:cNvSpPr/>
          <p:nvPr/>
        </p:nvSpPr>
        <p:spPr>
          <a:xfrm>
            <a:off x="6640000" y="4500000"/>
            <a:ext cx="5100000" cy="52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7"/>
          <p:cNvSpPr/>
          <p:nvPr/>
        </p:nvSpPr>
        <p:spPr>
          <a:xfrm>
            <a:off x="6640000" y="4500000"/>
            <a:ext cx="8000" cy="52000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7"/>
          <p:cNvSpPr txBox="1"/>
          <p:nvPr/>
        </p:nvSpPr>
        <p:spPr>
          <a:xfrm>
            <a:off x="6720000" y="4570000"/>
            <a:ext cx="495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⑤ Prometheus 수집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7"/>
          <p:cNvSpPr txBox="1"/>
          <p:nvPr/>
        </p:nvSpPr>
        <p:spPr>
          <a:xfrm>
            <a:off x="6720000" y="4790000"/>
            <a:ext cx="49500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15초마다 Pull 방식으로 </a:t>
            </a:r>
            <a:r>
              <a:rPr lang="en-US" sz="11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데이터 가져감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t/>
            </a:r>
            <a:endParaRPr sz="115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4" name="Google Shape;46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8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8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3150"/>
              <a:buFont typeface="Poppins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05  Spring Actuator — 설정 코드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8"/>
          <p:cNvSpPr txBox="1"/>
          <p:nvPr/>
        </p:nvSpPr>
        <p:spPr>
          <a:xfrm>
            <a:off x="952500" y="1220000"/>
            <a:ext cx="11001375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의존성 추가 후 application.yml 설정만으로 즉시 모니터링 가능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8"/>
          <p:cNvSpPr txBox="1"/>
          <p:nvPr/>
        </p:nvSpPr>
        <p:spPr>
          <a:xfrm>
            <a:off x="762000" y="1620000"/>
            <a:ext cx="5600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📦  build.gradle 의존성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8"/>
          <p:cNvSpPr/>
          <p:nvPr/>
        </p:nvSpPr>
        <p:spPr>
          <a:xfrm>
            <a:off x="762000" y="1990000"/>
            <a:ext cx="5600000" cy="13800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8"/>
          <p:cNvSpPr txBox="1"/>
          <p:nvPr/>
        </p:nvSpPr>
        <p:spPr>
          <a:xfrm>
            <a:off x="914400" y="2104300"/>
            <a:ext cx="5295200" cy="11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DE68A"/>
                </a:solidFill>
                <a:latin typeface="Consolas"/>
                <a:ea typeface="Consolas"/>
                <a:cs typeface="Consolas"/>
                <a:sym typeface="Consolas"/>
              </a:rPr>
              <a:t>dependencies {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  // Actuator — 운영 엔드포인트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implementation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'org.springframework.boot: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   spring-boot-starter-actuator'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800"/>
              <a:buFont typeface="Consola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  // Prometheus 메트릭 레지스트리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implementation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'io.micrometer: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   micrometer-registry-prometheus'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8"/>
          <p:cNvSpPr txBox="1"/>
          <p:nvPr/>
        </p:nvSpPr>
        <p:spPr>
          <a:xfrm>
            <a:off x="762000" y="3480000"/>
            <a:ext cx="5600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⚙️  application.yml — 권장 설정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8"/>
          <p:cNvSpPr/>
          <p:nvPr/>
        </p:nvSpPr>
        <p:spPr>
          <a:xfrm>
            <a:off x="762000" y="3850000"/>
            <a:ext cx="5600000" cy="26500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8"/>
          <p:cNvSpPr txBox="1"/>
          <p:nvPr/>
        </p:nvSpPr>
        <p:spPr>
          <a:xfrm>
            <a:off x="914400" y="3964300"/>
            <a:ext cx="5295200" cy="24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DE68A"/>
                </a:solidFill>
                <a:latin typeface="Consolas"/>
                <a:ea typeface="Consolas"/>
                <a:cs typeface="Consolas"/>
                <a:sym typeface="Consolas"/>
              </a:rPr>
              <a:t>management: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endpoints: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web: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  exposure: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    include: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        - health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        - info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        - metrics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        - prometheus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endpoint: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health: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  show-details: always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prometheus: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  enabled: true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metrics: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tags: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  application: ${spring.application.name}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  environment: ${spring.profiles.active}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8"/>
          <p:cNvSpPr/>
          <p:nvPr/>
        </p:nvSpPr>
        <p:spPr>
          <a:xfrm>
            <a:off x="6700000" y="1620000"/>
            <a:ext cx="5180000" cy="590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8"/>
          <p:cNvSpPr/>
          <p:nvPr/>
        </p:nvSpPr>
        <p:spPr>
          <a:xfrm>
            <a:off x="6700000" y="1620000"/>
            <a:ext cx="5180000" cy="80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8"/>
          <p:cNvSpPr txBox="1"/>
          <p:nvPr/>
        </p:nvSpPr>
        <p:spPr>
          <a:xfrm>
            <a:off x="6840000" y="1700000"/>
            <a:ext cx="4980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7C3AED"/>
                </a:solidFill>
                <a:latin typeface="Poppins"/>
                <a:ea typeface="Poppins"/>
                <a:cs typeface="Poppins"/>
                <a:sym typeface="Poppins"/>
              </a:rPr>
              <a:t>💡  설정 핵심 포인트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8"/>
          <p:cNvSpPr/>
          <p:nvPr/>
        </p:nvSpPr>
        <p:spPr>
          <a:xfrm>
            <a:off x="6800000" y="2180000"/>
            <a:ext cx="4980000" cy="54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8"/>
          <p:cNvSpPr/>
          <p:nvPr/>
        </p:nvSpPr>
        <p:spPr>
          <a:xfrm>
            <a:off x="6800000" y="2180000"/>
            <a:ext cx="8000" cy="5400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8"/>
          <p:cNvSpPr txBox="1"/>
          <p:nvPr/>
        </p:nvSpPr>
        <p:spPr>
          <a:xfrm>
            <a:off x="6890000" y="2250000"/>
            <a:ext cx="480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include 설정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8"/>
          <p:cNvSpPr txBox="1"/>
          <p:nvPr/>
        </p:nvSpPr>
        <p:spPr>
          <a:xfrm>
            <a:off x="6890000" y="2480000"/>
            <a:ext cx="48000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health·metrics·prometheus만 노출 , </a:t>
            </a:r>
            <a:r>
              <a:rPr lang="en-US" sz="11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운영에서는 최소한으로 제한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t/>
            </a:r>
            <a:endParaRPr sz="115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1" name="Google Shape;481;p8"/>
          <p:cNvSpPr txBox="1"/>
          <p:nvPr/>
        </p:nvSpPr>
        <p:spPr>
          <a:xfrm>
            <a:off x="6890000" y="2640000"/>
            <a:ext cx="4800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8"/>
          <p:cNvSpPr/>
          <p:nvPr/>
        </p:nvSpPr>
        <p:spPr>
          <a:xfrm>
            <a:off x="6800000" y="2780000"/>
            <a:ext cx="4980000" cy="54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8"/>
          <p:cNvSpPr/>
          <p:nvPr/>
        </p:nvSpPr>
        <p:spPr>
          <a:xfrm>
            <a:off x="6800000" y="2780000"/>
            <a:ext cx="8000" cy="5400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8"/>
          <p:cNvSpPr txBox="1"/>
          <p:nvPr/>
        </p:nvSpPr>
        <p:spPr>
          <a:xfrm>
            <a:off x="6890000" y="2850000"/>
            <a:ext cx="480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show-details: always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8"/>
          <p:cNvSpPr txBox="1"/>
          <p:nvPr/>
        </p:nvSpPr>
        <p:spPr>
          <a:xfrm>
            <a:off x="6890000" y="3080000"/>
            <a:ext cx="48000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DB·디스크·캐시 등 상세 상태 표시, </a:t>
            </a:r>
            <a:r>
              <a:rPr lang="en-US" sz="11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(운영 환경에서는 WHEN_AUTHORIZED 권장)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t/>
            </a:r>
            <a:endParaRPr sz="115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6" name="Google Shape;486;p8"/>
          <p:cNvSpPr txBox="1"/>
          <p:nvPr/>
        </p:nvSpPr>
        <p:spPr>
          <a:xfrm>
            <a:off x="6890000" y="3240000"/>
            <a:ext cx="4800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8"/>
          <p:cNvSpPr/>
          <p:nvPr/>
        </p:nvSpPr>
        <p:spPr>
          <a:xfrm>
            <a:off x="6800000" y="3380000"/>
            <a:ext cx="4980000" cy="54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8"/>
          <p:cNvSpPr/>
          <p:nvPr/>
        </p:nvSpPr>
        <p:spPr>
          <a:xfrm>
            <a:off x="6800000" y="3380000"/>
            <a:ext cx="8000" cy="5400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8"/>
          <p:cNvSpPr txBox="1"/>
          <p:nvPr/>
        </p:nvSpPr>
        <p:spPr>
          <a:xfrm>
            <a:off x="6890000" y="3450000"/>
            <a:ext cx="480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application 태그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8"/>
          <p:cNvSpPr txBox="1"/>
          <p:nvPr/>
        </p:nvSpPr>
        <p:spPr>
          <a:xfrm>
            <a:off x="6890000" y="3680000"/>
            <a:ext cx="48000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여러 서비스 구분용 레이블 , </a:t>
            </a:r>
            <a:r>
              <a:rPr lang="en-US" sz="11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Grafana에서 서비스별 필터링 가능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t/>
            </a:r>
            <a:endParaRPr sz="115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1" name="Google Shape;491;p8"/>
          <p:cNvSpPr txBox="1"/>
          <p:nvPr/>
        </p:nvSpPr>
        <p:spPr>
          <a:xfrm>
            <a:off x="6890000" y="3840000"/>
            <a:ext cx="4800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8"/>
          <p:cNvSpPr/>
          <p:nvPr/>
        </p:nvSpPr>
        <p:spPr>
          <a:xfrm>
            <a:off x="6800000" y="3980000"/>
            <a:ext cx="4980000" cy="54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8"/>
          <p:cNvSpPr/>
          <p:nvPr/>
        </p:nvSpPr>
        <p:spPr>
          <a:xfrm>
            <a:off x="6800000" y="3980000"/>
            <a:ext cx="8000" cy="5400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8"/>
          <p:cNvSpPr txBox="1"/>
          <p:nvPr/>
        </p:nvSpPr>
        <p:spPr>
          <a:xfrm>
            <a:off x="6890000" y="4050000"/>
            <a:ext cx="480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environment 태그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8"/>
          <p:cNvSpPr txBox="1"/>
          <p:nvPr/>
        </p:nvSpPr>
        <p:spPr>
          <a:xfrm>
            <a:off x="6890000" y="4280000"/>
            <a:ext cx="48000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동일 서비스의 dev/prod 구분, </a:t>
            </a:r>
            <a:r>
              <a:rPr lang="en-US" sz="11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배포 환경별 알림 설정 가능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t/>
            </a:r>
            <a:endParaRPr sz="115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6" name="Google Shape;496;p8"/>
          <p:cNvSpPr txBox="1"/>
          <p:nvPr/>
        </p:nvSpPr>
        <p:spPr>
          <a:xfrm>
            <a:off x="6890000" y="4440000"/>
            <a:ext cx="4800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8"/>
          <p:cNvSpPr/>
          <p:nvPr/>
        </p:nvSpPr>
        <p:spPr>
          <a:xfrm>
            <a:off x="6800000" y="4580000"/>
            <a:ext cx="4980000" cy="54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8"/>
          <p:cNvSpPr/>
          <p:nvPr/>
        </p:nvSpPr>
        <p:spPr>
          <a:xfrm>
            <a:off x="6800000" y="4580000"/>
            <a:ext cx="8000" cy="5400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8"/>
          <p:cNvSpPr txBox="1"/>
          <p:nvPr/>
        </p:nvSpPr>
        <p:spPr>
          <a:xfrm>
            <a:off x="6890000" y="4650000"/>
            <a:ext cx="480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prometheus enabled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8"/>
          <p:cNvSpPr txBox="1"/>
          <p:nvPr/>
        </p:nvSpPr>
        <p:spPr>
          <a:xfrm>
            <a:off x="6890000" y="4880000"/>
            <a:ext cx="48000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Prometheus 포맷으로 변환 활성화, </a:t>
            </a:r>
            <a:r>
              <a:rPr lang="en-US" sz="11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미설정 시 기본값 false인 버전 주의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t/>
            </a:r>
            <a:endParaRPr sz="115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1" name="Google Shape;501;p8"/>
          <p:cNvSpPr txBox="1"/>
          <p:nvPr/>
        </p:nvSpPr>
        <p:spPr>
          <a:xfrm>
            <a:off x="6890000" y="5040000"/>
            <a:ext cx="4800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06" name="Google Shape;50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9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9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3150"/>
              <a:buFont typeface="Poppins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06  Spring Actuator — 주요 엔드포인트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9"/>
          <p:cNvSpPr txBox="1"/>
          <p:nvPr/>
        </p:nvSpPr>
        <p:spPr>
          <a:xfrm>
            <a:off x="952500" y="1220000"/>
            <a:ext cx="11001375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/actuator 하위의 다양한 엔드포인트로 애플리케이션 상태를 실시간 파악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9"/>
          <p:cNvSpPr/>
          <p:nvPr/>
        </p:nvSpPr>
        <p:spPr>
          <a:xfrm>
            <a:off x="762000" y="1600000"/>
            <a:ext cx="3370000" cy="380000"/>
          </a:xfrm>
          <a:prstGeom prst="rect">
            <a:avLst/>
          </a:prstGeom>
          <a:solidFill>
            <a:srgbClr val="1E2D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9"/>
          <p:cNvSpPr txBox="1"/>
          <p:nvPr/>
        </p:nvSpPr>
        <p:spPr>
          <a:xfrm>
            <a:off x="822000" y="1640000"/>
            <a:ext cx="328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엔드포인트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9"/>
          <p:cNvSpPr/>
          <p:nvPr/>
        </p:nvSpPr>
        <p:spPr>
          <a:xfrm>
            <a:off x="4220000" y="1600000"/>
            <a:ext cx="1970000" cy="380000"/>
          </a:xfrm>
          <a:prstGeom prst="rect">
            <a:avLst/>
          </a:prstGeom>
          <a:solidFill>
            <a:srgbClr val="1E2D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9"/>
          <p:cNvSpPr txBox="1"/>
          <p:nvPr/>
        </p:nvSpPr>
        <p:spPr>
          <a:xfrm>
            <a:off x="4280000" y="1640000"/>
            <a:ext cx="188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설명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9"/>
          <p:cNvSpPr/>
          <p:nvPr/>
        </p:nvSpPr>
        <p:spPr>
          <a:xfrm>
            <a:off x="6280000" y="1600000"/>
            <a:ext cx="1870000" cy="380000"/>
          </a:xfrm>
          <a:prstGeom prst="rect">
            <a:avLst/>
          </a:prstGeom>
          <a:solidFill>
            <a:srgbClr val="1E2D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9"/>
          <p:cNvSpPr txBox="1"/>
          <p:nvPr/>
        </p:nvSpPr>
        <p:spPr>
          <a:xfrm>
            <a:off x="6340000" y="1640000"/>
            <a:ext cx="178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운영 정책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9"/>
          <p:cNvSpPr/>
          <p:nvPr/>
        </p:nvSpPr>
        <p:spPr>
          <a:xfrm>
            <a:off x="8240000" y="1600000"/>
            <a:ext cx="3570000" cy="380000"/>
          </a:xfrm>
          <a:prstGeom prst="rect">
            <a:avLst/>
          </a:prstGeom>
          <a:solidFill>
            <a:srgbClr val="1E2D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9"/>
          <p:cNvSpPr txBox="1"/>
          <p:nvPr/>
        </p:nvSpPr>
        <p:spPr>
          <a:xfrm>
            <a:off x="8300000" y="1640000"/>
            <a:ext cx="348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응답 예시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9"/>
          <p:cNvSpPr/>
          <p:nvPr/>
        </p:nvSpPr>
        <p:spPr>
          <a:xfrm>
            <a:off x="762000" y="2040000"/>
            <a:ext cx="3370000" cy="53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9"/>
          <p:cNvSpPr/>
          <p:nvPr/>
        </p:nvSpPr>
        <p:spPr>
          <a:xfrm>
            <a:off x="4220000" y="2040000"/>
            <a:ext cx="1970000" cy="53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9"/>
          <p:cNvSpPr/>
          <p:nvPr/>
        </p:nvSpPr>
        <p:spPr>
          <a:xfrm>
            <a:off x="6280000" y="2040000"/>
            <a:ext cx="1870000" cy="53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9"/>
          <p:cNvSpPr/>
          <p:nvPr/>
        </p:nvSpPr>
        <p:spPr>
          <a:xfrm>
            <a:off x="8240000" y="2040000"/>
            <a:ext cx="3570000" cy="53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9"/>
          <p:cNvSpPr txBox="1"/>
          <p:nvPr/>
        </p:nvSpPr>
        <p:spPr>
          <a:xfrm>
            <a:off x="822000" y="2170000"/>
            <a:ext cx="328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50"/>
              <a:buFont typeface="Poppins"/>
              <a:buNone/>
            </a:pPr>
            <a:r>
              <a:rPr b="1" i="0" lang="en-US" sz="1050" u="none" cap="none" strike="noStrike">
                <a:solidFill>
                  <a:srgbClr val="16A34A"/>
                </a:solidFill>
                <a:latin typeface="Poppins"/>
                <a:ea typeface="Poppins"/>
                <a:cs typeface="Poppins"/>
                <a:sym typeface="Poppins"/>
              </a:rPr>
              <a:t>/actuator/health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9"/>
          <p:cNvSpPr txBox="1"/>
          <p:nvPr/>
        </p:nvSpPr>
        <p:spPr>
          <a:xfrm>
            <a:off x="4280000" y="2170000"/>
            <a:ext cx="188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1E2D4D"/>
                </a:solidFill>
                <a:latin typeface="Lato"/>
                <a:ea typeface="Lato"/>
                <a:cs typeface="Lato"/>
                <a:sym typeface="Lato"/>
              </a:rPr>
              <a:t>앱·DB·디스크·캐시 헬스 확인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9"/>
          <p:cNvSpPr txBox="1"/>
          <p:nvPr/>
        </p:nvSpPr>
        <p:spPr>
          <a:xfrm>
            <a:off x="6340000" y="2170000"/>
            <a:ext cx="178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16A34A"/>
                </a:solidFill>
                <a:latin typeface="Lato"/>
                <a:ea typeface="Lato"/>
                <a:cs typeface="Lato"/>
                <a:sym typeface="Lato"/>
              </a:rPr>
              <a:t>상시 노출 권장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9"/>
          <p:cNvSpPr txBox="1"/>
          <p:nvPr/>
        </p:nvSpPr>
        <p:spPr>
          <a:xfrm>
            <a:off x="8300000" y="2170000"/>
            <a:ext cx="348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Lato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{"status":"UP","components":{...}}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9"/>
          <p:cNvSpPr/>
          <p:nvPr/>
        </p:nvSpPr>
        <p:spPr>
          <a:xfrm>
            <a:off x="762000" y="2600000"/>
            <a:ext cx="3370000" cy="53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9"/>
          <p:cNvSpPr/>
          <p:nvPr/>
        </p:nvSpPr>
        <p:spPr>
          <a:xfrm>
            <a:off x="4220000" y="2600000"/>
            <a:ext cx="1970000" cy="53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9"/>
          <p:cNvSpPr/>
          <p:nvPr/>
        </p:nvSpPr>
        <p:spPr>
          <a:xfrm>
            <a:off x="6280000" y="2600000"/>
            <a:ext cx="1870000" cy="53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9"/>
          <p:cNvSpPr/>
          <p:nvPr/>
        </p:nvSpPr>
        <p:spPr>
          <a:xfrm>
            <a:off x="8240000" y="2600000"/>
            <a:ext cx="3570000" cy="53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9"/>
          <p:cNvSpPr txBox="1"/>
          <p:nvPr/>
        </p:nvSpPr>
        <p:spPr>
          <a:xfrm>
            <a:off x="822000" y="2730000"/>
            <a:ext cx="328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Poppins"/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/actuator/info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9"/>
          <p:cNvSpPr txBox="1"/>
          <p:nvPr/>
        </p:nvSpPr>
        <p:spPr>
          <a:xfrm>
            <a:off x="4280000" y="2730000"/>
            <a:ext cx="188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1E2D4D"/>
                </a:solidFill>
                <a:latin typeface="Lato"/>
                <a:ea typeface="Lato"/>
                <a:cs typeface="Lato"/>
                <a:sym typeface="Lato"/>
              </a:rPr>
              <a:t>앱 버전·빌드 정보 조회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9"/>
          <p:cNvSpPr txBox="1"/>
          <p:nvPr/>
        </p:nvSpPr>
        <p:spPr>
          <a:xfrm>
            <a:off x="6340000" y="2730000"/>
            <a:ext cx="178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상시 노출 권장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9"/>
          <p:cNvSpPr txBox="1"/>
          <p:nvPr/>
        </p:nvSpPr>
        <p:spPr>
          <a:xfrm>
            <a:off x="8300000" y="2730000"/>
            <a:ext cx="348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Lato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{"app":{"version":"1.0.0",...}}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9"/>
          <p:cNvSpPr/>
          <p:nvPr/>
        </p:nvSpPr>
        <p:spPr>
          <a:xfrm>
            <a:off x="762000" y="3160000"/>
            <a:ext cx="3370000" cy="53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9"/>
          <p:cNvSpPr/>
          <p:nvPr/>
        </p:nvSpPr>
        <p:spPr>
          <a:xfrm>
            <a:off x="4220000" y="3160000"/>
            <a:ext cx="1970000" cy="53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9"/>
          <p:cNvSpPr/>
          <p:nvPr/>
        </p:nvSpPr>
        <p:spPr>
          <a:xfrm>
            <a:off x="6280000" y="3160000"/>
            <a:ext cx="1870000" cy="53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9"/>
          <p:cNvSpPr/>
          <p:nvPr/>
        </p:nvSpPr>
        <p:spPr>
          <a:xfrm>
            <a:off x="8240000" y="3160000"/>
            <a:ext cx="3570000" cy="53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9"/>
          <p:cNvSpPr txBox="1"/>
          <p:nvPr/>
        </p:nvSpPr>
        <p:spPr>
          <a:xfrm>
            <a:off x="822000" y="3290000"/>
            <a:ext cx="328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50"/>
              <a:buFont typeface="Poppins"/>
              <a:buNone/>
            </a:pPr>
            <a:r>
              <a:rPr b="1" i="0" lang="en-US" sz="1050" u="none" cap="none" strike="noStrike">
                <a:solidFill>
                  <a:srgbClr val="7C3AED"/>
                </a:solidFill>
                <a:latin typeface="Poppins"/>
                <a:ea typeface="Poppins"/>
                <a:cs typeface="Poppins"/>
                <a:sym typeface="Poppins"/>
              </a:rPr>
              <a:t>/actuator/metrics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9"/>
          <p:cNvSpPr txBox="1"/>
          <p:nvPr/>
        </p:nvSpPr>
        <p:spPr>
          <a:xfrm>
            <a:off x="4280000" y="3290000"/>
            <a:ext cx="188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1E2D4D"/>
                </a:solidFill>
                <a:latin typeface="Lato"/>
                <a:ea typeface="Lato"/>
                <a:cs typeface="Lato"/>
                <a:sym typeface="Lato"/>
              </a:rPr>
              <a:t>사용 가능 메트릭 목록 조회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9"/>
          <p:cNvSpPr txBox="1"/>
          <p:nvPr/>
        </p:nvSpPr>
        <p:spPr>
          <a:xfrm>
            <a:off x="6340000" y="3290000"/>
            <a:ext cx="178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7C3AED"/>
                </a:solidFill>
                <a:latin typeface="Lato"/>
                <a:ea typeface="Lato"/>
                <a:cs typeface="Lato"/>
                <a:sym typeface="Lato"/>
              </a:rPr>
              <a:t>선택 노출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9"/>
          <p:cNvSpPr txBox="1"/>
          <p:nvPr/>
        </p:nvSpPr>
        <p:spPr>
          <a:xfrm>
            <a:off x="8300000" y="3290000"/>
            <a:ext cx="348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Lato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{"names":["jvm.memory.used",...]}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9"/>
          <p:cNvSpPr/>
          <p:nvPr/>
        </p:nvSpPr>
        <p:spPr>
          <a:xfrm>
            <a:off x="762000" y="3720000"/>
            <a:ext cx="3370000" cy="53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9"/>
          <p:cNvSpPr/>
          <p:nvPr/>
        </p:nvSpPr>
        <p:spPr>
          <a:xfrm>
            <a:off x="4220000" y="3720000"/>
            <a:ext cx="1970000" cy="53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9"/>
          <p:cNvSpPr/>
          <p:nvPr/>
        </p:nvSpPr>
        <p:spPr>
          <a:xfrm>
            <a:off x="6280000" y="3720000"/>
            <a:ext cx="1870000" cy="53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9"/>
          <p:cNvSpPr/>
          <p:nvPr/>
        </p:nvSpPr>
        <p:spPr>
          <a:xfrm>
            <a:off x="8240000" y="3720000"/>
            <a:ext cx="3570000" cy="53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9"/>
          <p:cNvSpPr txBox="1"/>
          <p:nvPr/>
        </p:nvSpPr>
        <p:spPr>
          <a:xfrm>
            <a:off x="822000" y="3850000"/>
            <a:ext cx="328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050"/>
              <a:buFont typeface="Poppins"/>
              <a:buNone/>
            </a:pPr>
            <a:r>
              <a:rPr b="1" i="0" lang="en-US" sz="1050" u="none" cap="none" strike="noStrike">
                <a:solidFill>
                  <a:srgbClr val="EA580C"/>
                </a:solidFill>
                <a:latin typeface="Poppins"/>
                <a:ea typeface="Poppins"/>
                <a:cs typeface="Poppins"/>
                <a:sym typeface="Poppins"/>
              </a:rPr>
              <a:t>/actuator/prometheus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9"/>
          <p:cNvSpPr txBox="1"/>
          <p:nvPr/>
        </p:nvSpPr>
        <p:spPr>
          <a:xfrm>
            <a:off x="4280000" y="3850000"/>
            <a:ext cx="188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1E2D4D"/>
                </a:solidFill>
                <a:latin typeface="Lato"/>
                <a:ea typeface="Lato"/>
                <a:cs typeface="Lato"/>
                <a:sym typeface="Lato"/>
              </a:rPr>
              <a:t>Prometheus 수집용 메트릭 출력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9"/>
          <p:cNvSpPr txBox="1"/>
          <p:nvPr/>
        </p:nvSpPr>
        <p:spPr>
          <a:xfrm>
            <a:off x="6340000" y="3850000"/>
            <a:ext cx="178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EA580C"/>
                </a:solidFill>
                <a:latin typeface="Lato"/>
                <a:ea typeface="Lato"/>
                <a:cs typeface="Lato"/>
                <a:sym typeface="Lato"/>
              </a:rPr>
              <a:t>내부망 전용 권장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9"/>
          <p:cNvSpPr txBox="1"/>
          <p:nvPr/>
        </p:nvSpPr>
        <p:spPr>
          <a:xfrm>
            <a:off x="8300000" y="3850000"/>
            <a:ext cx="348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Lato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# HELP jvm_memory_used_bytes...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9"/>
          <p:cNvSpPr/>
          <p:nvPr/>
        </p:nvSpPr>
        <p:spPr>
          <a:xfrm>
            <a:off x="762000" y="4280000"/>
            <a:ext cx="3370000" cy="53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9"/>
          <p:cNvSpPr/>
          <p:nvPr/>
        </p:nvSpPr>
        <p:spPr>
          <a:xfrm>
            <a:off x="4220000" y="4280000"/>
            <a:ext cx="1970000" cy="53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9"/>
          <p:cNvSpPr/>
          <p:nvPr/>
        </p:nvSpPr>
        <p:spPr>
          <a:xfrm>
            <a:off x="6280000" y="4280000"/>
            <a:ext cx="1870000" cy="53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9"/>
          <p:cNvSpPr/>
          <p:nvPr/>
        </p:nvSpPr>
        <p:spPr>
          <a:xfrm>
            <a:off x="8240000" y="4280000"/>
            <a:ext cx="3570000" cy="53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9"/>
          <p:cNvSpPr txBox="1"/>
          <p:nvPr/>
        </p:nvSpPr>
        <p:spPr>
          <a:xfrm>
            <a:off x="822000" y="4410000"/>
            <a:ext cx="328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Poppins"/>
              <a:buNone/>
            </a:pPr>
            <a:r>
              <a:rPr b="1" i="0" lang="en-US" sz="1050" u="none" cap="none" strike="noStrike">
                <a:solidFill>
                  <a:srgbClr val="DC2626"/>
                </a:solidFill>
                <a:latin typeface="Poppins"/>
                <a:ea typeface="Poppins"/>
                <a:cs typeface="Poppins"/>
                <a:sym typeface="Poppins"/>
              </a:rPr>
              <a:t>/actuator/env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9"/>
          <p:cNvSpPr txBox="1"/>
          <p:nvPr/>
        </p:nvSpPr>
        <p:spPr>
          <a:xfrm>
            <a:off x="4280000" y="4410000"/>
            <a:ext cx="188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1E2D4D"/>
                </a:solidFill>
                <a:latin typeface="Lato"/>
                <a:ea typeface="Lato"/>
                <a:cs typeface="Lato"/>
                <a:sym typeface="Lato"/>
              </a:rPr>
              <a:t>환경변수·프로퍼티 전체 조회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9"/>
          <p:cNvSpPr txBox="1"/>
          <p:nvPr/>
        </p:nvSpPr>
        <p:spPr>
          <a:xfrm>
            <a:off x="6340000" y="4410000"/>
            <a:ext cx="178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DC2626"/>
                </a:solidFill>
                <a:latin typeface="Lato"/>
                <a:ea typeface="Lato"/>
                <a:cs typeface="Lato"/>
                <a:sym typeface="Lato"/>
              </a:rPr>
              <a:t>⚠️ 보안 위험 — ADMIN만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9"/>
          <p:cNvSpPr txBox="1"/>
          <p:nvPr/>
        </p:nvSpPr>
        <p:spPr>
          <a:xfrm>
            <a:off x="8300000" y="4410000"/>
            <a:ext cx="348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Lato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{"activeProfiles":["prod"],...}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9"/>
          <p:cNvSpPr/>
          <p:nvPr/>
        </p:nvSpPr>
        <p:spPr>
          <a:xfrm>
            <a:off x="762000" y="4840000"/>
            <a:ext cx="3370000" cy="53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9"/>
          <p:cNvSpPr/>
          <p:nvPr/>
        </p:nvSpPr>
        <p:spPr>
          <a:xfrm>
            <a:off x="4220000" y="4840000"/>
            <a:ext cx="1970000" cy="53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9"/>
          <p:cNvSpPr/>
          <p:nvPr/>
        </p:nvSpPr>
        <p:spPr>
          <a:xfrm>
            <a:off x="6280000" y="4840000"/>
            <a:ext cx="1870000" cy="53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9"/>
          <p:cNvSpPr/>
          <p:nvPr/>
        </p:nvSpPr>
        <p:spPr>
          <a:xfrm>
            <a:off x="8240000" y="4840000"/>
            <a:ext cx="3570000" cy="53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9"/>
          <p:cNvSpPr txBox="1"/>
          <p:nvPr/>
        </p:nvSpPr>
        <p:spPr>
          <a:xfrm>
            <a:off x="822000" y="4970000"/>
            <a:ext cx="328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Poppins"/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/actuator/loggers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9"/>
          <p:cNvSpPr txBox="1"/>
          <p:nvPr/>
        </p:nvSpPr>
        <p:spPr>
          <a:xfrm>
            <a:off x="4280000" y="4970000"/>
            <a:ext cx="188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1E2D4D"/>
                </a:solidFill>
                <a:latin typeface="Lato"/>
                <a:ea typeface="Lato"/>
                <a:cs typeface="Lato"/>
                <a:sym typeface="Lato"/>
              </a:rPr>
              <a:t>로그 레벨 실시간 변경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9"/>
          <p:cNvSpPr txBox="1"/>
          <p:nvPr/>
        </p:nvSpPr>
        <p:spPr>
          <a:xfrm>
            <a:off x="6340000" y="4970000"/>
            <a:ext cx="178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운영 디버깅 유용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9"/>
          <p:cNvSpPr txBox="1"/>
          <p:nvPr/>
        </p:nvSpPr>
        <p:spPr>
          <a:xfrm>
            <a:off x="8300000" y="4970000"/>
            <a:ext cx="348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Lato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POST /actuator/loggers/{name}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9"/>
          <p:cNvSpPr/>
          <p:nvPr/>
        </p:nvSpPr>
        <p:spPr>
          <a:xfrm>
            <a:off x="762000" y="5400000"/>
            <a:ext cx="3370000" cy="53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9"/>
          <p:cNvSpPr/>
          <p:nvPr/>
        </p:nvSpPr>
        <p:spPr>
          <a:xfrm>
            <a:off x="4220000" y="5400000"/>
            <a:ext cx="1970000" cy="53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9"/>
          <p:cNvSpPr/>
          <p:nvPr/>
        </p:nvSpPr>
        <p:spPr>
          <a:xfrm>
            <a:off x="6280000" y="5400000"/>
            <a:ext cx="1870000" cy="53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9"/>
          <p:cNvSpPr/>
          <p:nvPr/>
        </p:nvSpPr>
        <p:spPr>
          <a:xfrm>
            <a:off x="8240000" y="5400000"/>
            <a:ext cx="3570000" cy="53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9"/>
          <p:cNvSpPr txBox="1"/>
          <p:nvPr/>
        </p:nvSpPr>
        <p:spPr>
          <a:xfrm>
            <a:off x="822000" y="5530000"/>
            <a:ext cx="328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Poppins"/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/actuator/threaddump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9"/>
          <p:cNvSpPr txBox="1"/>
          <p:nvPr/>
        </p:nvSpPr>
        <p:spPr>
          <a:xfrm>
            <a:off x="4280000" y="5530000"/>
            <a:ext cx="188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1E2D4D"/>
                </a:solidFill>
                <a:latin typeface="Lato"/>
                <a:ea typeface="Lato"/>
                <a:cs typeface="Lato"/>
                <a:sym typeface="Lato"/>
              </a:rPr>
              <a:t>스레드 덤프 분석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9"/>
          <p:cNvSpPr txBox="1"/>
          <p:nvPr/>
        </p:nvSpPr>
        <p:spPr>
          <a:xfrm>
            <a:off x="6340000" y="5530000"/>
            <a:ext cx="178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장애 분석용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9"/>
          <p:cNvSpPr txBox="1"/>
          <p:nvPr/>
        </p:nvSpPr>
        <p:spPr>
          <a:xfrm>
            <a:off x="8300000" y="5530000"/>
            <a:ext cx="348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Lato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{"threads":[{"name":"main",...}]}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9"/>
          <p:cNvSpPr/>
          <p:nvPr/>
        </p:nvSpPr>
        <p:spPr>
          <a:xfrm>
            <a:off x="762000" y="5960000"/>
            <a:ext cx="3370000" cy="53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9"/>
          <p:cNvSpPr/>
          <p:nvPr/>
        </p:nvSpPr>
        <p:spPr>
          <a:xfrm>
            <a:off x="4220000" y="5960000"/>
            <a:ext cx="1970000" cy="53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9"/>
          <p:cNvSpPr/>
          <p:nvPr/>
        </p:nvSpPr>
        <p:spPr>
          <a:xfrm>
            <a:off x="6280000" y="5960000"/>
            <a:ext cx="1870000" cy="53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9"/>
          <p:cNvSpPr/>
          <p:nvPr/>
        </p:nvSpPr>
        <p:spPr>
          <a:xfrm>
            <a:off x="8240000" y="5960000"/>
            <a:ext cx="3570000" cy="53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9"/>
          <p:cNvSpPr txBox="1"/>
          <p:nvPr/>
        </p:nvSpPr>
        <p:spPr>
          <a:xfrm>
            <a:off x="822000" y="6090000"/>
            <a:ext cx="328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Poppins"/>
              <a:buNone/>
            </a:pPr>
            <a:r>
              <a:rPr b="1" i="0" lang="en-US" sz="1050" u="none" cap="none" strike="noStrike">
                <a:solidFill>
                  <a:srgbClr val="DC2626"/>
                </a:solidFill>
                <a:latin typeface="Poppins"/>
                <a:ea typeface="Poppins"/>
                <a:cs typeface="Poppins"/>
                <a:sym typeface="Poppins"/>
              </a:rPr>
              <a:t>/actuator/heapdump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9"/>
          <p:cNvSpPr txBox="1"/>
          <p:nvPr/>
        </p:nvSpPr>
        <p:spPr>
          <a:xfrm>
            <a:off x="4280000" y="6090000"/>
            <a:ext cx="188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1E2D4D"/>
                </a:solidFill>
                <a:latin typeface="Lato"/>
                <a:ea typeface="Lato"/>
                <a:cs typeface="Lato"/>
                <a:sym typeface="Lato"/>
              </a:rPr>
              <a:t>힙 덤프 파일 다운로드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9"/>
          <p:cNvSpPr txBox="1"/>
          <p:nvPr/>
        </p:nvSpPr>
        <p:spPr>
          <a:xfrm>
            <a:off x="6340000" y="6090000"/>
            <a:ext cx="178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DC2626"/>
                </a:solidFill>
                <a:latin typeface="Lato"/>
                <a:ea typeface="Lato"/>
                <a:cs typeface="Lato"/>
                <a:sym typeface="Lato"/>
              </a:rPr>
              <a:t>⚠️ 보안 위험 — 주의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9"/>
          <p:cNvSpPr txBox="1"/>
          <p:nvPr/>
        </p:nvSpPr>
        <p:spPr>
          <a:xfrm>
            <a:off x="8300000" y="6090000"/>
            <a:ext cx="348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Lato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Binary 파일 다운로드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86" name="Google Shape;58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10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0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3150"/>
              <a:buFont typeface="Poppins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07  Prometheus — 개념 &amp; Pull 방식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0"/>
          <p:cNvSpPr txBox="1"/>
          <p:nvPr/>
        </p:nvSpPr>
        <p:spPr>
          <a:xfrm>
            <a:off x="952500" y="1220000"/>
            <a:ext cx="11001375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오픈소스 시계열 DB + 모니터링 시스템 — CNCF Graduated (2018)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0"/>
          <p:cNvSpPr/>
          <p:nvPr/>
        </p:nvSpPr>
        <p:spPr>
          <a:xfrm>
            <a:off x="762000" y="1620000"/>
            <a:ext cx="5200000" cy="3200000"/>
          </a:xfrm>
          <a:prstGeom prst="rect">
            <a:avLst/>
          </a:prstGeom>
          <a:solidFill>
            <a:srgbClr val="FFEDD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0"/>
          <p:cNvSpPr/>
          <p:nvPr/>
        </p:nvSpPr>
        <p:spPr>
          <a:xfrm>
            <a:off x="762000" y="1620000"/>
            <a:ext cx="5200000" cy="80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0"/>
          <p:cNvSpPr txBox="1"/>
          <p:nvPr/>
        </p:nvSpPr>
        <p:spPr>
          <a:xfrm>
            <a:off x="900000" y="1700000"/>
            <a:ext cx="5000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EA580C"/>
                </a:solidFill>
                <a:latin typeface="Poppins"/>
                <a:ea typeface="Poppins"/>
                <a:cs typeface="Poppins"/>
                <a:sym typeface="Poppins"/>
              </a:rPr>
              <a:t>🔥  Pull 방식 (Prometheus)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0"/>
          <p:cNvSpPr/>
          <p:nvPr/>
        </p:nvSpPr>
        <p:spPr>
          <a:xfrm>
            <a:off x="900000" y="2270000"/>
            <a:ext cx="70000" cy="700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0"/>
          <p:cNvSpPr txBox="1"/>
          <p:nvPr/>
        </p:nvSpPr>
        <p:spPr>
          <a:xfrm>
            <a:off x="1040000" y="2180000"/>
            <a:ext cx="487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Prometheus가 대상 서버를 직접 호출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0"/>
          <p:cNvSpPr/>
          <p:nvPr/>
        </p:nvSpPr>
        <p:spPr>
          <a:xfrm>
            <a:off x="900000" y="2560000"/>
            <a:ext cx="70000" cy="700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0"/>
          <p:cNvSpPr txBox="1"/>
          <p:nvPr/>
        </p:nvSpPr>
        <p:spPr>
          <a:xfrm>
            <a:off x="1040000" y="2470000"/>
            <a:ext cx="487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기본 15초 간격 스크랩 (설정 변경 가능)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0"/>
          <p:cNvSpPr/>
          <p:nvPr/>
        </p:nvSpPr>
        <p:spPr>
          <a:xfrm>
            <a:off x="900000" y="2850000"/>
            <a:ext cx="70000" cy="700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0"/>
          <p:cNvSpPr txBox="1"/>
          <p:nvPr/>
        </p:nvSpPr>
        <p:spPr>
          <a:xfrm>
            <a:off x="1040000" y="2760000"/>
            <a:ext cx="487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서버 부하를 Prometheus가 직접 통제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0"/>
          <p:cNvSpPr/>
          <p:nvPr/>
        </p:nvSpPr>
        <p:spPr>
          <a:xfrm>
            <a:off x="900000" y="3140000"/>
            <a:ext cx="70000" cy="700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0"/>
          <p:cNvSpPr txBox="1"/>
          <p:nvPr/>
        </p:nvSpPr>
        <p:spPr>
          <a:xfrm>
            <a:off x="1040000" y="3050000"/>
            <a:ext cx="487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대상 서버 장애 시 즉시 감지 가능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0"/>
          <p:cNvSpPr/>
          <p:nvPr/>
        </p:nvSpPr>
        <p:spPr>
          <a:xfrm>
            <a:off x="900000" y="3430000"/>
            <a:ext cx="70000" cy="700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0"/>
          <p:cNvSpPr txBox="1"/>
          <p:nvPr/>
        </p:nvSpPr>
        <p:spPr>
          <a:xfrm>
            <a:off x="1040000" y="3340000"/>
            <a:ext cx="487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중앙 집중식 수집 → 단일 장애점 주의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0"/>
          <p:cNvSpPr/>
          <p:nvPr/>
        </p:nvSpPr>
        <p:spPr>
          <a:xfrm>
            <a:off x="6250000" y="1620000"/>
            <a:ext cx="5680000" cy="320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0"/>
          <p:cNvSpPr/>
          <p:nvPr/>
        </p:nvSpPr>
        <p:spPr>
          <a:xfrm>
            <a:off x="6250000" y="1620000"/>
            <a:ext cx="5680000" cy="8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0"/>
          <p:cNvSpPr txBox="1"/>
          <p:nvPr/>
        </p:nvSpPr>
        <p:spPr>
          <a:xfrm>
            <a:off x="6390000" y="1700000"/>
            <a:ext cx="5480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📤  Push 방식 (StatsD, Graphite 등)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0"/>
          <p:cNvSpPr/>
          <p:nvPr/>
        </p:nvSpPr>
        <p:spPr>
          <a:xfrm>
            <a:off x="6390000" y="2270000"/>
            <a:ext cx="70000" cy="7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0"/>
          <p:cNvSpPr txBox="1"/>
          <p:nvPr/>
        </p:nvSpPr>
        <p:spPr>
          <a:xfrm>
            <a:off x="6530000" y="2180000"/>
            <a:ext cx="535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앱이 직접 모니터링 서버에 데이터 전송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0"/>
          <p:cNvSpPr/>
          <p:nvPr/>
        </p:nvSpPr>
        <p:spPr>
          <a:xfrm>
            <a:off x="6390000" y="2560000"/>
            <a:ext cx="70000" cy="7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0"/>
          <p:cNvSpPr txBox="1"/>
          <p:nvPr/>
        </p:nvSpPr>
        <p:spPr>
          <a:xfrm>
            <a:off x="6530000" y="2470000"/>
            <a:ext cx="535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방화벽 환경에서 유리 (outbound만 필요)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0"/>
          <p:cNvSpPr/>
          <p:nvPr/>
        </p:nvSpPr>
        <p:spPr>
          <a:xfrm>
            <a:off x="6390000" y="2850000"/>
            <a:ext cx="70000" cy="7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0"/>
          <p:cNvSpPr txBox="1"/>
          <p:nvPr/>
        </p:nvSpPr>
        <p:spPr>
          <a:xfrm>
            <a:off x="6530000" y="2760000"/>
            <a:ext cx="535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대상 서버가 메트릭 전송 주도권 보유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0"/>
          <p:cNvSpPr/>
          <p:nvPr/>
        </p:nvSpPr>
        <p:spPr>
          <a:xfrm>
            <a:off x="6390000" y="3140000"/>
            <a:ext cx="70000" cy="7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0"/>
          <p:cNvSpPr txBox="1"/>
          <p:nvPr/>
        </p:nvSpPr>
        <p:spPr>
          <a:xfrm>
            <a:off x="6530000" y="3050000"/>
            <a:ext cx="535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배치 작업처럼 단발성 작업에 적합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0"/>
          <p:cNvSpPr/>
          <p:nvPr/>
        </p:nvSpPr>
        <p:spPr>
          <a:xfrm>
            <a:off x="6390000" y="3430000"/>
            <a:ext cx="70000" cy="7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0"/>
          <p:cNvSpPr txBox="1"/>
          <p:nvPr/>
        </p:nvSpPr>
        <p:spPr>
          <a:xfrm>
            <a:off x="6530000" y="3340000"/>
            <a:ext cx="535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모니터링 서버 주소를 앱이 알아야 함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0"/>
          <p:cNvSpPr/>
          <p:nvPr/>
        </p:nvSpPr>
        <p:spPr>
          <a:xfrm>
            <a:off x="762000" y="4950000"/>
            <a:ext cx="10668000" cy="80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0"/>
          <p:cNvSpPr txBox="1"/>
          <p:nvPr/>
        </p:nvSpPr>
        <p:spPr>
          <a:xfrm>
            <a:off x="762000" y="5030000"/>
            <a:ext cx="10668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Prometheus 데이터 모델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0"/>
          <p:cNvSpPr txBox="1"/>
          <p:nvPr/>
        </p:nvSpPr>
        <p:spPr>
          <a:xfrm>
            <a:off x="762000" y="5330000"/>
            <a:ext cx="10668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EA580C"/>
                </a:solidFill>
                <a:latin typeface="Poppins"/>
                <a:ea typeface="Poppins"/>
                <a:cs typeface="Poppins"/>
                <a:sym typeface="Poppins"/>
              </a:rPr>
              <a:t>메트릭 형식: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http_server_requests_seconds_count{application="my-app", method="GET", status="200", uri="/api/users"}  1234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0"/>
          <p:cNvSpPr txBox="1"/>
          <p:nvPr/>
        </p:nvSpPr>
        <p:spPr>
          <a:xfrm>
            <a:off x="762000" y="5630000"/>
            <a:ext cx="10668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구성요소: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메트릭명(http_server_...)  +  레이블({...})  +  값(1234)  +  타임스탬프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24" name="Google Shape;62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11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1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3150"/>
              <a:buFont typeface="Poppins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08  Prometheus — 설정 &amp; PromQL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1"/>
          <p:cNvSpPr txBox="1"/>
          <p:nvPr/>
        </p:nvSpPr>
        <p:spPr>
          <a:xfrm>
            <a:off x="952500" y="1220000"/>
            <a:ext cx="11001375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prometheus.yml 설정과 핵심 PromQL 쿼리로 원하는 메트릭 추출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1"/>
          <p:cNvSpPr txBox="1"/>
          <p:nvPr/>
        </p:nvSpPr>
        <p:spPr>
          <a:xfrm>
            <a:off x="762000" y="1620000"/>
            <a:ext cx="5400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⚙️  prometheus.yml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1"/>
          <p:cNvSpPr/>
          <p:nvPr/>
        </p:nvSpPr>
        <p:spPr>
          <a:xfrm>
            <a:off x="762000" y="1990000"/>
            <a:ext cx="5400000" cy="26500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1"/>
          <p:cNvSpPr txBox="1"/>
          <p:nvPr/>
        </p:nvSpPr>
        <p:spPr>
          <a:xfrm>
            <a:off x="914400" y="2104300"/>
            <a:ext cx="5095200" cy="24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DE68A"/>
                </a:solidFill>
                <a:latin typeface="Consolas"/>
                <a:ea typeface="Consolas"/>
                <a:cs typeface="Consolas"/>
                <a:sym typeface="Consolas"/>
              </a:rPr>
              <a:t>global: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DE68A"/>
                </a:solidFill>
                <a:latin typeface="Consolas"/>
                <a:ea typeface="Consolas"/>
                <a:cs typeface="Consolas"/>
                <a:sym typeface="Consolas"/>
              </a:rPr>
              <a:t>  scrape_interval:     15s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evaluation_interval: 15s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800"/>
              <a:buFont typeface="Consola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DE68A"/>
                </a:solidFill>
                <a:latin typeface="Consolas"/>
                <a:ea typeface="Consolas"/>
                <a:cs typeface="Consolas"/>
                <a:sym typeface="Consolas"/>
              </a:rPr>
              <a:t>scrape_configs: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  # Spring Boot 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- job_name: 'spring-app'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metrics_path: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    '/actuator/prometheus'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DE68A"/>
                </a:solidFill>
                <a:latin typeface="Consolas"/>
                <a:ea typeface="Consolas"/>
                <a:cs typeface="Consolas"/>
                <a:sym typeface="Consolas"/>
              </a:rPr>
              <a:t>    scrape_interval: 10s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static_configs: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    - targets: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        - 'spring-app:8080'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relabel_configs: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    - source_labels: [__address__]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    target_label: instance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1"/>
          <p:cNvSpPr txBox="1"/>
          <p:nvPr/>
        </p:nvSpPr>
        <p:spPr>
          <a:xfrm>
            <a:off x="762000" y="4750000"/>
            <a:ext cx="5400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📝  자주 쓰는 PromQL 쿼리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1"/>
          <p:cNvSpPr/>
          <p:nvPr/>
        </p:nvSpPr>
        <p:spPr>
          <a:xfrm>
            <a:off x="762000" y="5160000"/>
            <a:ext cx="2620000" cy="136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1"/>
          <p:cNvSpPr/>
          <p:nvPr/>
        </p:nvSpPr>
        <p:spPr>
          <a:xfrm>
            <a:off x="762000" y="5160000"/>
            <a:ext cx="2620000" cy="80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1"/>
          <p:cNvSpPr txBox="1"/>
          <p:nvPr/>
        </p:nvSpPr>
        <p:spPr>
          <a:xfrm>
            <a:off x="842000" y="5240000"/>
            <a:ext cx="246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CPU 사용률 (%)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1"/>
          <p:cNvSpPr/>
          <p:nvPr/>
        </p:nvSpPr>
        <p:spPr>
          <a:xfrm>
            <a:off x="802000" y="5560000"/>
            <a:ext cx="2540000" cy="8200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1"/>
          <p:cNvSpPr txBox="1"/>
          <p:nvPr/>
        </p:nvSpPr>
        <p:spPr>
          <a:xfrm>
            <a:off x="954400" y="5674300"/>
            <a:ext cx="2235200" cy="5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process_cpu_usage * 100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1"/>
          <p:cNvSpPr/>
          <p:nvPr/>
        </p:nvSpPr>
        <p:spPr>
          <a:xfrm>
            <a:off x="3462000" y="5160000"/>
            <a:ext cx="2620000" cy="136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1"/>
          <p:cNvSpPr/>
          <p:nvPr/>
        </p:nvSpPr>
        <p:spPr>
          <a:xfrm>
            <a:off x="3462000" y="5160000"/>
            <a:ext cx="2620000" cy="8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1"/>
          <p:cNvSpPr txBox="1"/>
          <p:nvPr/>
        </p:nvSpPr>
        <p:spPr>
          <a:xfrm>
            <a:off x="3542000" y="5240000"/>
            <a:ext cx="246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힙 메모리 사용 (MB)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1"/>
          <p:cNvSpPr/>
          <p:nvPr/>
        </p:nvSpPr>
        <p:spPr>
          <a:xfrm>
            <a:off x="3502000" y="5560000"/>
            <a:ext cx="2540000" cy="8200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1"/>
          <p:cNvSpPr txBox="1"/>
          <p:nvPr/>
        </p:nvSpPr>
        <p:spPr>
          <a:xfrm>
            <a:off x="3654400" y="5674300"/>
            <a:ext cx="2235200" cy="5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jvm_memory_used_bytes{area="heap"} / 1024 / 1024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1"/>
          <p:cNvSpPr/>
          <p:nvPr/>
        </p:nvSpPr>
        <p:spPr>
          <a:xfrm>
            <a:off x="6162000" y="5160000"/>
            <a:ext cx="2620000" cy="136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1"/>
          <p:cNvSpPr/>
          <p:nvPr/>
        </p:nvSpPr>
        <p:spPr>
          <a:xfrm>
            <a:off x="6162000" y="5160000"/>
            <a:ext cx="2620000" cy="8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1"/>
          <p:cNvSpPr txBox="1"/>
          <p:nvPr/>
        </p:nvSpPr>
        <p:spPr>
          <a:xfrm>
            <a:off x="6242000" y="5240000"/>
            <a:ext cx="246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초당 HTTP 요청 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1"/>
          <p:cNvSpPr/>
          <p:nvPr/>
        </p:nvSpPr>
        <p:spPr>
          <a:xfrm>
            <a:off x="6202000" y="5560000"/>
            <a:ext cx="2540000" cy="8200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1"/>
          <p:cNvSpPr txBox="1"/>
          <p:nvPr/>
        </p:nvSpPr>
        <p:spPr>
          <a:xfrm>
            <a:off x="6354400" y="5674300"/>
            <a:ext cx="2235200" cy="5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rate(http_server_requests_seconds_count[1m])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1"/>
          <p:cNvSpPr/>
          <p:nvPr/>
        </p:nvSpPr>
        <p:spPr>
          <a:xfrm>
            <a:off x="8862000" y="5160000"/>
            <a:ext cx="2620000" cy="136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1"/>
          <p:cNvSpPr/>
          <p:nvPr/>
        </p:nvSpPr>
        <p:spPr>
          <a:xfrm>
            <a:off x="8862000" y="5160000"/>
            <a:ext cx="2620000" cy="80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1"/>
          <p:cNvSpPr txBox="1"/>
          <p:nvPr/>
        </p:nvSpPr>
        <p:spPr>
          <a:xfrm>
            <a:off x="8942000" y="5240000"/>
            <a:ext cx="246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DB 커넥션 활성 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1"/>
          <p:cNvSpPr/>
          <p:nvPr/>
        </p:nvSpPr>
        <p:spPr>
          <a:xfrm>
            <a:off x="8902000" y="5560000"/>
            <a:ext cx="2540000" cy="8200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1"/>
          <p:cNvSpPr txBox="1"/>
          <p:nvPr/>
        </p:nvSpPr>
        <p:spPr>
          <a:xfrm>
            <a:off x="9054400" y="5674300"/>
            <a:ext cx="2235200" cy="5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hikaricp_connections_active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1"/>
          <p:cNvSpPr txBox="1"/>
          <p:nvPr/>
        </p:nvSpPr>
        <p:spPr>
          <a:xfrm>
            <a:off x="6600000" y="1620000"/>
            <a:ext cx="5280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🚀  고급 PromQL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1"/>
          <p:cNvSpPr/>
          <p:nvPr/>
        </p:nvSpPr>
        <p:spPr>
          <a:xfrm>
            <a:off x="6600000" y="1990000"/>
            <a:ext cx="5280000" cy="58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1"/>
          <p:cNvSpPr txBox="1"/>
          <p:nvPr/>
        </p:nvSpPr>
        <p:spPr>
          <a:xfrm>
            <a:off x="6700000" y="2060000"/>
            <a:ext cx="510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P99 응답시간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1"/>
          <p:cNvSpPr/>
          <p:nvPr/>
        </p:nvSpPr>
        <p:spPr>
          <a:xfrm>
            <a:off x="6700000" y="2280000"/>
            <a:ext cx="5100000" cy="2700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1"/>
          <p:cNvSpPr txBox="1"/>
          <p:nvPr/>
        </p:nvSpPr>
        <p:spPr>
          <a:xfrm>
            <a:off x="6852400" y="2394300"/>
            <a:ext cx="4795200" cy="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histogram_quantile(0.99,   rate(http_server_requests   _seconds_bucket[5m]))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1"/>
          <p:cNvSpPr/>
          <p:nvPr/>
        </p:nvSpPr>
        <p:spPr>
          <a:xfrm>
            <a:off x="6600000" y="2630000"/>
            <a:ext cx="5280000" cy="58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1"/>
          <p:cNvSpPr txBox="1"/>
          <p:nvPr/>
        </p:nvSpPr>
        <p:spPr>
          <a:xfrm>
            <a:off x="6700000" y="2700000"/>
            <a:ext cx="510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에러율 (%)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1"/>
          <p:cNvSpPr/>
          <p:nvPr/>
        </p:nvSpPr>
        <p:spPr>
          <a:xfrm>
            <a:off x="6700000" y="2920000"/>
            <a:ext cx="5100000" cy="2700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1"/>
          <p:cNvSpPr txBox="1"/>
          <p:nvPr/>
        </p:nvSpPr>
        <p:spPr>
          <a:xfrm>
            <a:off x="6852400" y="3034300"/>
            <a:ext cx="4795200" cy="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rate(http_server_requests   _seconds_count{status=~"5.."}[5m]) / rate(http_server_requests   _seconds_count[5m]) * 100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1"/>
          <p:cNvSpPr/>
          <p:nvPr/>
        </p:nvSpPr>
        <p:spPr>
          <a:xfrm>
            <a:off x="6600000" y="3270000"/>
            <a:ext cx="5280000" cy="58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1"/>
          <p:cNvSpPr txBox="1"/>
          <p:nvPr/>
        </p:nvSpPr>
        <p:spPr>
          <a:xfrm>
            <a:off x="6700000" y="3340000"/>
            <a:ext cx="510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GC 일시정지 시간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1"/>
          <p:cNvSpPr/>
          <p:nvPr/>
        </p:nvSpPr>
        <p:spPr>
          <a:xfrm>
            <a:off x="6700000" y="3560000"/>
            <a:ext cx="5100000" cy="2700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1"/>
          <p:cNvSpPr txBox="1"/>
          <p:nvPr/>
        </p:nvSpPr>
        <p:spPr>
          <a:xfrm>
            <a:off x="6852400" y="3674300"/>
            <a:ext cx="4795200" cy="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rate(jvm_gc_pause_seconds   _sum[5m])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1"/>
          <p:cNvSpPr/>
          <p:nvPr/>
        </p:nvSpPr>
        <p:spPr>
          <a:xfrm>
            <a:off x="6600000" y="3910000"/>
            <a:ext cx="5280000" cy="58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1"/>
          <p:cNvSpPr txBox="1"/>
          <p:nvPr/>
        </p:nvSpPr>
        <p:spPr>
          <a:xfrm>
            <a:off x="6700000" y="3980000"/>
            <a:ext cx="510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DB 커넥션 사용률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1"/>
          <p:cNvSpPr/>
          <p:nvPr/>
        </p:nvSpPr>
        <p:spPr>
          <a:xfrm>
            <a:off x="6700000" y="4200000"/>
            <a:ext cx="5100000" cy="2700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1"/>
          <p:cNvSpPr txBox="1"/>
          <p:nvPr/>
        </p:nvSpPr>
        <p:spPr>
          <a:xfrm>
            <a:off x="6852400" y="4314300"/>
            <a:ext cx="4795200" cy="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hikaricp_connections_active / hikaricp_connections_max * 100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1"/>
          <p:cNvSpPr/>
          <p:nvPr/>
        </p:nvSpPr>
        <p:spPr>
          <a:xfrm>
            <a:off x="6600000" y="4550000"/>
            <a:ext cx="5280000" cy="58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1"/>
          <p:cNvSpPr txBox="1"/>
          <p:nvPr/>
        </p:nvSpPr>
        <p:spPr>
          <a:xfrm>
            <a:off x="6700000" y="4620000"/>
            <a:ext cx="510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스레드 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1"/>
          <p:cNvSpPr/>
          <p:nvPr/>
        </p:nvSpPr>
        <p:spPr>
          <a:xfrm>
            <a:off x="6700000" y="4840000"/>
            <a:ext cx="5100000" cy="2700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1"/>
          <p:cNvSpPr txBox="1"/>
          <p:nvPr/>
        </p:nvSpPr>
        <p:spPr>
          <a:xfrm>
            <a:off x="6852400" y="4954300"/>
            <a:ext cx="4795200" cy="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jvm_threads_live_threads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77" name="Google Shape;67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12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12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3150"/>
              <a:buFont typeface="Poppins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09  Grafana — 대시보드 구성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2"/>
          <p:cNvSpPr txBox="1"/>
          <p:nvPr/>
        </p:nvSpPr>
        <p:spPr>
          <a:xfrm>
            <a:off x="952500" y="1220000"/>
            <a:ext cx="11001375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Prometheus 데이터를 실시간 대시보드로 시각화 — Import ID로 즉시 구성 가능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12"/>
          <p:cNvSpPr/>
          <p:nvPr/>
        </p:nvSpPr>
        <p:spPr>
          <a:xfrm>
            <a:off x="762000" y="1630000"/>
            <a:ext cx="3600000" cy="420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2"/>
          <p:cNvSpPr/>
          <p:nvPr/>
        </p:nvSpPr>
        <p:spPr>
          <a:xfrm>
            <a:off x="762000" y="1630000"/>
            <a:ext cx="3600000" cy="8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12"/>
          <p:cNvSpPr/>
          <p:nvPr/>
        </p:nvSpPr>
        <p:spPr>
          <a:xfrm>
            <a:off x="762000" y="1630000"/>
            <a:ext cx="700000" cy="58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12"/>
          <p:cNvSpPr txBox="1"/>
          <p:nvPr/>
        </p:nvSpPr>
        <p:spPr>
          <a:xfrm>
            <a:off x="862000" y="1700000"/>
            <a:ext cx="56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1단계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2"/>
          <p:cNvSpPr txBox="1"/>
          <p:nvPr/>
        </p:nvSpPr>
        <p:spPr>
          <a:xfrm>
            <a:off x="1522000" y="1720000"/>
            <a:ext cx="2790000" cy="3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데이터소스 연동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2"/>
          <p:cNvSpPr/>
          <p:nvPr/>
        </p:nvSpPr>
        <p:spPr>
          <a:xfrm>
            <a:off x="862000" y="2420000"/>
            <a:ext cx="70000" cy="7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2"/>
          <p:cNvSpPr txBox="1"/>
          <p:nvPr/>
        </p:nvSpPr>
        <p:spPr>
          <a:xfrm>
            <a:off x="1002000" y="2330000"/>
            <a:ext cx="329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Configuration → Data Sources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2"/>
          <p:cNvSpPr/>
          <p:nvPr/>
        </p:nvSpPr>
        <p:spPr>
          <a:xfrm>
            <a:off x="862000" y="2720000"/>
            <a:ext cx="70000" cy="7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2"/>
          <p:cNvSpPr txBox="1"/>
          <p:nvPr/>
        </p:nvSpPr>
        <p:spPr>
          <a:xfrm>
            <a:off x="1002000" y="2630000"/>
            <a:ext cx="329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Add data source → Prometheus 선택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2"/>
          <p:cNvSpPr/>
          <p:nvPr/>
        </p:nvSpPr>
        <p:spPr>
          <a:xfrm>
            <a:off x="862000" y="3020000"/>
            <a:ext cx="70000" cy="7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2"/>
          <p:cNvSpPr txBox="1"/>
          <p:nvPr/>
        </p:nvSpPr>
        <p:spPr>
          <a:xfrm>
            <a:off x="1002000" y="2930000"/>
            <a:ext cx="329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URL: http://prometheus:9090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2"/>
          <p:cNvSpPr/>
          <p:nvPr/>
        </p:nvSpPr>
        <p:spPr>
          <a:xfrm>
            <a:off x="862000" y="3320000"/>
            <a:ext cx="70000" cy="7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2"/>
          <p:cNvSpPr txBox="1"/>
          <p:nvPr/>
        </p:nvSpPr>
        <p:spPr>
          <a:xfrm>
            <a:off x="1002000" y="3230000"/>
            <a:ext cx="329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Save &amp; Test → 녹색 확인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2"/>
          <p:cNvSpPr/>
          <p:nvPr/>
        </p:nvSpPr>
        <p:spPr>
          <a:xfrm>
            <a:off x="4542000" y="1630000"/>
            <a:ext cx="3600000" cy="420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2"/>
          <p:cNvSpPr/>
          <p:nvPr/>
        </p:nvSpPr>
        <p:spPr>
          <a:xfrm>
            <a:off x="4542000" y="1630000"/>
            <a:ext cx="3600000" cy="8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2"/>
          <p:cNvSpPr/>
          <p:nvPr/>
        </p:nvSpPr>
        <p:spPr>
          <a:xfrm>
            <a:off x="4542000" y="1630000"/>
            <a:ext cx="700000" cy="58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2"/>
          <p:cNvSpPr txBox="1"/>
          <p:nvPr/>
        </p:nvSpPr>
        <p:spPr>
          <a:xfrm>
            <a:off x="4642000" y="1700000"/>
            <a:ext cx="56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2단계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2"/>
          <p:cNvSpPr txBox="1"/>
          <p:nvPr/>
        </p:nvSpPr>
        <p:spPr>
          <a:xfrm>
            <a:off x="5302000" y="1720000"/>
            <a:ext cx="2790000" cy="3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대시보드 Import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2"/>
          <p:cNvSpPr/>
          <p:nvPr/>
        </p:nvSpPr>
        <p:spPr>
          <a:xfrm>
            <a:off x="4642000" y="2420000"/>
            <a:ext cx="70000" cy="7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2"/>
          <p:cNvSpPr txBox="1"/>
          <p:nvPr/>
        </p:nvSpPr>
        <p:spPr>
          <a:xfrm>
            <a:off x="4782000" y="2330000"/>
            <a:ext cx="329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+ 버튼 → Import dashboard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2"/>
          <p:cNvSpPr/>
          <p:nvPr/>
        </p:nvSpPr>
        <p:spPr>
          <a:xfrm>
            <a:off x="4642000" y="2720000"/>
            <a:ext cx="70000" cy="7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2"/>
          <p:cNvSpPr txBox="1"/>
          <p:nvPr/>
        </p:nvSpPr>
        <p:spPr>
          <a:xfrm>
            <a:off x="4782000" y="2630000"/>
            <a:ext cx="329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ID 입력: 4701 (JVM 대시보드)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2"/>
          <p:cNvSpPr/>
          <p:nvPr/>
        </p:nvSpPr>
        <p:spPr>
          <a:xfrm>
            <a:off x="4642000" y="3020000"/>
            <a:ext cx="70000" cy="7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2"/>
          <p:cNvSpPr txBox="1"/>
          <p:nvPr/>
        </p:nvSpPr>
        <p:spPr>
          <a:xfrm>
            <a:off x="4782000" y="2930000"/>
            <a:ext cx="329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Prometheus 데이터소스 선택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2"/>
          <p:cNvSpPr/>
          <p:nvPr/>
        </p:nvSpPr>
        <p:spPr>
          <a:xfrm>
            <a:off x="4642000" y="3320000"/>
            <a:ext cx="70000" cy="7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2"/>
          <p:cNvSpPr txBox="1"/>
          <p:nvPr/>
        </p:nvSpPr>
        <p:spPr>
          <a:xfrm>
            <a:off x="4782000" y="3230000"/>
            <a:ext cx="329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Import 클릭 → 즉시 사용 가능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2"/>
          <p:cNvSpPr/>
          <p:nvPr/>
        </p:nvSpPr>
        <p:spPr>
          <a:xfrm>
            <a:off x="8322000" y="1630000"/>
            <a:ext cx="3600000" cy="420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12"/>
          <p:cNvSpPr/>
          <p:nvPr/>
        </p:nvSpPr>
        <p:spPr>
          <a:xfrm>
            <a:off x="8322000" y="1630000"/>
            <a:ext cx="3600000" cy="80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12"/>
          <p:cNvSpPr/>
          <p:nvPr/>
        </p:nvSpPr>
        <p:spPr>
          <a:xfrm>
            <a:off x="8322000" y="1630000"/>
            <a:ext cx="700000" cy="5800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2"/>
          <p:cNvSpPr txBox="1"/>
          <p:nvPr/>
        </p:nvSpPr>
        <p:spPr>
          <a:xfrm>
            <a:off x="8422000" y="1700000"/>
            <a:ext cx="56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3단계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12"/>
          <p:cNvSpPr txBox="1"/>
          <p:nvPr/>
        </p:nvSpPr>
        <p:spPr>
          <a:xfrm>
            <a:off x="9082000" y="1720000"/>
            <a:ext cx="2790000" cy="3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패널 커스텀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2"/>
          <p:cNvSpPr/>
          <p:nvPr/>
        </p:nvSpPr>
        <p:spPr>
          <a:xfrm>
            <a:off x="8422000" y="2420000"/>
            <a:ext cx="70000" cy="700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2"/>
          <p:cNvSpPr txBox="1"/>
          <p:nvPr/>
        </p:nvSpPr>
        <p:spPr>
          <a:xfrm>
            <a:off x="8562000" y="2330000"/>
            <a:ext cx="329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Add panel → 새 패널 추가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2"/>
          <p:cNvSpPr/>
          <p:nvPr/>
        </p:nvSpPr>
        <p:spPr>
          <a:xfrm>
            <a:off x="8422000" y="2720000"/>
            <a:ext cx="70000" cy="700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2"/>
          <p:cNvSpPr txBox="1"/>
          <p:nvPr/>
        </p:nvSpPr>
        <p:spPr>
          <a:xfrm>
            <a:off x="8562000" y="2630000"/>
            <a:ext cx="329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PromQL 쿼리 직접 입력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2"/>
          <p:cNvSpPr/>
          <p:nvPr/>
        </p:nvSpPr>
        <p:spPr>
          <a:xfrm>
            <a:off x="8422000" y="3020000"/>
            <a:ext cx="70000" cy="700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12"/>
          <p:cNvSpPr txBox="1"/>
          <p:nvPr/>
        </p:nvSpPr>
        <p:spPr>
          <a:xfrm>
            <a:off x="8562000" y="2930000"/>
            <a:ext cx="329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시각화 유형 선택 (Graph/Gauge/Table)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2"/>
          <p:cNvSpPr/>
          <p:nvPr/>
        </p:nvSpPr>
        <p:spPr>
          <a:xfrm>
            <a:off x="8422000" y="3320000"/>
            <a:ext cx="70000" cy="700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2"/>
          <p:cNvSpPr txBox="1"/>
          <p:nvPr/>
        </p:nvSpPr>
        <p:spPr>
          <a:xfrm>
            <a:off x="8562000" y="3230000"/>
            <a:ext cx="329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임계값 색상 설정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12"/>
          <p:cNvSpPr/>
          <p:nvPr/>
        </p:nvSpPr>
        <p:spPr>
          <a:xfrm>
            <a:off x="762000" y="5940000"/>
            <a:ext cx="10668000" cy="80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12"/>
          <p:cNvSpPr txBox="1"/>
          <p:nvPr/>
        </p:nvSpPr>
        <p:spPr>
          <a:xfrm>
            <a:off x="762000" y="6020000"/>
            <a:ext cx="10668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🏆  추천 Import 대시보드 ID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2"/>
          <p:cNvSpPr txBox="1"/>
          <p:nvPr/>
        </p:nvSpPr>
        <p:spPr>
          <a:xfrm>
            <a:off x="762000" y="6360000"/>
            <a:ext cx="28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A580C"/>
                </a:solidFill>
                <a:latin typeface="Poppins"/>
                <a:ea typeface="Poppins"/>
                <a:cs typeface="Poppins"/>
                <a:sym typeface="Poppins"/>
              </a:rPr>
              <a:t>4701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JVM (Micrometer)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Spring JVM 전체 메트릭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2"/>
          <p:cNvSpPr txBox="1"/>
          <p:nvPr/>
        </p:nvSpPr>
        <p:spPr>
          <a:xfrm>
            <a:off x="3712000" y="6360000"/>
            <a:ext cx="28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A580C"/>
                </a:solidFill>
                <a:latin typeface="Poppins"/>
                <a:ea typeface="Poppins"/>
                <a:cs typeface="Poppins"/>
                <a:sym typeface="Poppins"/>
              </a:rPr>
              <a:t>11378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Spring Boot 2.1+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HTTP·JVM 통합 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12"/>
          <p:cNvSpPr txBox="1"/>
          <p:nvPr/>
        </p:nvSpPr>
        <p:spPr>
          <a:xfrm>
            <a:off x="6662000" y="6360000"/>
            <a:ext cx="28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A580C"/>
                </a:solidFill>
                <a:latin typeface="Poppins"/>
                <a:ea typeface="Poppins"/>
                <a:cs typeface="Poppins"/>
                <a:sym typeface="Poppins"/>
              </a:rPr>
              <a:t>12900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HikariCP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DB 커넥션 풀 상세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12"/>
          <p:cNvSpPr txBox="1"/>
          <p:nvPr/>
        </p:nvSpPr>
        <p:spPr>
          <a:xfrm>
            <a:off x="9612000" y="6360000"/>
            <a:ext cx="28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A580C"/>
                </a:solidFill>
                <a:latin typeface="Poppins"/>
                <a:ea typeface="Poppins"/>
                <a:cs typeface="Poppins"/>
                <a:sym typeface="Poppins"/>
              </a:rPr>
              <a:t>1860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Node Exporter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서버 OS 레벨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30" name="Google Shape;73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13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13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3150"/>
              <a:buFont typeface="Poppins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09-1  Grafana — 실제 대시보드 화면 예시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13"/>
          <p:cNvSpPr txBox="1"/>
          <p:nvPr/>
        </p:nvSpPr>
        <p:spPr>
          <a:xfrm>
            <a:off x="952500" y="1220000"/>
            <a:ext cx="11001375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이런 화면이 자동으로 만들어집니다 — Import ID 11378 기준 Spring Boot 모니터링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13"/>
          <p:cNvSpPr/>
          <p:nvPr/>
        </p:nvSpPr>
        <p:spPr>
          <a:xfrm>
            <a:off x="762000" y="1570000"/>
            <a:ext cx="10668000" cy="5050000"/>
          </a:xfrm>
          <a:prstGeom prst="rect">
            <a:avLst/>
          </a:prstGeom>
          <a:solidFill>
            <a:srgbClr val="1118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13"/>
          <p:cNvSpPr/>
          <p:nvPr/>
        </p:nvSpPr>
        <p:spPr>
          <a:xfrm>
            <a:off x="762000" y="1570000"/>
            <a:ext cx="10668000" cy="420000"/>
          </a:xfrm>
          <a:prstGeom prst="rect">
            <a:avLst/>
          </a:prstGeom>
          <a:solidFill>
            <a:srgbClr val="1F29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3"/>
          <p:cNvSpPr txBox="1"/>
          <p:nvPr/>
        </p:nvSpPr>
        <p:spPr>
          <a:xfrm>
            <a:off x="892000" y="1660000"/>
            <a:ext cx="130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F97316"/>
                </a:solidFill>
                <a:latin typeface="Poppins"/>
                <a:ea typeface="Poppins"/>
                <a:cs typeface="Poppins"/>
                <a:sym typeface="Poppins"/>
              </a:rPr>
              <a:t>▶  Grafana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13"/>
          <p:cNvSpPr txBox="1"/>
          <p:nvPr/>
        </p:nvSpPr>
        <p:spPr>
          <a:xfrm>
            <a:off x="2312000" y="1660000"/>
            <a:ext cx="550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D1D5DB"/>
                </a:solidFill>
                <a:latin typeface="Poppins"/>
                <a:ea typeface="Poppins"/>
                <a:cs typeface="Poppins"/>
                <a:sym typeface="Poppins"/>
              </a:rPr>
              <a:t>카드 처리 모니터링 대시보드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13"/>
          <p:cNvSpPr txBox="1"/>
          <p:nvPr/>
        </p:nvSpPr>
        <p:spPr>
          <a:xfrm>
            <a:off x="8830000" y="1670000"/>
            <a:ext cx="245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Last 1h  ▼    🔄  10s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3"/>
          <p:cNvSpPr/>
          <p:nvPr/>
        </p:nvSpPr>
        <p:spPr>
          <a:xfrm>
            <a:off x="11180000" y="1725000"/>
            <a:ext cx="120000" cy="1200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13"/>
          <p:cNvSpPr/>
          <p:nvPr/>
        </p:nvSpPr>
        <p:spPr>
          <a:xfrm>
            <a:off x="862000" y="2060000"/>
            <a:ext cx="2542000" cy="870000"/>
          </a:xfrm>
          <a:prstGeom prst="rect">
            <a:avLst/>
          </a:prstGeom>
          <a:solidFill>
            <a:srgbClr val="1F29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13"/>
          <p:cNvSpPr/>
          <p:nvPr/>
        </p:nvSpPr>
        <p:spPr>
          <a:xfrm>
            <a:off x="862000" y="2060000"/>
            <a:ext cx="2542000" cy="5000"/>
          </a:xfrm>
          <a:prstGeom prst="rect">
            <a:avLst/>
          </a:prstGeom>
          <a:solidFill>
            <a:srgbClr val="4ADE8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13"/>
          <p:cNvSpPr txBox="1"/>
          <p:nvPr/>
        </p:nvSpPr>
        <p:spPr>
          <a:xfrm>
            <a:off x="942000" y="2120000"/>
            <a:ext cx="2382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Lato"/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CPU 사용률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3"/>
          <p:cNvSpPr txBox="1"/>
          <p:nvPr/>
        </p:nvSpPr>
        <p:spPr>
          <a:xfrm>
            <a:off x="942000" y="2340000"/>
            <a:ext cx="2382000" cy="3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4ADE80"/>
                </a:solidFill>
                <a:latin typeface="Poppins"/>
                <a:ea typeface="Poppins"/>
                <a:cs typeface="Poppins"/>
                <a:sym typeface="Poppins"/>
              </a:rPr>
              <a:t>45.2 %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13"/>
          <p:cNvSpPr txBox="1"/>
          <p:nvPr/>
        </p:nvSpPr>
        <p:spPr>
          <a:xfrm>
            <a:off x="942000" y="2700000"/>
            <a:ext cx="2382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Lato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정상 &lt; 80%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13"/>
          <p:cNvSpPr/>
          <p:nvPr/>
        </p:nvSpPr>
        <p:spPr>
          <a:xfrm>
            <a:off x="3504000" y="2060000"/>
            <a:ext cx="2542000" cy="870000"/>
          </a:xfrm>
          <a:prstGeom prst="rect">
            <a:avLst/>
          </a:prstGeom>
          <a:solidFill>
            <a:srgbClr val="1F29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13"/>
          <p:cNvSpPr/>
          <p:nvPr/>
        </p:nvSpPr>
        <p:spPr>
          <a:xfrm>
            <a:off x="3504000" y="2060000"/>
            <a:ext cx="2542000" cy="5000"/>
          </a:xfrm>
          <a:prstGeom prst="rect">
            <a:avLst/>
          </a:prstGeom>
          <a:solidFill>
            <a:srgbClr val="FACC1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13"/>
          <p:cNvSpPr txBox="1"/>
          <p:nvPr/>
        </p:nvSpPr>
        <p:spPr>
          <a:xfrm>
            <a:off x="3584000" y="2120000"/>
            <a:ext cx="2382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Lato"/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메모리 사용률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13"/>
          <p:cNvSpPr txBox="1"/>
          <p:nvPr/>
        </p:nvSpPr>
        <p:spPr>
          <a:xfrm>
            <a:off x="3584000" y="2340000"/>
            <a:ext cx="2382000" cy="3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ACC15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FACC15"/>
                </a:solidFill>
                <a:latin typeface="Poppins"/>
                <a:ea typeface="Poppins"/>
                <a:cs typeface="Poppins"/>
                <a:sym typeface="Poppins"/>
              </a:rPr>
              <a:t>68.1 %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13"/>
          <p:cNvSpPr txBox="1"/>
          <p:nvPr/>
        </p:nvSpPr>
        <p:spPr>
          <a:xfrm>
            <a:off x="3584000" y="2700000"/>
            <a:ext cx="2382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Lato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주의 &gt; 85%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13"/>
          <p:cNvSpPr/>
          <p:nvPr/>
        </p:nvSpPr>
        <p:spPr>
          <a:xfrm>
            <a:off x="6146000" y="2060000"/>
            <a:ext cx="2542000" cy="870000"/>
          </a:xfrm>
          <a:prstGeom prst="rect">
            <a:avLst/>
          </a:prstGeom>
          <a:solidFill>
            <a:srgbClr val="1F29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3"/>
          <p:cNvSpPr/>
          <p:nvPr/>
        </p:nvSpPr>
        <p:spPr>
          <a:xfrm>
            <a:off x="6146000" y="2060000"/>
            <a:ext cx="2542000" cy="500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13"/>
          <p:cNvSpPr txBox="1"/>
          <p:nvPr/>
        </p:nvSpPr>
        <p:spPr>
          <a:xfrm>
            <a:off x="6226000" y="2120000"/>
            <a:ext cx="2382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Lato"/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HTTP 요청/초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3"/>
          <p:cNvSpPr txBox="1"/>
          <p:nvPr/>
        </p:nvSpPr>
        <p:spPr>
          <a:xfrm>
            <a:off x="6226000" y="2340000"/>
            <a:ext cx="2382000" cy="3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60A5FA"/>
                </a:solidFill>
                <a:latin typeface="Poppins"/>
                <a:ea typeface="Poppins"/>
                <a:cs typeface="Poppins"/>
                <a:sym typeface="Poppins"/>
              </a:rPr>
              <a:t>1,234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13"/>
          <p:cNvSpPr txBox="1"/>
          <p:nvPr/>
        </p:nvSpPr>
        <p:spPr>
          <a:xfrm>
            <a:off x="6226000" y="2700000"/>
            <a:ext cx="2382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Lato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+2.1% 전일비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13"/>
          <p:cNvSpPr/>
          <p:nvPr/>
        </p:nvSpPr>
        <p:spPr>
          <a:xfrm>
            <a:off x="8788000" y="2060000"/>
            <a:ext cx="2542000" cy="870000"/>
          </a:xfrm>
          <a:prstGeom prst="rect">
            <a:avLst/>
          </a:prstGeom>
          <a:solidFill>
            <a:srgbClr val="1F29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13"/>
          <p:cNvSpPr/>
          <p:nvPr/>
        </p:nvSpPr>
        <p:spPr>
          <a:xfrm>
            <a:off x="8788000" y="2060000"/>
            <a:ext cx="2542000" cy="5000"/>
          </a:xfrm>
          <a:prstGeom prst="rect">
            <a:avLst/>
          </a:prstGeom>
          <a:solidFill>
            <a:srgbClr val="4ADE8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3"/>
          <p:cNvSpPr txBox="1"/>
          <p:nvPr/>
        </p:nvSpPr>
        <p:spPr>
          <a:xfrm>
            <a:off x="8868000" y="2120000"/>
            <a:ext cx="2382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Lato"/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DB 커넥션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13"/>
          <p:cNvSpPr txBox="1"/>
          <p:nvPr/>
        </p:nvSpPr>
        <p:spPr>
          <a:xfrm>
            <a:off x="8868000" y="2340000"/>
            <a:ext cx="2382000" cy="3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4ADE80"/>
                </a:solidFill>
                <a:latin typeface="Poppins"/>
                <a:ea typeface="Poppins"/>
                <a:cs typeface="Poppins"/>
                <a:sym typeface="Poppins"/>
              </a:rPr>
              <a:t>45 / 100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13"/>
          <p:cNvSpPr txBox="1"/>
          <p:nvPr/>
        </p:nvSpPr>
        <p:spPr>
          <a:xfrm>
            <a:off x="8868000" y="2700000"/>
            <a:ext cx="2382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Lato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사용률 45%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13"/>
          <p:cNvSpPr/>
          <p:nvPr/>
        </p:nvSpPr>
        <p:spPr>
          <a:xfrm>
            <a:off x="862000" y="3030000"/>
            <a:ext cx="6187440" cy="3490000"/>
          </a:xfrm>
          <a:prstGeom prst="rect">
            <a:avLst/>
          </a:prstGeom>
          <a:solidFill>
            <a:srgbClr val="1F29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13"/>
          <p:cNvSpPr/>
          <p:nvPr/>
        </p:nvSpPr>
        <p:spPr>
          <a:xfrm>
            <a:off x="862000" y="3030000"/>
            <a:ext cx="6187440" cy="500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13"/>
          <p:cNvSpPr txBox="1"/>
          <p:nvPr/>
        </p:nvSpPr>
        <p:spPr>
          <a:xfrm>
            <a:off x="962000" y="3085000"/>
            <a:ext cx="598744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D1D5DB"/>
                </a:solidFill>
                <a:latin typeface="Poppins"/>
                <a:ea typeface="Poppins"/>
                <a:cs typeface="Poppins"/>
                <a:sym typeface="Poppins"/>
              </a:rPr>
              <a:t>HTTP 응답시간 추이 (ms)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13"/>
          <p:cNvSpPr txBox="1"/>
          <p:nvPr/>
        </p:nvSpPr>
        <p:spPr>
          <a:xfrm>
            <a:off x="962000" y="3310000"/>
            <a:ext cx="5987440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Lato"/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avg: 125ms   p95: 215ms   p99: 340ms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13"/>
          <p:cNvSpPr/>
          <p:nvPr/>
        </p:nvSpPr>
        <p:spPr>
          <a:xfrm>
            <a:off x="1042000" y="3560000"/>
            <a:ext cx="5827440" cy="2790000"/>
          </a:xfrm>
          <a:prstGeom prst="rect">
            <a:avLst/>
          </a:prstGeom>
          <a:solidFill>
            <a:srgbClr val="1118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13"/>
          <p:cNvSpPr/>
          <p:nvPr/>
        </p:nvSpPr>
        <p:spPr>
          <a:xfrm>
            <a:off x="1042000" y="3560000"/>
            <a:ext cx="5827440" cy="2000"/>
          </a:xfrm>
          <a:prstGeom prst="rect">
            <a:avLst/>
          </a:prstGeom>
          <a:solidFill>
            <a:srgbClr val="37415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13"/>
          <p:cNvSpPr txBox="1"/>
          <p:nvPr/>
        </p:nvSpPr>
        <p:spPr>
          <a:xfrm>
            <a:off x="812000" y="3480000"/>
            <a:ext cx="210000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Lato"/>
              <a:buNone/>
            </a:pPr>
            <a:r>
              <a:rPr b="0" i="0" lang="en-US" sz="8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400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13"/>
          <p:cNvSpPr/>
          <p:nvPr/>
        </p:nvSpPr>
        <p:spPr>
          <a:xfrm>
            <a:off x="1042000" y="4257500"/>
            <a:ext cx="5827440" cy="2000"/>
          </a:xfrm>
          <a:prstGeom prst="rect">
            <a:avLst/>
          </a:prstGeom>
          <a:solidFill>
            <a:srgbClr val="37415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13"/>
          <p:cNvSpPr txBox="1"/>
          <p:nvPr/>
        </p:nvSpPr>
        <p:spPr>
          <a:xfrm>
            <a:off x="812000" y="4177500"/>
            <a:ext cx="210000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Lato"/>
              <a:buNone/>
            </a:pPr>
            <a:r>
              <a:rPr b="0" i="0" lang="en-US" sz="8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300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13"/>
          <p:cNvSpPr/>
          <p:nvPr/>
        </p:nvSpPr>
        <p:spPr>
          <a:xfrm>
            <a:off x="1042000" y="4955000"/>
            <a:ext cx="5827440" cy="2000"/>
          </a:xfrm>
          <a:prstGeom prst="rect">
            <a:avLst/>
          </a:prstGeom>
          <a:solidFill>
            <a:srgbClr val="37415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13"/>
          <p:cNvSpPr txBox="1"/>
          <p:nvPr/>
        </p:nvSpPr>
        <p:spPr>
          <a:xfrm>
            <a:off x="812000" y="4875000"/>
            <a:ext cx="210000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Lato"/>
              <a:buNone/>
            </a:pPr>
            <a:r>
              <a:rPr b="0" i="0" lang="en-US" sz="8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200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13"/>
          <p:cNvSpPr/>
          <p:nvPr/>
        </p:nvSpPr>
        <p:spPr>
          <a:xfrm>
            <a:off x="1042000" y="5652500"/>
            <a:ext cx="5827440" cy="2000"/>
          </a:xfrm>
          <a:prstGeom prst="rect">
            <a:avLst/>
          </a:prstGeom>
          <a:solidFill>
            <a:srgbClr val="37415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13"/>
          <p:cNvSpPr txBox="1"/>
          <p:nvPr/>
        </p:nvSpPr>
        <p:spPr>
          <a:xfrm>
            <a:off x="812000" y="5572500"/>
            <a:ext cx="210000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Lato"/>
              <a:buNone/>
            </a:pPr>
            <a:r>
              <a:rPr b="0" i="0" lang="en-US" sz="8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100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13"/>
          <p:cNvSpPr/>
          <p:nvPr/>
        </p:nvSpPr>
        <p:spPr>
          <a:xfrm>
            <a:off x="1042000" y="6350000"/>
            <a:ext cx="5827440" cy="2000"/>
          </a:xfrm>
          <a:prstGeom prst="rect">
            <a:avLst/>
          </a:prstGeom>
          <a:solidFill>
            <a:srgbClr val="37415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13"/>
          <p:cNvSpPr txBox="1"/>
          <p:nvPr/>
        </p:nvSpPr>
        <p:spPr>
          <a:xfrm>
            <a:off x="812000" y="6270000"/>
            <a:ext cx="210000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Lato"/>
              <a:buNone/>
            </a:pPr>
            <a:r>
              <a:rPr b="0" i="0" lang="en-US" sz="8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13"/>
          <p:cNvSpPr/>
          <p:nvPr/>
        </p:nvSpPr>
        <p:spPr>
          <a:xfrm>
            <a:off x="1092000" y="4062200"/>
            <a:ext cx="5727440" cy="5000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13"/>
          <p:cNvSpPr txBox="1"/>
          <p:nvPr/>
        </p:nvSpPr>
        <p:spPr>
          <a:xfrm>
            <a:off x="6539440" y="3922700"/>
            <a:ext cx="280000" cy="1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900"/>
              <a:buFont typeface="Lato"/>
              <a:buNone/>
            </a:pPr>
            <a:r>
              <a:rPr b="0" i="0" lang="en-US" sz="900" u="none" cap="none" strike="noStrike">
                <a:solidFill>
                  <a:srgbClr val="F87171"/>
                </a:solidFill>
                <a:latin typeface="Lato"/>
                <a:ea typeface="Lato"/>
                <a:cs typeface="Lato"/>
                <a:sym typeface="Lato"/>
              </a:rPr>
              <a:t>p99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13"/>
          <p:cNvSpPr/>
          <p:nvPr/>
        </p:nvSpPr>
        <p:spPr>
          <a:xfrm>
            <a:off x="1092000" y="4620200"/>
            <a:ext cx="5727440" cy="5000"/>
          </a:xfrm>
          <a:prstGeom prst="rect">
            <a:avLst/>
          </a:prstGeom>
          <a:solidFill>
            <a:srgbClr val="FACC1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13"/>
          <p:cNvSpPr txBox="1"/>
          <p:nvPr/>
        </p:nvSpPr>
        <p:spPr>
          <a:xfrm>
            <a:off x="6539440" y="4480700"/>
            <a:ext cx="280000" cy="1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ACC15"/>
              </a:buClr>
              <a:buSzPts val="900"/>
              <a:buFont typeface="Lato"/>
              <a:buNone/>
            </a:pPr>
            <a:r>
              <a:rPr b="0" i="0" lang="en-US" sz="900" u="none" cap="none" strike="noStrike">
                <a:solidFill>
                  <a:srgbClr val="FACC15"/>
                </a:solidFill>
                <a:latin typeface="Lato"/>
                <a:ea typeface="Lato"/>
                <a:cs typeface="Lato"/>
                <a:sym typeface="Lato"/>
              </a:rPr>
              <a:t>p95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13"/>
          <p:cNvSpPr/>
          <p:nvPr/>
        </p:nvSpPr>
        <p:spPr>
          <a:xfrm>
            <a:off x="1092000" y="5429300"/>
            <a:ext cx="5727440" cy="5000"/>
          </a:xfrm>
          <a:prstGeom prst="rect">
            <a:avLst/>
          </a:prstGeom>
          <a:solidFill>
            <a:srgbClr val="4ADE8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13"/>
          <p:cNvSpPr txBox="1"/>
          <p:nvPr/>
        </p:nvSpPr>
        <p:spPr>
          <a:xfrm>
            <a:off x="6539440" y="5289800"/>
            <a:ext cx="280000" cy="1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00"/>
              <a:buFont typeface="Lato"/>
              <a:buNone/>
            </a:pPr>
            <a:r>
              <a:rPr b="0" i="0" lang="en-US" sz="900" u="none" cap="none" strike="noStrike">
                <a:solidFill>
                  <a:srgbClr val="4ADE80"/>
                </a:solidFill>
                <a:latin typeface="Lato"/>
                <a:ea typeface="Lato"/>
                <a:cs typeface="Lato"/>
                <a:sym typeface="Lato"/>
              </a:rPr>
              <a:t>avg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13"/>
          <p:cNvSpPr txBox="1"/>
          <p:nvPr/>
        </p:nvSpPr>
        <p:spPr>
          <a:xfrm>
            <a:off x="912000" y="6400000"/>
            <a:ext cx="300000" cy="1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Lato"/>
              <a:buNone/>
            </a:pPr>
            <a:r>
              <a:rPr b="0" i="0" lang="en-US" sz="8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12:00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13"/>
          <p:cNvSpPr txBox="1"/>
          <p:nvPr/>
        </p:nvSpPr>
        <p:spPr>
          <a:xfrm>
            <a:off x="2368860" y="6400000"/>
            <a:ext cx="300000" cy="1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Lato"/>
              <a:buNone/>
            </a:pPr>
            <a:r>
              <a:rPr b="0" i="0" lang="en-US" sz="8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12:15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13"/>
          <p:cNvSpPr txBox="1"/>
          <p:nvPr/>
        </p:nvSpPr>
        <p:spPr>
          <a:xfrm>
            <a:off x="3825720" y="6400000"/>
            <a:ext cx="300000" cy="1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Lato"/>
              <a:buNone/>
            </a:pPr>
            <a:r>
              <a:rPr b="0" i="0" lang="en-US" sz="8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12:30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13"/>
          <p:cNvSpPr txBox="1"/>
          <p:nvPr/>
        </p:nvSpPr>
        <p:spPr>
          <a:xfrm>
            <a:off x="5282580" y="6400000"/>
            <a:ext cx="300000" cy="1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Lato"/>
              <a:buNone/>
            </a:pPr>
            <a:r>
              <a:rPr b="0" i="0" lang="en-US" sz="8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12:45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13"/>
          <p:cNvSpPr txBox="1"/>
          <p:nvPr/>
        </p:nvSpPr>
        <p:spPr>
          <a:xfrm>
            <a:off x="6739440" y="6400000"/>
            <a:ext cx="300000" cy="1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Lato"/>
              <a:buNone/>
            </a:pPr>
            <a:r>
              <a:rPr b="0" i="0" lang="en-US" sz="8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13:00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13"/>
          <p:cNvSpPr/>
          <p:nvPr/>
        </p:nvSpPr>
        <p:spPr>
          <a:xfrm>
            <a:off x="7149440" y="3030000"/>
            <a:ext cx="4180560" cy="3490000"/>
          </a:xfrm>
          <a:prstGeom prst="rect">
            <a:avLst/>
          </a:prstGeom>
          <a:solidFill>
            <a:srgbClr val="1F29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13"/>
          <p:cNvSpPr/>
          <p:nvPr/>
        </p:nvSpPr>
        <p:spPr>
          <a:xfrm>
            <a:off x="7149440" y="3030000"/>
            <a:ext cx="4180560" cy="5000"/>
          </a:xfrm>
          <a:prstGeom prst="rect">
            <a:avLst/>
          </a:prstGeom>
          <a:solidFill>
            <a:srgbClr val="4ADE8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13"/>
          <p:cNvSpPr txBox="1"/>
          <p:nvPr/>
        </p:nvSpPr>
        <p:spPr>
          <a:xfrm>
            <a:off x="7249440" y="3085000"/>
            <a:ext cx="398056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D1D5DB"/>
                </a:solidFill>
                <a:latin typeface="Poppins"/>
                <a:ea typeface="Poppins"/>
                <a:cs typeface="Poppins"/>
                <a:sym typeface="Poppins"/>
              </a:rPr>
              <a:t>카드 승인 건수 / 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13"/>
          <p:cNvSpPr txBox="1"/>
          <p:nvPr/>
        </p:nvSpPr>
        <p:spPr>
          <a:xfrm>
            <a:off x="7249440" y="3310000"/>
            <a:ext cx="3980560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Lato"/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1시간 합계: 74,040건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13"/>
          <p:cNvSpPr/>
          <p:nvPr/>
        </p:nvSpPr>
        <p:spPr>
          <a:xfrm>
            <a:off x="7269440" y="3560000"/>
            <a:ext cx="3940560" cy="2790000"/>
          </a:xfrm>
          <a:prstGeom prst="rect">
            <a:avLst/>
          </a:prstGeom>
          <a:solidFill>
            <a:srgbClr val="1118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13"/>
          <p:cNvSpPr/>
          <p:nvPr/>
        </p:nvSpPr>
        <p:spPr>
          <a:xfrm>
            <a:off x="7319440" y="4394944"/>
            <a:ext cx="305046" cy="1915056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13"/>
          <p:cNvSpPr/>
          <p:nvPr/>
        </p:nvSpPr>
        <p:spPr>
          <a:xfrm>
            <a:off x="7639486" y="4296737"/>
            <a:ext cx="305046" cy="2013263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13"/>
          <p:cNvSpPr/>
          <p:nvPr/>
        </p:nvSpPr>
        <p:spPr>
          <a:xfrm>
            <a:off x="7959532" y="4468600"/>
            <a:ext cx="305046" cy="184140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13"/>
          <p:cNvSpPr/>
          <p:nvPr/>
        </p:nvSpPr>
        <p:spPr>
          <a:xfrm>
            <a:off x="8279578" y="4223080"/>
            <a:ext cx="305046" cy="2086920"/>
          </a:xfrm>
          <a:prstGeom prst="rect">
            <a:avLst/>
          </a:prstGeom>
          <a:solidFill>
            <a:srgbClr val="FACC1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13"/>
          <p:cNvSpPr/>
          <p:nvPr/>
        </p:nvSpPr>
        <p:spPr>
          <a:xfrm>
            <a:off x="8599624" y="4370392"/>
            <a:ext cx="305046" cy="1939608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13"/>
          <p:cNvSpPr/>
          <p:nvPr/>
        </p:nvSpPr>
        <p:spPr>
          <a:xfrm>
            <a:off x="8919670" y="4272184"/>
            <a:ext cx="305046" cy="2037816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13"/>
          <p:cNvSpPr/>
          <p:nvPr/>
        </p:nvSpPr>
        <p:spPr>
          <a:xfrm>
            <a:off x="9239716" y="4419496"/>
            <a:ext cx="305046" cy="1890504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13"/>
          <p:cNvSpPr/>
          <p:nvPr/>
        </p:nvSpPr>
        <p:spPr>
          <a:xfrm>
            <a:off x="9559762" y="4321288"/>
            <a:ext cx="305046" cy="1988712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13"/>
          <p:cNvSpPr/>
          <p:nvPr/>
        </p:nvSpPr>
        <p:spPr>
          <a:xfrm>
            <a:off x="9879808" y="4247632"/>
            <a:ext cx="305046" cy="2062368"/>
          </a:xfrm>
          <a:prstGeom prst="rect">
            <a:avLst/>
          </a:prstGeom>
          <a:solidFill>
            <a:srgbClr val="FACC1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13"/>
          <p:cNvSpPr/>
          <p:nvPr/>
        </p:nvSpPr>
        <p:spPr>
          <a:xfrm>
            <a:off x="10199854" y="4345840"/>
            <a:ext cx="305046" cy="196416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13"/>
          <p:cNvSpPr/>
          <p:nvPr/>
        </p:nvSpPr>
        <p:spPr>
          <a:xfrm>
            <a:off x="10519900" y="4444048"/>
            <a:ext cx="305046" cy="1865952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13"/>
          <p:cNvSpPr/>
          <p:nvPr/>
        </p:nvSpPr>
        <p:spPr>
          <a:xfrm>
            <a:off x="10839946" y="4296737"/>
            <a:ext cx="305046" cy="2013263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13"/>
          <p:cNvSpPr txBox="1"/>
          <p:nvPr/>
        </p:nvSpPr>
        <p:spPr>
          <a:xfrm>
            <a:off x="7269440" y="6400000"/>
            <a:ext cx="3940560" cy="1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Lato"/>
              <a:buNone/>
            </a:pPr>
            <a:r>
              <a:rPr b="0" i="0" lang="en-US" sz="8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12:00 ──────────────────── 13:00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08" name="Google Shape;80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14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14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3150"/>
              <a:buFont typeface="Poppins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10  Grafana — 알림(Alert) 설정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14"/>
          <p:cNvSpPr txBox="1"/>
          <p:nvPr/>
        </p:nvSpPr>
        <p:spPr>
          <a:xfrm>
            <a:off x="952500" y="1220000"/>
            <a:ext cx="11001375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임계값 초과 시 Slack·Email로 자동 알림 — 장애 대응 자동화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14"/>
          <p:cNvSpPr/>
          <p:nvPr/>
        </p:nvSpPr>
        <p:spPr>
          <a:xfrm>
            <a:off x="762000" y="1630000"/>
            <a:ext cx="2150000" cy="270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14"/>
          <p:cNvSpPr/>
          <p:nvPr/>
        </p:nvSpPr>
        <p:spPr>
          <a:xfrm>
            <a:off x="762000" y="1630000"/>
            <a:ext cx="2150000" cy="80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14"/>
          <p:cNvSpPr txBox="1"/>
          <p:nvPr/>
        </p:nvSpPr>
        <p:spPr>
          <a:xfrm>
            <a:off x="853440" y="1710000"/>
            <a:ext cx="1967120" cy="3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2600"/>
              <a:buFont typeface="Poppins"/>
              <a:buNone/>
            </a:pPr>
            <a:r>
              <a:rPr b="1" i="0" lang="en-US" sz="2600" u="none" cap="none" strike="noStrike">
                <a:solidFill>
                  <a:srgbClr val="EA580C"/>
                </a:solidFill>
                <a:latin typeface="Poppins"/>
                <a:ea typeface="Poppins"/>
                <a:cs typeface="Poppins"/>
                <a:sym typeface="Poppins"/>
              </a:rPr>
              <a:t>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14"/>
          <p:cNvSpPr txBox="1"/>
          <p:nvPr/>
        </p:nvSpPr>
        <p:spPr>
          <a:xfrm>
            <a:off x="853440" y="2130000"/>
            <a:ext cx="196712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Alert Rule 생성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14"/>
          <p:cNvSpPr txBox="1"/>
          <p:nvPr/>
        </p:nvSpPr>
        <p:spPr>
          <a:xfrm>
            <a:off x="853440" y="2520000"/>
            <a:ext cx="196712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Alerting → Alert rules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14"/>
          <p:cNvSpPr txBox="1"/>
          <p:nvPr/>
        </p:nvSpPr>
        <p:spPr>
          <a:xfrm>
            <a:off x="853440" y="2780000"/>
            <a:ext cx="196712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→ New alert rule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14"/>
          <p:cNvSpPr txBox="1"/>
          <p:nvPr/>
        </p:nvSpPr>
        <p:spPr>
          <a:xfrm>
            <a:off x="2922000" y="2830000"/>
            <a:ext cx="12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BC00"/>
              </a:buClr>
              <a:buSzPts val="2000"/>
              <a:buFont typeface="Poppins"/>
              <a:buNone/>
            </a:pPr>
            <a:r>
              <a:rPr b="1" i="0" lang="en-US" sz="2000" u="none" cap="none" strike="noStrike">
                <a:solidFill>
                  <a:srgbClr val="FFBC00"/>
                </a:solidFill>
                <a:latin typeface="Poppins"/>
                <a:ea typeface="Poppins"/>
                <a:cs typeface="Poppins"/>
                <a:sym typeface="Poppins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14"/>
          <p:cNvSpPr/>
          <p:nvPr/>
        </p:nvSpPr>
        <p:spPr>
          <a:xfrm>
            <a:off x="3012000" y="1630000"/>
            <a:ext cx="2150000" cy="270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14"/>
          <p:cNvSpPr/>
          <p:nvPr/>
        </p:nvSpPr>
        <p:spPr>
          <a:xfrm>
            <a:off x="3012000" y="1630000"/>
            <a:ext cx="2150000" cy="800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14"/>
          <p:cNvSpPr txBox="1"/>
          <p:nvPr/>
        </p:nvSpPr>
        <p:spPr>
          <a:xfrm>
            <a:off x="3103440" y="1710000"/>
            <a:ext cx="1967120" cy="3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600"/>
              <a:buFont typeface="Poppins"/>
              <a:buNone/>
            </a:pPr>
            <a:r>
              <a:rPr b="1" i="0" lang="en-US" sz="2600" u="none" cap="none" strike="noStrike">
                <a:solidFill>
                  <a:srgbClr val="DC2626"/>
                </a:solidFill>
                <a:latin typeface="Poppins"/>
                <a:ea typeface="Poppins"/>
                <a:cs typeface="Poppins"/>
                <a:sym typeface="Poppins"/>
              </a:rPr>
              <a:t>🔍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14"/>
          <p:cNvSpPr txBox="1"/>
          <p:nvPr/>
        </p:nvSpPr>
        <p:spPr>
          <a:xfrm>
            <a:off x="3103440" y="2130000"/>
            <a:ext cx="196712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PromQL 조건 작성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14"/>
          <p:cNvSpPr txBox="1"/>
          <p:nvPr/>
        </p:nvSpPr>
        <p:spPr>
          <a:xfrm>
            <a:off x="3103440" y="2520000"/>
            <a:ext cx="196712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avg(process_cpu_usage) &gt; 0.8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14"/>
          <p:cNvSpPr txBox="1"/>
          <p:nvPr/>
        </p:nvSpPr>
        <p:spPr>
          <a:xfrm>
            <a:off x="3103440" y="2780000"/>
            <a:ext cx="196712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(CPU 80% 초과)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14"/>
          <p:cNvSpPr txBox="1"/>
          <p:nvPr/>
        </p:nvSpPr>
        <p:spPr>
          <a:xfrm>
            <a:off x="5172000" y="2830000"/>
            <a:ext cx="12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BC00"/>
              </a:buClr>
              <a:buSzPts val="2000"/>
              <a:buFont typeface="Poppins"/>
              <a:buNone/>
            </a:pPr>
            <a:r>
              <a:rPr b="1" i="0" lang="en-US" sz="2000" u="none" cap="none" strike="noStrike">
                <a:solidFill>
                  <a:srgbClr val="FFBC00"/>
                </a:solidFill>
                <a:latin typeface="Poppins"/>
                <a:ea typeface="Poppins"/>
                <a:cs typeface="Poppins"/>
                <a:sym typeface="Poppins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14"/>
          <p:cNvSpPr/>
          <p:nvPr/>
        </p:nvSpPr>
        <p:spPr>
          <a:xfrm>
            <a:off x="5262000" y="1630000"/>
            <a:ext cx="2150000" cy="270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14"/>
          <p:cNvSpPr/>
          <p:nvPr/>
        </p:nvSpPr>
        <p:spPr>
          <a:xfrm>
            <a:off x="5262000" y="1630000"/>
            <a:ext cx="2150000" cy="80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14"/>
          <p:cNvSpPr txBox="1"/>
          <p:nvPr/>
        </p:nvSpPr>
        <p:spPr>
          <a:xfrm>
            <a:off x="5353440" y="1710000"/>
            <a:ext cx="1967120" cy="3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600"/>
              <a:buFont typeface="Poppins"/>
              <a:buNone/>
            </a:pPr>
            <a:r>
              <a:rPr b="1" i="0" lang="en-US" sz="2600" u="none" cap="none" strike="noStrike">
                <a:solidFill>
                  <a:srgbClr val="7C3AED"/>
                </a:solidFill>
                <a:latin typeface="Poppins"/>
                <a:ea typeface="Poppins"/>
                <a:cs typeface="Poppins"/>
                <a:sym typeface="Poppins"/>
              </a:rPr>
              <a:t>⏱️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14"/>
          <p:cNvSpPr txBox="1"/>
          <p:nvPr/>
        </p:nvSpPr>
        <p:spPr>
          <a:xfrm>
            <a:off x="5353440" y="2130000"/>
            <a:ext cx="196712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지속 시간 설정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14"/>
          <p:cNvSpPr txBox="1"/>
          <p:nvPr/>
        </p:nvSpPr>
        <p:spPr>
          <a:xfrm>
            <a:off x="5353440" y="2520000"/>
            <a:ext cx="196712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5분 이상 지속될 때만 알림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14"/>
          <p:cNvSpPr txBox="1"/>
          <p:nvPr/>
        </p:nvSpPr>
        <p:spPr>
          <a:xfrm>
            <a:off x="5353440" y="2780000"/>
            <a:ext cx="196712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(일시적 스파이크 무시)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14"/>
          <p:cNvSpPr txBox="1"/>
          <p:nvPr/>
        </p:nvSpPr>
        <p:spPr>
          <a:xfrm>
            <a:off x="7422000" y="2830000"/>
            <a:ext cx="12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BC00"/>
              </a:buClr>
              <a:buSzPts val="2000"/>
              <a:buFont typeface="Poppins"/>
              <a:buNone/>
            </a:pPr>
            <a:r>
              <a:rPr b="1" i="0" lang="en-US" sz="2000" u="none" cap="none" strike="noStrike">
                <a:solidFill>
                  <a:srgbClr val="FFBC00"/>
                </a:solidFill>
                <a:latin typeface="Poppins"/>
                <a:ea typeface="Poppins"/>
                <a:cs typeface="Poppins"/>
                <a:sym typeface="Poppins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14"/>
          <p:cNvSpPr/>
          <p:nvPr/>
        </p:nvSpPr>
        <p:spPr>
          <a:xfrm>
            <a:off x="7512000" y="1630000"/>
            <a:ext cx="2150000" cy="270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14"/>
          <p:cNvSpPr/>
          <p:nvPr/>
        </p:nvSpPr>
        <p:spPr>
          <a:xfrm>
            <a:off x="7512000" y="1630000"/>
            <a:ext cx="2150000" cy="8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14"/>
          <p:cNvSpPr txBox="1"/>
          <p:nvPr/>
        </p:nvSpPr>
        <p:spPr>
          <a:xfrm>
            <a:off x="7603440" y="1710000"/>
            <a:ext cx="1967120" cy="3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600"/>
              <a:buFont typeface="Poppins"/>
              <a:buNone/>
            </a:pPr>
            <a:r>
              <a:rPr b="1" i="0" lang="en-US" sz="26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📣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14"/>
          <p:cNvSpPr txBox="1"/>
          <p:nvPr/>
        </p:nvSpPr>
        <p:spPr>
          <a:xfrm>
            <a:off x="7603440" y="2130000"/>
            <a:ext cx="196712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Contact Point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14"/>
          <p:cNvSpPr txBox="1"/>
          <p:nvPr/>
        </p:nvSpPr>
        <p:spPr>
          <a:xfrm>
            <a:off x="7603440" y="2520000"/>
            <a:ext cx="196712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Slack·Email·PagerDuty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14"/>
          <p:cNvSpPr txBox="1"/>
          <p:nvPr/>
        </p:nvSpPr>
        <p:spPr>
          <a:xfrm>
            <a:off x="7603440" y="2780000"/>
            <a:ext cx="196712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연락처 등록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14"/>
          <p:cNvSpPr txBox="1"/>
          <p:nvPr/>
        </p:nvSpPr>
        <p:spPr>
          <a:xfrm>
            <a:off x="9672000" y="2830000"/>
            <a:ext cx="12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BC00"/>
              </a:buClr>
              <a:buSzPts val="2000"/>
              <a:buFont typeface="Poppins"/>
              <a:buNone/>
            </a:pPr>
            <a:r>
              <a:rPr b="1" i="0" lang="en-US" sz="2000" u="none" cap="none" strike="noStrike">
                <a:solidFill>
                  <a:srgbClr val="FFBC00"/>
                </a:solidFill>
                <a:latin typeface="Poppins"/>
                <a:ea typeface="Poppins"/>
                <a:cs typeface="Poppins"/>
                <a:sym typeface="Poppins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14"/>
          <p:cNvSpPr/>
          <p:nvPr/>
        </p:nvSpPr>
        <p:spPr>
          <a:xfrm>
            <a:off x="9762000" y="1630000"/>
            <a:ext cx="2150000" cy="270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14"/>
          <p:cNvSpPr/>
          <p:nvPr/>
        </p:nvSpPr>
        <p:spPr>
          <a:xfrm>
            <a:off x="9762000" y="1630000"/>
            <a:ext cx="2150000" cy="8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14"/>
          <p:cNvSpPr txBox="1"/>
          <p:nvPr/>
        </p:nvSpPr>
        <p:spPr>
          <a:xfrm>
            <a:off x="9853440" y="1710000"/>
            <a:ext cx="1967120" cy="3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2600"/>
              <a:buFont typeface="Poppins"/>
              <a:buNone/>
            </a:pPr>
            <a:r>
              <a:rPr b="1" i="0" lang="en-US" sz="2600" u="none" cap="none" strike="noStrike">
                <a:solidFill>
                  <a:srgbClr val="16A34A"/>
                </a:solidFill>
                <a:latin typeface="Poppins"/>
                <a:ea typeface="Poppins"/>
                <a:cs typeface="Poppins"/>
                <a:sym typeface="Poppins"/>
              </a:rPr>
              <a:t>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14"/>
          <p:cNvSpPr txBox="1"/>
          <p:nvPr/>
        </p:nvSpPr>
        <p:spPr>
          <a:xfrm>
            <a:off x="9853440" y="2130000"/>
            <a:ext cx="196712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Silence 설정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14"/>
          <p:cNvSpPr txBox="1"/>
          <p:nvPr/>
        </p:nvSpPr>
        <p:spPr>
          <a:xfrm>
            <a:off x="9853440" y="2520000"/>
            <a:ext cx="196712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점검 시간 알림 무음 처리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14"/>
          <p:cNvSpPr txBox="1"/>
          <p:nvPr/>
        </p:nvSpPr>
        <p:spPr>
          <a:xfrm>
            <a:off x="9853440" y="2780000"/>
            <a:ext cx="196712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(운영 시간 외 제어)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14"/>
          <p:cNvSpPr/>
          <p:nvPr/>
        </p:nvSpPr>
        <p:spPr>
          <a:xfrm>
            <a:off x="762000" y="4480000"/>
            <a:ext cx="10668000" cy="80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14"/>
          <p:cNvSpPr txBox="1"/>
          <p:nvPr/>
        </p:nvSpPr>
        <p:spPr>
          <a:xfrm>
            <a:off x="762000" y="4560000"/>
            <a:ext cx="10668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알림 심각도 레벨 설정 권장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14"/>
          <p:cNvSpPr/>
          <p:nvPr/>
        </p:nvSpPr>
        <p:spPr>
          <a:xfrm>
            <a:off x="762000" y="4950000"/>
            <a:ext cx="3700000" cy="160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14"/>
          <p:cNvSpPr/>
          <p:nvPr/>
        </p:nvSpPr>
        <p:spPr>
          <a:xfrm>
            <a:off x="762000" y="4950000"/>
            <a:ext cx="3700000" cy="8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14"/>
          <p:cNvSpPr txBox="1"/>
          <p:nvPr/>
        </p:nvSpPr>
        <p:spPr>
          <a:xfrm>
            <a:off x="842000" y="5030000"/>
            <a:ext cx="354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16A34A"/>
                </a:solidFill>
                <a:latin typeface="Poppins"/>
                <a:ea typeface="Poppins"/>
                <a:cs typeface="Poppins"/>
                <a:sym typeface="Poppins"/>
              </a:rPr>
              <a:t>🟢  INFO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14"/>
          <p:cNvSpPr txBox="1"/>
          <p:nvPr/>
        </p:nvSpPr>
        <p:spPr>
          <a:xfrm>
            <a:off x="842000" y="5330000"/>
            <a:ext cx="354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CPU &gt; 60%, 메모리 &gt; 70%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14"/>
          <p:cNvSpPr txBox="1"/>
          <p:nvPr/>
        </p:nvSpPr>
        <p:spPr>
          <a:xfrm>
            <a:off x="842000" y="5610000"/>
            <a:ext cx="354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사전 인지용 — 즉각 대응 불필요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14"/>
          <p:cNvSpPr/>
          <p:nvPr/>
        </p:nvSpPr>
        <p:spPr>
          <a:xfrm>
            <a:off x="4562000" y="4950000"/>
            <a:ext cx="3700000" cy="160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14"/>
          <p:cNvSpPr/>
          <p:nvPr/>
        </p:nvSpPr>
        <p:spPr>
          <a:xfrm>
            <a:off x="4562000" y="4950000"/>
            <a:ext cx="3700000" cy="80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14"/>
          <p:cNvSpPr txBox="1"/>
          <p:nvPr/>
        </p:nvSpPr>
        <p:spPr>
          <a:xfrm>
            <a:off x="4642000" y="5030000"/>
            <a:ext cx="354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A580C"/>
                </a:solidFill>
                <a:latin typeface="Poppins"/>
                <a:ea typeface="Poppins"/>
                <a:cs typeface="Poppins"/>
                <a:sym typeface="Poppins"/>
              </a:rPr>
              <a:t>🟡  WARNING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14"/>
          <p:cNvSpPr txBox="1"/>
          <p:nvPr/>
        </p:nvSpPr>
        <p:spPr>
          <a:xfrm>
            <a:off x="4642000" y="5330000"/>
            <a:ext cx="354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CPU &gt; 80%, 메모리 &gt; 85%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14"/>
          <p:cNvSpPr txBox="1"/>
          <p:nvPr/>
        </p:nvSpPr>
        <p:spPr>
          <a:xfrm>
            <a:off x="4642000" y="5610000"/>
            <a:ext cx="354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확인 필요 — 30분 내 조치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14"/>
          <p:cNvSpPr/>
          <p:nvPr/>
        </p:nvSpPr>
        <p:spPr>
          <a:xfrm>
            <a:off x="8362000" y="4950000"/>
            <a:ext cx="3700000" cy="160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14"/>
          <p:cNvSpPr/>
          <p:nvPr/>
        </p:nvSpPr>
        <p:spPr>
          <a:xfrm>
            <a:off x="8362000" y="4950000"/>
            <a:ext cx="3700000" cy="800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14"/>
          <p:cNvSpPr txBox="1"/>
          <p:nvPr/>
        </p:nvSpPr>
        <p:spPr>
          <a:xfrm>
            <a:off x="8442000" y="5030000"/>
            <a:ext cx="354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DC2626"/>
                </a:solidFill>
                <a:latin typeface="Poppins"/>
                <a:ea typeface="Poppins"/>
                <a:cs typeface="Poppins"/>
                <a:sym typeface="Poppins"/>
              </a:rPr>
              <a:t>🔴  CRITICAL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14"/>
          <p:cNvSpPr txBox="1"/>
          <p:nvPr/>
        </p:nvSpPr>
        <p:spPr>
          <a:xfrm>
            <a:off x="8442000" y="5330000"/>
            <a:ext cx="354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CPU &gt; 95%, 메모리 &gt; 95%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14"/>
          <p:cNvSpPr txBox="1"/>
          <p:nvPr/>
        </p:nvSpPr>
        <p:spPr>
          <a:xfrm>
            <a:off x="8442000" y="5610000"/>
            <a:ext cx="354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즉각 대응 필요 — 온콜 호출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67" name="Google Shape;86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15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15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3150"/>
              <a:buFont typeface="Poppins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10-1  Grafana — 알림 실제 수신 화면 예시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15"/>
          <p:cNvSpPr txBox="1"/>
          <p:nvPr/>
        </p:nvSpPr>
        <p:spPr>
          <a:xfrm>
            <a:off x="952500" y="1220000"/>
            <a:ext cx="11001375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조건 충족 시 자동으로 이런 알림이 Slack에 전달됩니다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15"/>
          <p:cNvSpPr/>
          <p:nvPr/>
        </p:nvSpPr>
        <p:spPr>
          <a:xfrm>
            <a:off x="762000" y="1570000"/>
            <a:ext cx="5600000" cy="5100000"/>
          </a:xfrm>
          <a:prstGeom prst="rect">
            <a:avLst/>
          </a:prstGeom>
          <a:solidFill>
            <a:srgbClr val="1118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15"/>
          <p:cNvSpPr/>
          <p:nvPr/>
        </p:nvSpPr>
        <p:spPr>
          <a:xfrm>
            <a:off x="762000" y="1570000"/>
            <a:ext cx="5600000" cy="390000"/>
          </a:xfrm>
          <a:prstGeom prst="rect">
            <a:avLst/>
          </a:prstGeom>
          <a:solidFill>
            <a:srgbClr val="1F29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15"/>
          <p:cNvSpPr txBox="1"/>
          <p:nvPr/>
        </p:nvSpPr>
        <p:spPr>
          <a:xfrm>
            <a:off x="882000" y="1670000"/>
            <a:ext cx="5360000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▶  Grafana  /  Alerting  /  Alert rules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15"/>
          <p:cNvSpPr/>
          <p:nvPr/>
        </p:nvSpPr>
        <p:spPr>
          <a:xfrm>
            <a:off x="842000" y="2030000"/>
            <a:ext cx="5440000" cy="1000000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15"/>
          <p:cNvSpPr/>
          <p:nvPr/>
        </p:nvSpPr>
        <p:spPr>
          <a:xfrm>
            <a:off x="842000" y="2030000"/>
            <a:ext cx="10000" cy="1000000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15"/>
          <p:cNvSpPr txBox="1"/>
          <p:nvPr/>
        </p:nvSpPr>
        <p:spPr>
          <a:xfrm>
            <a:off x="942000" y="2130000"/>
            <a:ext cx="15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F87171"/>
                </a:solidFill>
                <a:latin typeface="Poppins"/>
                <a:ea typeface="Poppins"/>
                <a:cs typeface="Poppins"/>
                <a:sym typeface="Poppins"/>
              </a:rPr>
              <a:t>🔴 FIRING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15"/>
          <p:cNvSpPr txBox="1"/>
          <p:nvPr/>
        </p:nvSpPr>
        <p:spPr>
          <a:xfrm>
            <a:off x="942000" y="2410000"/>
            <a:ext cx="52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D1D5DB"/>
                </a:solidFill>
                <a:latin typeface="Poppins"/>
                <a:ea typeface="Poppins"/>
                <a:cs typeface="Poppins"/>
                <a:sym typeface="Poppins"/>
              </a:rPr>
              <a:t>CPU 과부하 경보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15"/>
          <p:cNvSpPr txBox="1"/>
          <p:nvPr/>
        </p:nvSpPr>
        <p:spPr>
          <a:xfrm>
            <a:off x="942000" y="2680000"/>
            <a:ext cx="520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Lato"/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CPU &gt; 95% — 10분 지속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15"/>
          <p:cNvSpPr/>
          <p:nvPr/>
        </p:nvSpPr>
        <p:spPr>
          <a:xfrm>
            <a:off x="842000" y="3130000"/>
            <a:ext cx="5440000" cy="1000000"/>
          </a:xfrm>
          <a:prstGeom prst="rect">
            <a:avLst/>
          </a:prstGeom>
          <a:solidFill>
            <a:srgbClr val="FEF9C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15"/>
          <p:cNvSpPr/>
          <p:nvPr/>
        </p:nvSpPr>
        <p:spPr>
          <a:xfrm>
            <a:off x="842000" y="3130000"/>
            <a:ext cx="10000" cy="1000000"/>
          </a:xfrm>
          <a:prstGeom prst="rect">
            <a:avLst/>
          </a:prstGeom>
          <a:solidFill>
            <a:srgbClr val="FACC1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15"/>
          <p:cNvSpPr txBox="1"/>
          <p:nvPr/>
        </p:nvSpPr>
        <p:spPr>
          <a:xfrm>
            <a:off x="942000" y="3230000"/>
            <a:ext cx="15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ACC15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FACC15"/>
                </a:solidFill>
                <a:latin typeface="Poppins"/>
                <a:ea typeface="Poppins"/>
                <a:cs typeface="Poppins"/>
                <a:sym typeface="Poppins"/>
              </a:rPr>
              <a:t>🟡 PENDING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15"/>
          <p:cNvSpPr txBox="1"/>
          <p:nvPr/>
        </p:nvSpPr>
        <p:spPr>
          <a:xfrm>
            <a:off x="942000" y="3510000"/>
            <a:ext cx="52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D1D5DB"/>
                </a:solidFill>
                <a:latin typeface="Poppins"/>
                <a:ea typeface="Poppins"/>
                <a:cs typeface="Poppins"/>
                <a:sym typeface="Poppins"/>
              </a:rPr>
              <a:t>메모리 주의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15"/>
          <p:cNvSpPr txBox="1"/>
          <p:nvPr/>
        </p:nvSpPr>
        <p:spPr>
          <a:xfrm>
            <a:off x="942000" y="3780000"/>
            <a:ext cx="520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Lato"/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Memory &gt; 85% — 3분 지속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15"/>
          <p:cNvSpPr/>
          <p:nvPr/>
        </p:nvSpPr>
        <p:spPr>
          <a:xfrm>
            <a:off x="842000" y="4230000"/>
            <a:ext cx="5440000" cy="1000000"/>
          </a:xfrm>
          <a:prstGeom prst="rect">
            <a:avLst/>
          </a:prstGeom>
          <a:solidFill>
            <a:srgbClr val="1F29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15"/>
          <p:cNvSpPr/>
          <p:nvPr/>
        </p:nvSpPr>
        <p:spPr>
          <a:xfrm>
            <a:off x="842000" y="4230000"/>
            <a:ext cx="10000" cy="1000000"/>
          </a:xfrm>
          <a:prstGeom prst="rect">
            <a:avLst/>
          </a:prstGeom>
          <a:solidFill>
            <a:srgbClr val="4ADE8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15"/>
          <p:cNvSpPr txBox="1"/>
          <p:nvPr/>
        </p:nvSpPr>
        <p:spPr>
          <a:xfrm>
            <a:off x="942000" y="4330000"/>
            <a:ext cx="15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4ADE80"/>
                </a:solidFill>
                <a:latin typeface="Poppins"/>
                <a:ea typeface="Poppins"/>
                <a:cs typeface="Poppins"/>
                <a:sym typeface="Poppins"/>
              </a:rPr>
              <a:t>🟢 NORMAL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15"/>
          <p:cNvSpPr txBox="1"/>
          <p:nvPr/>
        </p:nvSpPr>
        <p:spPr>
          <a:xfrm>
            <a:off x="942000" y="4610000"/>
            <a:ext cx="52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D1D5DB"/>
                </a:solidFill>
                <a:latin typeface="Poppins"/>
                <a:ea typeface="Poppins"/>
                <a:cs typeface="Poppins"/>
                <a:sym typeface="Poppins"/>
              </a:rPr>
              <a:t>DB 커넥션 정상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15"/>
          <p:cNvSpPr txBox="1"/>
          <p:nvPr/>
        </p:nvSpPr>
        <p:spPr>
          <a:xfrm>
            <a:off x="942000" y="4880000"/>
            <a:ext cx="520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Lato"/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Connection &lt; 80%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15"/>
          <p:cNvSpPr/>
          <p:nvPr/>
        </p:nvSpPr>
        <p:spPr>
          <a:xfrm>
            <a:off x="842000" y="5330000"/>
            <a:ext cx="5440000" cy="1000000"/>
          </a:xfrm>
          <a:prstGeom prst="rect">
            <a:avLst/>
          </a:prstGeom>
          <a:solidFill>
            <a:srgbClr val="1F29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15"/>
          <p:cNvSpPr/>
          <p:nvPr/>
        </p:nvSpPr>
        <p:spPr>
          <a:xfrm>
            <a:off x="842000" y="5330000"/>
            <a:ext cx="10000" cy="1000000"/>
          </a:xfrm>
          <a:prstGeom prst="rect">
            <a:avLst/>
          </a:prstGeom>
          <a:solidFill>
            <a:srgbClr val="4ADE8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15"/>
          <p:cNvSpPr txBox="1"/>
          <p:nvPr/>
        </p:nvSpPr>
        <p:spPr>
          <a:xfrm>
            <a:off x="942000" y="5430000"/>
            <a:ext cx="15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4ADE80"/>
                </a:solidFill>
                <a:latin typeface="Poppins"/>
                <a:ea typeface="Poppins"/>
                <a:cs typeface="Poppins"/>
                <a:sym typeface="Poppins"/>
              </a:rPr>
              <a:t>🟢 NORMAL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15"/>
          <p:cNvSpPr txBox="1"/>
          <p:nvPr/>
        </p:nvSpPr>
        <p:spPr>
          <a:xfrm>
            <a:off x="942000" y="5710000"/>
            <a:ext cx="52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D1D5DB"/>
                </a:solidFill>
                <a:latin typeface="Poppins"/>
                <a:ea typeface="Poppins"/>
                <a:cs typeface="Poppins"/>
                <a:sym typeface="Poppins"/>
              </a:rPr>
              <a:t>HTTP 응답시간 정상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15"/>
          <p:cNvSpPr txBox="1"/>
          <p:nvPr/>
        </p:nvSpPr>
        <p:spPr>
          <a:xfrm>
            <a:off x="942000" y="5980000"/>
            <a:ext cx="520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Lato"/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p99 &lt; 500ms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15"/>
          <p:cNvSpPr/>
          <p:nvPr/>
        </p:nvSpPr>
        <p:spPr>
          <a:xfrm>
            <a:off x="6562000" y="1570000"/>
            <a:ext cx="4868000" cy="5100000"/>
          </a:xfrm>
          <a:prstGeom prst="rect">
            <a:avLst/>
          </a:prstGeom>
          <a:solidFill>
            <a:srgbClr val="1A1D2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15"/>
          <p:cNvSpPr/>
          <p:nvPr/>
        </p:nvSpPr>
        <p:spPr>
          <a:xfrm>
            <a:off x="6562000" y="1570000"/>
            <a:ext cx="4868000" cy="390000"/>
          </a:xfrm>
          <a:prstGeom prst="rect">
            <a:avLst/>
          </a:prstGeom>
          <a:solidFill>
            <a:srgbClr val="19171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15"/>
          <p:cNvSpPr txBox="1"/>
          <p:nvPr/>
        </p:nvSpPr>
        <p:spPr>
          <a:xfrm>
            <a:off x="6682000" y="1680000"/>
            <a:ext cx="4628000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D1D5DB"/>
                </a:solidFill>
                <a:latin typeface="Poppins"/>
                <a:ea typeface="Poppins"/>
                <a:cs typeface="Poppins"/>
                <a:sym typeface="Poppins"/>
              </a:rPr>
              <a:t>#  모니터링-알림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15"/>
          <p:cNvSpPr/>
          <p:nvPr/>
        </p:nvSpPr>
        <p:spPr>
          <a:xfrm>
            <a:off x="6662000" y="2050000"/>
            <a:ext cx="4668000" cy="2800000"/>
          </a:xfrm>
          <a:prstGeom prst="rect">
            <a:avLst/>
          </a:prstGeom>
          <a:solidFill>
            <a:srgbClr val="22252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15"/>
          <p:cNvSpPr/>
          <p:nvPr/>
        </p:nvSpPr>
        <p:spPr>
          <a:xfrm>
            <a:off x="6662000" y="2050000"/>
            <a:ext cx="14000" cy="2800000"/>
          </a:xfrm>
          <a:prstGeom prst="rect">
            <a:avLst/>
          </a:prstGeom>
          <a:solidFill>
            <a:srgbClr val="E01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15"/>
          <p:cNvSpPr txBox="1"/>
          <p:nvPr/>
        </p:nvSpPr>
        <p:spPr>
          <a:xfrm>
            <a:off x="6782000" y="2170000"/>
            <a:ext cx="4448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D1D5DB"/>
                </a:solidFill>
                <a:latin typeface="Poppins"/>
                <a:ea typeface="Poppins"/>
                <a:cs typeface="Poppins"/>
                <a:sym typeface="Poppins"/>
              </a:rPr>
              <a:t>🔴  Grafana Alert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15"/>
          <p:cNvSpPr txBox="1"/>
          <p:nvPr/>
        </p:nvSpPr>
        <p:spPr>
          <a:xfrm>
            <a:off x="6782000" y="2440000"/>
            <a:ext cx="4448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Lato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grafana-bot  오전 10:42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15"/>
          <p:cNvSpPr txBox="1"/>
          <p:nvPr/>
        </p:nvSpPr>
        <p:spPr>
          <a:xfrm>
            <a:off x="6782000" y="2730000"/>
            <a:ext cx="4448000" cy="3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F87171"/>
                </a:solidFill>
                <a:latin typeface="Poppins"/>
                <a:ea typeface="Poppins"/>
                <a:cs typeface="Poppins"/>
                <a:sym typeface="Poppins"/>
              </a:rPr>
              <a:t>[CRITICAL] CPU 과부하 경보 발생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15"/>
          <p:cNvSpPr txBox="1"/>
          <p:nvPr/>
        </p:nvSpPr>
        <p:spPr>
          <a:xfrm>
            <a:off x="6782000" y="3100000"/>
            <a:ext cx="4448000" cy="3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D1D5DB"/>
                </a:solidFill>
                <a:latin typeface="Lato"/>
                <a:ea typeface="Lato"/>
                <a:cs typeface="Lato"/>
                <a:sym typeface="Lato"/>
              </a:rPr>
              <a:t>서버: card-api-prod-01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15"/>
          <p:cNvSpPr txBox="1"/>
          <p:nvPr/>
        </p:nvSpPr>
        <p:spPr>
          <a:xfrm>
            <a:off x="6782000" y="3470000"/>
            <a:ext cx="4448000" cy="3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ACC15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FACC15"/>
                </a:solidFill>
                <a:latin typeface="Lato"/>
                <a:ea typeface="Lato"/>
                <a:cs typeface="Lato"/>
                <a:sym typeface="Lato"/>
              </a:rPr>
              <a:t>현재값: CPU 96.2%  (임계값: 95%)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15"/>
          <p:cNvSpPr txBox="1"/>
          <p:nvPr/>
        </p:nvSpPr>
        <p:spPr>
          <a:xfrm>
            <a:off x="6782000" y="3840000"/>
            <a:ext cx="4448000" cy="3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D1D5DB"/>
                </a:solidFill>
                <a:latin typeface="Lato"/>
                <a:ea typeface="Lato"/>
                <a:cs typeface="Lato"/>
                <a:sym typeface="Lato"/>
              </a:rPr>
              <a:t>지속시간: 10분 32초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15"/>
          <p:cNvSpPr txBox="1"/>
          <p:nvPr/>
        </p:nvSpPr>
        <p:spPr>
          <a:xfrm>
            <a:off x="6782000" y="4210000"/>
            <a:ext cx="4448000" cy="3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60A5FA"/>
                </a:solidFill>
                <a:latin typeface="Lato"/>
                <a:ea typeface="Lato"/>
                <a:cs typeface="Lato"/>
                <a:sym typeface="Lato"/>
              </a:rPr>
              <a:t>▶ 대시보드 바로가기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15"/>
          <p:cNvSpPr/>
          <p:nvPr/>
        </p:nvSpPr>
        <p:spPr>
          <a:xfrm>
            <a:off x="6662000" y="5050000"/>
            <a:ext cx="4668000" cy="1800000"/>
          </a:xfrm>
          <a:prstGeom prst="rect">
            <a:avLst/>
          </a:prstGeom>
          <a:solidFill>
            <a:srgbClr val="22252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15"/>
          <p:cNvSpPr/>
          <p:nvPr/>
        </p:nvSpPr>
        <p:spPr>
          <a:xfrm>
            <a:off x="6662000" y="5050000"/>
            <a:ext cx="14000" cy="1800000"/>
          </a:xfrm>
          <a:prstGeom prst="rect">
            <a:avLst/>
          </a:prstGeom>
          <a:solidFill>
            <a:srgbClr val="4ADE8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15"/>
          <p:cNvSpPr txBox="1"/>
          <p:nvPr/>
        </p:nvSpPr>
        <p:spPr>
          <a:xfrm>
            <a:off x="6782000" y="5170000"/>
            <a:ext cx="4448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4ADE80"/>
                </a:solidFill>
                <a:latin typeface="Poppins"/>
                <a:ea typeface="Poppins"/>
                <a:cs typeface="Poppins"/>
                <a:sym typeface="Poppins"/>
              </a:rPr>
              <a:t>✅  Grafana Alert  RESOLVED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15"/>
          <p:cNvSpPr txBox="1"/>
          <p:nvPr/>
        </p:nvSpPr>
        <p:spPr>
          <a:xfrm>
            <a:off x="6782000" y="5440000"/>
            <a:ext cx="4448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Lato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grafana-bot  오전 10:58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15"/>
          <p:cNvSpPr txBox="1"/>
          <p:nvPr/>
        </p:nvSpPr>
        <p:spPr>
          <a:xfrm>
            <a:off x="6782000" y="5700000"/>
            <a:ext cx="4448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4ADE80"/>
                </a:solidFill>
                <a:latin typeface="Poppins"/>
                <a:ea typeface="Poppins"/>
                <a:cs typeface="Poppins"/>
                <a:sym typeface="Poppins"/>
              </a:rPr>
              <a:t>[RESOLVED] CPU 과부하 경보 해제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15"/>
          <p:cNvSpPr txBox="1"/>
          <p:nvPr/>
        </p:nvSpPr>
        <p:spPr>
          <a:xfrm>
            <a:off x="6782000" y="6010000"/>
            <a:ext cx="4448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D1D5DB"/>
                </a:solidFill>
                <a:latin typeface="Lato"/>
                <a:ea typeface="Lato"/>
                <a:cs typeface="Lato"/>
                <a:sym typeface="Lato"/>
              </a:rPr>
              <a:t>현재값: CPU 42.1% (정상)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15"/>
          <p:cNvSpPr txBox="1"/>
          <p:nvPr/>
        </p:nvSpPr>
        <p:spPr>
          <a:xfrm>
            <a:off x="762000" y="6750000"/>
            <a:ext cx="560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Grafana Alert Rules 화면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15"/>
          <p:cNvSpPr txBox="1"/>
          <p:nvPr/>
        </p:nvSpPr>
        <p:spPr>
          <a:xfrm>
            <a:off x="6562000" y="6750000"/>
            <a:ext cx="4868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Slack 수신 알림 메시지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8" name="Google Shape;9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16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16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3150"/>
              <a:buFont typeface="Poppins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11  Docker Compose — 전체 스택 구축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16"/>
          <p:cNvSpPr txBox="1"/>
          <p:nvPr/>
        </p:nvSpPr>
        <p:spPr>
          <a:xfrm>
            <a:off x="952500" y="1220000"/>
            <a:ext cx="11001375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docker compose up -d 명령어 한 줄로 Spring + Prometheus + Grafana 동시 실행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16"/>
          <p:cNvSpPr txBox="1"/>
          <p:nvPr/>
        </p:nvSpPr>
        <p:spPr>
          <a:xfrm>
            <a:off x="762000" y="1620000"/>
            <a:ext cx="5600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📄  docker-compose.yml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16"/>
          <p:cNvSpPr/>
          <p:nvPr/>
        </p:nvSpPr>
        <p:spPr>
          <a:xfrm>
            <a:off x="762000" y="1990000"/>
            <a:ext cx="5600000" cy="45000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16"/>
          <p:cNvSpPr txBox="1"/>
          <p:nvPr/>
        </p:nvSpPr>
        <p:spPr>
          <a:xfrm>
            <a:off x="914400" y="2104300"/>
            <a:ext cx="5295200" cy="42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DE68A"/>
                </a:solidFill>
                <a:latin typeface="Consolas"/>
                <a:ea typeface="Consolas"/>
                <a:cs typeface="Consolas"/>
                <a:sym typeface="Consolas"/>
              </a:rPr>
              <a:t>version: '3.8'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DE68A"/>
                </a:solidFill>
                <a:latin typeface="Consolas"/>
                <a:ea typeface="Consolas"/>
                <a:cs typeface="Consolas"/>
                <a:sym typeface="Consolas"/>
              </a:rPr>
              <a:t>services: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spring-app: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build: 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ports: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    - '8080:8080'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environment: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    - SPRING_PROFILES_ACTIVE=prod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networks: [monitoring]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800"/>
              <a:buFont typeface="Consola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prometheus: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image: prom/prometheus:latest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ports: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    - '9090:9090'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volumes: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    - ./prometheus.yml: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      /etc/prometheus/prometheus.yml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networks: [monitoring]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800"/>
              <a:buFont typeface="Consola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grafana: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image: grafana/grafana:latest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ports: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    - '3000:3000'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environment: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    - GF_SECURITY_ADMIN_PASSWORD=admin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volumes: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    - grafana-data:/var/lib/grafana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networks: [monitoring]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800"/>
              <a:buFont typeface="Consola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networks: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monitoring: {}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volumes: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grafana-data: {}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16"/>
          <p:cNvSpPr txBox="1"/>
          <p:nvPr/>
        </p:nvSpPr>
        <p:spPr>
          <a:xfrm>
            <a:off x="6700000" y="1620000"/>
            <a:ext cx="5180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🚀  실행 순서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16"/>
          <p:cNvSpPr/>
          <p:nvPr/>
        </p:nvSpPr>
        <p:spPr>
          <a:xfrm>
            <a:off x="6700000" y="1990000"/>
            <a:ext cx="5180000" cy="59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16"/>
          <p:cNvSpPr/>
          <p:nvPr/>
        </p:nvSpPr>
        <p:spPr>
          <a:xfrm>
            <a:off x="6700000" y="1990000"/>
            <a:ext cx="120000" cy="59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16"/>
          <p:cNvSpPr txBox="1"/>
          <p:nvPr/>
        </p:nvSpPr>
        <p:spPr>
          <a:xfrm>
            <a:off x="6720000" y="2150000"/>
            <a:ext cx="1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16"/>
          <p:cNvSpPr txBox="1"/>
          <p:nvPr/>
        </p:nvSpPr>
        <p:spPr>
          <a:xfrm>
            <a:off x="6890000" y="2090000"/>
            <a:ext cx="489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1E2D4D"/>
                </a:solidFill>
                <a:latin typeface="Lato"/>
                <a:ea typeface="Lato"/>
                <a:cs typeface="Lato"/>
                <a:sym typeface="Lato"/>
              </a:rPr>
              <a:t>Actuator 의존성 추가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16"/>
          <p:cNvSpPr txBox="1"/>
          <p:nvPr/>
        </p:nvSpPr>
        <p:spPr>
          <a:xfrm>
            <a:off x="6890000" y="2290000"/>
            <a:ext cx="489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+ application.yml 설정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16"/>
          <p:cNvSpPr/>
          <p:nvPr/>
        </p:nvSpPr>
        <p:spPr>
          <a:xfrm>
            <a:off x="6700000" y="2640000"/>
            <a:ext cx="5180000" cy="59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16"/>
          <p:cNvSpPr/>
          <p:nvPr/>
        </p:nvSpPr>
        <p:spPr>
          <a:xfrm>
            <a:off x="6700000" y="2640000"/>
            <a:ext cx="120000" cy="59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16"/>
          <p:cNvSpPr txBox="1"/>
          <p:nvPr/>
        </p:nvSpPr>
        <p:spPr>
          <a:xfrm>
            <a:off x="6720000" y="2800000"/>
            <a:ext cx="1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②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16"/>
          <p:cNvSpPr txBox="1"/>
          <p:nvPr/>
        </p:nvSpPr>
        <p:spPr>
          <a:xfrm>
            <a:off x="6890000" y="2740000"/>
            <a:ext cx="489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1E2D4D"/>
                </a:solidFill>
                <a:latin typeface="Lato"/>
                <a:ea typeface="Lato"/>
                <a:cs typeface="Lato"/>
                <a:sym typeface="Lato"/>
              </a:rPr>
              <a:t>prometheus.yml 작성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16"/>
          <p:cNvSpPr txBox="1"/>
          <p:nvPr/>
        </p:nvSpPr>
        <p:spPr>
          <a:xfrm>
            <a:off x="6890000" y="2940000"/>
            <a:ext cx="489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spring-app:8080 타겟 등록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16"/>
          <p:cNvSpPr/>
          <p:nvPr/>
        </p:nvSpPr>
        <p:spPr>
          <a:xfrm>
            <a:off x="6700000" y="3290000"/>
            <a:ext cx="5180000" cy="59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16"/>
          <p:cNvSpPr/>
          <p:nvPr/>
        </p:nvSpPr>
        <p:spPr>
          <a:xfrm>
            <a:off x="6700000" y="3290000"/>
            <a:ext cx="120000" cy="59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16"/>
          <p:cNvSpPr txBox="1"/>
          <p:nvPr/>
        </p:nvSpPr>
        <p:spPr>
          <a:xfrm>
            <a:off x="6720000" y="3450000"/>
            <a:ext cx="1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③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16"/>
          <p:cNvSpPr txBox="1"/>
          <p:nvPr/>
        </p:nvSpPr>
        <p:spPr>
          <a:xfrm>
            <a:off x="6890000" y="3390000"/>
            <a:ext cx="489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1E2D4D"/>
                </a:solidFill>
                <a:latin typeface="Lato"/>
                <a:ea typeface="Lato"/>
                <a:cs typeface="Lato"/>
                <a:sym typeface="Lato"/>
              </a:rPr>
              <a:t>docker compose up -d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16"/>
          <p:cNvSpPr txBox="1"/>
          <p:nvPr/>
        </p:nvSpPr>
        <p:spPr>
          <a:xfrm>
            <a:off x="6890000" y="3590000"/>
            <a:ext cx="489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3개 서비스 동시 기동 (~30초)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16"/>
          <p:cNvSpPr/>
          <p:nvPr/>
        </p:nvSpPr>
        <p:spPr>
          <a:xfrm>
            <a:off x="6700000" y="3940000"/>
            <a:ext cx="5180000" cy="59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16"/>
          <p:cNvSpPr/>
          <p:nvPr/>
        </p:nvSpPr>
        <p:spPr>
          <a:xfrm>
            <a:off x="6700000" y="3940000"/>
            <a:ext cx="120000" cy="59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16"/>
          <p:cNvSpPr txBox="1"/>
          <p:nvPr/>
        </p:nvSpPr>
        <p:spPr>
          <a:xfrm>
            <a:off x="6720000" y="4100000"/>
            <a:ext cx="1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④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16"/>
          <p:cNvSpPr txBox="1"/>
          <p:nvPr/>
        </p:nvSpPr>
        <p:spPr>
          <a:xfrm>
            <a:off x="6890000" y="4040000"/>
            <a:ext cx="489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1E2D4D"/>
                </a:solidFill>
                <a:latin typeface="Lato"/>
                <a:ea typeface="Lato"/>
                <a:cs typeface="Lato"/>
                <a:sym typeface="Lato"/>
              </a:rPr>
              <a:t>localhost:8080/actuator/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16"/>
          <p:cNvSpPr txBox="1"/>
          <p:nvPr/>
        </p:nvSpPr>
        <p:spPr>
          <a:xfrm>
            <a:off x="6890000" y="4240000"/>
            <a:ext cx="489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prometheus 메트릭 출력 확인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16"/>
          <p:cNvSpPr/>
          <p:nvPr/>
        </p:nvSpPr>
        <p:spPr>
          <a:xfrm>
            <a:off x="6700000" y="4590000"/>
            <a:ext cx="5180000" cy="59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16"/>
          <p:cNvSpPr/>
          <p:nvPr/>
        </p:nvSpPr>
        <p:spPr>
          <a:xfrm>
            <a:off x="6700000" y="4590000"/>
            <a:ext cx="120000" cy="59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16"/>
          <p:cNvSpPr txBox="1"/>
          <p:nvPr/>
        </p:nvSpPr>
        <p:spPr>
          <a:xfrm>
            <a:off x="6720000" y="4750000"/>
            <a:ext cx="1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16"/>
          <p:cNvSpPr txBox="1"/>
          <p:nvPr/>
        </p:nvSpPr>
        <p:spPr>
          <a:xfrm>
            <a:off x="6890000" y="4690000"/>
            <a:ext cx="489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1E2D4D"/>
                </a:solidFill>
                <a:latin typeface="Lato"/>
                <a:ea typeface="Lato"/>
                <a:cs typeface="Lato"/>
                <a:sym typeface="Lato"/>
              </a:rPr>
              <a:t>localhost:9090/targets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16"/>
          <p:cNvSpPr txBox="1"/>
          <p:nvPr/>
        </p:nvSpPr>
        <p:spPr>
          <a:xfrm>
            <a:off x="6890000" y="4890000"/>
            <a:ext cx="489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spring-app UP 상태 확인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16"/>
          <p:cNvSpPr/>
          <p:nvPr/>
        </p:nvSpPr>
        <p:spPr>
          <a:xfrm>
            <a:off x="6700000" y="5240000"/>
            <a:ext cx="5180000" cy="59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16"/>
          <p:cNvSpPr/>
          <p:nvPr/>
        </p:nvSpPr>
        <p:spPr>
          <a:xfrm>
            <a:off x="6700000" y="5240000"/>
            <a:ext cx="120000" cy="59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16"/>
          <p:cNvSpPr txBox="1"/>
          <p:nvPr/>
        </p:nvSpPr>
        <p:spPr>
          <a:xfrm>
            <a:off x="6720000" y="5400000"/>
            <a:ext cx="1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16"/>
          <p:cNvSpPr txBox="1"/>
          <p:nvPr/>
        </p:nvSpPr>
        <p:spPr>
          <a:xfrm>
            <a:off x="6890000" y="5340000"/>
            <a:ext cx="489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1E2D4D"/>
                </a:solidFill>
                <a:latin typeface="Lato"/>
                <a:ea typeface="Lato"/>
                <a:cs typeface="Lato"/>
                <a:sym typeface="Lato"/>
              </a:rPr>
              <a:t>localhost:3000 → ID 4701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16"/>
          <p:cNvSpPr txBox="1"/>
          <p:nvPr/>
        </p:nvSpPr>
        <p:spPr>
          <a:xfrm>
            <a:off x="6890000" y="5540000"/>
            <a:ext cx="489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Import → 대시보드 완성 ✅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0" name="Google Shape;96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Google Shape;961;p17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17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3150"/>
              <a:buFont typeface="Poppins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12  커스텀 메트릭 — @Timed &amp; MeterRegistry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17"/>
          <p:cNvSpPr txBox="1"/>
          <p:nvPr/>
        </p:nvSpPr>
        <p:spPr>
          <a:xfrm>
            <a:off x="952500" y="1220000"/>
            <a:ext cx="11001375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비즈니스 로직에 메트릭을 직접 추가하여 도메인 특화 모니터링 구현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17"/>
          <p:cNvSpPr txBox="1"/>
          <p:nvPr/>
        </p:nvSpPr>
        <p:spPr>
          <a:xfrm>
            <a:off x="762000" y="1620000"/>
            <a:ext cx="5600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🛠️  MeterRegistry 직접 등록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17"/>
          <p:cNvSpPr/>
          <p:nvPr/>
        </p:nvSpPr>
        <p:spPr>
          <a:xfrm>
            <a:off x="762000" y="1990000"/>
            <a:ext cx="5600000" cy="28000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17"/>
          <p:cNvSpPr txBox="1"/>
          <p:nvPr/>
        </p:nvSpPr>
        <p:spPr>
          <a:xfrm>
            <a:off x="914400" y="2104300"/>
            <a:ext cx="5295200" cy="2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DE68A"/>
                </a:solidFill>
                <a:latin typeface="Consolas"/>
                <a:ea typeface="Consolas"/>
                <a:cs typeface="Consolas"/>
                <a:sym typeface="Consolas"/>
              </a:rPr>
              <a:t>@Service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DE68A"/>
                </a:solidFill>
                <a:latin typeface="Consolas"/>
                <a:ea typeface="Consolas"/>
                <a:cs typeface="Consolas"/>
                <a:sym typeface="Consolas"/>
              </a:rPr>
              <a:t>public class OrderService {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DE68A"/>
                </a:solidFill>
                <a:latin typeface="Consolas"/>
                <a:ea typeface="Consolas"/>
                <a:cs typeface="Consolas"/>
                <a:sym typeface="Consolas"/>
              </a:rPr>
              <a:t>  private final Counter  orderCounter;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DE68A"/>
                </a:solidFill>
                <a:latin typeface="Consolas"/>
                <a:ea typeface="Consolas"/>
                <a:cs typeface="Consolas"/>
                <a:sym typeface="Consolas"/>
              </a:rPr>
              <a:t>  private final Timer    orderTimer;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DE68A"/>
                </a:solidFill>
                <a:latin typeface="Consolas"/>
                <a:ea typeface="Consolas"/>
                <a:cs typeface="Consolas"/>
                <a:sym typeface="Consolas"/>
              </a:rPr>
              <a:t>  private final Gauge    pendingGauge;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800"/>
              <a:buFont typeface="Consola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DE68A"/>
                </a:solidFill>
                <a:latin typeface="Consolas"/>
                <a:ea typeface="Consolas"/>
                <a:cs typeface="Consolas"/>
                <a:sym typeface="Consolas"/>
              </a:rPr>
              <a:t>  public OrderService(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    MeterRegistry registry,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    OrderRepository repo) {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    // Counter — 누적 카운트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  orderCounter = registry.counter(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    'order.created', 'type', 'normal');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800"/>
              <a:buFont typeface="Consola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    // Timer — 처리 시간 측정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  orderTimer = registry.timer('order.process');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800"/>
              <a:buFont typeface="Consola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    // Gauge — 현재 값 (보류 주문 수)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  pendingGauge = Gauge.builder(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    'order.pending.count', repo,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     r -&gt; r.countPending())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    .register(registry);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17"/>
          <p:cNvSpPr txBox="1"/>
          <p:nvPr/>
        </p:nvSpPr>
        <p:spPr>
          <a:xfrm>
            <a:off x="762000" y="4900000"/>
            <a:ext cx="5600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✨  @Timed 어노테이션 (간단)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17"/>
          <p:cNvSpPr/>
          <p:nvPr/>
        </p:nvSpPr>
        <p:spPr>
          <a:xfrm>
            <a:off x="762000" y="5270000"/>
            <a:ext cx="5600000" cy="11000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17"/>
          <p:cNvSpPr txBox="1"/>
          <p:nvPr/>
        </p:nvSpPr>
        <p:spPr>
          <a:xfrm>
            <a:off x="914400" y="5384300"/>
            <a:ext cx="5295200" cy="8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// 메서드 실행시간 자동 측정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DE68A"/>
                </a:solidFill>
                <a:latin typeface="Consolas"/>
                <a:ea typeface="Consolas"/>
                <a:cs typeface="Consolas"/>
                <a:sym typeface="Consolas"/>
              </a:rPr>
              <a:t>@Timed(value = 'order.api.time',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     description = '주문 처리 시간')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DE68A"/>
                </a:solidFill>
                <a:latin typeface="Consolas"/>
                <a:ea typeface="Consolas"/>
                <a:cs typeface="Consolas"/>
                <a:sym typeface="Consolas"/>
              </a:rPr>
              <a:t>public OrderResponse createOrder(OrderRequest req) {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  orderCounter.increment();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DE68A"/>
                </a:solidFill>
                <a:latin typeface="Consolas"/>
                <a:ea typeface="Consolas"/>
                <a:cs typeface="Consolas"/>
                <a:sym typeface="Consolas"/>
              </a:rPr>
              <a:t>    return orderTimer.record(() -&gt; processOrder(req));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17"/>
          <p:cNvSpPr/>
          <p:nvPr/>
        </p:nvSpPr>
        <p:spPr>
          <a:xfrm>
            <a:off x="6700000" y="1620000"/>
            <a:ext cx="5180000" cy="485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17"/>
          <p:cNvSpPr/>
          <p:nvPr/>
        </p:nvSpPr>
        <p:spPr>
          <a:xfrm>
            <a:off x="6700000" y="1620000"/>
            <a:ext cx="5180000" cy="80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17"/>
          <p:cNvSpPr txBox="1"/>
          <p:nvPr/>
        </p:nvSpPr>
        <p:spPr>
          <a:xfrm>
            <a:off x="6840000" y="1700000"/>
            <a:ext cx="4980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7C3AED"/>
                </a:solidFill>
                <a:latin typeface="Poppins"/>
                <a:ea typeface="Poppins"/>
                <a:cs typeface="Poppins"/>
                <a:sym typeface="Poppins"/>
              </a:rPr>
              <a:t>📊  Micrometer 메트릭 유형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17"/>
          <p:cNvSpPr/>
          <p:nvPr/>
        </p:nvSpPr>
        <p:spPr>
          <a:xfrm>
            <a:off x="6800000" y="2220000"/>
            <a:ext cx="4980000" cy="64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17"/>
          <p:cNvSpPr/>
          <p:nvPr/>
        </p:nvSpPr>
        <p:spPr>
          <a:xfrm>
            <a:off x="6800000" y="2220000"/>
            <a:ext cx="8000" cy="6400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17"/>
          <p:cNvSpPr txBox="1"/>
          <p:nvPr/>
        </p:nvSpPr>
        <p:spPr>
          <a:xfrm>
            <a:off x="6890000" y="2280000"/>
            <a:ext cx="480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A580C"/>
                </a:solidFill>
                <a:latin typeface="Poppins"/>
                <a:ea typeface="Poppins"/>
                <a:cs typeface="Poppins"/>
                <a:sym typeface="Poppins"/>
              </a:rPr>
              <a:t>Counter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200"/>
              <a:buFont typeface="Lato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17"/>
          <p:cNvSpPr txBox="1"/>
          <p:nvPr/>
        </p:nvSpPr>
        <p:spPr>
          <a:xfrm>
            <a:off x="6902947" y="2551003"/>
            <a:ext cx="4800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절대 감소하지 않는 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17"/>
          <p:cNvSpPr/>
          <p:nvPr/>
        </p:nvSpPr>
        <p:spPr>
          <a:xfrm>
            <a:off x="6800000" y="2920000"/>
            <a:ext cx="4980000" cy="64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17"/>
          <p:cNvSpPr/>
          <p:nvPr/>
        </p:nvSpPr>
        <p:spPr>
          <a:xfrm>
            <a:off x="6800000" y="2920000"/>
            <a:ext cx="8000" cy="64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17"/>
          <p:cNvSpPr txBox="1"/>
          <p:nvPr/>
        </p:nvSpPr>
        <p:spPr>
          <a:xfrm>
            <a:off x="6890000" y="2980000"/>
            <a:ext cx="4800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Gauge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None/>
            </a:pPr>
            <a:r>
              <a:rPr lang="en-US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활성 연결 수·큐 크기·온도, 증가/감소 모두 가능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200"/>
              <a:buFont typeface="Lato"/>
              <a:buNone/>
            </a:pPr>
            <a:r>
              <a:t/>
            </a:r>
            <a:endParaRPr sz="1200">
              <a:solidFill>
                <a:srgbClr val="1E2D4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0" name="Google Shape;980;p17"/>
          <p:cNvSpPr txBox="1"/>
          <p:nvPr/>
        </p:nvSpPr>
        <p:spPr>
          <a:xfrm>
            <a:off x="6890000" y="3470000"/>
            <a:ext cx="4800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17"/>
          <p:cNvSpPr/>
          <p:nvPr/>
        </p:nvSpPr>
        <p:spPr>
          <a:xfrm>
            <a:off x="6800000" y="3620000"/>
            <a:ext cx="4980000" cy="64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17"/>
          <p:cNvSpPr/>
          <p:nvPr/>
        </p:nvSpPr>
        <p:spPr>
          <a:xfrm>
            <a:off x="6800000" y="3620000"/>
            <a:ext cx="8000" cy="64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17"/>
          <p:cNvSpPr txBox="1"/>
          <p:nvPr/>
        </p:nvSpPr>
        <p:spPr>
          <a:xfrm>
            <a:off x="6890000" y="3680000"/>
            <a:ext cx="480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16A34A"/>
                </a:solidFill>
                <a:latin typeface="Poppins"/>
                <a:ea typeface="Poppins"/>
                <a:cs typeface="Poppins"/>
                <a:sym typeface="Poppins"/>
              </a:rPr>
              <a:t>Timer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200"/>
              <a:buFont typeface="Lato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17"/>
          <p:cNvSpPr txBox="1"/>
          <p:nvPr/>
        </p:nvSpPr>
        <p:spPr>
          <a:xfrm>
            <a:off x="6890000" y="3979000"/>
            <a:ext cx="4800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API 응답시간·DB 쿼리 시간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17"/>
          <p:cNvSpPr txBox="1"/>
          <p:nvPr/>
        </p:nvSpPr>
        <p:spPr>
          <a:xfrm>
            <a:off x="6890000" y="4170000"/>
            <a:ext cx="4800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17"/>
          <p:cNvSpPr/>
          <p:nvPr/>
        </p:nvSpPr>
        <p:spPr>
          <a:xfrm>
            <a:off x="6800000" y="4320000"/>
            <a:ext cx="4980000" cy="64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17"/>
          <p:cNvSpPr/>
          <p:nvPr/>
        </p:nvSpPr>
        <p:spPr>
          <a:xfrm>
            <a:off x="6800000" y="4320000"/>
            <a:ext cx="8000" cy="6400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17"/>
          <p:cNvSpPr txBox="1"/>
          <p:nvPr/>
        </p:nvSpPr>
        <p:spPr>
          <a:xfrm>
            <a:off x="6890000" y="4380000"/>
            <a:ext cx="4800000" cy="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7C3AED"/>
                </a:solidFill>
                <a:latin typeface="Poppins"/>
                <a:ea typeface="Poppins"/>
                <a:cs typeface="Poppins"/>
                <a:sym typeface="Poppins"/>
              </a:rPr>
              <a:t>Distribution</a:t>
            </a:r>
            <a:br>
              <a:rPr b="1" i="0" lang="en-US" sz="1400" u="none" cap="none" strike="noStrike">
                <a:solidFill>
                  <a:srgbClr val="7C3AED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200"/>
              <a:buFont typeface="Lato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17"/>
          <p:cNvSpPr txBox="1"/>
          <p:nvPr/>
        </p:nvSpPr>
        <p:spPr>
          <a:xfrm>
            <a:off x="6890000" y="4653300"/>
            <a:ext cx="4800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 응답 크기·페이로드 크기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4" name="Google Shape;99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5" name="Google Shape;995;p18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18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3150"/>
              <a:buFont typeface="Poppins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13  실무 팁 &amp; 보안 설정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18"/>
          <p:cNvSpPr txBox="1"/>
          <p:nvPr/>
        </p:nvSpPr>
        <p:spPr>
          <a:xfrm>
            <a:off x="952500" y="1220000"/>
            <a:ext cx="11001375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운영 환경에서 반드시 적용해야 할 보안 설정과 실무 운영 노하우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18"/>
          <p:cNvSpPr txBox="1"/>
          <p:nvPr/>
        </p:nvSpPr>
        <p:spPr>
          <a:xfrm>
            <a:off x="762000" y="1620000"/>
            <a:ext cx="5600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🔒  Actuator 보안 설정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18"/>
          <p:cNvSpPr/>
          <p:nvPr/>
        </p:nvSpPr>
        <p:spPr>
          <a:xfrm>
            <a:off x="762000" y="1990000"/>
            <a:ext cx="5600000" cy="22000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18"/>
          <p:cNvSpPr txBox="1"/>
          <p:nvPr/>
        </p:nvSpPr>
        <p:spPr>
          <a:xfrm>
            <a:off x="914400" y="2104300"/>
            <a:ext cx="5295200" cy="19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DE68A"/>
                </a:solidFill>
                <a:latin typeface="Consolas"/>
                <a:ea typeface="Consolas"/>
                <a:cs typeface="Consolas"/>
                <a:sym typeface="Consolas"/>
              </a:rPr>
              <a:t>@Configuration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DE68A"/>
                </a:solidFill>
                <a:latin typeface="Consolas"/>
                <a:ea typeface="Consolas"/>
                <a:cs typeface="Consolas"/>
                <a:sym typeface="Consolas"/>
              </a:rPr>
              <a:t>public class SecurityConfig {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DE68A"/>
                </a:solidFill>
                <a:latin typeface="Consolas"/>
                <a:ea typeface="Consolas"/>
                <a:cs typeface="Consolas"/>
                <a:sym typeface="Consolas"/>
              </a:rPr>
              <a:t>  @Bean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SecurityFilterChain filterChain(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    HttpSecurity http) throws Exception {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  http.authorizeHttpRequests(auth -&gt; auth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    .requestMatchers(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      '/actuator/health',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      '/actuator/info'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    ).permitAll()  // 공개 허용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    .requestMatchers('/actuator/**')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      .hasRole('ACTUATOR_ADMIN')  // 관리자만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    .anyRequest().authenticated()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  );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DE68A"/>
                </a:solidFill>
                <a:latin typeface="Consolas"/>
                <a:ea typeface="Consolas"/>
                <a:cs typeface="Consolas"/>
                <a:sym typeface="Consolas"/>
              </a:rPr>
              <a:t>    return http.build();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18"/>
          <p:cNvSpPr txBox="1"/>
          <p:nvPr/>
        </p:nvSpPr>
        <p:spPr>
          <a:xfrm>
            <a:off x="762000" y="4300000"/>
            <a:ext cx="5600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⚠️  application.yml 보안 설정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18"/>
          <p:cNvSpPr/>
          <p:nvPr/>
        </p:nvSpPr>
        <p:spPr>
          <a:xfrm>
            <a:off x="762000" y="4670000"/>
            <a:ext cx="5600000" cy="18500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18"/>
          <p:cNvSpPr txBox="1"/>
          <p:nvPr/>
        </p:nvSpPr>
        <p:spPr>
          <a:xfrm>
            <a:off x="914400" y="4784300"/>
            <a:ext cx="5295200" cy="16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DE68A"/>
                </a:solidFill>
                <a:latin typeface="Consolas"/>
                <a:ea typeface="Consolas"/>
                <a:cs typeface="Consolas"/>
                <a:sym typeface="Consolas"/>
              </a:rPr>
              <a:t>management: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endpoints: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web: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  exposure: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        # 운영 환경: 최소한만 노출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    include: health, info, prometheus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        # 절대 노출 금지: env, heapdump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DE68A"/>
                </a:solidFill>
                <a:latin typeface="Consolas"/>
                <a:ea typeface="Consolas"/>
                <a:cs typeface="Consolas"/>
                <a:sym typeface="Consolas"/>
              </a:rPr>
              <a:t>  server: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    # 별도 포트로 Actuator 분리 (권장)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port: 8081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endpoint: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health: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  show-details: when_authorized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18"/>
          <p:cNvSpPr/>
          <p:nvPr/>
        </p:nvSpPr>
        <p:spPr>
          <a:xfrm>
            <a:off x="6700000" y="1620000"/>
            <a:ext cx="5180000" cy="4900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18"/>
          <p:cNvSpPr/>
          <p:nvPr/>
        </p:nvSpPr>
        <p:spPr>
          <a:xfrm>
            <a:off x="6700000" y="1620000"/>
            <a:ext cx="5180000" cy="8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18"/>
          <p:cNvSpPr txBox="1"/>
          <p:nvPr/>
        </p:nvSpPr>
        <p:spPr>
          <a:xfrm>
            <a:off x="6840000" y="1700000"/>
            <a:ext cx="4980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16A34A"/>
                </a:solidFill>
                <a:latin typeface="Poppins"/>
                <a:ea typeface="Poppins"/>
                <a:cs typeface="Poppins"/>
                <a:sym typeface="Poppins"/>
              </a:rPr>
              <a:t>💡  실무 운영 노하우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18"/>
          <p:cNvSpPr/>
          <p:nvPr/>
        </p:nvSpPr>
        <p:spPr>
          <a:xfrm>
            <a:off x="6800000" y="2220000"/>
            <a:ext cx="4980000" cy="60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18"/>
          <p:cNvSpPr/>
          <p:nvPr/>
        </p:nvSpPr>
        <p:spPr>
          <a:xfrm>
            <a:off x="6800000" y="2220000"/>
            <a:ext cx="8000" cy="6000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18"/>
          <p:cNvSpPr txBox="1"/>
          <p:nvPr/>
        </p:nvSpPr>
        <p:spPr>
          <a:xfrm>
            <a:off x="6890000" y="2290000"/>
            <a:ext cx="480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알림 피로 방지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18"/>
          <p:cNvSpPr txBox="1"/>
          <p:nvPr/>
        </p:nvSpPr>
        <p:spPr>
          <a:xfrm>
            <a:off x="6890000" y="2530000"/>
            <a:ext cx="48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임계값을 너무 낮게 설정 → 알림 과다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18"/>
          <p:cNvSpPr txBox="1"/>
          <p:nvPr/>
        </p:nvSpPr>
        <p:spPr>
          <a:xfrm>
            <a:off x="6890000" y="2690000"/>
            <a:ext cx="48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→ P99 기반 단계별 임계값 설정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18"/>
          <p:cNvSpPr/>
          <p:nvPr/>
        </p:nvSpPr>
        <p:spPr>
          <a:xfrm>
            <a:off x="6800000" y="2880000"/>
            <a:ext cx="4980000" cy="60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18"/>
          <p:cNvSpPr/>
          <p:nvPr/>
        </p:nvSpPr>
        <p:spPr>
          <a:xfrm>
            <a:off x="6800000" y="2880000"/>
            <a:ext cx="8000" cy="60000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18"/>
          <p:cNvSpPr txBox="1"/>
          <p:nvPr/>
        </p:nvSpPr>
        <p:spPr>
          <a:xfrm>
            <a:off x="6890000" y="2950000"/>
            <a:ext cx="480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레이블 카디널리티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18"/>
          <p:cNvSpPr txBox="1"/>
          <p:nvPr/>
        </p:nvSpPr>
        <p:spPr>
          <a:xfrm>
            <a:off x="6890000" y="3190000"/>
            <a:ext cx="48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레이블 값이 무한정 → 저장 폭발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18"/>
          <p:cNvSpPr txBox="1"/>
          <p:nvPr/>
        </p:nvSpPr>
        <p:spPr>
          <a:xfrm>
            <a:off x="6890000" y="3350000"/>
            <a:ext cx="48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→ status/method 등 유한한 값만 사용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18"/>
          <p:cNvSpPr/>
          <p:nvPr/>
        </p:nvSpPr>
        <p:spPr>
          <a:xfrm>
            <a:off x="6800000" y="3540000"/>
            <a:ext cx="4980000" cy="60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18"/>
          <p:cNvSpPr/>
          <p:nvPr/>
        </p:nvSpPr>
        <p:spPr>
          <a:xfrm>
            <a:off x="6800000" y="3540000"/>
            <a:ext cx="8000" cy="60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18"/>
          <p:cNvSpPr txBox="1"/>
          <p:nvPr/>
        </p:nvSpPr>
        <p:spPr>
          <a:xfrm>
            <a:off x="6890000" y="3610000"/>
            <a:ext cx="480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보존 기간 관리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18"/>
          <p:cNvSpPr txBox="1"/>
          <p:nvPr/>
        </p:nvSpPr>
        <p:spPr>
          <a:xfrm>
            <a:off x="6890000" y="3850000"/>
            <a:ext cx="48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기본 15일 → 장기 보존 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18"/>
          <p:cNvSpPr txBox="1"/>
          <p:nvPr/>
        </p:nvSpPr>
        <p:spPr>
          <a:xfrm>
            <a:off x="6890000" y="4010000"/>
            <a:ext cx="48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Thanos / VictoriaMetrics 도입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18"/>
          <p:cNvSpPr/>
          <p:nvPr/>
        </p:nvSpPr>
        <p:spPr>
          <a:xfrm>
            <a:off x="6800000" y="4200000"/>
            <a:ext cx="4980000" cy="60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18"/>
          <p:cNvSpPr/>
          <p:nvPr/>
        </p:nvSpPr>
        <p:spPr>
          <a:xfrm>
            <a:off x="6800000" y="4200000"/>
            <a:ext cx="8000" cy="600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18"/>
          <p:cNvSpPr txBox="1"/>
          <p:nvPr/>
        </p:nvSpPr>
        <p:spPr>
          <a:xfrm>
            <a:off x="6890000" y="4270000"/>
            <a:ext cx="480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대시보드 버전 관리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18"/>
          <p:cNvSpPr txBox="1"/>
          <p:nvPr/>
        </p:nvSpPr>
        <p:spPr>
          <a:xfrm>
            <a:off x="6890000" y="4510000"/>
            <a:ext cx="48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표준 대시보드 JSON export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18"/>
          <p:cNvSpPr txBox="1"/>
          <p:nvPr/>
        </p:nvSpPr>
        <p:spPr>
          <a:xfrm>
            <a:off x="6890000" y="4670000"/>
            <a:ext cx="48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→ Git으로 팀 공유 &amp; 버전 관리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18"/>
          <p:cNvSpPr/>
          <p:nvPr/>
        </p:nvSpPr>
        <p:spPr>
          <a:xfrm>
            <a:off x="6800000" y="4860000"/>
            <a:ext cx="4980000" cy="60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18"/>
          <p:cNvSpPr/>
          <p:nvPr/>
        </p:nvSpPr>
        <p:spPr>
          <a:xfrm>
            <a:off x="6800000" y="4860000"/>
            <a:ext cx="8000" cy="6000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18"/>
          <p:cNvSpPr txBox="1"/>
          <p:nvPr/>
        </p:nvSpPr>
        <p:spPr>
          <a:xfrm>
            <a:off x="6890000" y="4930000"/>
            <a:ext cx="480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Actuator 포트 분리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18"/>
          <p:cNvSpPr txBox="1"/>
          <p:nvPr/>
        </p:nvSpPr>
        <p:spPr>
          <a:xfrm>
            <a:off x="6890000" y="5170000"/>
            <a:ext cx="48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server.port(8080) ≠ management.server.port(8081)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18"/>
          <p:cNvSpPr txBox="1"/>
          <p:nvPr/>
        </p:nvSpPr>
        <p:spPr>
          <a:xfrm>
            <a:off x="6890000" y="5330000"/>
            <a:ext cx="48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내부망에서만 8081 접근 허용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18"/>
          <p:cNvSpPr/>
          <p:nvPr/>
        </p:nvSpPr>
        <p:spPr>
          <a:xfrm>
            <a:off x="6800000" y="5520000"/>
            <a:ext cx="4980000" cy="60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18"/>
          <p:cNvSpPr/>
          <p:nvPr/>
        </p:nvSpPr>
        <p:spPr>
          <a:xfrm>
            <a:off x="6800000" y="5520000"/>
            <a:ext cx="8000" cy="600000"/>
          </a:xfrm>
          <a:prstGeom prst="rect">
            <a:avLst/>
          </a:prstGeom>
          <a:solidFill>
            <a:srgbClr val="1E2D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18"/>
          <p:cNvSpPr txBox="1"/>
          <p:nvPr/>
        </p:nvSpPr>
        <p:spPr>
          <a:xfrm>
            <a:off x="6890000" y="5590000"/>
            <a:ext cx="480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Spring Boot 3.x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18"/>
          <p:cNvSpPr txBox="1"/>
          <p:nvPr/>
        </p:nvSpPr>
        <p:spPr>
          <a:xfrm>
            <a:off x="6890000" y="5830000"/>
            <a:ext cx="48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Micrometer Tracing 추가 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18"/>
          <p:cNvSpPr txBox="1"/>
          <p:nvPr/>
        </p:nvSpPr>
        <p:spPr>
          <a:xfrm>
            <a:off x="6890000" y="5990000"/>
            <a:ext cx="48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Lato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Zipkin/Tempo 분산 추적 연동 가능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1" name="Google Shape;104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2" name="Google Shape;1042;p19"/>
          <p:cNvSpPr/>
          <p:nvPr/>
        </p:nvSpPr>
        <p:spPr>
          <a:xfrm>
            <a:off x="762000" y="1770757"/>
            <a:ext cx="1428750" cy="95250"/>
          </a:xfrm>
          <a:prstGeom prst="rect">
            <a:avLst/>
          </a:prstGeom>
          <a:solidFill>
            <a:srgbClr val="FFB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19"/>
          <p:cNvSpPr txBox="1"/>
          <p:nvPr/>
        </p:nvSpPr>
        <p:spPr>
          <a:xfrm>
            <a:off x="495300" y="1860000"/>
            <a:ext cx="11201400" cy="1419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8250"/>
              <a:buFont typeface="Poppins"/>
              <a:buNone/>
            </a:pPr>
            <a:r>
              <a:rPr b="1" i="0" lang="en-US" sz="82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감사합니다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19"/>
          <p:cNvSpPr txBox="1"/>
          <p:nvPr/>
        </p:nvSpPr>
        <p:spPr>
          <a:xfrm>
            <a:off x="762000" y="3550000"/>
            <a:ext cx="10668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BC00"/>
              </a:buClr>
              <a:buSzPts val="3600"/>
              <a:buFont typeface="Poppins"/>
              <a:buNone/>
            </a:pPr>
            <a:r>
              <a:rPr b="1" i="0" lang="en-US" sz="3600" u="none" cap="none" strike="noStrike">
                <a:solidFill>
                  <a:srgbClr val="FFBC00"/>
                </a:solidFill>
                <a:latin typeface="Poppins"/>
                <a:ea typeface="Poppins"/>
                <a:cs typeface="Poppins"/>
                <a:sym typeface="Poppins"/>
              </a:rPr>
              <a:t>Q &amp; 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19"/>
          <p:cNvSpPr txBox="1"/>
          <p:nvPr/>
        </p:nvSpPr>
        <p:spPr>
          <a:xfrm>
            <a:off x="762000" y="4150000"/>
            <a:ext cx="10668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800"/>
              <a:buFont typeface="Poppins"/>
              <a:buNone/>
            </a:pPr>
            <a:r>
              <a:rPr b="1" i="0" lang="en-US" sz="18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Spring Actuator + Prometheus + Grafana 모니터링 구축에 대한 질문을 받겠습니다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19"/>
          <p:cNvSpPr txBox="1"/>
          <p:nvPr/>
        </p:nvSpPr>
        <p:spPr>
          <a:xfrm>
            <a:off x="762000" y="4650000"/>
            <a:ext cx="10668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핵심 요약: </a:t>
            </a:r>
            <a:r>
              <a:rPr b="0" i="0" lang="en-US" sz="14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Actuator(메트릭 노출) → Prometheus(수집) → Grafana(시각화) → Alert(알림)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19"/>
          <p:cNvSpPr txBox="1"/>
          <p:nvPr/>
        </p:nvSpPr>
        <p:spPr>
          <a:xfrm>
            <a:off x="1333500" y="5023482"/>
            <a:ext cx="952500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D4D"/>
              </a:buClr>
              <a:buSzPts val="2100"/>
              <a:buFont typeface="Poppins"/>
              <a:buNone/>
            </a:pPr>
            <a:r>
              <a:rPr b="1" i="0" lang="en-US" sz="21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발표자: 설정훈 과장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