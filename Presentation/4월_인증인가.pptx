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889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idTpiT6Mh/BRDbS0o+ZpAmP1Xc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6C3FC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3840480" y="0"/>
            <a:ext cx="73152" cy="6858000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20040" y="1234440"/>
            <a:ext cx="347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KB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데이타시스템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320040" y="1737360"/>
            <a:ext cx="347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설정훈 과장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548640" y="2240280"/>
            <a:ext cx="292608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320040" y="237744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기술 세미나 Part 2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4251960" y="1371600"/>
            <a:ext cx="7589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인증 &amp;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4251960" y="2240280"/>
            <a:ext cx="7589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인가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4251960" y="3154680"/>
            <a:ext cx="5943600" cy="82296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4251960" y="3319272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JWT · OAuth · 세션 비교 · Spring Security 구현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4251960" y="3913632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인증/인가 개념부터 JWT·OAuth·Spring Security 구현 코드까지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4251960" y="6263640"/>
            <a:ext cx="7589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411480" y="594360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목   차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393192" y="1389888"/>
            <a:ext cx="2743200" cy="1417320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393192" y="1389888"/>
            <a:ext cx="530352" cy="1417320"/>
          </a:xfrm>
          <a:prstGeom prst="rect">
            <a:avLst/>
          </a:prstGeom>
          <a:solidFill>
            <a:srgbClr val="6C3FC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402336" y="1897379"/>
            <a:ext cx="51206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1033271" y="1536192"/>
            <a:ext cx="19933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인증 vs 인가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1033271" y="1883664"/>
            <a:ext cx="1993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개념 · 차이 · 실생활 예시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3246120" y="1389888"/>
            <a:ext cx="2743200" cy="1417320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3246120" y="1389888"/>
            <a:ext cx="530352" cy="1417320"/>
          </a:xfrm>
          <a:prstGeom prst="rect">
            <a:avLst/>
          </a:prstGeom>
          <a:solidFill>
            <a:srgbClr val="6C3FC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3255264" y="1897379"/>
            <a:ext cx="51206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3886200" y="1536192"/>
            <a:ext cx="19933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JWT 인증/인가 시퀀스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3886200" y="1883664"/>
            <a:ext cx="1993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발급 → 전송 → 검증 흐름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6099048" y="1389888"/>
            <a:ext cx="2743200" cy="1417320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6099048" y="1389888"/>
            <a:ext cx="530352" cy="1417320"/>
          </a:xfrm>
          <a:prstGeom prst="rect">
            <a:avLst/>
          </a:prstGeom>
          <a:solidFill>
            <a:srgbClr val="6C3FC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6108192" y="1897379"/>
            <a:ext cx="51206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6739128" y="1536192"/>
            <a:ext cx="19933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JWT vs 세션 비교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6739128" y="1883664"/>
            <a:ext cx="1993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장단점 · 적합한 상황 분석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8951976" y="1389888"/>
            <a:ext cx="2743200" cy="1417320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8951976" y="1389888"/>
            <a:ext cx="530352" cy="1417320"/>
          </a:xfrm>
          <a:prstGeom prst="rect">
            <a:avLst/>
          </a:prstGeom>
          <a:solidFill>
            <a:srgbClr val="6C3FC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8961119" y="1897379"/>
            <a:ext cx="51206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9592055" y="1536192"/>
            <a:ext cx="19933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OAuth 2.0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9592055" y="1883664"/>
            <a:ext cx="1993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소셜 로그인 동작 원리</a:t>
            </a:r>
            <a:endParaRPr/>
          </a:p>
        </p:txBody>
      </p:sp>
      <p:sp>
        <p:nvSpPr>
          <p:cNvPr id="124" name="Google Shape;124;p2"/>
          <p:cNvSpPr/>
          <p:nvPr/>
        </p:nvSpPr>
        <p:spPr>
          <a:xfrm>
            <a:off x="1874519" y="2971800"/>
            <a:ext cx="2743200" cy="1417320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1874519" y="2971800"/>
            <a:ext cx="530352" cy="1417320"/>
          </a:xfrm>
          <a:prstGeom prst="rect">
            <a:avLst/>
          </a:prstGeom>
          <a:solidFill>
            <a:srgbClr val="1A6F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1883663" y="3479292"/>
            <a:ext cx="51206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2514600" y="3118104"/>
            <a:ext cx="19933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Spring Security 개요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2514600" y="3465576"/>
            <a:ext cx="1993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필터 체인 · 주요 기능</a:t>
            </a:r>
            <a:endParaRPr/>
          </a:p>
        </p:txBody>
      </p:sp>
      <p:sp>
        <p:nvSpPr>
          <p:cNvPr id="129" name="Google Shape;129;p2"/>
          <p:cNvSpPr/>
          <p:nvPr/>
        </p:nvSpPr>
        <p:spPr>
          <a:xfrm>
            <a:off x="4727448" y="2971800"/>
            <a:ext cx="2743200" cy="1417320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4727448" y="2971800"/>
            <a:ext cx="530352" cy="1417320"/>
          </a:xfrm>
          <a:prstGeom prst="rect">
            <a:avLst/>
          </a:prstGeom>
          <a:solidFill>
            <a:srgbClr val="1A6F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4736592" y="3479292"/>
            <a:ext cx="51206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5367528" y="3118104"/>
            <a:ext cx="19933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Spring Security + JWT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5367528" y="3465576"/>
            <a:ext cx="1993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JWT 필터 · SecurityConfig 코드</a:t>
            </a:r>
            <a:endParaRPr/>
          </a:p>
        </p:txBody>
      </p:sp>
      <p:sp>
        <p:nvSpPr>
          <p:cNvPr id="134" name="Google Shape;134;p2"/>
          <p:cNvSpPr/>
          <p:nvPr/>
        </p:nvSpPr>
        <p:spPr>
          <a:xfrm>
            <a:off x="7580375" y="2971800"/>
            <a:ext cx="2743200" cy="1417320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7580375" y="2971800"/>
            <a:ext cx="530352" cy="1417320"/>
          </a:xfrm>
          <a:prstGeom prst="rect">
            <a:avLst/>
          </a:prstGeom>
          <a:solidFill>
            <a:srgbClr val="1A6F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7589519" y="3479292"/>
            <a:ext cx="51206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8220455" y="3118104"/>
            <a:ext cx="19933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Spring Security + OAuth2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8220455" y="3465576"/>
            <a:ext cx="1993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OAuth2 · @PreAuthorize 코드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411480" y="594360"/>
            <a:ext cx="1143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01  인증(Authentication) vs 인가(Authorization)</a:t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411480" y="1261872"/>
            <a:ext cx="11365992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411480" y="1508760"/>
            <a:ext cx="5486400" cy="5074920"/>
          </a:xfrm>
          <a:prstGeom prst="rect">
            <a:avLst/>
          </a:prstGeom>
          <a:solidFill>
            <a:srgbClr val="EEE6FF"/>
          </a:solidFill>
          <a:ln cap="flat" cmpd="sng" w="19050">
            <a:solidFill>
              <a:srgbClr val="6C3FC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411480" y="1508760"/>
            <a:ext cx="5486400" cy="438912"/>
          </a:xfrm>
          <a:prstGeom prst="rect">
            <a:avLst/>
          </a:prstGeom>
          <a:solidFill>
            <a:srgbClr val="6C3FC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 txBox="1"/>
          <p:nvPr/>
        </p:nvSpPr>
        <p:spPr>
          <a:xfrm>
            <a:off x="594360" y="1536192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🔑  인증 (Authentication)</a:t>
            </a:r>
            <a:endParaRPr/>
          </a:p>
        </p:txBody>
      </p:sp>
      <p:sp>
        <p:nvSpPr>
          <p:cNvPr id="150" name="Google Shape;150;p3"/>
          <p:cNvSpPr/>
          <p:nvPr/>
        </p:nvSpPr>
        <p:spPr>
          <a:xfrm>
            <a:off x="594360" y="2057400"/>
            <a:ext cx="5120640" cy="98755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6C3FC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731520" y="21031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C3FC2"/>
                </a:solidFill>
                <a:latin typeface="Calibri"/>
                <a:ea typeface="Calibri"/>
                <a:cs typeface="Calibri"/>
                <a:sym typeface="Calibri"/>
              </a:rPr>
              <a:t>핵심 질문</a:t>
            </a:r>
            <a:endParaRPr/>
          </a:p>
        </p:txBody>
      </p:sp>
      <p:sp>
        <p:nvSpPr>
          <p:cNvPr id="152" name="Google Shape;152;p3"/>
          <p:cNvSpPr txBox="1"/>
          <p:nvPr/>
        </p:nvSpPr>
        <p:spPr>
          <a:xfrm>
            <a:off x="731520" y="2377440"/>
            <a:ext cx="4937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"나는 누구인가?" — 신원 확인</a:t>
            </a:r>
            <a:endParaRPr/>
          </a:p>
        </p:txBody>
      </p:sp>
      <p:sp>
        <p:nvSpPr>
          <p:cNvPr id="153" name="Google Shape;153;p3"/>
          <p:cNvSpPr txBox="1"/>
          <p:nvPr/>
        </p:nvSpPr>
        <p:spPr>
          <a:xfrm>
            <a:off x="594360" y="315468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C3FC2"/>
                </a:solidFill>
                <a:latin typeface="Calibri"/>
                <a:ea typeface="Calibri"/>
                <a:cs typeface="Calibri"/>
                <a:sym typeface="Calibri"/>
              </a:rPr>
              <a:t>실생활 예시</a:t>
            </a:r>
            <a:endParaRPr/>
          </a:p>
        </p:txBody>
      </p:sp>
      <p:sp>
        <p:nvSpPr>
          <p:cNvPr id="154" name="Google Shape;154;p3"/>
          <p:cNvSpPr/>
          <p:nvPr/>
        </p:nvSpPr>
        <p:spPr>
          <a:xfrm>
            <a:off x="594360" y="3502152"/>
            <a:ext cx="73152" cy="73152"/>
          </a:xfrm>
          <a:prstGeom prst="rect">
            <a:avLst/>
          </a:prstGeom>
          <a:solidFill>
            <a:srgbClr val="6C3FC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 txBox="1"/>
          <p:nvPr/>
        </p:nvSpPr>
        <p:spPr>
          <a:xfrm>
            <a:off x="758952" y="3429000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아이디 + 비밀번호로 로그인</a:t>
            </a: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594360" y="4014216"/>
            <a:ext cx="73152" cy="73152"/>
          </a:xfrm>
          <a:prstGeom prst="rect">
            <a:avLst/>
          </a:prstGeom>
          <a:solidFill>
            <a:srgbClr val="6C3FC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 txBox="1"/>
          <p:nvPr/>
        </p:nvSpPr>
        <p:spPr>
          <a:xfrm>
            <a:off x="758952" y="3941064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지문·얼굴 인식 (생체 인증)</a:t>
            </a:r>
            <a:endParaRPr/>
          </a:p>
        </p:txBody>
      </p:sp>
      <p:sp>
        <p:nvSpPr>
          <p:cNvPr id="158" name="Google Shape;158;p3"/>
          <p:cNvSpPr/>
          <p:nvPr/>
        </p:nvSpPr>
        <p:spPr>
          <a:xfrm>
            <a:off x="594360" y="4526280"/>
            <a:ext cx="73152" cy="73152"/>
          </a:xfrm>
          <a:prstGeom prst="rect">
            <a:avLst/>
          </a:prstGeom>
          <a:solidFill>
            <a:srgbClr val="6C3FC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 txBox="1"/>
          <p:nvPr/>
        </p:nvSpPr>
        <p:spPr>
          <a:xfrm>
            <a:off x="758952" y="4453128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OTP (일회용 비밀번호)</a:t>
            </a:r>
            <a:endParaRPr/>
          </a:p>
        </p:txBody>
      </p:sp>
      <p:sp>
        <p:nvSpPr>
          <p:cNvPr id="160" name="Google Shape;160;p3"/>
          <p:cNvSpPr/>
          <p:nvPr/>
        </p:nvSpPr>
        <p:spPr>
          <a:xfrm>
            <a:off x="594360" y="5038344"/>
            <a:ext cx="73152" cy="73152"/>
          </a:xfrm>
          <a:prstGeom prst="rect">
            <a:avLst/>
          </a:prstGeom>
          <a:solidFill>
            <a:srgbClr val="6C3FC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 txBox="1"/>
          <p:nvPr/>
        </p:nvSpPr>
        <p:spPr>
          <a:xfrm>
            <a:off x="758952" y="4965192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공인인증서 / 사설인증서</a:t>
            </a:r>
            <a:endParaRPr/>
          </a:p>
        </p:txBody>
      </p:sp>
      <p:sp>
        <p:nvSpPr>
          <p:cNvPr id="162" name="Google Shape;162;p3"/>
          <p:cNvSpPr/>
          <p:nvPr/>
        </p:nvSpPr>
        <p:spPr>
          <a:xfrm>
            <a:off x="594360" y="5550408"/>
            <a:ext cx="73152" cy="73152"/>
          </a:xfrm>
          <a:prstGeom prst="rect">
            <a:avLst/>
          </a:prstGeom>
          <a:solidFill>
            <a:srgbClr val="6C3FC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 txBox="1"/>
          <p:nvPr/>
        </p:nvSpPr>
        <p:spPr>
          <a:xfrm>
            <a:off x="758952" y="5477256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카카오·네이버·구글 소셜 로그인</a:t>
            </a:r>
            <a:endParaRPr/>
          </a:p>
        </p:txBody>
      </p:sp>
      <p:sp>
        <p:nvSpPr>
          <p:cNvPr id="164" name="Google Shape;164;p3"/>
          <p:cNvSpPr/>
          <p:nvPr/>
        </p:nvSpPr>
        <p:spPr>
          <a:xfrm>
            <a:off x="6291072" y="1508760"/>
            <a:ext cx="5486400" cy="5074920"/>
          </a:xfrm>
          <a:prstGeom prst="rect">
            <a:avLst/>
          </a:prstGeom>
          <a:solidFill>
            <a:srgbClr val="E8F5ED"/>
          </a:solidFill>
          <a:ln cap="flat" cmpd="sng" w="19050">
            <a:solidFill>
              <a:srgbClr val="1A6F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6291072" y="1508760"/>
            <a:ext cx="5486400" cy="438912"/>
          </a:xfrm>
          <a:prstGeom prst="rect">
            <a:avLst/>
          </a:prstGeom>
          <a:solidFill>
            <a:srgbClr val="1A6F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 txBox="1"/>
          <p:nvPr/>
        </p:nvSpPr>
        <p:spPr>
          <a:xfrm>
            <a:off x="6473952" y="1536192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🛡️  인가 (Authorization)</a:t>
            </a:r>
            <a:endParaRPr/>
          </a:p>
        </p:txBody>
      </p:sp>
      <p:sp>
        <p:nvSpPr>
          <p:cNvPr id="167" name="Google Shape;167;p3"/>
          <p:cNvSpPr/>
          <p:nvPr/>
        </p:nvSpPr>
        <p:spPr>
          <a:xfrm>
            <a:off x="6473952" y="2057400"/>
            <a:ext cx="5120640" cy="98755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1A6F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"/>
          <p:cNvSpPr txBox="1"/>
          <p:nvPr/>
        </p:nvSpPr>
        <p:spPr>
          <a:xfrm>
            <a:off x="6611112" y="21031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6F3C"/>
                </a:solidFill>
                <a:latin typeface="Calibri"/>
                <a:ea typeface="Calibri"/>
                <a:cs typeface="Calibri"/>
                <a:sym typeface="Calibri"/>
              </a:rPr>
              <a:t>핵심 질문</a:t>
            </a:r>
            <a:endParaRPr/>
          </a:p>
        </p:txBody>
      </p:sp>
      <p:sp>
        <p:nvSpPr>
          <p:cNvPr id="169" name="Google Shape;169;p3"/>
          <p:cNvSpPr txBox="1"/>
          <p:nvPr/>
        </p:nvSpPr>
        <p:spPr>
          <a:xfrm>
            <a:off x="6611112" y="2377440"/>
            <a:ext cx="4937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"무엇을 할 수 있는가?" — 권한 확인</a:t>
            </a:r>
            <a:endParaRPr/>
          </a:p>
        </p:txBody>
      </p:sp>
      <p:sp>
        <p:nvSpPr>
          <p:cNvPr id="170" name="Google Shape;170;p3"/>
          <p:cNvSpPr txBox="1"/>
          <p:nvPr/>
        </p:nvSpPr>
        <p:spPr>
          <a:xfrm>
            <a:off x="6473952" y="315468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6F3C"/>
                </a:solidFill>
                <a:latin typeface="Calibri"/>
                <a:ea typeface="Calibri"/>
                <a:cs typeface="Calibri"/>
                <a:sym typeface="Calibri"/>
              </a:rPr>
              <a:t>실생활 예시</a:t>
            </a:r>
            <a:endParaRPr/>
          </a:p>
        </p:txBody>
      </p:sp>
      <p:sp>
        <p:nvSpPr>
          <p:cNvPr id="171" name="Google Shape;171;p3"/>
          <p:cNvSpPr/>
          <p:nvPr/>
        </p:nvSpPr>
        <p:spPr>
          <a:xfrm>
            <a:off x="6473952" y="3502152"/>
            <a:ext cx="73152" cy="73152"/>
          </a:xfrm>
          <a:prstGeom prst="rect">
            <a:avLst/>
          </a:prstGeom>
          <a:solidFill>
            <a:srgbClr val="1A6F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"/>
          <p:cNvSpPr txBox="1"/>
          <p:nvPr/>
        </p:nvSpPr>
        <p:spPr>
          <a:xfrm>
            <a:off x="6638544" y="3429000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관리자만 접근 가능한 설정 페이지</a:t>
            </a:r>
            <a:endParaRPr/>
          </a:p>
        </p:txBody>
      </p:sp>
      <p:sp>
        <p:nvSpPr>
          <p:cNvPr id="173" name="Google Shape;173;p3"/>
          <p:cNvSpPr/>
          <p:nvPr/>
        </p:nvSpPr>
        <p:spPr>
          <a:xfrm>
            <a:off x="6473952" y="4014216"/>
            <a:ext cx="73152" cy="73152"/>
          </a:xfrm>
          <a:prstGeom prst="rect">
            <a:avLst/>
          </a:prstGeom>
          <a:solidFill>
            <a:srgbClr val="1A6F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"/>
          <p:cNvSpPr txBox="1"/>
          <p:nvPr/>
        </p:nvSpPr>
        <p:spPr>
          <a:xfrm>
            <a:off x="6638544" y="3941064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본인 글만 수정·삭제 가능</a:t>
            </a:r>
            <a:endParaRPr/>
          </a:p>
        </p:txBody>
      </p:sp>
      <p:sp>
        <p:nvSpPr>
          <p:cNvPr id="175" name="Google Shape;175;p3"/>
          <p:cNvSpPr/>
          <p:nvPr/>
        </p:nvSpPr>
        <p:spPr>
          <a:xfrm>
            <a:off x="6473952" y="4526280"/>
            <a:ext cx="73152" cy="73152"/>
          </a:xfrm>
          <a:prstGeom prst="rect">
            <a:avLst/>
          </a:prstGeom>
          <a:solidFill>
            <a:srgbClr val="1A6F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"/>
          <p:cNvSpPr txBox="1"/>
          <p:nvPr/>
        </p:nvSpPr>
        <p:spPr>
          <a:xfrm>
            <a:off x="6638544" y="4453128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결제 API는 인증된 사용자만 호출</a:t>
            </a:r>
            <a:endParaRPr/>
          </a:p>
        </p:txBody>
      </p:sp>
      <p:sp>
        <p:nvSpPr>
          <p:cNvPr id="177" name="Google Shape;177;p3"/>
          <p:cNvSpPr/>
          <p:nvPr/>
        </p:nvSpPr>
        <p:spPr>
          <a:xfrm>
            <a:off x="6473952" y="5038344"/>
            <a:ext cx="73152" cy="73152"/>
          </a:xfrm>
          <a:prstGeom prst="rect">
            <a:avLst/>
          </a:prstGeom>
          <a:solidFill>
            <a:srgbClr val="1A6F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"/>
          <p:cNvSpPr txBox="1"/>
          <p:nvPr/>
        </p:nvSpPr>
        <p:spPr>
          <a:xfrm>
            <a:off x="6638544" y="4965192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ROLE_ADMIN vs ROLE_USER 분리</a:t>
            </a:r>
            <a:endParaRPr/>
          </a:p>
        </p:txBody>
      </p:sp>
      <p:sp>
        <p:nvSpPr>
          <p:cNvPr id="179" name="Google Shape;179;p3"/>
          <p:cNvSpPr/>
          <p:nvPr/>
        </p:nvSpPr>
        <p:spPr>
          <a:xfrm>
            <a:off x="6473952" y="5550408"/>
            <a:ext cx="73152" cy="73152"/>
          </a:xfrm>
          <a:prstGeom prst="rect">
            <a:avLst/>
          </a:prstGeom>
          <a:solidFill>
            <a:srgbClr val="1A6F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"/>
          <p:cNvSpPr txBox="1"/>
          <p:nvPr/>
        </p:nvSpPr>
        <p:spPr>
          <a:xfrm>
            <a:off x="6638544" y="5477256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JWT 토큰 내 권한(role) 정보 검사</a:t>
            </a:r>
            <a:endParaRPr/>
          </a:p>
        </p:txBody>
      </p:sp>
      <p:sp>
        <p:nvSpPr>
          <p:cNvPr id="181" name="Google Shape;181;p3"/>
          <p:cNvSpPr/>
          <p:nvPr/>
        </p:nvSpPr>
        <p:spPr>
          <a:xfrm>
            <a:off x="411480" y="6492240"/>
            <a:ext cx="11365992" cy="274320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"/>
          <p:cNvSpPr txBox="1"/>
          <p:nvPr/>
        </p:nvSpPr>
        <p:spPr>
          <a:xfrm>
            <a:off x="548640" y="6519672"/>
            <a:ext cx="11064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✅  순서:  로그인(인증 완료)  →  JWT 발급  →  API 호출 시 토큰 검사(인가)  →  허용 or 차단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 txBox="1"/>
          <p:nvPr/>
        </p:nvSpPr>
        <p:spPr>
          <a:xfrm>
            <a:off x="411480" y="594360"/>
            <a:ext cx="1143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02  JWT 인증 / 인가 시퀀스</a:t>
            </a: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411480" y="1261872"/>
            <a:ext cx="11365992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411480" y="1508760"/>
            <a:ext cx="11365992" cy="658368"/>
          </a:xfrm>
          <a:prstGeom prst="rect">
            <a:avLst/>
          </a:prstGeom>
          <a:solidFill>
            <a:srgbClr val="FFFBE6"/>
          </a:solidFill>
          <a:ln cap="flat" cmpd="sng" w="19050">
            <a:solidFill>
              <a:srgbClr val="FFD6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 txBox="1"/>
          <p:nvPr/>
        </p:nvSpPr>
        <p:spPr>
          <a:xfrm>
            <a:off x="566928" y="1536192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JWT는 Header.Payload.Signature 세 부분으로 구성된 토큰입니다. 서버가 발급하고 클라이언트가 보관하며, 이후 모든 API 요청에 첨부합니다.</a:t>
            </a:r>
            <a:br>
              <a:rPr b="0" i="1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서버는 DB 조회 없이 서명(Signature)만 검증하면 사용자를 확인할 수 있습니다.</a:t>
            </a:r>
            <a:endParaRPr/>
          </a:p>
        </p:txBody>
      </p:sp>
      <p:sp>
        <p:nvSpPr>
          <p:cNvPr id="193" name="Google Shape;193;p4"/>
          <p:cNvSpPr/>
          <p:nvPr/>
        </p:nvSpPr>
        <p:spPr>
          <a:xfrm>
            <a:off x="411480" y="2267712"/>
            <a:ext cx="11365992" cy="292608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 txBox="1"/>
          <p:nvPr/>
        </p:nvSpPr>
        <p:spPr>
          <a:xfrm>
            <a:off x="548640" y="22860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FLOW ①  로그인 — JWT 발급</a:t>
            </a:r>
            <a:endParaRPr/>
          </a:p>
        </p:txBody>
      </p:sp>
      <p:sp>
        <p:nvSpPr>
          <p:cNvPr id="195" name="Google Shape;195;p4"/>
          <p:cNvSpPr/>
          <p:nvPr/>
        </p:nvSpPr>
        <p:spPr>
          <a:xfrm>
            <a:off x="411480" y="2633472"/>
            <a:ext cx="1920240" cy="658368"/>
          </a:xfrm>
          <a:prstGeom prst="rect">
            <a:avLst/>
          </a:prstGeom>
          <a:solidFill>
            <a:srgbClr val="2C3E6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 txBox="1"/>
          <p:nvPr/>
        </p:nvSpPr>
        <p:spPr>
          <a:xfrm>
            <a:off x="457200" y="2670048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</a:t>
            </a:r>
            <a:endParaRPr/>
          </a:p>
        </p:txBody>
      </p:sp>
      <p:sp>
        <p:nvSpPr>
          <p:cNvPr id="197" name="Google Shape;197;p4"/>
          <p:cNvSpPr txBox="1"/>
          <p:nvPr/>
        </p:nvSpPr>
        <p:spPr>
          <a:xfrm>
            <a:off x="795528" y="267004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아이디/PW 입력</a:t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795528" y="2926079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사용자가 로그인 폼 제출</a:t>
            </a:r>
            <a:endParaRPr/>
          </a:p>
        </p:txBody>
      </p:sp>
      <p:sp>
        <p:nvSpPr>
          <p:cNvPr id="199" name="Google Shape;199;p4"/>
          <p:cNvSpPr txBox="1"/>
          <p:nvPr/>
        </p:nvSpPr>
        <p:spPr>
          <a:xfrm>
            <a:off x="2377440" y="283464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/>
          </a:p>
        </p:txBody>
      </p:sp>
      <p:sp>
        <p:nvSpPr>
          <p:cNvPr id="200" name="Google Shape;200;p4"/>
          <p:cNvSpPr/>
          <p:nvPr/>
        </p:nvSpPr>
        <p:spPr>
          <a:xfrm>
            <a:off x="2587752" y="2633472"/>
            <a:ext cx="1920240" cy="658368"/>
          </a:xfrm>
          <a:prstGeom prst="rect">
            <a:avLst/>
          </a:prstGeom>
          <a:solidFill>
            <a:srgbClr val="2C3E6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 txBox="1"/>
          <p:nvPr/>
        </p:nvSpPr>
        <p:spPr>
          <a:xfrm>
            <a:off x="2633472" y="2670048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</a:t>
            </a:r>
            <a:endParaRPr/>
          </a:p>
        </p:txBody>
      </p:sp>
      <p:sp>
        <p:nvSpPr>
          <p:cNvPr id="202" name="Google Shape;202;p4"/>
          <p:cNvSpPr txBox="1"/>
          <p:nvPr/>
        </p:nvSpPr>
        <p:spPr>
          <a:xfrm>
            <a:off x="2971800" y="267004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서버로 전송</a:t>
            </a:r>
            <a:endParaRPr/>
          </a:p>
        </p:txBody>
      </p:sp>
      <p:sp>
        <p:nvSpPr>
          <p:cNvPr id="203" name="Google Shape;203;p4"/>
          <p:cNvSpPr txBox="1"/>
          <p:nvPr/>
        </p:nvSpPr>
        <p:spPr>
          <a:xfrm>
            <a:off x="2971800" y="2926079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POST /api/login</a:t>
            </a:r>
            <a:endParaRPr/>
          </a:p>
        </p:txBody>
      </p:sp>
      <p:sp>
        <p:nvSpPr>
          <p:cNvPr id="204" name="Google Shape;204;p4"/>
          <p:cNvSpPr txBox="1"/>
          <p:nvPr/>
        </p:nvSpPr>
        <p:spPr>
          <a:xfrm>
            <a:off x="4553712" y="283464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/>
          </a:p>
        </p:txBody>
      </p:sp>
      <p:sp>
        <p:nvSpPr>
          <p:cNvPr id="205" name="Google Shape;205;p4"/>
          <p:cNvSpPr/>
          <p:nvPr/>
        </p:nvSpPr>
        <p:spPr>
          <a:xfrm>
            <a:off x="4764024" y="2633472"/>
            <a:ext cx="1920240" cy="658368"/>
          </a:xfrm>
          <a:prstGeom prst="rect">
            <a:avLst/>
          </a:prstGeom>
          <a:solidFill>
            <a:srgbClr val="1F5A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"/>
          <p:cNvSpPr txBox="1"/>
          <p:nvPr/>
        </p:nvSpPr>
        <p:spPr>
          <a:xfrm>
            <a:off x="4809744" y="2670048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③</a:t>
            </a:r>
            <a:endParaRPr/>
          </a:p>
        </p:txBody>
      </p:sp>
      <p:sp>
        <p:nvSpPr>
          <p:cNvPr id="207" name="Google Shape;207;p4"/>
          <p:cNvSpPr txBox="1"/>
          <p:nvPr/>
        </p:nvSpPr>
        <p:spPr>
          <a:xfrm>
            <a:off x="5148072" y="267004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사용자 검증</a:t>
            </a:r>
            <a:endParaRPr/>
          </a:p>
        </p:txBody>
      </p:sp>
      <p:sp>
        <p:nvSpPr>
          <p:cNvPr id="208" name="Google Shape;208;p4"/>
          <p:cNvSpPr txBox="1"/>
          <p:nvPr/>
        </p:nvSpPr>
        <p:spPr>
          <a:xfrm>
            <a:off x="5148072" y="2926079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DB에서 사용자 확인</a:t>
            </a:r>
            <a:endParaRPr/>
          </a:p>
        </p:txBody>
      </p:sp>
      <p:sp>
        <p:nvSpPr>
          <p:cNvPr id="209" name="Google Shape;209;p4"/>
          <p:cNvSpPr txBox="1"/>
          <p:nvPr/>
        </p:nvSpPr>
        <p:spPr>
          <a:xfrm>
            <a:off x="6729984" y="283464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/>
          </a:p>
        </p:txBody>
      </p:sp>
      <p:sp>
        <p:nvSpPr>
          <p:cNvPr id="210" name="Google Shape;210;p4"/>
          <p:cNvSpPr/>
          <p:nvPr/>
        </p:nvSpPr>
        <p:spPr>
          <a:xfrm>
            <a:off x="6940296" y="2633472"/>
            <a:ext cx="1920240" cy="658368"/>
          </a:xfrm>
          <a:prstGeom prst="rect">
            <a:avLst/>
          </a:prstGeom>
          <a:solidFill>
            <a:srgbClr val="1F5A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"/>
          <p:cNvSpPr txBox="1"/>
          <p:nvPr/>
        </p:nvSpPr>
        <p:spPr>
          <a:xfrm>
            <a:off x="6986016" y="2670048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④</a:t>
            </a:r>
            <a:endParaRPr/>
          </a:p>
        </p:txBody>
      </p:sp>
      <p:sp>
        <p:nvSpPr>
          <p:cNvPr id="212" name="Google Shape;212;p4"/>
          <p:cNvSpPr txBox="1"/>
          <p:nvPr/>
        </p:nvSpPr>
        <p:spPr>
          <a:xfrm>
            <a:off x="7324344" y="267004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JWT 발급</a:t>
            </a:r>
            <a:endParaRPr/>
          </a:p>
        </p:txBody>
      </p:sp>
      <p:sp>
        <p:nvSpPr>
          <p:cNvPr id="213" name="Google Shape;213;p4"/>
          <p:cNvSpPr txBox="1"/>
          <p:nvPr/>
        </p:nvSpPr>
        <p:spPr>
          <a:xfrm>
            <a:off x="7324344" y="2926079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userId·role·만료시간 포함</a:t>
            </a:r>
            <a:endParaRPr/>
          </a:p>
        </p:txBody>
      </p:sp>
      <p:sp>
        <p:nvSpPr>
          <p:cNvPr id="214" name="Google Shape;214;p4"/>
          <p:cNvSpPr txBox="1"/>
          <p:nvPr/>
        </p:nvSpPr>
        <p:spPr>
          <a:xfrm>
            <a:off x="8906256" y="283464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/>
          </a:p>
        </p:txBody>
      </p:sp>
      <p:sp>
        <p:nvSpPr>
          <p:cNvPr id="215" name="Google Shape;215;p4"/>
          <p:cNvSpPr/>
          <p:nvPr/>
        </p:nvSpPr>
        <p:spPr>
          <a:xfrm>
            <a:off x="9116567" y="2633472"/>
            <a:ext cx="1920240" cy="658368"/>
          </a:xfrm>
          <a:prstGeom prst="rect">
            <a:avLst/>
          </a:prstGeom>
          <a:solidFill>
            <a:srgbClr val="2C3E6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4"/>
          <p:cNvSpPr txBox="1"/>
          <p:nvPr/>
        </p:nvSpPr>
        <p:spPr>
          <a:xfrm>
            <a:off x="9162288" y="2670048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⑤</a:t>
            </a:r>
            <a:endParaRPr/>
          </a:p>
        </p:txBody>
      </p:sp>
      <p:sp>
        <p:nvSpPr>
          <p:cNvPr id="217" name="Google Shape;217;p4"/>
          <p:cNvSpPr txBox="1"/>
          <p:nvPr/>
        </p:nvSpPr>
        <p:spPr>
          <a:xfrm>
            <a:off x="9500615" y="267004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토큰 저장</a:t>
            </a:r>
            <a:endParaRPr/>
          </a:p>
        </p:txBody>
      </p:sp>
      <p:sp>
        <p:nvSpPr>
          <p:cNvPr id="218" name="Google Shape;218;p4"/>
          <p:cNvSpPr txBox="1"/>
          <p:nvPr/>
        </p:nvSpPr>
        <p:spPr>
          <a:xfrm>
            <a:off x="9500615" y="2926079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localStorage / Cookie에 저장</a:t>
            </a:r>
            <a:endParaRPr/>
          </a:p>
        </p:txBody>
      </p:sp>
      <p:sp>
        <p:nvSpPr>
          <p:cNvPr id="219" name="Google Shape;219;p4"/>
          <p:cNvSpPr/>
          <p:nvPr/>
        </p:nvSpPr>
        <p:spPr>
          <a:xfrm>
            <a:off x="411480" y="3429000"/>
            <a:ext cx="11365992" cy="292608"/>
          </a:xfrm>
          <a:prstGeom prst="rect">
            <a:avLst/>
          </a:prstGeom>
          <a:solidFill>
            <a:srgbClr val="6C3FC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4"/>
          <p:cNvSpPr txBox="1"/>
          <p:nvPr/>
        </p:nvSpPr>
        <p:spPr>
          <a:xfrm>
            <a:off x="548640" y="3447288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FLOW ②  API 호출 — JWT 검증 (인가)</a:t>
            </a:r>
            <a:endParaRPr/>
          </a:p>
        </p:txBody>
      </p:sp>
      <p:sp>
        <p:nvSpPr>
          <p:cNvPr id="221" name="Google Shape;221;p4"/>
          <p:cNvSpPr/>
          <p:nvPr/>
        </p:nvSpPr>
        <p:spPr>
          <a:xfrm>
            <a:off x="411480" y="3794760"/>
            <a:ext cx="1920240" cy="658368"/>
          </a:xfrm>
          <a:prstGeom prst="rect">
            <a:avLst/>
          </a:prstGeom>
          <a:solidFill>
            <a:srgbClr val="3A1F6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4"/>
          <p:cNvSpPr txBox="1"/>
          <p:nvPr/>
        </p:nvSpPr>
        <p:spPr>
          <a:xfrm>
            <a:off x="457200" y="3831336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</a:t>
            </a:r>
            <a:endParaRPr/>
          </a:p>
        </p:txBody>
      </p:sp>
      <p:sp>
        <p:nvSpPr>
          <p:cNvPr id="223" name="Google Shape;223;p4"/>
          <p:cNvSpPr txBox="1"/>
          <p:nvPr/>
        </p:nvSpPr>
        <p:spPr>
          <a:xfrm>
            <a:off x="795528" y="3831336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요청</a:t>
            </a:r>
            <a:endParaRPr/>
          </a:p>
        </p:txBody>
      </p:sp>
      <p:sp>
        <p:nvSpPr>
          <p:cNvPr id="224" name="Google Shape;224;p4"/>
          <p:cNvSpPr txBox="1"/>
          <p:nvPr/>
        </p:nvSpPr>
        <p:spPr>
          <a:xfrm>
            <a:off x="795528" y="408736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Authorization: Bearer &lt;JWT&gt;</a:t>
            </a:r>
            <a:endParaRPr/>
          </a:p>
        </p:txBody>
      </p:sp>
      <p:sp>
        <p:nvSpPr>
          <p:cNvPr id="225" name="Google Shape;225;p4"/>
          <p:cNvSpPr txBox="1"/>
          <p:nvPr/>
        </p:nvSpPr>
        <p:spPr>
          <a:xfrm>
            <a:off x="2377440" y="3995928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/>
          </a:p>
        </p:txBody>
      </p:sp>
      <p:sp>
        <p:nvSpPr>
          <p:cNvPr id="226" name="Google Shape;226;p4"/>
          <p:cNvSpPr/>
          <p:nvPr/>
        </p:nvSpPr>
        <p:spPr>
          <a:xfrm>
            <a:off x="2587752" y="3794760"/>
            <a:ext cx="1920240" cy="658368"/>
          </a:xfrm>
          <a:prstGeom prst="rect">
            <a:avLst/>
          </a:prstGeom>
          <a:solidFill>
            <a:srgbClr val="3A1F6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"/>
          <p:cNvSpPr txBox="1"/>
          <p:nvPr/>
        </p:nvSpPr>
        <p:spPr>
          <a:xfrm>
            <a:off x="2633472" y="3831336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</a:t>
            </a:r>
            <a:endParaRPr/>
          </a:p>
        </p:txBody>
      </p:sp>
      <p:sp>
        <p:nvSpPr>
          <p:cNvPr id="228" name="Google Shape;228;p4"/>
          <p:cNvSpPr txBox="1"/>
          <p:nvPr/>
        </p:nvSpPr>
        <p:spPr>
          <a:xfrm>
            <a:off x="2971800" y="3831336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토큰 추출</a:t>
            </a:r>
            <a:endParaRPr/>
          </a:p>
        </p:txBody>
      </p:sp>
      <p:sp>
        <p:nvSpPr>
          <p:cNvPr id="229" name="Google Shape;229;p4"/>
          <p:cNvSpPr txBox="1"/>
          <p:nvPr/>
        </p:nvSpPr>
        <p:spPr>
          <a:xfrm>
            <a:off x="2971800" y="408736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헤더에서 JWT 꺼내기</a:t>
            </a:r>
            <a:endParaRPr/>
          </a:p>
        </p:txBody>
      </p:sp>
      <p:sp>
        <p:nvSpPr>
          <p:cNvPr id="230" name="Google Shape;230;p4"/>
          <p:cNvSpPr txBox="1"/>
          <p:nvPr/>
        </p:nvSpPr>
        <p:spPr>
          <a:xfrm>
            <a:off x="4553712" y="3995928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/>
          </a:p>
        </p:txBody>
      </p:sp>
      <p:sp>
        <p:nvSpPr>
          <p:cNvPr id="231" name="Google Shape;231;p4"/>
          <p:cNvSpPr/>
          <p:nvPr/>
        </p:nvSpPr>
        <p:spPr>
          <a:xfrm>
            <a:off x="4764024" y="3794760"/>
            <a:ext cx="1920240" cy="658368"/>
          </a:xfrm>
          <a:prstGeom prst="rect">
            <a:avLst/>
          </a:prstGeom>
          <a:solidFill>
            <a:srgbClr val="2D50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4"/>
          <p:cNvSpPr txBox="1"/>
          <p:nvPr/>
        </p:nvSpPr>
        <p:spPr>
          <a:xfrm>
            <a:off x="4809744" y="3831336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③</a:t>
            </a:r>
            <a:endParaRPr/>
          </a:p>
        </p:txBody>
      </p:sp>
      <p:sp>
        <p:nvSpPr>
          <p:cNvPr id="233" name="Google Shape;233;p4"/>
          <p:cNvSpPr txBox="1"/>
          <p:nvPr/>
        </p:nvSpPr>
        <p:spPr>
          <a:xfrm>
            <a:off x="5148072" y="3831336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서명 검증</a:t>
            </a:r>
            <a:endParaRPr/>
          </a:p>
        </p:txBody>
      </p:sp>
      <p:sp>
        <p:nvSpPr>
          <p:cNvPr id="234" name="Google Shape;234;p4"/>
          <p:cNvSpPr txBox="1"/>
          <p:nvPr/>
        </p:nvSpPr>
        <p:spPr>
          <a:xfrm>
            <a:off x="5148072" y="408736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SECRET_KEY로 위조 여부 확인</a:t>
            </a:r>
            <a:endParaRPr/>
          </a:p>
        </p:txBody>
      </p:sp>
      <p:sp>
        <p:nvSpPr>
          <p:cNvPr id="235" name="Google Shape;235;p4"/>
          <p:cNvSpPr txBox="1"/>
          <p:nvPr/>
        </p:nvSpPr>
        <p:spPr>
          <a:xfrm>
            <a:off x="6729984" y="3995928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/>
          </a:p>
        </p:txBody>
      </p:sp>
      <p:sp>
        <p:nvSpPr>
          <p:cNvPr id="236" name="Google Shape;236;p4"/>
          <p:cNvSpPr/>
          <p:nvPr/>
        </p:nvSpPr>
        <p:spPr>
          <a:xfrm>
            <a:off x="6940296" y="3794760"/>
            <a:ext cx="1920240" cy="658368"/>
          </a:xfrm>
          <a:prstGeom prst="rect">
            <a:avLst/>
          </a:prstGeom>
          <a:solidFill>
            <a:srgbClr val="2D50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4"/>
          <p:cNvSpPr txBox="1"/>
          <p:nvPr/>
        </p:nvSpPr>
        <p:spPr>
          <a:xfrm>
            <a:off x="6986016" y="3831336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④</a:t>
            </a:r>
            <a:endParaRPr/>
          </a:p>
        </p:txBody>
      </p:sp>
      <p:sp>
        <p:nvSpPr>
          <p:cNvPr id="238" name="Google Shape;238;p4"/>
          <p:cNvSpPr txBox="1"/>
          <p:nvPr/>
        </p:nvSpPr>
        <p:spPr>
          <a:xfrm>
            <a:off x="7324344" y="3831336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권한 확인</a:t>
            </a:r>
            <a:endParaRPr/>
          </a:p>
        </p:txBody>
      </p:sp>
      <p:sp>
        <p:nvSpPr>
          <p:cNvPr id="239" name="Google Shape;239;p4"/>
          <p:cNvSpPr txBox="1"/>
          <p:nvPr/>
        </p:nvSpPr>
        <p:spPr>
          <a:xfrm>
            <a:off x="7324344" y="408736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role=ADMIN? 접근 가능?</a:t>
            </a:r>
            <a:endParaRPr/>
          </a:p>
        </p:txBody>
      </p:sp>
      <p:sp>
        <p:nvSpPr>
          <p:cNvPr id="240" name="Google Shape;240;p4"/>
          <p:cNvSpPr txBox="1"/>
          <p:nvPr/>
        </p:nvSpPr>
        <p:spPr>
          <a:xfrm>
            <a:off x="8906256" y="3995928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/>
          </a:p>
        </p:txBody>
      </p:sp>
      <p:sp>
        <p:nvSpPr>
          <p:cNvPr id="241" name="Google Shape;241;p4"/>
          <p:cNvSpPr/>
          <p:nvPr/>
        </p:nvSpPr>
        <p:spPr>
          <a:xfrm>
            <a:off x="9116567" y="3794760"/>
            <a:ext cx="1920240" cy="658368"/>
          </a:xfrm>
          <a:prstGeom prst="rect">
            <a:avLst/>
          </a:prstGeom>
          <a:solidFill>
            <a:srgbClr val="2C3E6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4"/>
          <p:cNvSpPr txBox="1"/>
          <p:nvPr/>
        </p:nvSpPr>
        <p:spPr>
          <a:xfrm>
            <a:off x="9162288" y="3831336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⑤</a:t>
            </a:r>
            <a:endParaRPr/>
          </a:p>
        </p:txBody>
      </p:sp>
      <p:sp>
        <p:nvSpPr>
          <p:cNvPr id="243" name="Google Shape;243;p4"/>
          <p:cNvSpPr txBox="1"/>
          <p:nvPr/>
        </p:nvSpPr>
        <p:spPr>
          <a:xfrm>
            <a:off x="9500615" y="3831336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응답 반환</a:t>
            </a:r>
            <a:endParaRPr/>
          </a:p>
        </p:txBody>
      </p:sp>
      <p:sp>
        <p:nvSpPr>
          <p:cNvPr id="244" name="Google Shape;244;p4"/>
          <p:cNvSpPr txBox="1"/>
          <p:nvPr/>
        </p:nvSpPr>
        <p:spPr>
          <a:xfrm>
            <a:off x="9500615" y="408736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200 OK or 401/403 반환</a:t>
            </a:r>
            <a:endParaRPr/>
          </a:p>
        </p:txBody>
      </p:sp>
      <p:sp>
        <p:nvSpPr>
          <p:cNvPr id="245" name="Google Shape;245;p4"/>
          <p:cNvSpPr/>
          <p:nvPr/>
        </p:nvSpPr>
        <p:spPr>
          <a:xfrm>
            <a:off x="411480" y="4645152"/>
            <a:ext cx="11365992" cy="193852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4"/>
          <p:cNvSpPr/>
          <p:nvPr/>
        </p:nvSpPr>
        <p:spPr>
          <a:xfrm>
            <a:off x="411480" y="4645152"/>
            <a:ext cx="11365992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4"/>
          <p:cNvSpPr txBox="1"/>
          <p:nvPr/>
        </p:nvSpPr>
        <p:spPr>
          <a:xfrm>
            <a:off x="594360" y="46817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JWT 토큰 구조</a:t>
            </a:r>
            <a:endParaRPr/>
          </a:p>
        </p:txBody>
      </p:sp>
      <p:sp>
        <p:nvSpPr>
          <p:cNvPr id="248" name="Google Shape;248;p4"/>
          <p:cNvSpPr txBox="1"/>
          <p:nvPr/>
        </p:nvSpPr>
        <p:spPr>
          <a:xfrm>
            <a:off x="594360" y="4992624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9DCEB"/>
                </a:solidFill>
                <a:latin typeface="Calibri"/>
                <a:ea typeface="Calibri"/>
                <a:cs typeface="Calibri"/>
                <a:sym typeface="Calibri"/>
              </a:rPr>
              <a:t>eyJhbGciOiJIUzI1NiJ9  .  eyJzdWIiOiIxMjMiLCJyb2xlIjoiVVNFUiJ9  .  SflKxwRJSMeKKF2QT4fwpM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       Header (알고리즘)                  Payload (사용자 정보)                    Signature (서명)</a:t>
            </a:r>
            <a:endParaRPr/>
          </a:p>
        </p:txBody>
      </p:sp>
      <p:sp>
        <p:nvSpPr>
          <p:cNvPr id="249" name="Google Shape;249;p4"/>
          <p:cNvSpPr txBox="1"/>
          <p:nvPr/>
        </p:nvSpPr>
        <p:spPr>
          <a:xfrm>
            <a:off x="594360" y="5596128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Payload 예시:  { "sub": "123",  "role": "USER",  "provider": "kakao",  "exp": 1748000000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서명 검증:  HMAC-SHA256( base64(header) + "." + base64(payload),  SECRET_KEY )  →  일치하면 유효!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5"/>
          <p:cNvSpPr txBox="1"/>
          <p:nvPr/>
        </p:nvSpPr>
        <p:spPr>
          <a:xfrm>
            <a:off x="411480" y="594360"/>
            <a:ext cx="1143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03  JWT vs 세션(Session) — 인증 방식 비교</a:t>
            </a:r>
            <a:endParaRPr/>
          </a:p>
        </p:txBody>
      </p:sp>
      <p:sp>
        <p:nvSpPr>
          <p:cNvPr id="257" name="Google Shape;257;p5"/>
          <p:cNvSpPr/>
          <p:nvPr/>
        </p:nvSpPr>
        <p:spPr>
          <a:xfrm>
            <a:off x="411480" y="1261872"/>
            <a:ext cx="11365992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347472" y="1508760"/>
            <a:ext cx="2907792" cy="438912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5"/>
          <p:cNvSpPr txBox="1"/>
          <p:nvPr/>
        </p:nvSpPr>
        <p:spPr>
          <a:xfrm>
            <a:off x="484632" y="1536192"/>
            <a:ext cx="2679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비교 항목</a:t>
            </a:r>
            <a:endParaRPr/>
          </a:p>
        </p:txBody>
      </p:sp>
      <p:sp>
        <p:nvSpPr>
          <p:cNvPr id="260" name="Google Shape;260;p5"/>
          <p:cNvSpPr/>
          <p:nvPr/>
        </p:nvSpPr>
        <p:spPr>
          <a:xfrm>
            <a:off x="3337560" y="1508760"/>
            <a:ext cx="4617720" cy="438912"/>
          </a:xfrm>
          <a:prstGeom prst="rect">
            <a:avLst/>
          </a:prstGeom>
          <a:solidFill>
            <a:srgbClr val="6C3FC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5"/>
          <p:cNvSpPr/>
          <p:nvPr/>
        </p:nvSpPr>
        <p:spPr>
          <a:xfrm>
            <a:off x="3337560" y="1508760"/>
            <a:ext cx="4617720" cy="64008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5"/>
          <p:cNvSpPr txBox="1"/>
          <p:nvPr/>
        </p:nvSpPr>
        <p:spPr>
          <a:xfrm>
            <a:off x="3474720" y="1536192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JWT (토큰 기반)</a:t>
            </a:r>
            <a:endParaRPr/>
          </a:p>
        </p:txBody>
      </p:sp>
      <p:sp>
        <p:nvSpPr>
          <p:cNvPr id="263" name="Google Shape;263;p5"/>
          <p:cNvSpPr/>
          <p:nvPr/>
        </p:nvSpPr>
        <p:spPr>
          <a:xfrm>
            <a:off x="8156448" y="1508760"/>
            <a:ext cx="3657600" cy="438912"/>
          </a:xfrm>
          <a:prstGeom prst="rect">
            <a:avLst/>
          </a:prstGeom>
          <a:solidFill>
            <a:srgbClr val="1A6F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5"/>
          <p:cNvSpPr/>
          <p:nvPr/>
        </p:nvSpPr>
        <p:spPr>
          <a:xfrm>
            <a:off x="8156448" y="1508760"/>
            <a:ext cx="3657600" cy="64008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5"/>
          <p:cNvSpPr txBox="1"/>
          <p:nvPr/>
        </p:nvSpPr>
        <p:spPr>
          <a:xfrm>
            <a:off x="8293608" y="1536192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세션 (서버 저장)</a:t>
            </a:r>
            <a:endParaRPr/>
          </a:p>
        </p:txBody>
      </p:sp>
      <p:sp>
        <p:nvSpPr>
          <p:cNvPr id="266" name="Google Shape;266;p5"/>
          <p:cNvSpPr/>
          <p:nvPr/>
        </p:nvSpPr>
        <p:spPr>
          <a:xfrm>
            <a:off x="347472" y="2020824"/>
            <a:ext cx="2907792" cy="484632"/>
          </a:xfrm>
          <a:prstGeom prst="rect">
            <a:avLst/>
          </a:prstGeom>
          <a:solidFill>
            <a:srgbClr val="F9F9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5"/>
          <p:cNvSpPr txBox="1"/>
          <p:nvPr/>
        </p:nvSpPr>
        <p:spPr>
          <a:xfrm>
            <a:off x="484632" y="2093976"/>
            <a:ext cx="2679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상태 저장 방식</a:t>
            </a:r>
            <a:endParaRPr/>
          </a:p>
        </p:txBody>
      </p:sp>
      <p:sp>
        <p:nvSpPr>
          <p:cNvPr id="268" name="Google Shape;268;p5"/>
          <p:cNvSpPr/>
          <p:nvPr/>
        </p:nvSpPr>
        <p:spPr>
          <a:xfrm>
            <a:off x="3337560" y="2020824"/>
            <a:ext cx="4617720" cy="484632"/>
          </a:xfrm>
          <a:prstGeom prst="rect">
            <a:avLst/>
          </a:prstGeom>
          <a:solidFill>
            <a:srgbClr val="F9F9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5"/>
          <p:cNvSpPr txBox="1"/>
          <p:nvPr/>
        </p:nvSpPr>
        <p:spPr>
          <a:xfrm>
            <a:off x="3474720" y="2093976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Stateless — 서버가 상태 저장 안 함</a:t>
            </a:r>
            <a:endParaRPr/>
          </a:p>
        </p:txBody>
      </p:sp>
      <p:sp>
        <p:nvSpPr>
          <p:cNvPr id="270" name="Google Shape;270;p5"/>
          <p:cNvSpPr/>
          <p:nvPr/>
        </p:nvSpPr>
        <p:spPr>
          <a:xfrm>
            <a:off x="8156448" y="2020824"/>
            <a:ext cx="3657600" cy="484632"/>
          </a:xfrm>
          <a:prstGeom prst="rect">
            <a:avLst/>
          </a:prstGeom>
          <a:solidFill>
            <a:srgbClr val="F9F9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5"/>
          <p:cNvSpPr txBox="1"/>
          <p:nvPr/>
        </p:nvSpPr>
        <p:spPr>
          <a:xfrm>
            <a:off x="8293608" y="2093976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Stateful — 서버 메모리·Redis·DB에 저장</a:t>
            </a:r>
            <a:endParaRPr/>
          </a:p>
        </p:txBody>
      </p:sp>
      <p:sp>
        <p:nvSpPr>
          <p:cNvPr id="272" name="Google Shape;272;p5"/>
          <p:cNvSpPr/>
          <p:nvPr/>
        </p:nvSpPr>
        <p:spPr>
          <a:xfrm>
            <a:off x="347472" y="2542032"/>
            <a:ext cx="2907792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5"/>
          <p:cNvSpPr txBox="1"/>
          <p:nvPr/>
        </p:nvSpPr>
        <p:spPr>
          <a:xfrm>
            <a:off x="484632" y="2615184"/>
            <a:ext cx="2679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토큰/세션 저장 위치</a:t>
            </a:r>
            <a:endParaRPr/>
          </a:p>
        </p:txBody>
      </p:sp>
      <p:sp>
        <p:nvSpPr>
          <p:cNvPr id="274" name="Google Shape;274;p5"/>
          <p:cNvSpPr/>
          <p:nvPr/>
        </p:nvSpPr>
        <p:spPr>
          <a:xfrm>
            <a:off x="3337560" y="2542032"/>
            <a:ext cx="4617720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5"/>
          <p:cNvSpPr txBox="1"/>
          <p:nvPr/>
        </p:nvSpPr>
        <p:spPr>
          <a:xfrm>
            <a:off x="3474720" y="2615184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클라이언트 (localStorage / Cookie)</a:t>
            </a:r>
            <a:endParaRPr/>
          </a:p>
        </p:txBody>
      </p:sp>
      <p:sp>
        <p:nvSpPr>
          <p:cNvPr id="276" name="Google Shape;276;p5"/>
          <p:cNvSpPr/>
          <p:nvPr/>
        </p:nvSpPr>
        <p:spPr>
          <a:xfrm>
            <a:off x="8156448" y="2542032"/>
            <a:ext cx="3657600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5"/>
          <p:cNvSpPr txBox="1"/>
          <p:nvPr/>
        </p:nvSpPr>
        <p:spPr>
          <a:xfrm>
            <a:off x="8293608" y="2615184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서버 (세션 저장소) + 클라이언트 (세션 ID)</a:t>
            </a:r>
            <a:endParaRPr/>
          </a:p>
        </p:txBody>
      </p:sp>
      <p:sp>
        <p:nvSpPr>
          <p:cNvPr id="278" name="Google Shape;278;p5"/>
          <p:cNvSpPr/>
          <p:nvPr/>
        </p:nvSpPr>
        <p:spPr>
          <a:xfrm>
            <a:off x="347472" y="3063239"/>
            <a:ext cx="2907792" cy="484632"/>
          </a:xfrm>
          <a:prstGeom prst="rect">
            <a:avLst/>
          </a:prstGeom>
          <a:solidFill>
            <a:srgbClr val="F9F9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5"/>
          <p:cNvSpPr txBox="1"/>
          <p:nvPr/>
        </p:nvSpPr>
        <p:spPr>
          <a:xfrm>
            <a:off x="484632" y="3136391"/>
            <a:ext cx="2679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서버 확장성 (Scale-out)</a:t>
            </a:r>
            <a:endParaRPr/>
          </a:p>
        </p:txBody>
      </p:sp>
      <p:sp>
        <p:nvSpPr>
          <p:cNvPr id="280" name="Google Shape;280;p5"/>
          <p:cNvSpPr/>
          <p:nvPr/>
        </p:nvSpPr>
        <p:spPr>
          <a:xfrm>
            <a:off x="3337560" y="3063239"/>
            <a:ext cx="4617720" cy="484632"/>
          </a:xfrm>
          <a:prstGeom prst="rect">
            <a:avLst/>
          </a:prstGeom>
          <a:solidFill>
            <a:srgbClr val="F9F9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5"/>
          <p:cNvSpPr txBox="1"/>
          <p:nvPr/>
        </p:nvSpPr>
        <p:spPr>
          <a:xfrm>
            <a:off x="3474720" y="3136391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✅ 우수 — 서버 간 공유 불필요</a:t>
            </a:r>
            <a:endParaRPr/>
          </a:p>
        </p:txBody>
      </p:sp>
      <p:sp>
        <p:nvSpPr>
          <p:cNvPr id="282" name="Google Shape;282;p5"/>
          <p:cNvSpPr/>
          <p:nvPr/>
        </p:nvSpPr>
        <p:spPr>
          <a:xfrm>
            <a:off x="8156448" y="3063239"/>
            <a:ext cx="3657600" cy="484632"/>
          </a:xfrm>
          <a:prstGeom prst="rect">
            <a:avLst/>
          </a:prstGeom>
          <a:solidFill>
            <a:srgbClr val="F9F9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5"/>
          <p:cNvSpPr txBox="1"/>
          <p:nvPr/>
        </p:nvSpPr>
        <p:spPr>
          <a:xfrm>
            <a:off x="8293608" y="3136391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⚠️ 추가 설정 필요 — Redis 등 공유 저장소</a:t>
            </a:r>
            <a:endParaRPr/>
          </a:p>
        </p:txBody>
      </p:sp>
      <p:sp>
        <p:nvSpPr>
          <p:cNvPr id="284" name="Google Shape;284;p5"/>
          <p:cNvSpPr/>
          <p:nvPr/>
        </p:nvSpPr>
        <p:spPr>
          <a:xfrm>
            <a:off x="347472" y="3584448"/>
            <a:ext cx="2907792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5"/>
          <p:cNvSpPr txBox="1"/>
          <p:nvPr/>
        </p:nvSpPr>
        <p:spPr>
          <a:xfrm>
            <a:off x="484632" y="3657600"/>
            <a:ext cx="2679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강제 로그아웃 / 무효화</a:t>
            </a:r>
            <a:endParaRPr/>
          </a:p>
        </p:txBody>
      </p:sp>
      <p:sp>
        <p:nvSpPr>
          <p:cNvPr id="286" name="Google Shape;286;p5"/>
          <p:cNvSpPr/>
          <p:nvPr/>
        </p:nvSpPr>
        <p:spPr>
          <a:xfrm>
            <a:off x="3337560" y="3584448"/>
            <a:ext cx="4617720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5"/>
          <p:cNvSpPr txBox="1"/>
          <p:nvPr/>
        </p:nvSpPr>
        <p:spPr>
          <a:xfrm>
            <a:off x="3474720" y="3657600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⚠️ 어려움 — 만료 시각까지 토큰 유효</a:t>
            </a:r>
            <a:endParaRPr/>
          </a:p>
        </p:txBody>
      </p:sp>
      <p:sp>
        <p:nvSpPr>
          <p:cNvPr id="288" name="Google Shape;288;p5"/>
          <p:cNvSpPr/>
          <p:nvPr/>
        </p:nvSpPr>
        <p:spPr>
          <a:xfrm>
            <a:off x="8156448" y="3584448"/>
            <a:ext cx="3657600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5"/>
          <p:cNvSpPr txBox="1"/>
          <p:nvPr/>
        </p:nvSpPr>
        <p:spPr>
          <a:xfrm>
            <a:off x="8293608" y="3657600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✅ 즉시 가능 — 서버에서 세션 삭제</a:t>
            </a:r>
            <a:endParaRPr/>
          </a:p>
        </p:txBody>
      </p:sp>
      <p:sp>
        <p:nvSpPr>
          <p:cNvPr id="290" name="Google Shape;290;p5"/>
          <p:cNvSpPr/>
          <p:nvPr/>
        </p:nvSpPr>
        <p:spPr>
          <a:xfrm>
            <a:off x="347472" y="4105656"/>
            <a:ext cx="2907792" cy="484632"/>
          </a:xfrm>
          <a:prstGeom prst="rect">
            <a:avLst/>
          </a:prstGeom>
          <a:solidFill>
            <a:srgbClr val="F9F9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5"/>
          <p:cNvSpPr txBox="1"/>
          <p:nvPr/>
        </p:nvSpPr>
        <p:spPr>
          <a:xfrm>
            <a:off x="484632" y="4178808"/>
            <a:ext cx="2679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보안 (탈취 시)</a:t>
            </a:r>
            <a:endParaRPr/>
          </a:p>
        </p:txBody>
      </p:sp>
      <p:sp>
        <p:nvSpPr>
          <p:cNvPr id="292" name="Google Shape;292;p5"/>
          <p:cNvSpPr/>
          <p:nvPr/>
        </p:nvSpPr>
        <p:spPr>
          <a:xfrm>
            <a:off x="3337560" y="4105656"/>
            <a:ext cx="4617720" cy="484632"/>
          </a:xfrm>
          <a:prstGeom prst="rect">
            <a:avLst/>
          </a:prstGeom>
          <a:solidFill>
            <a:srgbClr val="F9F9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5"/>
          <p:cNvSpPr txBox="1"/>
          <p:nvPr/>
        </p:nvSpPr>
        <p:spPr>
          <a:xfrm>
            <a:off x="3474720" y="4178808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⚠️ 만료 전까지 악용 가능 (짧은 만료 권장)</a:t>
            </a:r>
            <a:endParaRPr/>
          </a:p>
        </p:txBody>
      </p:sp>
      <p:sp>
        <p:nvSpPr>
          <p:cNvPr id="294" name="Google Shape;294;p5"/>
          <p:cNvSpPr/>
          <p:nvPr/>
        </p:nvSpPr>
        <p:spPr>
          <a:xfrm>
            <a:off x="8156448" y="4105656"/>
            <a:ext cx="3657600" cy="484632"/>
          </a:xfrm>
          <a:prstGeom prst="rect">
            <a:avLst/>
          </a:prstGeom>
          <a:solidFill>
            <a:srgbClr val="F9F9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5"/>
          <p:cNvSpPr txBox="1"/>
          <p:nvPr/>
        </p:nvSpPr>
        <p:spPr>
          <a:xfrm>
            <a:off x="8293608" y="4178808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✅ 서버에서 즉시 무효화 가능</a:t>
            </a:r>
            <a:endParaRPr/>
          </a:p>
        </p:txBody>
      </p:sp>
      <p:sp>
        <p:nvSpPr>
          <p:cNvPr id="296" name="Google Shape;296;p5"/>
          <p:cNvSpPr/>
          <p:nvPr/>
        </p:nvSpPr>
        <p:spPr>
          <a:xfrm>
            <a:off x="347472" y="4626864"/>
            <a:ext cx="2907792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5"/>
          <p:cNvSpPr txBox="1"/>
          <p:nvPr/>
        </p:nvSpPr>
        <p:spPr>
          <a:xfrm>
            <a:off x="484632" y="4700016"/>
            <a:ext cx="2679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성능</a:t>
            </a:r>
            <a:endParaRPr/>
          </a:p>
        </p:txBody>
      </p:sp>
      <p:sp>
        <p:nvSpPr>
          <p:cNvPr id="298" name="Google Shape;298;p5"/>
          <p:cNvSpPr/>
          <p:nvPr/>
        </p:nvSpPr>
        <p:spPr>
          <a:xfrm>
            <a:off x="3337560" y="4626864"/>
            <a:ext cx="4617720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5"/>
          <p:cNvSpPr txBox="1"/>
          <p:nvPr/>
        </p:nvSpPr>
        <p:spPr>
          <a:xfrm>
            <a:off x="3474720" y="4700016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✅ DB 조회 불필요 — 서명 검증만</a:t>
            </a:r>
            <a:endParaRPr/>
          </a:p>
        </p:txBody>
      </p:sp>
      <p:sp>
        <p:nvSpPr>
          <p:cNvPr id="300" name="Google Shape;300;p5"/>
          <p:cNvSpPr/>
          <p:nvPr/>
        </p:nvSpPr>
        <p:spPr>
          <a:xfrm>
            <a:off x="8156448" y="4626864"/>
            <a:ext cx="3657600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5"/>
          <p:cNvSpPr txBox="1"/>
          <p:nvPr/>
        </p:nvSpPr>
        <p:spPr>
          <a:xfrm>
            <a:off x="8293608" y="4700016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⚠️ 매 요청마다 세션 저장소 조회</a:t>
            </a:r>
            <a:endParaRPr/>
          </a:p>
        </p:txBody>
      </p:sp>
      <p:sp>
        <p:nvSpPr>
          <p:cNvPr id="302" name="Google Shape;302;p5"/>
          <p:cNvSpPr/>
          <p:nvPr/>
        </p:nvSpPr>
        <p:spPr>
          <a:xfrm>
            <a:off x="347472" y="5148072"/>
            <a:ext cx="2907792" cy="484632"/>
          </a:xfrm>
          <a:prstGeom prst="rect">
            <a:avLst/>
          </a:prstGeom>
          <a:solidFill>
            <a:srgbClr val="F9F9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5"/>
          <p:cNvSpPr txBox="1"/>
          <p:nvPr/>
        </p:nvSpPr>
        <p:spPr>
          <a:xfrm>
            <a:off x="484632" y="5221224"/>
            <a:ext cx="2679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MSA / API 서버</a:t>
            </a:r>
            <a:endParaRPr/>
          </a:p>
        </p:txBody>
      </p:sp>
      <p:sp>
        <p:nvSpPr>
          <p:cNvPr id="304" name="Google Shape;304;p5"/>
          <p:cNvSpPr/>
          <p:nvPr/>
        </p:nvSpPr>
        <p:spPr>
          <a:xfrm>
            <a:off x="3337560" y="5148072"/>
            <a:ext cx="4617720" cy="484632"/>
          </a:xfrm>
          <a:prstGeom prst="rect">
            <a:avLst/>
          </a:prstGeom>
          <a:solidFill>
            <a:srgbClr val="F9F9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5"/>
          <p:cNvSpPr txBox="1"/>
          <p:nvPr/>
        </p:nvSpPr>
        <p:spPr>
          <a:xfrm>
            <a:off x="3474720" y="5221224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✅ 매우 적합 — HTTP 헤더 표준 전송</a:t>
            </a:r>
            <a:endParaRPr/>
          </a:p>
        </p:txBody>
      </p:sp>
      <p:sp>
        <p:nvSpPr>
          <p:cNvPr id="306" name="Google Shape;306;p5"/>
          <p:cNvSpPr/>
          <p:nvPr/>
        </p:nvSpPr>
        <p:spPr>
          <a:xfrm>
            <a:off x="8156448" y="5148072"/>
            <a:ext cx="3657600" cy="484632"/>
          </a:xfrm>
          <a:prstGeom prst="rect">
            <a:avLst/>
          </a:prstGeom>
          <a:solidFill>
            <a:srgbClr val="F9F9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5"/>
          <p:cNvSpPr txBox="1"/>
          <p:nvPr/>
        </p:nvSpPr>
        <p:spPr>
          <a:xfrm>
            <a:off x="8293608" y="5221224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⚠️ 세션 공유 설정 필요 (Sticky Session 등)</a:t>
            </a:r>
            <a:endParaRPr/>
          </a:p>
        </p:txBody>
      </p:sp>
      <p:sp>
        <p:nvSpPr>
          <p:cNvPr id="308" name="Google Shape;308;p5"/>
          <p:cNvSpPr/>
          <p:nvPr/>
        </p:nvSpPr>
        <p:spPr>
          <a:xfrm>
            <a:off x="347472" y="5669279"/>
            <a:ext cx="2907792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5"/>
          <p:cNvSpPr txBox="1"/>
          <p:nvPr/>
        </p:nvSpPr>
        <p:spPr>
          <a:xfrm>
            <a:off x="484632" y="5742431"/>
            <a:ext cx="2679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모바일 앱</a:t>
            </a:r>
            <a:endParaRPr/>
          </a:p>
        </p:txBody>
      </p:sp>
      <p:sp>
        <p:nvSpPr>
          <p:cNvPr id="310" name="Google Shape;310;p5"/>
          <p:cNvSpPr/>
          <p:nvPr/>
        </p:nvSpPr>
        <p:spPr>
          <a:xfrm>
            <a:off x="3337560" y="5669279"/>
            <a:ext cx="4617720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5"/>
          <p:cNvSpPr txBox="1"/>
          <p:nvPr/>
        </p:nvSpPr>
        <p:spPr>
          <a:xfrm>
            <a:off x="3474720" y="5742431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✅ 쿠키 없이 헤더로 전송 가능</a:t>
            </a:r>
            <a:endParaRPr/>
          </a:p>
        </p:txBody>
      </p:sp>
      <p:sp>
        <p:nvSpPr>
          <p:cNvPr id="312" name="Google Shape;312;p5"/>
          <p:cNvSpPr/>
          <p:nvPr/>
        </p:nvSpPr>
        <p:spPr>
          <a:xfrm>
            <a:off x="8156448" y="5669279"/>
            <a:ext cx="3657600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5"/>
          <p:cNvSpPr txBox="1"/>
          <p:nvPr/>
        </p:nvSpPr>
        <p:spPr>
          <a:xfrm>
            <a:off x="8293608" y="5742431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⚠️ 쿠키 기반으로 모바일에서 제한적</a:t>
            </a:r>
            <a:endParaRPr/>
          </a:p>
        </p:txBody>
      </p:sp>
      <p:sp>
        <p:nvSpPr>
          <p:cNvPr id="314" name="Google Shape;314;p5"/>
          <p:cNvSpPr/>
          <p:nvPr/>
        </p:nvSpPr>
        <p:spPr>
          <a:xfrm>
            <a:off x="347472" y="6263640"/>
            <a:ext cx="5029200" cy="475488"/>
          </a:xfrm>
          <a:prstGeom prst="rect">
            <a:avLst/>
          </a:prstGeom>
          <a:solidFill>
            <a:srgbClr val="EEE6FF"/>
          </a:solidFill>
          <a:ln cap="flat" cmpd="sng" w="15225">
            <a:solidFill>
              <a:srgbClr val="6C3FC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5"/>
          <p:cNvSpPr txBox="1"/>
          <p:nvPr/>
        </p:nvSpPr>
        <p:spPr>
          <a:xfrm>
            <a:off x="502920" y="628192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C3FC2"/>
                </a:solidFill>
                <a:latin typeface="Calibri"/>
                <a:ea typeface="Calibri"/>
                <a:cs typeface="Calibri"/>
                <a:sym typeface="Calibri"/>
              </a:rPr>
              <a:t>JWT 추천 환경</a:t>
            </a:r>
            <a:endParaRPr/>
          </a:p>
        </p:txBody>
      </p:sp>
      <p:sp>
        <p:nvSpPr>
          <p:cNvPr id="316" name="Google Shape;316;p5"/>
          <p:cNvSpPr txBox="1"/>
          <p:nvPr/>
        </p:nvSpPr>
        <p:spPr>
          <a:xfrm>
            <a:off x="502920" y="6492240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C3FC2"/>
                </a:solidFill>
                <a:latin typeface="Calibri"/>
                <a:ea typeface="Calibri"/>
                <a:cs typeface="Calibri"/>
                <a:sym typeface="Calibri"/>
              </a:rPr>
              <a:t>MSA · 모바일 앱 · 외부 API 서버 · 수평 확장 환경</a:t>
            </a:r>
            <a:endParaRPr/>
          </a:p>
        </p:txBody>
      </p:sp>
      <p:sp>
        <p:nvSpPr>
          <p:cNvPr id="317" name="Google Shape;317;p5"/>
          <p:cNvSpPr/>
          <p:nvPr/>
        </p:nvSpPr>
        <p:spPr>
          <a:xfrm>
            <a:off x="5879592" y="6263640"/>
            <a:ext cx="5961888" cy="475488"/>
          </a:xfrm>
          <a:prstGeom prst="rect">
            <a:avLst/>
          </a:prstGeom>
          <a:solidFill>
            <a:srgbClr val="E8F5ED"/>
          </a:solidFill>
          <a:ln cap="flat" cmpd="sng" w="15225">
            <a:solidFill>
              <a:srgbClr val="1A6F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5"/>
          <p:cNvSpPr txBox="1"/>
          <p:nvPr/>
        </p:nvSpPr>
        <p:spPr>
          <a:xfrm>
            <a:off x="6035040" y="6281928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6F3C"/>
                </a:solidFill>
                <a:latin typeface="Calibri"/>
                <a:ea typeface="Calibri"/>
                <a:cs typeface="Calibri"/>
                <a:sym typeface="Calibri"/>
              </a:rPr>
              <a:t>세션 추천 환경</a:t>
            </a:r>
            <a:endParaRPr/>
          </a:p>
        </p:txBody>
      </p:sp>
      <p:sp>
        <p:nvSpPr>
          <p:cNvPr id="319" name="Google Shape;319;p5"/>
          <p:cNvSpPr txBox="1"/>
          <p:nvPr/>
        </p:nvSpPr>
        <p:spPr>
          <a:xfrm>
            <a:off x="6035040" y="649224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6F3C"/>
                </a:solidFill>
                <a:latin typeface="Calibri"/>
                <a:ea typeface="Calibri"/>
                <a:cs typeface="Calibri"/>
                <a:sym typeface="Calibri"/>
              </a:rPr>
              <a:t>즉시 로그아웃 필수 · 단일 서버 · 보안 최우선 · 전통적 웹 서비스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6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6"/>
          <p:cNvSpPr txBox="1"/>
          <p:nvPr/>
        </p:nvSpPr>
        <p:spPr>
          <a:xfrm>
            <a:off x="411480" y="594360"/>
            <a:ext cx="1143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04  OAuth 2.0 — 소셜 로그인 동작 원리</a:t>
            </a:r>
            <a:endParaRPr/>
          </a:p>
        </p:txBody>
      </p:sp>
      <p:sp>
        <p:nvSpPr>
          <p:cNvPr id="327" name="Google Shape;327;p6"/>
          <p:cNvSpPr/>
          <p:nvPr/>
        </p:nvSpPr>
        <p:spPr>
          <a:xfrm>
            <a:off x="411480" y="1261872"/>
            <a:ext cx="11365992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6"/>
          <p:cNvSpPr/>
          <p:nvPr/>
        </p:nvSpPr>
        <p:spPr>
          <a:xfrm>
            <a:off x="411480" y="1508760"/>
            <a:ext cx="11365992" cy="658368"/>
          </a:xfrm>
          <a:prstGeom prst="rect">
            <a:avLst/>
          </a:prstGeom>
          <a:solidFill>
            <a:srgbClr val="EEE6FF"/>
          </a:solidFill>
          <a:ln cap="flat" cmpd="sng" w="19050">
            <a:solidFill>
              <a:srgbClr val="6C3FC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6"/>
          <p:cNvSpPr txBox="1"/>
          <p:nvPr/>
        </p:nvSpPr>
        <p:spPr>
          <a:xfrm>
            <a:off x="566928" y="1536192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OAuth 2.0은 "우리 서비스가 직접 비밀번호를 저장하지 않고, 신뢰할 수 있는 제3자(카카오·구글 등)에게 인증을 맡기는 표준 프로토콜"입니다.</a:t>
            </a:r>
            <a:br>
              <a:rPr b="0" i="1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사용자는 익숙한 소셜 계정으로 간편하게 로그인하고, 우리 서버는 프로필 정보만 받습니다.</a:t>
            </a:r>
            <a:endParaRPr/>
          </a:p>
        </p:txBody>
      </p:sp>
      <p:sp>
        <p:nvSpPr>
          <p:cNvPr id="330" name="Google Shape;330;p6"/>
          <p:cNvSpPr/>
          <p:nvPr/>
        </p:nvSpPr>
        <p:spPr>
          <a:xfrm>
            <a:off x="411480" y="2258568"/>
            <a:ext cx="11365992" cy="274320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6"/>
          <p:cNvSpPr txBox="1"/>
          <p:nvPr/>
        </p:nvSpPr>
        <p:spPr>
          <a:xfrm>
            <a:off x="548640" y="227685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Authorization Code Flow — 카카오 로그인 예시</a:t>
            </a:r>
            <a:endParaRPr/>
          </a:p>
        </p:txBody>
      </p:sp>
      <p:sp>
        <p:nvSpPr>
          <p:cNvPr id="332" name="Google Shape;332;p6"/>
          <p:cNvSpPr/>
          <p:nvPr/>
        </p:nvSpPr>
        <p:spPr>
          <a:xfrm>
            <a:off x="411480" y="2606040"/>
            <a:ext cx="1810512" cy="1481328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411480" y="2606040"/>
            <a:ext cx="1810512" cy="347472"/>
          </a:xfrm>
          <a:prstGeom prst="rect">
            <a:avLst/>
          </a:prstGeom>
          <a:solidFill>
            <a:srgbClr val="6C3FC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6"/>
          <p:cNvSpPr txBox="1"/>
          <p:nvPr/>
        </p:nvSpPr>
        <p:spPr>
          <a:xfrm>
            <a:off x="466344" y="2651760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</a:t>
            </a:r>
            <a:endParaRPr/>
          </a:p>
        </p:txBody>
      </p:sp>
      <p:sp>
        <p:nvSpPr>
          <p:cNvPr id="335" name="Google Shape;335;p6"/>
          <p:cNvSpPr txBox="1"/>
          <p:nvPr/>
        </p:nvSpPr>
        <p:spPr>
          <a:xfrm>
            <a:off x="758952" y="2660904"/>
            <a:ext cx="1399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로그인 버튼 클릭</a:t>
            </a:r>
            <a:endParaRPr/>
          </a:p>
        </p:txBody>
      </p:sp>
      <p:sp>
        <p:nvSpPr>
          <p:cNvPr id="336" name="Google Shape;336;p6"/>
          <p:cNvSpPr txBox="1"/>
          <p:nvPr/>
        </p:nvSpPr>
        <p:spPr>
          <a:xfrm>
            <a:off x="502920" y="3044952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사용자가 "카카오로 로그인" 클릭</a:t>
            </a:r>
            <a:endParaRPr/>
          </a:p>
        </p:txBody>
      </p:sp>
      <p:sp>
        <p:nvSpPr>
          <p:cNvPr id="337" name="Google Shape;337;p6"/>
          <p:cNvSpPr txBox="1"/>
          <p:nvPr/>
        </p:nvSpPr>
        <p:spPr>
          <a:xfrm>
            <a:off x="502920" y="3429000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우리 서버: /api/users/oauth2/authorize/kakao</a:t>
            </a:r>
            <a:endParaRPr/>
          </a:p>
        </p:txBody>
      </p:sp>
      <p:sp>
        <p:nvSpPr>
          <p:cNvPr id="338" name="Google Shape;338;p6"/>
          <p:cNvSpPr txBox="1"/>
          <p:nvPr/>
        </p:nvSpPr>
        <p:spPr>
          <a:xfrm>
            <a:off x="2221992" y="3172968"/>
            <a:ext cx="109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C3FC2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/>
          </a:p>
        </p:txBody>
      </p:sp>
      <p:sp>
        <p:nvSpPr>
          <p:cNvPr id="339" name="Google Shape;339;p6"/>
          <p:cNvSpPr/>
          <p:nvPr/>
        </p:nvSpPr>
        <p:spPr>
          <a:xfrm>
            <a:off x="2286000" y="2606040"/>
            <a:ext cx="1810512" cy="1481328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6"/>
          <p:cNvSpPr/>
          <p:nvPr/>
        </p:nvSpPr>
        <p:spPr>
          <a:xfrm>
            <a:off x="2286000" y="2606040"/>
            <a:ext cx="1810512" cy="347472"/>
          </a:xfrm>
          <a:prstGeom prst="rect">
            <a:avLst/>
          </a:prstGeom>
          <a:solidFill>
            <a:srgbClr val="1A6F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6"/>
          <p:cNvSpPr txBox="1"/>
          <p:nvPr/>
        </p:nvSpPr>
        <p:spPr>
          <a:xfrm>
            <a:off x="2340864" y="2651760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</a:t>
            </a:r>
            <a:endParaRPr/>
          </a:p>
        </p:txBody>
      </p:sp>
      <p:sp>
        <p:nvSpPr>
          <p:cNvPr id="342" name="Google Shape;342;p6"/>
          <p:cNvSpPr txBox="1"/>
          <p:nvPr/>
        </p:nvSpPr>
        <p:spPr>
          <a:xfrm>
            <a:off x="2633472" y="2660904"/>
            <a:ext cx="1399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카카오 로그인 페이지</a:t>
            </a:r>
            <a:endParaRPr/>
          </a:p>
        </p:txBody>
      </p:sp>
      <p:sp>
        <p:nvSpPr>
          <p:cNvPr id="343" name="Google Shape;343;p6"/>
          <p:cNvSpPr txBox="1"/>
          <p:nvPr/>
        </p:nvSpPr>
        <p:spPr>
          <a:xfrm>
            <a:off x="2377440" y="3044952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우리 서버 → 302 Redirect</a:t>
            </a:r>
            <a:endParaRPr/>
          </a:p>
        </p:txBody>
      </p:sp>
      <p:sp>
        <p:nvSpPr>
          <p:cNvPr id="344" name="Google Shape;344;p6"/>
          <p:cNvSpPr txBox="1"/>
          <p:nvPr/>
        </p:nvSpPr>
        <p:spPr>
          <a:xfrm>
            <a:off x="2377440" y="3429000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브라우저가 카카오 로그인 페이지로 이동</a:t>
            </a:r>
            <a:endParaRPr/>
          </a:p>
        </p:txBody>
      </p:sp>
      <p:sp>
        <p:nvSpPr>
          <p:cNvPr id="345" name="Google Shape;345;p6"/>
          <p:cNvSpPr txBox="1"/>
          <p:nvPr/>
        </p:nvSpPr>
        <p:spPr>
          <a:xfrm>
            <a:off x="4096512" y="3172968"/>
            <a:ext cx="109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C3FC2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/>
          </a:p>
        </p:txBody>
      </p:sp>
      <p:sp>
        <p:nvSpPr>
          <p:cNvPr id="346" name="Google Shape;346;p6"/>
          <p:cNvSpPr/>
          <p:nvPr/>
        </p:nvSpPr>
        <p:spPr>
          <a:xfrm>
            <a:off x="4160520" y="2606040"/>
            <a:ext cx="1810512" cy="1481328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6"/>
          <p:cNvSpPr/>
          <p:nvPr/>
        </p:nvSpPr>
        <p:spPr>
          <a:xfrm>
            <a:off x="4160520" y="2606040"/>
            <a:ext cx="1810512" cy="347472"/>
          </a:xfrm>
          <a:prstGeom prst="rect">
            <a:avLst/>
          </a:prstGeom>
          <a:solidFill>
            <a:srgbClr val="6C3FC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6"/>
          <p:cNvSpPr txBox="1"/>
          <p:nvPr/>
        </p:nvSpPr>
        <p:spPr>
          <a:xfrm>
            <a:off x="4215383" y="2651760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③</a:t>
            </a:r>
            <a:endParaRPr/>
          </a:p>
        </p:txBody>
      </p:sp>
      <p:sp>
        <p:nvSpPr>
          <p:cNvPr id="349" name="Google Shape;349;p6"/>
          <p:cNvSpPr txBox="1"/>
          <p:nvPr/>
        </p:nvSpPr>
        <p:spPr>
          <a:xfrm>
            <a:off x="4507992" y="2660904"/>
            <a:ext cx="1399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사용자 동의</a:t>
            </a:r>
            <a:endParaRPr/>
          </a:p>
        </p:txBody>
      </p:sp>
      <p:sp>
        <p:nvSpPr>
          <p:cNvPr id="350" name="Google Shape;350;p6"/>
          <p:cNvSpPr txBox="1"/>
          <p:nvPr/>
        </p:nvSpPr>
        <p:spPr>
          <a:xfrm>
            <a:off x="4251959" y="3044952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카카오에서 아이디/비밀번호 입력</a:t>
            </a:r>
            <a:endParaRPr/>
          </a:p>
        </p:txBody>
      </p:sp>
      <p:sp>
        <p:nvSpPr>
          <p:cNvPr id="351" name="Google Shape;351;p6"/>
          <p:cNvSpPr txBox="1"/>
          <p:nvPr/>
        </p:nvSpPr>
        <p:spPr>
          <a:xfrm>
            <a:off x="4251959" y="3429000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"이름·이메일 제공 동의" 버튼 클릭</a:t>
            </a:r>
            <a:endParaRPr/>
          </a:p>
        </p:txBody>
      </p:sp>
      <p:sp>
        <p:nvSpPr>
          <p:cNvPr id="352" name="Google Shape;352;p6"/>
          <p:cNvSpPr txBox="1"/>
          <p:nvPr/>
        </p:nvSpPr>
        <p:spPr>
          <a:xfrm>
            <a:off x="5971031" y="3172968"/>
            <a:ext cx="109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C3FC2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/>
          </a:p>
        </p:txBody>
      </p:sp>
      <p:sp>
        <p:nvSpPr>
          <p:cNvPr id="353" name="Google Shape;353;p6"/>
          <p:cNvSpPr/>
          <p:nvPr/>
        </p:nvSpPr>
        <p:spPr>
          <a:xfrm>
            <a:off x="6035040" y="2606040"/>
            <a:ext cx="1810512" cy="1481328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6"/>
          <p:cNvSpPr/>
          <p:nvPr/>
        </p:nvSpPr>
        <p:spPr>
          <a:xfrm>
            <a:off x="6035040" y="2606040"/>
            <a:ext cx="1810512" cy="347472"/>
          </a:xfrm>
          <a:prstGeom prst="rect">
            <a:avLst/>
          </a:prstGeom>
          <a:solidFill>
            <a:srgbClr val="1A6F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6"/>
          <p:cNvSpPr txBox="1"/>
          <p:nvPr/>
        </p:nvSpPr>
        <p:spPr>
          <a:xfrm>
            <a:off x="6089903" y="2651760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④</a:t>
            </a:r>
            <a:endParaRPr/>
          </a:p>
        </p:txBody>
      </p:sp>
      <p:sp>
        <p:nvSpPr>
          <p:cNvPr id="356" name="Google Shape;356;p6"/>
          <p:cNvSpPr txBox="1"/>
          <p:nvPr/>
        </p:nvSpPr>
        <p:spPr>
          <a:xfrm>
            <a:off x="6382512" y="2660904"/>
            <a:ext cx="1399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인가 코드 발급</a:t>
            </a:r>
            <a:endParaRPr/>
          </a:p>
        </p:txBody>
      </p:sp>
      <p:sp>
        <p:nvSpPr>
          <p:cNvPr id="357" name="Google Shape;357;p6"/>
          <p:cNvSpPr txBox="1"/>
          <p:nvPr/>
        </p:nvSpPr>
        <p:spPr>
          <a:xfrm>
            <a:off x="6126479" y="3044952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카카오 → 우리 서버로 code 전달</a:t>
            </a:r>
            <a:endParaRPr/>
          </a:p>
        </p:txBody>
      </p:sp>
      <p:sp>
        <p:nvSpPr>
          <p:cNvPr id="358" name="Google Shape;358;p6"/>
          <p:cNvSpPr txBox="1"/>
          <p:nvPr/>
        </p:nvSpPr>
        <p:spPr>
          <a:xfrm>
            <a:off x="6126479" y="3429000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GET /oauth2/callback/kakao?code=xxxxx</a:t>
            </a:r>
            <a:endParaRPr/>
          </a:p>
        </p:txBody>
      </p:sp>
      <p:sp>
        <p:nvSpPr>
          <p:cNvPr id="359" name="Google Shape;359;p6"/>
          <p:cNvSpPr txBox="1"/>
          <p:nvPr/>
        </p:nvSpPr>
        <p:spPr>
          <a:xfrm>
            <a:off x="7845552" y="3172968"/>
            <a:ext cx="109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C3FC2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/>
          </a:p>
        </p:txBody>
      </p:sp>
      <p:sp>
        <p:nvSpPr>
          <p:cNvPr id="360" name="Google Shape;360;p6"/>
          <p:cNvSpPr/>
          <p:nvPr/>
        </p:nvSpPr>
        <p:spPr>
          <a:xfrm>
            <a:off x="7909559" y="2606040"/>
            <a:ext cx="1810512" cy="1481328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6"/>
          <p:cNvSpPr/>
          <p:nvPr/>
        </p:nvSpPr>
        <p:spPr>
          <a:xfrm>
            <a:off x="7909559" y="2606040"/>
            <a:ext cx="1810512" cy="347472"/>
          </a:xfrm>
          <a:prstGeom prst="rect">
            <a:avLst/>
          </a:prstGeom>
          <a:solidFill>
            <a:srgbClr val="6C3FC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6"/>
          <p:cNvSpPr txBox="1"/>
          <p:nvPr/>
        </p:nvSpPr>
        <p:spPr>
          <a:xfrm>
            <a:off x="7964423" y="2651760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⑤</a:t>
            </a:r>
            <a:endParaRPr/>
          </a:p>
        </p:txBody>
      </p:sp>
      <p:sp>
        <p:nvSpPr>
          <p:cNvPr id="363" name="Google Shape;363;p6"/>
          <p:cNvSpPr txBox="1"/>
          <p:nvPr/>
        </p:nvSpPr>
        <p:spPr>
          <a:xfrm>
            <a:off x="8257031" y="2660904"/>
            <a:ext cx="1399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 Token 교환</a:t>
            </a:r>
            <a:endParaRPr/>
          </a:p>
        </p:txBody>
      </p:sp>
      <p:sp>
        <p:nvSpPr>
          <p:cNvPr id="364" name="Google Shape;364;p6"/>
          <p:cNvSpPr txBox="1"/>
          <p:nvPr/>
        </p:nvSpPr>
        <p:spPr>
          <a:xfrm>
            <a:off x="8000999" y="3044952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우리 서버 → 카카오 서버에 code 전송</a:t>
            </a:r>
            <a:endParaRPr/>
          </a:p>
        </p:txBody>
      </p:sp>
      <p:sp>
        <p:nvSpPr>
          <p:cNvPr id="365" name="Google Shape;365;p6"/>
          <p:cNvSpPr txBox="1"/>
          <p:nvPr/>
        </p:nvSpPr>
        <p:spPr>
          <a:xfrm>
            <a:off x="8000999" y="3429000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카카오가 Access Token 발급</a:t>
            </a:r>
            <a:endParaRPr/>
          </a:p>
        </p:txBody>
      </p:sp>
      <p:sp>
        <p:nvSpPr>
          <p:cNvPr id="366" name="Google Shape;366;p6"/>
          <p:cNvSpPr txBox="1"/>
          <p:nvPr/>
        </p:nvSpPr>
        <p:spPr>
          <a:xfrm>
            <a:off x="9720072" y="3172968"/>
            <a:ext cx="109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C3FC2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/>
          </a:p>
        </p:txBody>
      </p:sp>
      <p:sp>
        <p:nvSpPr>
          <p:cNvPr id="367" name="Google Shape;367;p6"/>
          <p:cNvSpPr/>
          <p:nvPr/>
        </p:nvSpPr>
        <p:spPr>
          <a:xfrm>
            <a:off x="9784080" y="2606040"/>
            <a:ext cx="1810512" cy="1481328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6"/>
          <p:cNvSpPr/>
          <p:nvPr/>
        </p:nvSpPr>
        <p:spPr>
          <a:xfrm>
            <a:off x="9784080" y="2606040"/>
            <a:ext cx="1810512" cy="347472"/>
          </a:xfrm>
          <a:prstGeom prst="rect">
            <a:avLst/>
          </a:prstGeom>
          <a:solidFill>
            <a:srgbClr val="1A6F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6"/>
          <p:cNvSpPr txBox="1"/>
          <p:nvPr/>
        </p:nvSpPr>
        <p:spPr>
          <a:xfrm>
            <a:off x="9838944" y="2651760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⑥</a:t>
            </a:r>
            <a:endParaRPr/>
          </a:p>
        </p:txBody>
      </p:sp>
      <p:sp>
        <p:nvSpPr>
          <p:cNvPr id="370" name="Google Shape;370;p6"/>
          <p:cNvSpPr txBox="1"/>
          <p:nvPr/>
        </p:nvSpPr>
        <p:spPr>
          <a:xfrm>
            <a:off x="10131552" y="2660904"/>
            <a:ext cx="1399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JWT 발급 &amp; 전달</a:t>
            </a:r>
            <a:endParaRPr/>
          </a:p>
        </p:txBody>
      </p:sp>
      <p:sp>
        <p:nvSpPr>
          <p:cNvPr id="371" name="Google Shape;371;p6"/>
          <p:cNvSpPr txBox="1"/>
          <p:nvPr/>
        </p:nvSpPr>
        <p:spPr>
          <a:xfrm>
            <a:off x="9875519" y="3044952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Access Token으로 카카오 프로필 조회</a:t>
            </a:r>
            <a:endParaRPr/>
          </a:p>
        </p:txBody>
      </p:sp>
      <p:sp>
        <p:nvSpPr>
          <p:cNvPr id="372" name="Google Shape;372;p6"/>
          <p:cNvSpPr txBox="1"/>
          <p:nvPr/>
        </p:nvSpPr>
        <p:spPr>
          <a:xfrm>
            <a:off x="9875519" y="3429000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우리 서버가 JWT 발급 → 프론트로 전달</a:t>
            </a:r>
            <a:endParaRPr/>
          </a:p>
        </p:txBody>
      </p:sp>
      <p:sp>
        <p:nvSpPr>
          <p:cNvPr id="373" name="Google Shape;373;p6"/>
          <p:cNvSpPr/>
          <p:nvPr/>
        </p:nvSpPr>
        <p:spPr>
          <a:xfrm>
            <a:off x="411480" y="4206240"/>
            <a:ext cx="11365992" cy="274320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6"/>
          <p:cNvSpPr txBox="1"/>
          <p:nvPr/>
        </p:nvSpPr>
        <p:spPr>
          <a:xfrm>
            <a:off x="548640" y="422452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지원 제공자별 특이사항</a:t>
            </a:r>
            <a:endParaRPr/>
          </a:p>
        </p:txBody>
      </p:sp>
      <p:sp>
        <p:nvSpPr>
          <p:cNvPr id="375" name="Google Shape;375;p6"/>
          <p:cNvSpPr/>
          <p:nvPr/>
        </p:nvSpPr>
        <p:spPr>
          <a:xfrm>
            <a:off x="411480" y="4572000"/>
            <a:ext cx="3749039" cy="2029968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6"/>
          <p:cNvSpPr/>
          <p:nvPr/>
        </p:nvSpPr>
        <p:spPr>
          <a:xfrm>
            <a:off x="411480" y="4572000"/>
            <a:ext cx="3749039" cy="320040"/>
          </a:xfrm>
          <a:prstGeom prst="rect">
            <a:avLst/>
          </a:prstGeom>
          <a:solidFill>
            <a:srgbClr val="FFE8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6"/>
          <p:cNvSpPr txBox="1"/>
          <p:nvPr/>
        </p:nvSpPr>
        <p:spPr>
          <a:xfrm>
            <a:off x="576072" y="45994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🟡 Kakao</a:t>
            </a:r>
            <a:endParaRPr/>
          </a:p>
        </p:txBody>
      </p:sp>
      <p:sp>
        <p:nvSpPr>
          <p:cNvPr id="378" name="Google Shape;378;p6"/>
          <p:cNvSpPr/>
          <p:nvPr/>
        </p:nvSpPr>
        <p:spPr>
          <a:xfrm>
            <a:off x="594360" y="5001768"/>
            <a:ext cx="73152" cy="73152"/>
          </a:xfrm>
          <a:prstGeom prst="rect">
            <a:avLst/>
          </a:prstGeom>
          <a:solidFill>
            <a:srgbClr val="FFE8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6"/>
          <p:cNvSpPr txBox="1"/>
          <p:nvPr/>
        </p:nvSpPr>
        <p:spPr>
          <a:xfrm>
            <a:off x="758952" y="4928616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client_secret 선택 사항 (없어도 동작)</a:t>
            </a:r>
            <a:endParaRPr/>
          </a:p>
        </p:txBody>
      </p:sp>
      <p:sp>
        <p:nvSpPr>
          <p:cNvPr id="380" name="Google Shape;380;p6"/>
          <p:cNvSpPr/>
          <p:nvPr/>
        </p:nvSpPr>
        <p:spPr>
          <a:xfrm>
            <a:off x="594360" y="5504688"/>
            <a:ext cx="73152" cy="73152"/>
          </a:xfrm>
          <a:prstGeom prst="rect">
            <a:avLst/>
          </a:prstGeom>
          <a:solidFill>
            <a:srgbClr val="FFE8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6"/>
          <p:cNvSpPr txBox="1"/>
          <p:nvPr/>
        </p:nvSpPr>
        <p:spPr>
          <a:xfrm>
            <a:off x="758952" y="5431536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이메일은 별도 동의 필요 (nullable)</a:t>
            </a:r>
            <a:endParaRPr/>
          </a:p>
        </p:txBody>
      </p:sp>
      <p:sp>
        <p:nvSpPr>
          <p:cNvPr id="382" name="Google Shape;382;p6"/>
          <p:cNvSpPr/>
          <p:nvPr/>
        </p:nvSpPr>
        <p:spPr>
          <a:xfrm>
            <a:off x="594360" y="6007608"/>
            <a:ext cx="73152" cy="73152"/>
          </a:xfrm>
          <a:prstGeom prst="rect">
            <a:avLst/>
          </a:prstGeom>
          <a:solidFill>
            <a:srgbClr val="FFE8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6"/>
          <p:cNvSpPr txBox="1"/>
          <p:nvPr/>
        </p:nvSpPr>
        <p:spPr>
          <a:xfrm>
            <a:off x="758952" y="5934456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redirect_uri 카카오 개발자 콘솔 등록 필수</a:t>
            </a:r>
            <a:endParaRPr/>
          </a:p>
        </p:txBody>
      </p:sp>
      <p:sp>
        <p:nvSpPr>
          <p:cNvPr id="384" name="Google Shape;384;p6"/>
          <p:cNvSpPr/>
          <p:nvPr/>
        </p:nvSpPr>
        <p:spPr>
          <a:xfrm>
            <a:off x="4343400" y="4572000"/>
            <a:ext cx="3749039" cy="2029968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6"/>
          <p:cNvSpPr/>
          <p:nvPr/>
        </p:nvSpPr>
        <p:spPr>
          <a:xfrm>
            <a:off x="4343400" y="4572000"/>
            <a:ext cx="3749039" cy="320040"/>
          </a:xfrm>
          <a:prstGeom prst="rect">
            <a:avLst/>
          </a:prstGeom>
          <a:solidFill>
            <a:srgbClr val="03C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6"/>
          <p:cNvSpPr txBox="1"/>
          <p:nvPr/>
        </p:nvSpPr>
        <p:spPr>
          <a:xfrm>
            <a:off x="4507992" y="45994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🟢 Naver</a:t>
            </a:r>
            <a:endParaRPr/>
          </a:p>
        </p:txBody>
      </p:sp>
      <p:sp>
        <p:nvSpPr>
          <p:cNvPr id="387" name="Google Shape;387;p6"/>
          <p:cNvSpPr/>
          <p:nvPr/>
        </p:nvSpPr>
        <p:spPr>
          <a:xfrm>
            <a:off x="4526280" y="5001768"/>
            <a:ext cx="73152" cy="73152"/>
          </a:xfrm>
          <a:prstGeom prst="rect">
            <a:avLst/>
          </a:prstGeom>
          <a:solidFill>
            <a:srgbClr val="03C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6"/>
          <p:cNvSpPr txBox="1"/>
          <p:nvPr/>
        </p:nvSpPr>
        <p:spPr>
          <a:xfrm>
            <a:off x="4690872" y="4928616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state 파라미터 필수 (CSRF 방지)</a:t>
            </a:r>
            <a:endParaRPr/>
          </a:p>
        </p:txBody>
      </p:sp>
      <p:sp>
        <p:nvSpPr>
          <p:cNvPr id="389" name="Google Shape;389;p6"/>
          <p:cNvSpPr/>
          <p:nvPr/>
        </p:nvSpPr>
        <p:spPr>
          <a:xfrm>
            <a:off x="4526280" y="5504688"/>
            <a:ext cx="73152" cy="73152"/>
          </a:xfrm>
          <a:prstGeom prst="rect">
            <a:avLst/>
          </a:prstGeom>
          <a:solidFill>
            <a:srgbClr val="03C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6"/>
          <p:cNvSpPr txBox="1"/>
          <p:nvPr/>
        </p:nvSpPr>
        <p:spPr>
          <a:xfrm>
            <a:off x="4690872" y="5431536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응답 구조: response.id / response.email</a:t>
            </a:r>
            <a:endParaRPr/>
          </a:p>
        </p:txBody>
      </p:sp>
      <p:sp>
        <p:nvSpPr>
          <p:cNvPr id="391" name="Google Shape;391;p6"/>
          <p:cNvSpPr/>
          <p:nvPr/>
        </p:nvSpPr>
        <p:spPr>
          <a:xfrm>
            <a:off x="4526280" y="6007608"/>
            <a:ext cx="73152" cy="73152"/>
          </a:xfrm>
          <a:prstGeom prst="rect">
            <a:avLst/>
          </a:prstGeom>
          <a:solidFill>
            <a:srgbClr val="03C7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6"/>
          <p:cNvSpPr txBox="1"/>
          <p:nvPr/>
        </p:nvSpPr>
        <p:spPr>
          <a:xfrm>
            <a:off x="4690872" y="5934456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비즈니스 앱 심사 후 실서비스 가능</a:t>
            </a:r>
            <a:endParaRPr/>
          </a:p>
        </p:txBody>
      </p:sp>
      <p:sp>
        <p:nvSpPr>
          <p:cNvPr id="393" name="Google Shape;393;p6"/>
          <p:cNvSpPr/>
          <p:nvPr/>
        </p:nvSpPr>
        <p:spPr>
          <a:xfrm>
            <a:off x="8275319" y="4572000"/>
            <a:ext cx="3749039" cy="2029968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6"/>
          <p:cNvSpPr/>
          <p:nvPr/>
        </p:nvSpPr>
        <p:spPr>
          <a:xfrm>
            <a:off x="8275319" y="4572000"/>
            <a:ext cx="3749039" cy="320040"/>
          </a:xfrm>
          <a:prstGeom prst="rect">
            <a:avLst/>
          </a:prstGeom>
          <a:solidFill>
            <a:srgbClr val="4A90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6"/>
          <p:cNvSpPr txBox="1"/>
          <p:nvPr/>
        </p:nvSpPr>
        <p:spPr>
          <a:xfrm>
            <a:off x="8439911" y="45994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🔵 Google</a:t>
            </a:r>
            <a:endParaRPr/>
          </a:p>
        </p:txBody>
      </p:sp>
      <p:sp>
        <p:nvSpPr>
          <p:cNvPr id="396" name="Google Shape;396;p6"/>
          <p:cNvSpPr/>
          <p:nvPr/>
        </p:nvSpPr>
        <p:spPr>
          <a:xfrm>
            <a:off x="8458199" y="5001768"/>
            <a:ext cx="73152" cy="73152"/>
          </a:xfrm>
          <a:prstGeom prst="rect">
            <a:avLst/>
          </a:prstGeom>
          <a:solidFill>
            <a:srgbClr val="4A90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6"/>
          <p:cNvSpPr txBox="1"/>
          <p:nvPr/>
        </p:nvSpPr>
        <p:spPr>
          <a:xfrm>
            <a:off x="8622792" y="4928616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scope: openid email profile 지정</a:t>
            </a:r>
            <a:endParaRPr/>
          </a:p>
        </p:txBody>
      </p:sp>
      <p:sp>
        <p:nvSpPr>
          <p:cNvPr id="398" name="Google Shape;398;p6"/>
          <p:cNvSpPr/>
          <p:nvPr/>
        </p:nvSpPr>
        <p:spPr>
          <a:xfrm>
            <a:off x="8458199" y="5504688"/>
            <a:ext cx="73152" cy="73152"/>
          </a:xfrm>
          <a:prstGeom prst="rect">
            <a:avLst/>
          </a:prstGeom>
          <a:solidFill>
            <a:srgbClr val="4A90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6"/>
          <p:cNvSpPr txBox="1"/>
          <p:nvPr/>
        </p:nvSpPr>
        <p:spPr>
          <a:xfrm>
            <a:off x="8622792" y="5431536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응답: sub(userId) / email / name</a:t>
            </a:r>
            <a:endParaRPr/>
          </a:p>
        </p:txBody>
      </p:sp>
      <p:sp>
        <p:nvSpPr>
          <p:cNvPr id="400" name="Google Shape;400;p6"/>
          <p:cNvSpPr/>
          <p:nvPr/>
        </p:nvSpPr>
        <p:spPr>
          <a:xfrm>
            <a:off x="8458199" y="6007608"/>
            <a:ext cx="73152" cy="73152"/>
          </a:xfrm>
          <a:prstGeom prst="rect">
            <a:avLst/>
          </a:prstGeom>
          <a:solidFill>
            <a:srgbClr val="4A90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6"/>
          <p:cNvSpPr txBox="1"/>
          <p:nvPr/>
        </p:nvSpPr>
        <p:spPr>
          <a:xfrm>
            <a:off x="8622792" y="5934456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Google Cloud Console에서 redirect_uri 등록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7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7"/>
          <p:cNvSpPr txBox="1"/>
          <p:nvPr/>
        </p:nvSpPr>
        <p:spPr>
          <a:xfrm>
            <a:off x="411480" y="594360"/>
            <a:ext cx="1143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05  Spring Security 개요</a:t>
            </a:r>
            <a:endParaRPr/>
          </a:p>
        </p:txBody>
      </p:sp>
      <p:sp>
        <p:nvSpPr>
          <p:cNvPr id="409" name="Google Shape;409;p7"/>
          <p:cNvSpPr/>
          <p:nvPr/>
        </p:nvSpPr>
        <p:spPr>
          <a:xfrm>
            <a:off x="411480" y="1261872"/>
            <a:ext cx="11365992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7"/>
          <p:cNvSpPr/>
          <p:nvPr/>
        </p:nvSpPr>
        <p:spPr>
          <a:xfrm>
            <a:off x="411480" y="1508760"/>
            <a:ext cx="11365992" cy="713232"/>
          </a:xfrm>
          <a:prstGeom prst="rect">
            <a:avLst/>
          </a:prstGeom>
          <a:solidFill>
            <a:srgbClr val="E8F5ED"/>
          </a:solidFill>
          <a:ln cap="flat" cmpd="sng" w="19050">
            <a:solidFill>
              <a:srgbClr val="1A6F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7"/>
          <p:cNvSpPr txBox="1"/>
          <p:nvPr/>
        </p:nvSpPr>
        <p:spPr>
          <a:xfrm>
            <a:off x="566928" y="1536192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Spring Security는 요청이 Controller에 도달하기 전, "필터 체인(Filter Chain)"을 통해 인증·인가를 처리합니다.</a:t>
            </a:r>
            <a:br>
              <a:rPr b="0" i="1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개발자는 SecurityFilterChain 빈을 설정하는 것만으로 JWT·OAuth2·세션 인증을 손쉽게 구성할 수 있습니다.</a:t>
            </a:r>
            <a:endParaRPr/>
          </a:p>
        </p:txBody>
      </p:sp>
      <p:sp>
        <p:nvSpPr>
          <p:cNvPr id="412" name="Google Shape;412;p7"/>
          <p:cNvSpPr/>
          <p:nvPr/>
        </p:nvSpPr>
        <p:spPr>
          <a:xfrm>
            <a:off x="411480" y="2331720"/>
            <a:ext cx="11365992" cy="274320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7"/>
          <p:cNvSpPr txBox="1"/>
          <p:nvPr/>
        </p:nvSpPr>
        <p:spPr>
          <a:xfrm>
            <a:off x="548640" y="235000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요청 처리 흐름 — Filter Chain</a:t>
            </a:r>
            <a:endParaRPr/>
          </a:p>
        </p:txBody>
      </p:sp>
      <p:sp>
        <p:nvSpPr>
          <p:cNvPr id="414" name="Google Shape;414;p7"/>
          <p:cNvSpPr/>
          <p:nvPr/>
        </p:nvSpPr>
        <p:spPr>
          <a:xfrm>
            <a:off x="393192" y="2679192"/>
            <a:ext cx="1719072" cy="804672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7"/>
          <p:cNvSpPr txBox="1"/>
          <p:nvPr/>
        </p:nvSpPr>
        <p:spPr>
          <a:xfrm>
            <a:off x="484632" y="2852928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HTTP</a:t>
            </a:r>
            <a:b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endParaRPr/>
          </a:p>
        </p:txBody>
      </p:sp>
      <p:sp>
        <p:nvSpPr>
          <p:cNvPr id="416" name="Google Shape;416;p7"/>
          <p:cNvSpPr txBox="1"/>
          <p:nvPr/>
        </p:nvSpPr>
        <p:spPr>
          <a:xfrm>
            <a:off x="2130552" y="2971800"/>
            <a:ext cx="137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/>
          </a:p>
        </p:txBody>
      </p:sp>
      <p:sp>
        <p:nvSpPr>
          <p:cNvPr id="417" name="Google Shape;417;p7"/>
          <p:cNvSpPr/>
          <p:nvPr/>
        </p:nvSpPr>
        <p:spPr>
          <a:xfrm>
            <a:off x="2249424" y="2679192"/>
            <a:ext cx="1719072" cy="804672"/>
          </a:xfrm>
          <a:prstGeom prst="rect">
            <a:avLst/>
          </a:prstGeom>
          <a:solidFill>
            <a:srgbClr val="6C3FC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7"/>
          <p:cNvSpPr txBox="1"/>
          <p:nvPr/>
        </p:nvSpPr>
        <p:spPr>
          <a:xfrm>
            <a:off x="2340864" y="2852928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b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Filter Chain</a:t>
            </a:r>
            <a:endParaRPr/>
          </a:p>
        </p:txBody>
      </p:sp>
      <p:sp>
        <p:nvSpPr>
          <p:cNvPr id="419" name="Google Shape;419;p7"/>
          <p:cNvSpPr txBox="1"/>
          <p:nvPr/>
        </p:nvSpPr>
        <p:spPr>
          <a:xfrm>
            <a:off x="3986783" y="2971800"/>
            <a:ext cx="137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/>
          </a:p>
        </p:txBody>
      </p:sp>
      <p:sp>
        <p:nvSpPr>
          <p:cNvPr id="420" name="Google Shape;420;p7"/>
          <p:cNvSpPr/>
          <p:nvPr/>
        </p:nvSpPr>
        <p:spPr>
          <a:xfrm>
            <a:off x="4105655" y="2679192"/>
            <a:ext cx="1719072" cy="804672"/>
          </a:xfrm>
          <a:prstGeom prst="rect">
            <a:avLst/>
          </a:prstGeom>
          <a:solidFill>
            <a:srgbClr val="6C3FC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7"/>
          <p:cNvSpPr txBox="1"/>
          <p:nvPr/>
        </p:nvSpPr>
        <p:spPr>
          <a:xfrm>
            <a:off x="4197095" y="2852928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JWT /</a:t>
            </a:r>
            <a:b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OAuth2 Filter</a:t>
            </a:r>
            <a:endParaRPr/>
          </a:p>
        </p:txBody>
      </p:sp>
      <p:sp>
        <p:nvSpPr>
          <p:cNvPr id="422" name="Google Shape;422;p7"/>
          <p:cNvSpPr txBox="1"/>
          <p:nvPr/>
        </p:nvSpPr>
        <p:spPr>
          <a:xfrm>
            <a:off x="5843015" y="2971800"/>
            <a:ext cx="137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/>
          </a:p>
        </p:txBody>
      </p:sp>
      <p:sp>
        <p:nvSpPr>
          <p:cNvPr id="423" name="Google Shape;423;p7"/>
          <p:cNvSpPr/>
          <p:nvPr/>
        </p:nvSpPr>
        <p:spPr>
          <a:xfrm>
            <a:off x="5961888" y="2679192"/>
            <a:ext cx="1719072" cy="804672"/>
          </a:xfrm>
          <a:prstGeom prst="rect">
            <a:avLst/>
          </a:prstGeom>
          <a:solidFill>
            <a:srgbClr val="1A6F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7"/>
          <p:cNvSpPr txBox="1"/>
          <p:nvPr/>
        </p:nvSpPr>
        <p:spPr>
          <a:xfrm>
            <a:off x="6053327" y="2852928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b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Manager</a:t>
            </a:r>
            <a:endParaRPr/>
          </a:p>
        </p:txBody>
      </p:sp>
      <p:sp>
        <p:nvSpPr>
          <p:cNvPr id="425" name="Google Shape;425;p7"/>
          <p:cNvSpPr txBox="1"/>
          <p:nvPr/>
        </p:nvSpPr>
        <p:spPr>
          <a:xfrm>
            <a:off x="7699247" y="2971800"/>
            <a:ext cx="137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/>
          </a:p>
        </p:txBody>
      </p:sp>
      <p:sp>
        <p:nvSpPr>
          <p:cNvPr id="426" name="Google Shape;426;p7"/>
          <p:cNvSpPr/>
          <p:nvPr/>
        </p:nvSpPr>
        <p:spPr>
          <a:xfrm>
            <a:off x="7818119" y="2679192"/>
            <a:ext cx="1719072" cy="804672"/>
          </a:xfrm>
          <a:prstGeom prst="rect">
            <a:avLst/>
          </a:prstGeom>
          <a:solidFill>
            <a:srgbClr val="1A6F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7"/>
          <p:cNvSpPr txBox="1"/>
          <p:nvPr/>
        </p:nvSpPr>
        <p:spPr>
          <a:xfrm>
            <a:off x="7909559" y="2852928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Authorization</a:t>
            </a:r>
            <a:b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(인가 결정)</a:t>
            </a:r>
            <a:endParaRPr/>
          </a:p>
        </p:txBody>
      </p:sp>
      <p:sp>
        <p:nvSpPr>
          <p:cNvPr id="428" name="Google Shape;428;p7"/>
          <p:cNvSpPr txBox="1"/>
          <p:nvPr/>
        </p:nvSpPr>
        <p:spPr>
          <a:xfrm>
            <a:off x="9555480" y="2971800"/>
            <a:ext cx="137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/>
          </a:p>
        </p:txBody>
      </p:sp>
      <p:sp>
        <p:nvSpPr>
          <p:cNvPr id="429" name="Google Shape;429;p7"/>
          <p:cNvSpPr/>
          <p:nvPr/>
        </p:nvSpPr>
        <p:spPr>
          <a:xfrm>
            <a:off x="9674351" y="2679192"/>
            <a:ext cx="1719072" cy="804672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7"/>
          <p:cNvSpPr txBox="1"/>
          <p:nvPr/>
        </p:nvSpPr>
        <p:spPr>
          <a:xfrm>
            <a:off x="9765791" y="2852928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b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(비즈니스 로직)</a:t>
            </a:r>
            <a:endParaRPr/>
          </a:p>
        </p:txBody>
      </p:sp>
      <p:sp>
        <p:nvSpPr>
          <p:cNvPr id="431" name="Google Shape;431;p7"/>
          <p:cNvSpPr/>
          <p:nvPr/>
        </p:nvSpPr>
        <p:spPr>
          <a:xfrm>
            <a:off x="411480" y="3657600"/>
            <a:ext cx="2816352" cy="2944368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7"/>
          <p:cNvSpPr/>
          <p:nvPr/>
        </p:nvSpPr>
        <p:spPr>
          <a:xfrm>
            <a:off x="411480" y="3657600"/>
            <a:ext cx="2816352" cy="347472"/>
          </a:xfrm>
          <a:prstGeom prst="rect">
            <a:avLst/>
          </a:prstGeom>
          <a:solidFill>
            <a:srgbClr val="1A6F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7"/>
          <p:cNvSpPr/>
          <p:nvPr/>
        </p:nvSpPr>
        <p:spPr>
          <a:xfrm>
            <a:off x="411480" y="3657600"/>
            <a:ext cx="91440" cy="347472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7"/>
          <p:cNvSpPr txBox="1"/>
          <p:nvPr/>
        </p:nvSpPr>
        <p:spPr>
          <a:xfrm>
            <a:off x="594360" y="3685032"/>
            <a:ext cx="25603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🔑 인증 처리</a:t>
            </a:r>
            <a:endParaRPr/>
          </a:p>
        </p:txBody>
      </p:sp>
      <p:sp>
        <p:nvSpPr>
          <p:cNvPr id="435" name="Google Shape;435;p7"/>
          <p:cNvSpPr txBox="1"/>
          <p:nvPr/>
        </p:nvSpPr>
        <p:spPr>
          <a:xfrm>
            <a:off x="548640" y="411480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UsernamePasswordAuthenticationFilter</a:t>
            </a:r>
            <a:endParaRPr/>
          </a:p>
        </p:txBody>
      </p:sp>
      <p:sp>
        <p:nvSpPr>
          <p:cNvPr id="436" name="Google Shape;436;p7"/>
          <p:cNvSpPr txBox="1"/>
          <p:nvPr/>
        </p:nvSpPr>
        <p:spPr>
          <a:xfrm>
            <a:off x="548640" y="452628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아이디/비밀번호 로그인 처리</a:t>
            </a:r>
            <a:endParaRPr/>
          </a:p>
        </p:txBody>
      </p:sp>
      <p:sp>
        <p:nvSpPr>
          <p:cNvPr id="437" name="Google Shape;437;p7"/>
          <p:cNvSpPr txBox="1"/>
          <p:nvPr/>
        </p:nvSpPr>
        <p:spPr>
          <a:xfrm>
            <a:off x="548640" y="493776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JwtAuthenticationFilter (커스텀)</a:t>
            </a:r>
            <a:endParaRPr/>
          </a:p>
        </p:txBody>
      </p:sp>
      <p:sp>
        <p:nvSpPr>
          <p:cNvPr id="438" name="Google Shape;438;p7"/>
          <p:cNvSpPr txBox="1"/>
          <p:nvPr/>
        </p:nvSpPr>
        <p:spPr>
          <a:xfrm>
            <a:off x="548640" y="534924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JWT 토큰 파싱 및 사용자 설정</a:t>
            </a:r>
            <a:endParaRPr/>
          </a:p>
        </p:txBody>
      </p:sp>
      <p:sp>
        <p:nvSpPr>
          <p:cNvPr id="439" name="Google Shape;439;p7"/>
          <p:cNvSpPr txBox="1"/>
          <p:nvPr/>
        </p:nvSpPr>
        <p:spPr>
          <a:xfrm>
            <a:off x="548640" y="576072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OAuth2LoginAuthenticationFilter</a:t>
            </a:r>
            <a:endParaRPr/>
          </a:p>
        </p:txBody>
      </p:sp>
      <p:sp>
        <p:nvSpPr>
          <p:cNvPr id="440" name="Google Shape;440;p7"/>
          <p:cNvSpPr txBox="1"/>
          <p:nvPr/>
        </p:nvSpPr>
        <p:spPr>
          <a:xfrm>
            <a:off x="548640" y="617220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소셜 로그인 코드 교환 처리</a:t>
            </a:r>
            <a:endParaRPr/>
          </a:p>
        </p:txBody>
      </p:sp>
      <p:sp>
        <p:nvSpPr>
          <p:cNvPr id="441" name="Google Shape;441;p7"/>
          <p:cNvSpPr/>
          <p:nvPr/>
        </p:nvSpPr>
        <p:spPr>
          <a:xfrm>
            <a:off x="3364992" y="3657600"/>
            <a:ext cx="2816352" cy="2944368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7"/>
          <p:cNvSpPr/>
          <p:nvPr/>
        </p:nvSpPr>
        <p:spPr>
          <a:xfrm>
            <a:off x="3364992" y="3657600"/>
            <a:ext cx="2816352" cy="347472"/>
          </a:xfrm>
          <a:prstGeom prst="rect">
            <a:avLst/>
          </a:prstGeom>
          <a:solidFill>
            <a:srgbClr val="1A6F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7"/>
          <p:cNvSpPr/>
          <p:nvPr/>
        </p:nvSpPr>
        <p:spPr>
          <a:xfrm>
            <a:off x="3364992" y="3657600"/>
            <a:ext cx="91440" cy="347472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7"/>
          <p:cNvSpPr txBox="1"/>
          <p:nvPr/>
        </p:nvSpPr>
        <p:spPr>
          <a:xfrm>
            <a:off x="3547872" y="3685032"/>
            <a:ext cx="25603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🛡️ 인가 처리</a:t>
            </a:r>
            <a:endParaRPr/>
          </a:p>
        </p:txBody>
      </p:sp>
      <p:sp>
        <p:nvSpPr>
          <p:cNvPr id="445" name="Google Shape;445;p7"/>
          <p:cNvSpPr txBox="1"/>
          <p:nvPr/>
        </p:nvSpPr>
        <p:spPr>
          <a:xfrm>
            <a:off x="3502152" y="411480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SecurityFilterChain 설정</a:t>
            </a:r>
            <a:endParaRPr/>
          </a:p>
        </p:txBody>
      </p:sp>
      <p:sp>
        <p:nvSpPr>
          <p:cNvPr id="446" name="Google Shape;446;p7"/>
          <p:cNvSpPr txBox="1"/>
          <p:nvPr/>
        </p:nvSpPr>
        <p:spPr>
          <a:xfrm>
            <a:off x="3502152" y="452628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URL 패턴별 접근 권한 설정</a:t>
            </a:r>
            <a:endParaRPr/>
          </a:p>
        </p:txBody>
      </p:sp>
      <p:sp>
        <p:nvSpPr>
          <p:cNvPr id="447" name="Google Shape;447;p7"/>
          <p:cNvSpPr txBox="1"/>
          <p:nvPr/>
        </p:nvSpPr>
        <p:spPr>
          <a:xfrm>
            <a:off x="3502152" y="493776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@PreAuthorize</a:t>
            </a:r>
            <a:endParaRPr/>
          </a:p>
        </p:txBody>
      </p:sp>
      <p:sp>
        <p:nvSpPr>
          <p:cNvPr id="448" name="Google Shape;448;p7"/>
          <p:cNvSpPr txBox="1"/>
          <p:nvPr/>
        </p:nvSpPr>
        <p:spPr>
          <a:xfrm>
            <a:off x="3502152" y="534924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메서드 레벨 권한 검사</a:t>
            </a:r>
            <a:endParaRPr/>
          </a:p>
        </p:txBody>
      </p:sp>
      <p:sp>
        <p:nvSpPr>
          <p:cNvPr id="449" name="Google Shape;449;p7"/>
          <p:cNvSpPr txBox="1"/>
          <p:nvPr/>
        </p:nvSpPr>
        <p:spPr>
          <a:xfrm>
            <a:off x="3502152" y="576072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@Secured / @RolesAllowed</a:t>
            </a:r>
            <a:endParaRPr/>
          </a:p>
        </p:txBody>
      </p:sp>
      <p:sp>
        <p:nvSpPr>
          <p:cNvPr id="450" name="Google Shape;450;p7"/>
          <p:cNvSpPr txBox="1"/>
          <p:nvPr/>
        </p:nvSpPr>
        <p:spPr>
          <a:xfrm>
            <a:off x="3502152" y="617220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역할(ROLE) 기반 접근 제어</a:t>
            </a:r>
            <a:endParaRPr/>
          </a:p>
        </p:txBody>
      </p:sp>
      <p:sp>
        <p:nvSpPr>
          <p:cNvPr id="451" name="Google Shape;451;p7"/>
          <p:cNvSpPr/>
          <p:nvPr/>
        </p:nvSpPr>
        <p:spPr>
          <a:xfrm>
            <a:off x="6318504" y="3657600"/>
            <a:ext cx="2816352" cy="2944368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7"/>
          <p:cNvSpPr/>
          <p:nvPr/>
        </p:nvSpPr>
        <p:spPr>
          <a:xfrm>
            <a:off x="6318504" y="3657600"/>
            <a:ext cx="2816352" cy="347472"/>
          </a:xfrm>
          <a:prstGeom prst="rect">
            <a:avLst/>
          </a:prstGeom>
          <a:solidFill>
            <a:srgbClr val="1A6F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7"/>
          <p:cNvSpPr/>
          <p:nvPr/>
        </p:nvSpPr>
        <p:spPr>
          <a:xfrm>
            <a:off x="6318504" y="3657600"/>
            <a:ext cx="91440" cy="347472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7"/>
          <p:cNvSpPr txBox="1"/>
          <p:nvPr/>
        </p:nvSpPr>
        <p:spPr>
          <a:xfrm>
            <a:off x="6501384" y="3685032"/>
            <a:ext cx="25603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🔒 보안 기능</a:t>
            </a:r>
            <a:endParaRPr/>
          </a:p>
        </p:txBody>
      </p:sp>
      <p:sp>
        <p:nvSpPr>
          <p:cNvPr id="455" name="Google Shape;455;p7"/>
          <p:cNvSpPr txBox="1"/>
          <p:nvPr/>
        </p:nvSpPr>
        <p:spPr>
          <a:xfrm>
            <a:off x="6455664" y="411480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CSRF 방지 (기본 활성화)</a:t>
            </a:r>
            <a:endParaRPr/>
          </a:p>
        </p:txBody>
      </p:sp>
      <p:sp>
        <p:nvSpPr>
          <p:cNvPr id="456" name="Google Shape;456;p7"/>
          <p:cNvSpPr txBox="1"/>
          <p:nvPr/>
        </p:nvSpPr>
        <p:spPr>
          <a:xfrm>
            <a:off x="6455664" y="452628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REST API는 disable 설정 일반적</a:t>
            </a:r>
            <a:endParaRPr/>
          </a:p>
        </p:txBody>
      </p:sp>
      <p:sp>
        <p:nvSpPr>
          <p:cNvPr id="457" name="Google Shape;457;p7"/>
          <p:cNvSpPr txBox="1"/>
          <p:nvPr/>
        </p:nvSpPr>
        <p:spPr>
          <a:xfrm>
            <a:off x="6455664" y="493776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CORS 설정</a:t>
            </a:r>
            <a:endParaRPr/>
          </a:p>
        </p:txBody>
      </p:sp>
      <p:sp>
        <p:nvSpPr>
          <p:cNvPr id="458" name="Google Shape;458;p7"/>
          <p:cNvSpPr txBox="1"/>
          <p:nvPr/>
        </p:nvSpPr>
        <p:spPr>
          <a:xfrm>
            <a:off x="6455664" y="534924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허용 도메인·메서드 제어</a:t>
            </a:r>
            <a:endParaRPr/>
          </a:p>
        </p:txBody>
      </p:sp>
      <p:sp>
        <p:nvSpPr>
          <p:cNvPr id="459" name="Google Shape;459;p7"/>
          <p:cNvSpPr txBox="1"/>
          <p:nvPr/>
        </p:nvSpPr>
        <p:spPr>
          <a:xfrm>
            <a:off x="6455664" y="576072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세션 정책</a:t>
            </a:r>
            <a:endParaRPr/>
          </a:p>
        </p:txBody>
      </p:sp>
      <p:sp>
        <p:nvSpPr>
          <p:cNvPr id="460" name="Google Shape;460;p7"/>
          <p:cNvSpPr txBox="1"/>
          <p:nvPr/>
        </p:nvSpPr>
        <p:spPr>
          <a:xfrm>
            <a:off x="6455664" y="617220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STATELESS → JWT 사용 시 필수</a:t>
            </a:r>
            <a:endParaRPr/>
          </a:p>
        </p:txBody>
      </p:sp>
      <p:sp>
        <p:nvSpPr>
          <p:cNvPr id="461" name="Google Shape;461;p7"/>
          <p:cNvSpPr/>
          <p:nvPr/>
        </p:nvSpPr>
        <p:spPr>
          <a:xfrm>
            <a:off x="9272015" y="3657600"/>
            <a:ext cx="2816352" cy="2944368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7"/>
          <p:cNvSpPr/>
          <p:nvPr/>
        </p:nvSpPr>
        <p:spPr>
          <a:xfrm>
            <a:off x="9272015" y="3657600"/>
            <a:ext cx="2816352" cy="347472"/>
          </a:xfrm>
          <a:prstGeom prst="rect">
            <a:avLst/>
          </a:prstGeom>
          <a:solidFill>
            <a:srgbClr val="1A6F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7"/>
          <p:cNvSpPr/>
          <p:nvPr/>
        </p:nvSpPr>
        <p:spPr>
          <a:xfrm>
            <a:off x="9272015" y="3657600"/>
            <a:ext cx="91440" cy="347472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7"/>
          <p:cNvSpPr txBox="1"/>
          <p:nvPr/>
        </p:nvSpPr>
        <p:spPr>
          <a:xfrm>
            <a:off x="9454895" y="3685032"/>
            <a:ext cx="25603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⚙️ 주요 설정 클래스</a:t>
            </a:r>
            <a:endParaRPr/>
          </a:p>
        </p:txBody>
      </p:sp>
      <p:sp>
        <p:nvSpPr>
          <p:cNvPr id="465" name="Google Shape;465;p7"/>
          <p:cNvSpPr txBox="1"/>
          <p:nvPr/>
        </p:nvSpPr>
        <p:spPr>
          <a:xfrm>
            <a:off x="9409176" y="411480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SecurityConfig</a:t>
            </a:r>
            <a:endParaRPr/>
          </a:p>
        </p:txBody>
      </p:sp>
      <p:sp>
        <p:nvSpPr>
          <p:cNvPr id="466" name="Google Shape;466;p7"/>
          <p:cNvSpPr txBox="1"/>
          <p:nvPr/>
        </p:nvSpPr>
        <p:spPr>
          <a:xfrm>
            <a:off x="9409176" y="452628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@Configuration + @EnableWebSecurity</a:t>
            </a:r>
            <a:endParaRPr/>
          </a:p>
        </p:txBody>
      </p:sp>
      <p:sp>
        <p:nvSpPr>
          <p:cNvPr id="467" name="Google Shape;467;p7"/>
          <p:cNvSpPr txBox="1"/>
          <p:nvPr/>
        </p:nvSpPr>
        <p:spPr>
          <a:xfrm>
            <a:off x="9409176" y="493776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SecurityFilterChain @Bean</a:t>
            </a:r>
            <a:endParaRPr/>
          </a:p>
        </p:txBody>
      </p:sp>
      <p:sp>
        <p:nvSpPr>
          <p:cNvPr id="468" name="Google Shape;468;p7"/>
          <p:cNvSpPr txBox="1"/>
          <p:nvPr/>
        </p:nvSpPr>
        <p:spPr>
          <a:xfrm>
            <a:off x="9409176" y="534924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HttpSecurity 체이닝으로 설정</a:t>
            </a:r>
            <a:endParaRPr/>
          </a:p>
        </p:txBody>
      </p:sp>
      <p:sp>
        <p:nvSpPr>
          <p:cNvPr id="469" name="Google Shape;469;p7"/>
          <p:cNvSpPr txBox="1"/>
          <p:nvPr/>
        </p:nvSpPr>
        <p:spPr>
          <a:xfrm>
            <a:off x="9409176" y="576072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UserDetailsService</a:t>
            </a:r>
            <a:endParaRPr/>
          </a:p>
        </p:txBody>
      </p:sp>
      <p:sp>
        <p:nvSpPr>
          <p:cNvPr id="470" name="Google Shape;470;p7"/>
          <p:cNvSpPr txBox="1"/>
          <p:nvPr/>
        </p:nvSpPr>
        <p:spPr>
          <a:xfrm>
            <a:off x="9409176" y="617220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DB에서 사용자 로딩 인터페이스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8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8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8"/>
          <p:cNvSpPr txBox="1"/>
          <p:nvPr/>
        </p:nvSpPr>
        <p:spPr>
          <a:xfrm>
            <a:off x="411480" y="594360"/>
            <a:ext cx="1143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06  Spring Security + JWT — 구현 코드</a:t>
            </a:r>
            <a:endParaRPr/>
          </a:p>
        </p:txBody>
      </p:sp>
      <p:sp>
        <p:nvSpPr>
          <p:cNvPr id="478" name="Google Shape;478;p8"/>
          <p:cNvSpPr/>
          <p:nvPr/>
        </p:nvSpPr>
        <p:spPr>
          <a:xfrm>
            <a:off x="411480" y="1261872"/>
            <a:ext cx="11365992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8"/>
          <p:cNvSpPr/>
          <p:nvPr/>
        </p:nvSpPr>
        <p:spPr>
          <a:xfrm>
            <a:off x="411480" y="1508760"/>
            <a:ext cx="5486400" cy="2487168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8"/>
          <p:cNvSpPr/>
          <p:nvPr/>
        </p:nvSpPr>
        <p:spPr>
          <a:xfrm>
            <a:off x="411480" y="1508760"/>
            <a:ext cx="5486400" cy="320040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8"/>
          <p:cNvSpPr txBox="1"/>
          <p:nvPr/>
        </p:nvSpPr>
        <p:spPr>
          <a:xfrm>
            <a:off x="576072" y="1545336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① SecurityFilterChain 설정</a:t>
            </a:r>
            <a:endParaRPr/>
          </a:p>
        </p:txBody>
      </p:sp>
      <p:sp>
        <p:nvSpPr>
          <p:cNvPr id="482" name="Google Shape;482;p8"/>
          <p:cNvSpPr txBox="1"/>
          <p:nvPr/>
        </p:nvSpPr>
        <p:spPr>
          <a:xfrm>
            <a:off x="576072" y="1856231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JWT 방식 — CSRF 비활성화, STATELESS, 경로별 권한, JWT 필터 등록</a:t>
            </a:r>
            <a:endParaRPr/>
          </a:p>
        </p:txBody>
      </p:sp>
      <p:sp>
        <p:nvSpPr>
          <p:cNvPr id="483" name="Google Shape;483;p8"/>
          <p:cNvSpPr/>
          <p:nvPr/>
        </p:nvSpPr>
        <p:spPr>
          <a:xfrm>
            <a:off x="411480" y="2130552"/>
            <a:ext cx="5486400" cy="1865376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8"/>
          <p:cNvSpPr/>
          <p:nvPr/>
        </p:nvSpPr>
        <p:spPr>
          <a:xfrm>
            <a:off x="411480" y="2130552"/>
            <a:ext cx="5486400" cy="9144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8"/>
          <p:cNvSpPr txBox="1"/>
          <p:nvPr/>
        </p:nvSpPr>
        <p:spPr>
          <a:xfrm>
            <a:off x="576072" y="2240280"/>
            <a:ext cx="5212080" cy="1682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9DCEB"/>
                </a:solidFill>
                <a:latin typeface="Calibri"/>
                <a:ea typeface="Calibri"/>
                <a:cs typeface="Calibri"/>
                <a:sym typeface="Calibri"/>
              </a:rPr>
              <a:t>@Configuration @EnableWebSecurity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9DCEB"/>
                </a:solidFill>
                <a:latin typeface="Calibri"/>
                <a:ea typeface="Calibri"/>
                <a:cs typeface="Calibri"/>
                <a:sym typeface="Calibri"/>
              </a:rPr>
              <a:t>@EnableMethodSecurity  // @PreAuthorize 활성화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public class SecurityConfig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@Bean public SecurityFilterChain filter(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HttpSecurity http) throws Exception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return http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.csrf(csrf -&gt; csrf.disable())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.sessionManagement(s -&gt; s.sessionCreationPolicy(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    SessionCreationPolicy.STATELESS))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.authorizeHttpRequests(auth -&gt; auth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          .requestMatchers("/api/oauth2/**").permitAll()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          .requestMatchers("/api/admin/**").hasRole("ADMIN")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    .anyRequest().authenticated())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.addFilterBefore(jwtAuthFilter,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    UsernamePasswordAuthenticationFilter.class)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.build();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sp>
        <p:nvSpPr>
          <p:cNvPr id="486" name="Google Shape;486;p8"/>
          <p:cNvSpPr/>
          <p:nvPr/>
        </p:nvSpPr>
        <p:spPr>
          <a:xfrm>
            <a:off x="6291072" y="1508760"/>
            <a:ext cx="5486400" cy="2487168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8"/>
          <p:cNvSpPr/>
          <p:nvPr/>
        </p:nvSpPr>
        <p:spPr>
          <a:xfrm>
            <a:off x="6291072" y="1508760"/>
            <a:ext cx="5486400" cy="320040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8"/>
          <p:cNvSpPr txBox="1"/>
          <p:nvPr/>
        </p:nvSpPr>
        <p:spPr>
          <a:xfrm>
            <a:off x="6455664" y="1545336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② JwtAuthFilter 구현</a:t>
            </a:r>
            <a:endParaRPr/>
          </a:p>
        </p:txBody>
      </p:sp>
      <p:sp>
        <p:nvSpPr>
          <p:cNvPr id="489" name="Google Shape;489;p8"/>
          <p:cNvSpPr txBox="1"/>
          <p:nvPr/>
        </p:nvSpPr>
        <p:spPr>
          <a:xfrm>
            <a:off x="6455664" y="1856231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매 요청마다 Authorization 헤더에서 JWT를 꺼내 검증 후 SecurityContext에 등록</a:t>
            </a:r>
            <a:endParaRPr/>
          </a:p>
        </p:txBody>
      </p:sp>
      <p:sp>
        <p:nvSpPr>
          <p:cNvPr id="490" name="Google Shape;490;p8"/>
          <p:cNvSpPr/>
          <p:nvPr/>
        </p:nvSpPr>
        <p:spPr>
          <a:xfrm>
            <a:off x="6291072" y="2130552"/>
            <a:ext cx="5486400" cy="1865376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8"/>
          <p:cNvSpPr/>
          <p:nvPr/>
        </p:nvSpPr>
        <p:spPr>
          <a:xfrm>
            <a:off x="6291072" y="2130552"/>
            <a:ext cx="5486400" cy="9144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8"/>
          <p:cNvSpPr txBox="1"/>
          <p:nvPr/>
        </p:nvSpPr>
        <p:spPr>
          <a:xfrm>
            <a:off x="6455664" y="2240280"/>
            <a:ext cx="5212080" cy="1682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9DCEB"/>
                </a:solidFill>
                <a:latin typeface="Calibri"/>
                <a:ea typeface="Calibri"/>
                <a:cs typeface="Calibri"/>
                <a:sym typeface="Calibri"/>
              </a:rPr>
              <a:t>@Component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public class JwtAuthFilter extends OncePerRequestFilter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@Override protected void doFilterInternal(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HttpServletRequest req, HttpServletResponse res,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FilterChain chain) throws IOException, ServletException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    String token = resolveToken(req); // Bearer 제거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if (token != null &amp;&amp; jwtService.validate(token))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Claims claims = jwtService.parse(token);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var auth = new UsernamePasswordAuthenticationToken(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    claims.getSubject(), null,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    List.of(new SimpleGrantedAuthority(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        "ROLE_" + claims.get("role"))));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SecurityContextHolder.getContext()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          .setAuthentication(auth); // 인증 등록!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chain.doFilter(req, res);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sp>
        <p:nvSpPr>
          <p:cNvPr id="493" name="Google Shape;493;p8"/>
          <p:cNvSpPr/>
          <p:nvPr/>
        </p:nvSpPr>
        <p:spPr>
          <a:xfrm>
            <a:off x="411480" y="4160520"/>
            <a:ext cx="5486400" cy="2450592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8"/>
          <p:cNvSpPr/>
          <p:nvPr/>
        </p:nvSpPr>
        <p:spPr>
          <a:xfrm>
            <a:off x="411480" y="4160520"/>
            <a:ext cx="5486400" cy="320040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8"/>
          <p:cNvSpPr txBox="1"/>
          <p:nvPr/>
        </p:nvSpPr>
        <p:spPr>
          <a:xfrm>
            <a:off x="576072" y="4197096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③ resolveToken — 헤더에서 토큰 추출</a:t>
            </a:r>
            <a:endParaRPr/>
          </a:p>
        </p:txBody>
      </p:sp>
      <p:sp>
        <p:nvSpPr>
          <p:cNvPr id="496" name="Google Shape;496;p8"/>
          <p:cNvSpPr txBox="1"/>
          <p:nvPr/>
        </p:nvSpPr>
        <p:spPr>
          <a:xfrm>
            <a:off x="576072" y="4507992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Authorization: Bearer eyJ... 형식에서 순수 토큰 문자열 추출</a:t>
            </a:r>
            <a:endParaRPr/>
          </a:p>
        </p:txBody>
      </p:sp>
      <p:sp>
        <p:nvSpPr>
          <p:cNvPr id="497" name="Google Shape;497;p8"/>
          <p:cNvSpPr/>
          <p:nvPr/>
        </p:nvSpPr>
        <p:spPr>
          <a:xfrm>
            <a:off x="411480" y="4782312"/>
            <a:ext cx="5486400" cy="1828800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8"/>
          <p:cNvSpPr/>
          <p:nvPr/>
        </p:nvSpPr>
        <p:spPr>
          <a:xfrm>
            <a:off x="411480" y="4782312"/>
            <a:ext cx="5486400" cy="9144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8"/>
          <p:cNvSpPr txBox="1"/>
          <p:nvPr/>
        </p:nvSpPr>
        <p:spPr>
          <a:xfrm>
            <a:off x="576072" y="4892040"/>
            <a:ext cx="52120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private String resolveToken(HttpServletRequest req)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String bearer = req.getHeader("Authorization");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  // 'Bearer ' 로 시작하면 토큰 부분만 반환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if (StringUtils.hasText(bearer)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&amp;&amp; bearer.startsWith("Bearer "))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return bearer.substring(7);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  return null; // 토큰 없음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sp>
        <p:nvSpPr>
          <p:cNvPr id="500" name="Google Shape;500;p8"/>
          <p:cNvSpPr/>
          <p:nvPr/>
        </p:nvSpPr>
        <p:spPr>
          <a:xfrm>
            <a:off x="6291072" y="4160520"/>
            <a:ext cx="5486400" cy="2450592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8"/>
          <p:cNvSpPr/>
          <p:nvPr/>
        </p:nvSpPr>
        <p:spPr>
          <a:xfrm>
            <a:off x="6291072" y="4160520"/>
            <a:ext cx="5486400" cy="320040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8"/>
          <p:cNvSpPr txBox="1"/>
          <p:nvPr/>
        </p:nvSpPr>
        <p:spPr>
          <a:xfrm>
            <a:off x="6455664" y="4197096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④ JwtService — 토큰 발급 및 검증</a:t>
            </a:r>
            <a:endParaRPr/>
          </a:p>
        </p:txBody>
      </p:sp>
      <p:sp>
        <p:nvSpPr>
          <p:cNvPr id="503" name="Google Shape;503;p8"/>
          <p:cNvSpPr txBox="1"/>
          <p:nvPr/>
        </p:nvSpPr>
        <p:spPr>
          <a:xfrm>
            <a:off x="6455664" y="4507992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HMAC-SHA256 서명키로 토큰 생성·파싱·유효성 검사</a:t>
            </a:r>
            <a:endParaRPr/>
          </a:p>
        </p:txBody>
      </p:sp>
      <p:sp>
        <p:nvSpPr>
          <p:cNvPr id="504" name="Google Shape;504;p8"/>
          <p:cNvSpPr/>
          <p:nvPr/>
        </p:nvSpPr>
        <p:spPr>
          <a:xfrm>
            <a:off x="6291072" y="4782312"/>
            <a:ext cx="5486400" cy="1828800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8"/>
          <p:cNvSpPr/>
          <p:nvPr/>
        </p:nvSpPr>
        <p:spPr>
          <a:xfrm>
            <a:off x="6291072" y="4782312"/>
            <a:ext cx="5486400" cy="9144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8"/>
          <p:cNvSpPr txBox="1"/>
          <p:nvPr/>
        </p:nvSpPr>
        <p:spPr>
          <a:xfrm>
            <a:off x="6455664" y="4892040"/>
            <a:ext cx="52120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public String issue(Long userId, String role)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return Jwts.builder()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.subject(String.valueOf(userId))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.claim("role", role)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.expiration(new Date(System.currentTimeMillis()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  + expiryMs))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.signWith(signingKey).compact();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CDD6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public boolean validate(String token)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try { parse(token); return true;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  catch (JwtException e) { return false;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9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9"/>
          <p:cNvSpPr txBox="1"/>
          <p:nvPr/>
        </p:nvSpPr>
        <p:spPr>
          <a:xfrm>
            <a:off x="411480" y="594360"/>
            <a:ext cx="1143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07  Spring Security + OAuth2 / 인가 — 구현 코드</a:t>
            </a:r>
            <a:endParaRPr/>
          </a:p>
        </p:txBody>
      </p:sp>
      <p:sp>
        <p:nvSpPr>
          <p:cNvPr id="514" name="Google Shape;514;p9"/>
          <p:cNvSpPr/>
          <p:nvPr/>
        </p:nvSpPr>
        <p:spPr>
          <a:xfrm>
            <a:off x="411480" y="1261872"/>
            <a:ext cx="11365992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9"/>
          <p:cNvSpPr/>
          <p:nvPr/>
        </p:nvSpPr>
        <p:spPr>
          <a:xfrm>
            <a:off x="411480" y="1508760"/>
            <a:ext cx="5486400" cy="2487168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9"/>
          <p:cNvSpPr/>
          <p:nvPr/>
        </p:nvSpPr>
        <p:spPr>
          <a:xfrm>
            <a:off x="411480" y="1508760"/>
            <a:ext cx="5486400" cy="320040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9"/>
          <p:cNvSpPr txBox="1"/>
          <p:nvPr/>
        </p:nvSpPr>
        <p:spPr>
          <a:xfrm>
            <a:off x="576072" y="1545336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① OAuth2SuccessHandler — 소셜 로그인 후 JWT 발급</a:t>
            </a:r>
            <a:endParaRPr/>
          </a:p>
        </p:txBody>
      </p:sp>
      <p:sp>
        <p:nvSpPr>
          <p:cNvPr id="518" name="Google Shape;518;p9"/>
          <p:cNvSpPr txBox="1"/>
          <p:nvPr/>
        </p:nvSpPr>
        <p:spPr>
          <a:xfrm>
            <a:off x="576072" y="1856231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소셜 로그인 성공 후 사용자 정보 저장 → JWT 발급 → 프론트엔드로 리다이렉트</a:t>
            </a:r>
            <a:endParaRPr/>
          </a:p>
        </p:txBody>
      </p:sp>
      <p:sp>
        <p:nvSpPr>
          <p:cNvPr id="519" name="Google Shape;519;p9"/>
          <p:cNvSpPr/>
          <p:nvPr/>
        </p:nvSpPr>
        <p:spPr>
          <a:xfrm>
            <a:off x="411480" y="2130552"/>
            <a:ext cx="5486400" cy="1865376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9"/>
          <p:cNvSpPr/>
          <p:nvPr/>
        </p:nvSpPr>
        <p:spPr>
          <a:xfrm>
            <a:off x="411480" y="2130552"/>
            <a:ext cx="5486400" cy="9144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9"/>
          <p:cNvSpPr txBox="1"/>
          <p:nvPr/>
        </p:nvSpPr>
        <p:spPr>
          <a:xfrm>
            <a:off x="576072" y="2240280"/>
            <a:ext cx="5212080" cy="1682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9DCEB"/>
                </a:solidFill>
                <a:latin typeface="Calibri"/>
                <a:ea typeface="Calibri"/>
                <a:cs typeface="Calibri"/>
                <a:sym typeface="Calibri"/>
              </a:rPr>
              <a:t>@Component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public class OAuth2SuccessHandler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extends SimpleUrlAuthenticationSuccessHandler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@Override public void onAuthenticationSuccess(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HttpServletRequest req, HttpServletResponse res,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Authentication auth) throws IOException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OAuth2User oAuth2User = (OAuth2User) auth.getPrincipal();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String email = oAuth2User.getAttribute("email");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    User user = userService.findOrCreate(email); // upsert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String jwt = jwtService.issue(user.getId(), "USER");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    // JWT를 URL 파라미터로 프론트에 전달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getRedirectStrategy().sendRedirect(req, res,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  frontendUrl + "/auth/callback?token=" + jwt);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sp>
        <p:nvSpPr>
          <p:cNvPr id="522" name="Google Shape;522;p9"/>
          <p:cNvSpPr/>
          <p:nvPr/>
        </p:nvSpPr>
        <p:spPr>
          <a:xfrm>
            <a:off x="6291072" y="1508760"/>
            <a:ext cx="5486400" cy="2487168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9"/>
          <p:cNvSpPr/>
          <p:nvPr/>
        </p:nvSpPr>
        <p:spPr>
          <a:xfrm>
            <a:off x="6291072" y="1508760"/>
            <a:ext cx="5486400" cy="320040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9"/>
          <p:cNvSpPr txBox="1"/>
          <p:nvPr/>
        </p:nvSpPr>
        <p:spPr>
          <a:xfrm>
            <a:off x="6455664" y="1545336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② SecurityConfig에 OAuth2 추가</a:t>
            </a:r>
            <a:endParaRPr/>
          </a:p>
        </p:txBody>
      </p:sp>
      <p:sp>
        <p:nvSpPr>
          <p:cNvPr id="525" name="Google Shape;525;p9"/>
          <p:cNvSpPr txBox="1"/>
          <p:nvPr/>
        </p:nvSpPr>
        <p:spPr>
          <a:xfrm>
            <a:off x="6455664" y="1856231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oauth2Login 설정 + successHandler 연결로 소셜 로그인 완성</a:t>
            </a:r>
            <a:endParaRPr/>
          </a:p>
        </p:txBody>
      </p:sp>
      <p:sp>
        <p:nvSpPr>
          <p:cNvPr id="526" name="Google Shape;526;p9"/>
          <p:cNvSpPr/>
          <p:nvPr/>
        </p:nvSpPr>
        <p:spPr>
          <a:xfrm>
            <a:off x="6291072" y="2130552"/>
            <a:ext cx="5486400" cy="1865376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9"/>
          <p:cNvSpPr/>
          <p:nvPr/>
        </p:nvSpPr>
        <p:spPr>
          <a:xfrm>
            <a:off x="6291072" y="2130552"/>
            <a:ext cx="5486400" cy="9144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9"/>
          <p:cNvSpPr txBox="1"/>
          <p:nvPr/>
        </p:nvSpPr>
        <p:spPr>
          <a:xfrm>
            <a:off x="6455664" y="2240280"/>
            <a:ext cx="5212080" cy="1682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return http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.csrf(csrf -&gt; csrf.disable())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.sessionManagement(s -&gt; s.sessionCreationPolicy(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SessionCreationPolicy.STATELESS))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.authorizeHttpRequests(auth -&gt; auth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      .requestMatchers("/api/oauth2/**").permitAll()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.anyRequest().authenticated())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9DCEB"/>
                </a:solidFill>
                <a:latin typeface="Calibri"/>
                <a:ea typeface="Calibri"/>
                <a:cs typeface="Calibri"/>
                <a:sym typeface="Calibri"/>
              </a:rPr>
              <a:t>  .oauth2Login(oauth2 -&gt; oauth2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9DCEB"/>
                </a:solidFill>
                <a:latin typeface="Calibri"/>
                <a:ea typeface="Calibri"/>
                <a:cs typeface="Calibri"/>
                <a:sym typeface="Calibri"/>
              </a:rPr>
              <a:t>      .successHandler(oAuth2SuccessHandler))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.addFilterBefore(jwtAuthFilter,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UsernamePasswordAuthenticationFilter.class)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.build();</a:t>
            </a:r>
            <a:endParaRPr/>
          </a:p>
        </p:txBody>
      </p:sp>
      <p:sp>
        <p:nvSpPr>
          <p:cNvPr id="529" name="Google Shape;529;p9"/>
          <p:cNvSpPr/>
          <p:nvPr/>
        </p:nvSpPr>
        <p:spPr>
          <a:xfrm>
            <a:off x="411480" y="4160520"/>
            <a:ext cx="5486400" cy="2450592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9"/>
          <p:cNvSpPr/>
          <p:nvPr/>
        </p:nvSpPr>
        <p:spPr>
          <a:xfrm>
            <a:off x="411480" y="4160520"/>
            <a:ext cx="5486400" cy="320040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9"/>
          <p:cNvSpPr txBox="1"/>
          <p:nvPr/>
        </p:nvSpPr>
        <p:spPr>
          <a:xfrm>
            <a:off x="576072" y="4197096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③ @PreAuthorize — 메서드 레벨 인가</a:t>
            </a:r>
            <a:endParaRPr/>
          </a:p>
        </p:txBody>
      </p:sp>
      <p:sp>
        <p:nvSpPr>
          <p:cNvPr id="532" name="Google Shape;532;p9"/>
          <p:cNvSpPr txBox="1"/>
          <p:nvPr/>
        </p:nvSpPr>
        <p:spPr>
          <a:xfrm>
            <a:off x="576072" y="4507992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@EnableMethodSecurity 활성화 후 각 API에 권한 조건을 선언적으로 지정</a:t>
            </a:r>
            <a:endParaRPr/>
          </a:p>
        </p:txBody>
      </p:sp>
      <p:sp>
        <p:nvSpPr>
          <p:cNvPr id="533" name="Google Shape;533;p9"/>
          <p:cNvSpPr/>
          <p:nvPr/>
        </p:nvSpPr>
        <p:spPr>
          <a:xfrm>
            <a:off x="411480" y="4782312"/>
            <a:ext cx="5486400" cy="1828800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9"/>
          <p:cNvSpPr/>
          <p:nvPr/>
        </p:nvSpPr>
        <p:spPr>
          <a:xfrm>
            <a:off x="411480" y="4782312"/>
            <a:ext cx="5486400" cy="9144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9"/>
          <p:cNvSpPr txBox="1"/>
          <p:nvPr/>
        </p:nvSpPr>
        <p:spPr>
          <a:xfrm>
            <a:off x="576072" y="4892040"/>
            <a:ext cx="52120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// 관리자만 호출 가능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9DCEB"/>
                </a:solidFill>
                <a:latin typeface="Calibri"/>
                <a:ea typeface="Calibri"/>
                <a:cs typeface="Calibri"/>
                <a:sym typeface="Calibri"/>
              </a:rPr>
              <a:t>@PreAuthorize("hasRole('ADMIN')")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9DCEB"/>
                </a:solidFill>
                <a:latin typeface="Calibri"/>
                <a:ea typeface="Calibri"/>
                <a:cs typeface="Calibri"/>
                <a:sym typeface="Calibri"/>
              </a:rPr>
              <a:t>@GetMapping("/api/admin/users")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public List&lt;User&gt; getAllUsers()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return userService.findAll();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CDD6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// 본인 데이터만 조회 가능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9DCEB"/>
                </a:solidFill>
                <a:latin typeface="Calibri"/>
                <a:ea typeface="Calibri"/>
                <a:cs typeface="Calibri"/>
                <a:sym typeface="Calibri"/>
              </a:rPr>
              <a:t>@PreAuthorize("#userId == authentication.name")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9DCEB"/>
                </a:solidFill>
                <a:latin typeface="Calibri"/>
                <a:ea typeface="Calibri"/>
                <a:cs typeface="Calibri"/>
                <a:sym typeface="Calibri"/>
              </a:rPr>
              <a:t>@GetMapping("/api/users/{userId}")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public User getUser(@PathVariable Long userId)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return userService.findById(userId);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sp>
        <p:nvSpPr>
          <p:cNvPr id="536" name="Google Shape;536;p9"/>
          <p:cNvSpPr/>
          <p:nvPr/>
        </p:nvSpPr>
        <p:spPr>
          <a:xfrm>
            <a:off x="6291072" y="4160520"/>
            <a:ext cx="5486400" cy="2450592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9"/>
          <p:cNvSpPr/>
          <p:nvPr/>
        </p:nvSpPr>
        <p:spPr>
          <a:xfrm>
            <a:off x="6291072" y="4160520"/>
            <a:ext cx="5486400" cy="320040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9"/>
          <p:cNvSpPr txBox="1"/>
          <p:nvPr/>
        </p:nvSpPr>
        <p:spPr>
          <a:xfrm>
            <a:off x="6455664" y="4197096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④ 401 / 403 예외 처리</a:t>
            </a:r>
            <a:endParaRPr/>
          </a:p>
        </p:txBody>
      </p:sp>
      <p:sp>
        <p:nvSpPr>
          <p:cNvPr id="539" name="Google Shape;539;p9"/>
          <p:cNvSpPr txBox="1"/>
          <p:nvPr/>
        </p:nvSpPr>
        <p:spPr>
          <a:xfrm>
            <a:off x="6455664" y="4507992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인증 실패(401)와 권한 부족(403)을 커스텀 응답으로 처리</a:t>
            </a:r>
            <a:endParaRPr/>
          </a:p>
        </p:txBody>
      </p:sp>
      <p:sp>
        <p:nvSpPr>
          <p:cNvPr id="540" name="Google Shape;540;p9"/>
          <p:cNvSpPr/>
          <p:nvPr/>
        </p:nvSpPr>
        <p:spPr>
          <a:xfrm>
            <a:off x="6291072" y="4782312"/>
            <a:ext cx="5486400" cy="1828800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9"/>
          <p:cNvSpPr/>
          <p:nvPr/>
        </p:nvSpPr>
        <p:spPr>
          <a:xfrm>
            <a:off x="6291072" y="4782312"/>
            <a:ext cx="5486400" cy="9144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9"/>
          <p:cNvSpPr txBox="1"/>
          <p:nvPr/>
        </p:nvSpPr>
        <p:spPr>
          <a:xfrm>
            <a:off x="6455664" y="4892040"/>
            <a:ext cx="52120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http.exceptionHandling(ex -&gt; ex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  // 401: 토큰 없음 / 만료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.authenticationEntryPoint((req, res, e) -&gt;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res.setStatus(401);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res.getWriter().write("Unauthorized");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})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  // 403: 권한 부족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.accessDeniedHandler((req, res, e) -&gt;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res.setStatus(403);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res.getWriter().write("Forbidden");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})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C3FC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0"/>
          <p:cNvSpPr txBox="1"/>
          <p:nvPr/>
        </p:nvSpPr>
        <p:spPr>
          <a:xfrm>
            <a:off x="640080" y="292608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핵심 정리</a:t>
            </a:r>
            <a:endParaRPr/>
          </a:p>
        </p:txBody>
      </p:sp>
      <p:sp>
        <p:nvSpPr>
          <p:cNvPr id="551" name="Google Shape;551;p10"/>
          <p:cNvSpPr/>
          <p:nvPr/>
        </p:nvSpPr>
        <p:spPr>
          <a:xfrm>
            <a:off x="640080" y="969264"/>
            <a:ext cx="6400800" cy="64008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0"/>
          <p:cNvSpPr/>
          <p:nvPr/>
        </p:nvSpPr>
        <p:spPr>
          <a:xfrm>
            <a:off x="347472" y="1170432"/>
            <a:ext cx="2176272" cy="4919472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0"/>
          <p:cNvSpPr/>
          <p:nvPr/>
        </p:nvSpPr>
        <p:spPr>
          <a:xfrm>
            <a:off x="347472" y="1170432"/>
            <a:ext cx="2176272" cy="420624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0"/>
          <p:cNvSpPr/>
          <p:nvPr/>
        </p:nvSpPr>
        <p:spPr>
          <a:xfrm>
            <a:off x="347472" y="1170432"/>
            <a:ext cx="91440" cy="420624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0"/>
          <p:cNvSpPr txBox="1"/>
          <p:nvPr/>
        </p:nvSpPr>
        <p:spPr>
          <a:xfrm>
            <a:off x="512064" y="1197864"/>
            <a:ext cx="1938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🔑 인증 / 인가</a:t>
            </a:r>
            <a:endParaRPr/>
          </a:p>
        </p:txBody>
      </p:sp>
      <p:sp>
        <p:nvSpPr>
          <p:cNvPr id="556" name="Google Shape;556;p10"/>
          <p:cNvSpPr/>
          <p:nvPr/>
        </p:nvSpPr>
        <p:spPr>
          <a:xfrm>
            <a:off x="512064" y="1764792"/>
            <a:ext cx="73152" cy="73152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0"/>
          <p:cNvSpPr txBox="1"/>
          <p:nvPr/>
        </p:nvSpPr>
        <p:spPr>
          <a:xfrm>
            <a:off x="658368" y="1691640"/>
            <a:ext cx="17556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인증: '나는 누구인가?' — 신원 확인</a:t>
            </a:r>
            <a:endParaRPr/>
          </a:p>
        </p:txBody>
      </p:sp>
      <p:sp>
        <p:nvSpPr>
          <p:cNvPr id="558" name="Google Shape;558;p10"/>
          <p:cNvSpPr/>
          <p:nvPr/>
        </p:nvSpPr>
        <p:spPr>
          <a:xfrm>
            <a:off x="512064" y="2907791"/>
            <a:ext cx="73152" cy="73152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0"/>
          <p:cNvSpPr txBox="1"/>
          <p:nvPr/>
        </p:nvSpPr>
        <p:spPr>
          <a:xfrm>
            <a:off x="658368" y="2834640"/>
            <a:ext cx="17556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인가: '무엇을 할 수 있나?' — 권한 확인</a:t>
            </a:r>
            <a:endParaRPr/>
          </a:p>
        </p:txBody>
      </p:sp>
      <p:sp>
        <p:nvSpPr>
          <p:cNvPr id="560" name="Google Shape;560;p10"/>
          <p:cNvSpPr/>
          <p:nvPr/>
        </p:nvSpPr>
        <p:spPr>
          <a:xfrm>
            <a:off x="512064" y="4050791"/>
            <a:ext cx="73152" cy="73152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0"/>
          <p:cNvSpPr txBox="1"/>
          <p:nvPr/>
        </p:nvSpPr>
        <p:spPr>
          <a:xfrm>
            <a:off x="658368" y="3977639"/>
            <a:ext cx="17556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순서: 인증 완료 → 인가 결정</a:t>
            </a:r>
            <a:endParaRPr/>
          </a:p>
        </p:txBody>
      </p:sp>
      <p:sp>
        <p:nvSpPr>
          <p:cNvPr id="562" name="Google Shape;562;p10"/>
          <p:cNvSpPr/>
          <p:nvPr/>
        </p:nvSpPr>
        <p:spPr>
          <a:xfrm>
            <a:off x="2651760" y="1170432"/>
            <a:ext cx="2176272" cy="4919472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0"/>
          <p:cNvSpPr/>
          <p:nvPr/>
        </p:nvSpPr>
        <p:spPr>
          <a:xfrm>
            <a:off x="2651760" y="1170432"/>
            <a:ext cx="2176272" cy="420624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0"/>
          <p:cNvSpPr/>
          <p:nvPr/>
        </p:nvSpPr>
        <p:spPr>
          <a:xfrm>
            <a:off x="2651760" y="1170432"/>
            <a:ext cx="91440" cy="420624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0"/>
          <p:cNvSpPr txBox="1"/>
          <p:nvPr/>
        </p:nvSpPr>
        <p:spPr>
          <a:xfrm>
            <a:off x="2816352" y="1197864"/>
            <a:ext cx="1938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🎫 JWT</a:t>
            </a:r>
            <a:endParaRPr/>
          </a:p>
        </p:txBody>
      </p:sp>
      <p:sp>
        <p:nvSpPr>
          <p:cNvPr id="566" name="Google Shape;566;p10"/>
          <p:cNvSpPr/>
          <p:nvPr/>
        </p:nvSpPr>
        <p:spPr>
          <a:xfrm>
            <a:off x="2816352" y="1764792"/>
            <a:ext cx="73152" cy="73152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0"/>
          <p:cNvSpPr txBox="1"/>
          <p:nvPr/>
        </p:nvSpPr>
        <p:spPr>
          <a:xfrm>
            <a:off x="2962656" y="1691640"/>
            <a:ext cx="17556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Stateless 토큰 — DB 조회 없이 서명 검증</a:t>
            </a:r>
            <a:endParaRPr/>
          </a:p>
        </p:txBody>
      </p:sp>
      <p:sp>
        <p:nvSpPr>
          <p:cNvPr id="568" name="Google Shape;568;p10"/>
          <p:cNvSpPr/>
          <p:nvPr/>
        </p:nvSpPr>
        <p:spPr>
          <a:xfrm>
            <a:off x="2816352" y="2907791"/>
            <a:ext cx="73152" cy="73152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0"/>
          <p:cNvSpPr txBox="1"/>
          <p:nvPr/>
        </p:nvSpPr>
        <p:spPr>
          <a:xfrm>
            <a:off x="2962656" y="2834640"/>
            <a:ext cx="17556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MSA·모바일·API 서버에 최적</a:t>
            </a:r>
            <a:endParaRPr/>
          </a:p>
        </p:txBody>
      </p:sp>
      <p:sp>
        <p:nvSpPr>
          <p:cNvPr id="570" name="Google Shape;570;p10"/>
          <p:cNvSpPr/>
          <p:nvPr/>
        </p:nvSpPr>
        <p:spPr>
          <a:xfrm>
            <a:off x="2816352" y="4050791"/>
            <a:ext cx="73152" cy="73152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0"/>
          <p:cNvSpPr txBox="1"/>
          <p:nvPr/>
        </p:nvSpPr>
        <p:spPr>
          <a:xfrm>
            <a:off x="2962656" y="3977639"/>
            <a:ext cx="17556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짧은 만료시간으로 탈취 위험 최소화</a:t>
            </a:r>
            <a:endParaRPr/>
          </a:p>
        </p:txBody>
      </p:sp>
      <p:sp>
        <p:nvSpPr>
          <p:cNvPr id="572" name="Google Shape;572;p10"/>
          <p:cNvSpPr/>
          <p:nvPr/>
        </p:nvSpPr>
        <p:spPr>
          <a:xfrm>
            <a:off x="4956048" y="1170432"/>
            <a:ext cx="2176272" cy="4919472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0"/>
          <p:cNvSpPr/>
          <p:nvPr/>
        </p:nvSpPr>
        <p:spPr>
          <a:xfrm>
            <a:off x="4956048" y="1170432"/>
            <a:ext cx="2176272" cy="420624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0"/>
          <p:cNvSpPr/>
          <p:nvPr/>
        </p:nvSpPr>
        <p:spPr>
          <a:xfrm>
            <a:off x="4956048" y="1170432"/>
            <a:ext cx="91440" cy="420624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0"/>
          <p:cNvSpPr txBox="1"/>
          <p:nvPr/>
        </p:nvSpPr>
        <p:spPr>
          <a:xfrm>
            <a:off x="5120640" y="1197864"/>
            <a:ext cx="1938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🔄 세션 vs JWT</a:t>
            </a:r>
            <a:endParaRPr/>
          </a:p>
        </p:txBody>
      </p:sp>
      <p:sp>
        <p:nvSpPr>
          <p:cNvPr id="576" name="Google Shape;576;p10"/>
          <p:cNvSpPr/>
          <p:nvPr/>
        </p:nvSpPr>
        <p:spPr>
          <a:xfrm>
            <a:off x="5120640" y="1764792"/>
            <a:ext cx="73152" cy="73152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0"/>
          <p:cNvSpPr txBox="1"/>
          <p:nvPr/>
        </p:nvSpPr>
        <p:spPr>
          <a:xfrm>
            <a:off x="5266944" y="1691640"/>
            <a:ext cx="17556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세션: 즉시 무효화 가능, 서버 부하 있음</a:t>
            </a:r>
            <a:endParaRPr/>
          </a:p>
        </p:txBody>
      </p:sp>
      <p:sp>
        <p:nvSpPr>
          <p:cNvPr id="578" name="Google Shape;578;p10"/>
          <p:cNvSpPr/>
          <p:nvPr/>
        </p:nvSpPr>
        <p:spPr>
          <a:xfrm>
            <a:off x="5120640" y="2907791"/>
            <a:ext cx="73152" cy="73152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0"/>
          <p:cNvSpPr txBox="1"/>
          <p:nvPr/>
        </p:nvSpPr>
        <p:spPr>
          <a:xfrm>
            <a:off x="5266944" y="2834640"/>
            <a:ext cx="17556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JWT: 확장 용이, 탈취 시 만료까지 유효</a:t>
            </a:r>
            <a:endParaRPr/>
          </a:p>
        </p:txBody>
      </p:sp>
      <p:sp>
        <p:nvSpPr>
          <p:cNvPr id="580" name="Google Shape;580;p10"/>
          <p:cNvSpPr/>
          <p:nvPr/>
        </p:nvSpPr>
        <p:spPr>
          <a:xfrm>
            <a:off x="5120640" y="4050791"/>
            <a:ext cx="73152" cy="73152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0"/>
          <p:cNvSpPr txBox="1"/>
          <p:nvPr/>
        </p:nvSpPr>
        <p:spPr>
          <a:xfrm>
            <a:off x="5266944" y="3977639"/>
            <a:ext cx="17556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서비스 특성에 따라 선택 또는 혼용</a:t>
            </a:r>
            <a:endParaRPr/>
          </a:p>
        </p:txBody>
      </p:sp>
      <p:sp>
        <p:nvSpPr>
          <p:cNvPr id="582" name="Google Shape;582;p10"/>
          <p:cNvSpPr/>
          <p:nvPr/>
        </p:nvSpPr>
        <p:spPr>
          <a:xfrm>
            <a:off x="7260336" y="1170432"/>
            <a:ext cx="2176272" cy="4919472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0"/>
          <p:cNvSpPr/>
          <p:nvPr/>
        </p:nvSpPr>
        <p:spPr>
          <a:xfrm>
            <a:off x="7260336" y="1170432"/>
            <a:ext cx="2176272" cy="420624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0"/>
          <p:cNvSpPr/>
          <p:nvPr/>
        </p:nvSpPr>
        <p:spPr>
          <a:xfrm>
            <a:off x="7260336" y="1170432"/>
            <a:ext cx="91440" cy="420624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0"/>
          <p:cNvSpPr txBox="1"/>
          <p:nvPr/>
        </p:nvSpPr>
        <p:spPr>
          <a:xfrm>
            <a:off x="7424928" y="1197864"/>
            <a:ext cx="1938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🔗 OAuth 2.0</a:t>
            </a:r>
            <a:endParaRPr/>
          </a:p>
        </p:txBody>
      </p:sp>
      <p:sp>
        <p:nvSpPr>
          <p:cNvPr id="586" name="Google Shape;586;p10"/>
          <p:cNvSpPr/>
          <p:nvPr/>
        </p:nvSpPr>
        <p:spPr>
          <a:xfrm>
            <a:off x="7424928" y="1764792"/>
            <a:ext cx="73152" cy="73152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0"/>
          <p:cNvSpPr txBox="1"/>
          <p:nvPr/>
        </p:nvSpPr>
        <p:spPr>
          <a:xfrm>
            <a:off x="7571232" y="1691640"/>
            <a:ext cx="17556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소셜 로그인 표준 — 비밀번호 저장 불필요</a:t>
            </a:r>
            <a:endParaRPr/>
          </a:p>
        </p:txBody>
      </p:sp>
      <p:sp>
        <p:nvSpPr>
          <p:cNvPr id="588" name="Google Shape;588;p10"/>
          <p:cNvSpPr/>
          <p:nvPr/>
        </p:nvSpPr>
        <p:spPr>
          <a:xfrm>
            <a:off x="7424928" y="2907791"/>
            <a:ext cx="73152" cy="73152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0"/>
          <p:cNvSpPr txBox="1"/>
          <p:nvPr/>
        </p:nvSpPr>
        <p:spPr>
          <a:xfrm>
            <a:off x="7571232" y="2834640"/>
            <a:ext cx="17556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Authorization Code Flow 6단계</a:t>
            </a:r>
            <a:endParaRPr/>
          </a:p>
        </p:txBody>
      </p:sp>
      <p:sp>
        <p:nvSpPr>
          <p:cNvPr id="590" name="Google Shape;590;p10"/>
          <p:cNvSpPr/>
          <p:nvPr/>
        </p:nvSpPr>
        <p:spPr>
          <a:xfrm>
            <a:off x="7424928" y="4050791"/>
            <a:ext cx="73152" cy="73152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0"/>
          <p:cNvSpPr txBox="1"/>
          <p:nvPr/>
        </p:nvSpPr>
        <p:spPr>
          <a:xfrm>
            <a:off x="7571232" y="3977639"/>
            <a:ext cx="17556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카카오·네이버·구글 공통 흐름</a:t>
            </a:r>
            <a:endParaRPr/>
          </a:p>
        </p:txBody>
      </p:sp>
      <p:sp>
        <p:nvSpPr>
          <p:cNvPr id="592" name="Google Shape;592;p10"/>
          <p:cNvSpPr/>
          <p:nvPr/>
        </p:nvSpPr>
        <p:spPr>
          <a:xfrm>
            <a:off x="9564624" y="1170432"/>
            <a:ext cx="2176272" cy="4919472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0"/>
          <p:cNvSpPr/>
          <p:nvPr/>
        </p:nvSpPr>
        <p:spPr>
          <a:xfrm>
            <a:off x="9564624" y="1170432"/>
            <a:ext cx="2176272" cy="420624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0"/>
          <p:cNvSpPr/>
          <p:nvPr/>
        </p:nvSpPr>
        <p:spPr>
          <a:xfrm>
            <a:off x="9564624" y="1170432"/>
            <a:ext cx="91440" cy="420624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0"/>
          <p:cNvSpPr txBox="1"/>
          <p:nvPr/>
        </p:nvSpPr>
        <p:spPr>
          <a:xfrm>
            <a:off x="9729216" y="1197864"/>
            <a:ext cx="1938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🌿 Spring Security</a:t>
            </a:r>
            <a:endParaRPr/>
          </a:p>
        </p:txBody>
      </p:sp>
      <p:sp>
        <p:nvSpPr>
          <p:cNvPr id="596" name="Google Shape;596;p10"/>
          <p:cNvSpPr/>
          <p:nvPr/>
        </p:nvSpPr>
        <p:spPr>
          <a:xfrm>
            <a:off x="9729216" y="1764792"/>
            <a:ext cx="73152" cy="73152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0"/>
          <p:cNvSpPr txBox="1"/>
          <p:nvPr/>
        </p:nvSpPr>
        <p:spPr>
          <a:xfrm>
            <a:off x="9875520" y="1691640"/>
            <a:ext cx="17556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Filter Chain으로 Controller 전 보안 처리</a:t>
            </a:r>
            <a:endParaRPr/>
          </a:p>
        </p:txBody>
      </p:sp>
      <p:sp>
        <p:nvSpPr>
          <p:cNvPr id="598" name="Google Shape;598;p10"/>
          <p:cNvSpPr/>
          <p:nvPr/>
        </p:nvSpPr>
        <p:spPr>
          <a:xfrm>
            <a:off x="9729216" y="2907791"/>
            <a:ext cx="73152" cy="73152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0"/>
          <p:cNvSpPr txBox="1"/>
          <p:nvPr/>
        </p:nvSpPr>
        <p:spPr>
          <a:xfrm>
            <a:off x="9875520" y="2834640"/>
            <a:ext cx="17556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JWT: JwtAuthFilter + SecurityFilterChain</a:t>
            </a:r>
            <a:endParaRPr/>
          </a:p>
        </p:txBody>
      </p:sp>
      <p:sp>
        <p:nvSpPr>
          <p:cNvPr id="600" name="Google Shape;600;p10"/>
          <p:cNvSpPr/>
          <p:nvPr/>
        </p:nvSpPr>
        <p:spPr>
          <a:xfrm>
            <a:off x="9729216" y="4050791"/>
            <a:ext cx="73152" cy="73152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0"/>
          <p:cNvSpPr txBox="1"/>
          <p:nvPr/>
        </p:nvSpPr>
        <p:spPr>
          <a:xfrm>
            <a:off x="9875520" y="3977639"/>
            <a:ext cx="17556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@PreAuthorize로 메서드 레벨 인가 선언</a:t>
            </a:r>
            <a:endParaRPr/>
          </a:p>
        </p:txBody>
      </p:sp>
      <p:sp>
        <p:nvSpPr>
          <p:cNvPr id="602" name="Google Shape;602;p10"/>
          <p:cNvSpPr txBox="1"/>
          <p:nvPr/>
        </p:nvSpPr>
        <p:spPr>
          <a:xfrm>
            <a:off x="640080" y="6336792"/>
            <a:ext cx="11430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감사합니다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