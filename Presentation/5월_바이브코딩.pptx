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Poppins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AAF4CE-4674-4903-92A2-FEECAB3AD54E}">
  <a:tblStyle styleId="{28AAF4CE-4674-4903-92A2-FEECAB3AD54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46.png"/><Relationship Id="rId5" Type="http://schemas.openxmlformats.org/officeDocument/2006/relationships/image" Target="../media/image19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42.png"/><Relationship Id="rId6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54.png"/><Relationship Id="rId5" Type="http://schemas.openxmlformats.org/officeDocument/2006/relationships/image" Target="../media/image35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Relationship Id="rId7" Type="http://schemas.openxmlformats.org/officeDocument/2006/relationships/image" Target="../media/image50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332982"/>
            <a:ext cx="10668000" cy="75426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762000" y="1770757"/>
            <a:ext cx="1428750" cy="95250"/>
          </a:xfrm>
          <a:prstGeom prst="roundRect">
            <a:avLst>
              <a:gd fmla="val 50000" name="adj"/>
            </a:avLst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95300" y="2151757"/>
            <a:ext cx="11201400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0"/>
              <a:buFont typeface="Arial"/>
              <a:buNone/>
            </a:pPr>
            <a:r>
              <a:rPr b="1" i="0" lang="en-US" sz="82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바이브코딩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33500" y="4523482"/>
            <a:ext cx="9525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발표자: 설정훈 과장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1200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03116"/>
            <a:ext cx="5095875" cy="124375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1981200"/>
            <a:ext cx="53506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의도(Vibe)가 결과가 되는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2457450"/>
            <a:ext cx="509587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바이브코딩은 AI에게 자연어로 비즈니스 의도를 전달하고, AI가 아키텍처와 로직을 자율 생성하는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사용자 중심의 고속 개발 방식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90725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57275" y="3741241"/>
            <a:ext cx="45624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"The hottest new programming language is English."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57275" y="4295477"/>
            <a:ext cx="45624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 Andrej Karpathy (Andrej Karpathy)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바이브코딩의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41414"/>
            <a:ext cx="5095875" cy="228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41414"/>
            <a:ext cx="5095875" cy="228957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047750" y="3074789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전통적 &amp; AI 보조 개발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715125" y="3027164"/>
            <a:ext cx="465058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바이브 코딩 (Agentic)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62075" y="3625334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428750" y="3627239"/>
            <a:ext cx="4143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Manual: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언어 문법 및 라이브러리 디테일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362075" y="3878639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428750" y="3880544"/>
            <a:ext cx="4143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Copilot을 통한 부분적 자동 완성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362075" y="4131945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428750" y="4133850"/>
            <a:ext cx="4143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Focus: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'How to Code' (구현 디테일)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029450" y="3577709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096125" y="3579614"/>
            <a:ext cx="404812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Autonomous:</a:t>
            </a:r>
            <a:r>
              <a:rPr b="0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의도 전달 → AI 프로젝트 자율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029450" y="408432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096125" y="4086225"/>
            <a:ext cx="404812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Agency:</a:t>
            </a:r>
            <a:r>
              <a:rPr b="0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터미널 제어 및 자율 디버깅 루프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029450" y="4337625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7096125" y="4339530"/>
            <a:ext cx="404812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Focus:</a:t>
            </a:r>
            <a:r>
              <a:rPr b="0" i="0" lang="en-US" sz="14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'What to Build' (비즈니스 가치)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개발 패러다임의 변화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1200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1981200"/>
            <a:ext cx="53506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단순 제안을 넘어선 '행동'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2457450"/>
            <a:ext cx="509587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Claude Code는 웹 채팅창에 갇힌 AI가 아닙니다. 개발자의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로컬 환경과 터미널에 직접 접근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하여 명령을 수행하는 진정한 에이전트입니다.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90725"/>
            <a:ext cx="334342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3455491"/>
            <a:ext cx="5095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60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시스템 자율성: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직접 명령 실행 및 환경 구축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3851671"/>
            <a:ext cx="5095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60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전역 이해도: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프로젝트 전체 의존성 파악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4247852"/>
            <a:ext cx="5095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60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완결형 디버깅: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스스로 수정하고 다시 시도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469778"/>
            <a:ext cx="140791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865959"/>
            <a:ext cx="140791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262139"/>
            <a:ext cx="140791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Claude Code: 자율형 에이전트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44748" y="419101"/>
            <a:ext cx="6286500" cy="62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91841"/>
            <a:ext cx="3365450" cy="2588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591841"/>
            <a:ext cx="3365450" cy="2588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91841"/>
            <a:ext cx="3365450" cy="258871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047750" y="3544341"/>
            <a:ext cx="29336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최고의 실행력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047750" y="4020591"/>
            <a:ext cx="27939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아이디어를 실제 실행 가능한 코드로 바꾸는 속도가 타 도구 대비 압도적입니다.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4698950" y="3544341"/>
            <a:ext cx="29336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신뢰성 있는 추론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4698950" y="4020591"/>
            <a:ext cx="27939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Claude 3.5 Sonnet 모델의 정교한 추론 능력을 바탕으로 버그를 최소화합니다.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8350150" y="3544341"/>
            <a:ext cx="29336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개발 친화적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350150" y="4020591"/>
            <a:ext cx="27939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웹 브라우저를 벗어나 터미널 안에서 모든 개발 라이프사이클을 완결합니다.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2953791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0150" y="2953791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왜 Claude Code인가?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14775"/>
            <a:ext cx="5095875" cy="111606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2741414"/>
            <a:ext cx="53506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간편한 설치 및 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3217664"/>
            <a:ext cx="50958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npm을 통해 설치하고 프로젝트 폴더에서 바로 대화를 시작합니다.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6715125" y="3122414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최초 권한 승인: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파일 수정 및 터미널 접근 권한 부여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715125" y="3518594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프로젝트 분석: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실행 시 폴더 전체 구조 자동 인덱싱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715125" y="3914775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자연어 명령: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한글/영어로 자유롭게 명령 하달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141464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537644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933825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Claude Code 사용 가이드: 시작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68934"/>
            <a:ext cx="5095875" cy="2434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68934"/>
            <a:ext cx="5095875" cy="2434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4128045"/>
            <a:ext cx="4524375" cy="689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1047750" y="3002309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"먼저 생각하고 설계하라"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047750" y="3478559"/>
            <a:ext cx="45243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복잡한 변경 사항을 적용하기 전, AI가 논리적인 설계안을 먼저 도출하도록 유도하는 단계입니다.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6619875" y="3002309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단계별 로드맵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619875" y="3478559"/>
            <a:ext cx="4524375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직접 코드를 고치기 전, 파일 간의 의존성 변화를 시뮬레이션하고 큰 작업을 작은 유닛으로 쪼개어 실행 순서를 제안받습니다.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사용 가이드: Plan 모드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12789"/>
            <a:ext cx="5095875" cy="1478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81450"/>
            <a:ext cx="5095875" cy="1478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486150"/>
            <a:ext cx="5095875" cy="111606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334125" y="2312789"/>
            <a:ext cx="53506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"실행까지 책임지는 에이전트"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334125" y="2789039"/>
            <a:ext cx="50958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설계가 끝나면 실제 파일 시스템에 변경을 가하고 무결성을 확인합니다.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028700" y="2503289"/>
            <a:ext cx="487060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제안 수락 및 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028700" y="2979539"/>
            <a:ext cx="46386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AI가 제안한 수정 사항(Diff)을 검토하고 'y'를 눌러 즉시 적용합니다.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028700" y="4171950"/>
            <a:ext cx="487060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자율 반복 (Autonomous Loop)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028700" y="4648200"/>
            <a:ext cx="46386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파일 수정 후 빌드/테스트를 수행하고 결과에 따라 재수정합니다.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사용 가이드: Accept Edits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21"/>
          <p:cNvGraphicFramePr/>
          <p:nvPr/>
        </p:nvGraphicFramePr>
        <p:xfrm>
          <a:off x="762000" y="24604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{28AAF4CE-4674-4903-92A2-FEECAB3AD54E}</a:tableStyleId>
              </a:tblPr>
              <a:tblGrid>
                <a:gridCol w="2680400"/>
                <a:gridCol w="4056450"/>
                <a:gridCol w="3931150"/>
              </a:tblGrid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주요 명령어/기능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역할 및 효과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사용 예시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D4D"/>
                    </a:solidFill>
                  </a:tcPr>
                </a:tc>
              </a:tr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승인 절차 (Approval)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위험한 명령 전 인간의 최종 승인 대기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"이 명령을 실행하시겠습니까? (y/n)"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자동 모드 (Auto-Mode)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단순 반복 작업 시 연속 수행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/auto "전체 파일 컨벤션 수정"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도구 연동 (Tool Use)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grep, find, git 등 자율 조합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"특정 에러가 포함된 파일 다 찾아줘"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중단 (Interrupt)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잘못된 방향일 때 즉시 정지 및 개입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Ctrl + C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1"/>
          <p:cNvSpPr/>
          <p:nvPr/>
        </p:nvSpPr>
        <p:spPr>
          <a:xfrm>
            <a:off x="762000" y="3027164"/>
            <a:ext cx="2680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442394" y="3027164"/>
            <a:ext cx="405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498853" y="3027164"/>
            <a:ext cx="3931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762000" y="3594794"/>
            <a:ext cx="2680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3442394" y="3594794"/>
            <a:ext cx="405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7498853" y="3594794"/>
            <a:ext cx="3931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762000" y="4162425"/>
            <a:ext cx="2680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442394" y="4162425"/>
            <a:ext cx="405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7498853" y="4162425"/>
            <a:ext cx="3931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762000" y="4730055"/>
            <a:ext cx="2680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3442394" y="4730055"/>
            <a:ext cx="405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7498853" y="4730055"/>
            <a:ext cx="3931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762000" y="5297685"/>
            <a:ext cx="2680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442394" y="5297685"/>
            <a:ext cx="4056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498853" y="5297685"/>
            <a:ext cx="39311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사용 가이드: 제어 및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762000" y="4874865"/>
            <a:ext cx="10668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SWE-bench Verified (2026.02), McKinsey Global AI Survey (2026.04)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1248072" y="2569815"/>
            <a:ext cx="2413099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BC00"/>
                </a:solidFill>
                <a:latin typeface="Lato"/>
                <a:ea typeface="Lato"/>
                <a:cs typeface="Lato"/>
                <a:sym typeface="Lato"/>
              </a:rPr>
              <a:t>10x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1248072" y="3998565"/>
            <a:ext cx="2413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프로토타이핑 속도 향상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633317" y="2588865"/>
            <a:ext cx="2669083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BC00"/>
                </a:solidFill>
                <a:latin typeface="Lato"/>
                <a:ea typeface="Lato"/>
                <a:cs typeface="Lato"/>
                <a:sym typeface="Lato"/>
              </a:rPr>
              <a:t>49%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4633317" y="4017615"/>
            <a:ext cx="266908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SWE-bench Verified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8274546" y="2569815"/>
            <a:ext cx="2669083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0"/>
              <a:buFont typeface="Arial"/>
              <a:buNone/>
            </a:pPr>
            <a:r>
              <a:rPr b="1" i="0" lang="en-US" sz="10500" u="none" cap="none" strike="noStrike">
                <a:solidFill>
                  <a:srgbClr val="FFBC00"/>
                </a:solidFill>
                <a:latin typeface="Lato"/>
                <a:ea typeface="Lato"/>
                <a:cs typeface="Lato"/>
                <a:sym typeface="Lato"/>
              </a:rPr>
              <a:t>70%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8274546" y="3998565"/>
            <a:ext cx="26690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D4D"/>
                </a:solidFill>
                <a:latin typeface="Lato"/>
                <a:ea typeface="Lato"/>
                <a:cs typeface="Lato"/>
                <a:sym typeface="Lato"/>
              </a:rPr>
              <a:t>디버깅 소요 시간 감소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생산성 및 성능 지표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/>
          <p:nvPr/>
        </p:nvSpPr>
        <p:spPr>
          <a:xfrm>
            <a:off x="762000" y="3556694"/>
            <a:ext cx="10668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1874490" y="346144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BC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700660" y="3832919"/>
            <a:ext cx="25762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1. 의도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762000" y="4309169"/>
            <a:ext cx="245358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무엇을 만들지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자연어로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612630" y="346144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BC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3438800" y="3832919"/>
            <a:ext cx="25762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2. 에이전트 위임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3500139" y="4309169"/>
            <a:ext cx="245358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Claude Code에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명령 하달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7350769" y="346144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BC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6176940" y="3832919"/>
            <a:ext cx="25762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3. 결과 검토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6238279" y="4309169"/>
            <a:ext cx="245358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실제 동작 및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코드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10088909" y="346144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BC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8915080" y="3832919"/>
            <a:ext cx="25762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4. 최종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8976419" y="4309169"/>
            <a:ext cx="245358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검증 및 테스트 후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빌드 완료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바이브 코딩 실전 워크플로우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1200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762000" y="1981200"/>
            <a:ext cx="53506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대시보드 구축: 3일 → 15분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762000" y="2457450"/>
            <a:ext cx="5095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"사용자 데이터 분석 보드를 React로 만들어줘. 다크모드 필수."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3" name="Google Shape;27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90725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1076325" y="2946975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1143000" y="2948880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프레임워크 세팅 및 라이브러리 자동 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1076325" y="320028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1143000" y="3202185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레이아웃 코딩 및 스타일링 자동화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1076325" y="3453586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1143000" y="3455491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엔지니어는 </a:t>
            </a: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의사결정과 컨펌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에만 집중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사례 1: 초고속 프로토타이핑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61505"/>
            <a:ext cx="5095875" cy="1693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81561"/>
            <a:ext cx="5095875" cy="13293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762000" y="2761505"/>
            <a:ext cx="53506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비즈니스 로직의 대화형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762000" y="3237755"/>
            <a:ext cx="5095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알고리즘 설계부터 API 연동까지 AI가 담당합니다.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7621339" y="3094880"/>
            <a:ext cx="2521446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"개발자는 생성된 로직의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비즈니스 적합성을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판단합니다."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사례 2: 복잡한 로직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1200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 txBox="1"/>
          <p:nvPr/>
        </p:nvSpPr>
        <p:spPr>
          <a:xfrm>
            <a:off x="762000" y="1981200"/>
            <a:ext cx="53506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스파게티 코드의 정화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762000" y="2457450"/>
            <a:ext cx="50958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수년 된 레거시 코드를 분석하여 최신 디자인 패턴으로 리팩토링합니다.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2" name="Google Shape;30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90725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1076325" y="3200280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1143000" y="3202185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의미 분석: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로직 구조 유지 및 가독성 향상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1076325" y="3453586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1143000" y="3455491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패턴 적용: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중복 로직 제거 및 모듈화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1076325" y="3706891"/>
            <a:ext cx="666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1143000" y="3708796"/>
            <a:ext cx="47148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검증 자동화: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리팩토링 직후 테스트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사례 3: 레거시 현대화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08844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708844"/>
            <a:ext cx="5095875" cy="208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81450"/>
            <a:ext cx="5095875" cy="208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718369"/>
            <a:ext cx="409158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1047750" y="2661344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오케스트레이터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1047750" y="3137594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 에이전트들의 방향을 설정하고 지휘하는 전략가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1047750" y="4933950"/>
            <a:ext cx="47505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검증 전문가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1047750" y="5410200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 산출물의 적합성을 판단하는 최종 승인권자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4" name="Google Shape;32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2070794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엔지니어의 변화된 역할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7" name="Google Shape;32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65125" y="1799700"/>
            <a:ext cx="5151600" cy="38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7"/>
          <p:cNvSpPr/>
          <p:nvPr/>
        </p:nvSpPr>
        <p:spPr>
          <a:xfrm>
            <a:off x="5798256" y="1104897"/>
            <a:ext cx="5095800" cy="134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27101"/>
            <a:ext cx="3365450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527101"/>
            <a:ext cx="3365450" cy="1969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27101"/>
            <a:ext cx="3365450" cy="196959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762000" y="4877692"/>
            <a:ext cx="10668000" cy="25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"발생 가능한 리스크는 '심화 엔지니어링' 기법으로 극복 가능합니다."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8"/>
          <p:cNvSpPr txBox="1"/>
          <p:nvPr/>
        </p:nvSpPr>
        <p:spPr>
          <a:xfrm>
            <a:off x="1047750" y="2860476"/>
            <a:ext cx="29336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보안 취약점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1047750" y="3336726"/>
            <a:ext cx="27939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AI는 보안 패치를 놓칠 수 있습니다. 보안 정적 분석 도구 병행이 필수적입니다.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8"/>
          <p:cNvSpPr txBox="1"/>
          <p:nvPr/>
        </p:nvSpPr>
        <p:spPr>
          <a:xfrm>
            <a:off x="4698950" y="2860476"/>
            <a:ext cx="29336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유지보수 난이도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4698950" y="3336726"/>
            <a:ext cx="27939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생성된 코드가 난해할 수 있습니다. 가독성 중심의 프롬프트 지시가 필요합니다.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8"/>
          <p:cNvSpPr txBox="1"/>
          <p:nvPr/>
        </p:nvSpPr>
        <p:spPr>
          <a:xfrm>
            <a:off x="8350150" y="2860476"/>
            <a:ext cx="293364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할루시네이션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8350150" y="3336726"/>
            <a:ext cx="2793950" cy="759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존재하지 않는 라이브러리 주의. 실행 기반 검증(Claude Code)으로 차단합니다.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8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리스크와 대응 전략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0" name="Google Shape;3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32880"/>
            <a:ext cx="5095875" cy="31066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50" y="3744366"/>
            <a:ext cx="4448175" cy="1409402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1123950" y="2618630"/>
            <a:ext cx="467058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AI에게 '맥락'을 설계하는 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1123950" y="3094880"/>
            <a:ext cx="44481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단순한 질문이 아닌 프로젝트의 '지도'를 제공하여 정확도를 높입니다.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6206728" y="3286125"/>
            <a:ext cx="5350668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"좋은 질문보다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좋은 맥락(Context)</a:t>
            </a: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이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 더 뛰어난 코드를 만듭니다."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9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심화: 컨텍스트 엔지니어링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1200"/>
            <a:ext cx="50958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06935"/>
            <a:ext cx="5095875" cy="159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0"/>
          <p:cNvSpPr txBox="1"/>
          <p:nvPr/>
        </p:nvSpPr>
        <p:spPr>
          <a:xfrm>
            <a:off x="762000" y="1981200"/>
            <a:ext cx="5350668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AI의 결과물을 가두는 '안전망'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0"/>
          <p:cNvSpPr txBox="1"/>
          <p:nvPr/>
        </p:nvSpPr>
        <p:spPr>
          <a:xfrm>
            <a:off x="762000" y="2457450"/>
            <a:ext cx="50958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AI가 테스트를 통과할 때까지 반복 수정하도록 검증 환경을 구축합니다.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7" name="Google Shape;36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90725"/>
            <a:ext cx="50768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0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심화: 하네스 엔지니어링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85900"/>
            <a:ext cx="10668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1"/>
          <p:cNvSpPr txBox="1"/>
          <p:nvPr/>
        </p:nvSpPr>
        <p:spPr>
          <a:xfrm>
            <a:off x="1047750" y="1971675"/>
            <a:ext cx="10096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07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바이브 코딩은 현실입니다: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아이디어를 즉시 결과물로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1047750" y="2482155"/>
            <a:ext cx="10096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07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Claude Code의 가치: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제안을 넘어선 '자율 실행'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1047750" y="2992635"/>
            <a:ext cx="10096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07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미래 경쟁력: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맥락(Context)과 안전망(Harness) 설계 능력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 txBox="1"/>
          <p:nvPr/>
        </p:nvSpPr>
        <p:spPr>
          <a:xfrm>
            <a:off x="1047750" y="3503116"/>
            <a:ext cx="10096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07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새로운 엔지니어: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코더에서 지휘하는 오케스트레이터로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0" name="Google Shape;38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2005012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2515492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025973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3536453"/>
            <a:ext cx="17784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1"/>
          <p:cNvSpPr txBox="1"/>
          <p:nvPr/>
        </p:nvSpPr>
        <p:spPr>
          <a:xfrm>
            <a:off x="952500" y="571500"/>
            <a:ext cx="110013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요약 및 결론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762000" y="571500"/>
            <a:ext cx="95250" cy="5334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D4D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0" name="Google Shape;3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2"/>
          <p:cNvSpPr txBox="1"/>
          <p:nvPr/>
        </p:nvSpPr>
        <p:spPr>
          <a:xfrm>
            <a:off x="495300" y="1889819"/>
            <a:ext cx="112014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FFBC0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5524500" y="3775769"/>
            <a:ext cx="1143000" cy="5715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2"/>
          <p:cNvSpPr txBox="1"/>
          <p:nvPr/>
        </p:nvSpPr>
        <p:spPr>
          <a:xfrm>
            <a:off x="762000" y="4213919"/>
            <a:ext cx="10668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 &amp;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3"/>
          <p:cNvSpPr/>
          <p:nvPr/>
        </p:nvSpPr>
        <p:spPr>
          <a:xfrm>
            <a:off x="762000" y="1538287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3"/>
          <p:cNvSpPr/>
          <p:nvPr/>
        </p:nvSpPr>
        <p:spPr>
          <a:xfrm>
            <a:off x="762000" y="2309812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3"/>
          <p:cNvSpPr/>
          <p:nvPr/>
        </p:nvSpPr>
        <p:spPr>
          <a:xfrm>
            <a:off x="762000" y="3081337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3"/>
          <p:cNvSpPr/>
          <p:nvPr/>
        </p:nvSpPr>
        <p:spPr>
          <a:xfrm>
            <a:off x="762000" y="3852862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3"/>
          <p:cNvSpPr/>
          <p:nvPr/>
        </p:nvSpPr>
        <p:spPr>
          <a:xfrm>
            <a:off x="762000" y="4624387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762000" y="230028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3"/>
          <p:cNvSpPr/>
          <p:nvPr/>
        </p:nvSpPr>
        <p:spPr>
          <a:xfrm>
            <a:off x="762000" y="230028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3"/>
          <p:cNvSpPr/>
          <p:nvPr/>
        </p:nvSpPr>
        <p:spPr>
          <a:xfrm>
            <a:off x="762000" y="30718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762000" y="30718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762000" y="384333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762000" y="384333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762000" y="46148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762000" y="461486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762000" y="538638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762000" y="538638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4" name="Google Shape;41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81162"/>
            <a:ext cx="76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3"/>
          <p:cNvSpPr txBox="1"/>
          <p:nvPr/>
        </p:nvSpPr>
        <p:spPr>
          <a:xfrm>
            <a:off x="1857375" y="1825972"/>
            <a:ext cx="95726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Holographic futuristic coding interface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6" name="Google Shape;41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452687"/>
            <a:ext cx="857250" cy="40570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3"/>
          <p:cNvSpPr txBox="1"/>
          <p:nvPr/>
        </p:nvSpPr>
        <p:spPr>
          <a:xfrm>
            <a:off x="1857375" y="2597497"/>
            <a:ext cx="95726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Claude Code CLI Terminal autonomous 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8" name="Google Shape;41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224212"/>
            <a:ext cx="76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3"/>
          <p:cNvSpPr txBox="1"/>
          <p:nvPr/>
        </p:nvSpPr>
        <p:spPr>
          <a:xfrm>
            <a:off x="1857375" y="3369022"/>
            <a:ext cx="95726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Modern React Dashboard dark mode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20" name="Google Shape;42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995737"/>
            <a:ext cx="76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3"/>
          <p:cNvSpPr txBox="1"/>
          <p:nvPr/>
        </p:nvSpPr>
        <p:spPr>
          <a:xfrm>
            <a:off x="1857375" y="4140547"/>
            <a:ext cx="95726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Legacy code modernization dependency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22" name="Google Shape;42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67262"/>
            <a:ext cx="857250" cy="40570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3"/>
          <p:cNvSpPr txBox="1"/>
          <p:nvPr/>
        </p:nvSpPr>
        <p:spPr>
          <a:xfrm>
            <a:off x="1857375" y="4912072"/>
            <a:ext cx="95726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Engineer orchestrating multiple AI 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24" name="Google Shape;424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538787"/>
            <a:ext cx="76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3"/>
          <p:cNvSpPr txBox="1"/>
          <p:nvPr/>
        </p:nvSpPr>
        <p:spPr>
          <a:xfrm>
            <a:off x="1857375" y="5683597"/>
            <a:ext cx="957262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Automated software testing dashboard green pass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3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762000" y="571500"/>
            <a:ext cx="95250" cy="4572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4"/>
          <p:cNvSpPr/>
          <p:nvPr/>
        </p:nvSpPr>
        <p:spPr>
          <a:xfrm>
            <a:off x="762000" y="1472654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762000" y="2244179"/>
            <a:ext cx="10668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762000" y="3146821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762000" y="3918346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762000" y="4689871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762000" y="2234654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762000" y="2234654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762000" y="313729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762000" y="313729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762000" y="390882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762000" y="390882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762000" y="468034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762000" y="468034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762000" y="545187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762000" y="545187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7" name="Google Shape;4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15529"/>
            <a:ext cx="1739651" cy="50661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4"/>
          <p:cNvSpPr txBox="1"/>
          <p:nvPr/>
        </p:nvSpPr>
        <p:spPr>
          <a:xfrm>
            <a:off x="1857375" y="1636514"/>
            <a:ext cx="9572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https://cdn.vectorstock.com/i/1000v/07/78/futuristic-digital-hologram-interface-vector-37540778.jpg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4"/>
          <p:cNvSpPr txBox="1"/>
          <p:nvPr/>
        </p:nvSpPr>
        <p:spPr>
          <a:xfrm>
            <a:off x="1857375" y="1857375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www.vectorstock.com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0" name="Google Shape;45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525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4"/>
          <p:cNvSpPr txBox="1"/>
          <p:nvPr/>
        </p:nvSpPr>
        <p:spPr>
          <a:xfrm>
            <a:off x="1857375" y="2387054"/>
            <a:ext cx="9572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https://www.anthropic.com/_next/image?url=https%3A%2F%2Fwww-cdn.anthropic.com%2Fimages%2F4zrzovbb%2Fwebsite%2F3613f360926fae004521197488623465eb0cd751-1920x1035.png&amp;w=3840&amp;q=75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1857375" y="2781151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anthropic.com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3" name="Google Shape;45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89696"/>
            <a:ext cx="1468487" cy="50661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4"/>
          <p:cNvSpPr txBox="1"/>
          <p:nvPr/>
        </p:nvSpPr>
        <p:spPr>
          <a:xfrm>
            <a:off x="1857375" y="3310681"/>
            <a:ext cx="9572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https://i.ytimg.com/vi/wYpCWwD1oz0/mqdefault.jpg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1857375" y="3531542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www.youtube.com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6" name="Google Shape;45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61221"/>
            <a:ext cx="2213223" cy="50661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4"/>
          <p:cNvSpPr txBox="1"/>
          <p:nvPr/>
        </p:nvSpPr>
        <p:spPr>
          <a:xfrm>
            <a:off x="1857375" y="4082206"/>
            <a:ext cx="9572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https://understandlegacycode.com/assets/dependency-graph.png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4"/>
          <p:cNvSpPr txBox="1"/>
          <p:nvPr/>
        </p:nvSpPr>
        <p:spPr>
          <a:xfrm>
            <a:off x="1857375" y="4303067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understandlegacycode.com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9" name="Google Shape;459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8327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4"/>
          <p:cNvSpPr txBox="1"/>
          <p:nvPr/>
        </p:nvSpPr>
        <p:spPr>
          <a:xfrm>
            <a:off x="1857375" y="4853731"/>
            <a:ext cx="9572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https://blog.marcnuri.com/static/bc3b8c8feb9da0aacb9adc01963f55a9/7192e/dashboard-overview.png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4"/>
          <p:cNvSpPr txBox="1"/>
          <p:nvPr/>
        </p:nvSpPr>
        <p:spPr>
          <a:xfrm>
            <a:off x="1857375" y="5074592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blog.marcnuri.com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62" name="Google Shape;462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6042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4"/>
          <p:cNvSpPr txBox="1"/>
          <p:nvPr/>
        </p:nvSpPr>
        <p:spPr>
          <a:xfrm>
            <a:off x="1857375" y="5625256"/>
            <a:ext cx="9572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https://miro.medium.com/v2/resize:fit:1400/1*2Mamgl3fwFP-QLix8ZElpw.png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4"/>
          <p:cNvSpPr txBox="1"/>
          <p:nvPr/>
        </p:nvSpPr>
        <p:spPr>
          <a:xfrm>
            <a:off x="1857375" y="5846117"/>
            <a:ext cx="9572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4"/>
          <p:cNvSpPr txBox="1"/>
          <p:nvPr/>
        </p:nvSpPr>
        <p:spPr>
          <a:xfrm>
            <a:off x="952500" y="571500"/>
            <a:ext cx="11001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E2D4D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762000" y="571500"/>
            <a:ext cx="95250" cy="45720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