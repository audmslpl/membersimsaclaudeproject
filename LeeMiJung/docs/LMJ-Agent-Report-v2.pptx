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1.png"/><Relationship Id="rId8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1.png"/><Relationship Id="rId4" Type="http://schemas.openxmlformats.org/officeDocument/2006/relationships/image" Target="../media/image22.png"/><Relationship Id="rId5" Type="http://schemas.openxmlformats.org/officeDocument/2006/relationships/image" Target="../media/image6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6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1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2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6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image" Target="../media/image11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732520" y="1874519"/>
            <a:ext cx="2651760" cy="2651760"/>
          </a:xfrm>
          <a:prstGeom prst="roundRect">
            <a:avLst>
              <a:gd name="adj" fmla="val 16000"/>
            </a:avLst>
          </a:prstGeom>
          <a:solidFill>
            <a:srgbClr val="2A231B"/>
          </a:solidFill>
          <a:ln w="15875">
            <a:solidFill>
              <a:srgbClr val="543F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LuBot-amb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5752" y="2587752"/>
            <a:ext cx="1225296" cy="12252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" y="1481328"/>
            <a:ext cx="7589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 spc="220">
                <a:solidFill>
                  <a:srgbClr val="FFB020"/>
                </a:solidFill>
                <a:latin typeface="Segoe UI"/>
                <a:ea typeface="맑은 고딕"/>
                <a:cs typeface="Segoe UI"/>
              </a:rPr>
              <a:t>LMJ AGENT  ·  TECHNICAL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38528"/>
            <a:ext cx="76809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5800" b="1">
                <a:solidFill>
                  <a:srgbClr val="F2F4F8"/>
                </a:solidFill>
                <a:latin typeface="Segoe UI"/>
                <a:ea typeface="맑은 고딕"/>
                <a:cs typeface="Segoe UI"/>
              </a:rPr>
              <a:t>LMJ Agent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2100" b="1">
                <a:solidFill>
                  <a:srgbClr val="4ECDC4"/>
                </a:solidFill>
                <a:latin typeface="맑은 고딕"/>
                <a:ea typeface="맑은 고딕"/>
                <a:cs typeface="맑은 고딕"/>
              </a:rPr>
              <a:t>Telegram 기반 상시 AI 비서 · 자동화 시스템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>
                <a:solidFill>
                  <a:srgbClr val="8B93A8"/>
                </a:solidFill>
                <a:latin typeface="맑은 고딕"/>
                <a:ea typeface="맑은 고딕"/>
                <a:cs typeface="맑은 고딕"/>
              </a:rPr>
              <a:t>개발 결과 보고 (기술팀)  —  구성 · 운영 · 신뢰성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4315968"/>
            <a:ext cx="1325880" cy="402336"/>
          </a:xfrm>
          <a:prstGeom prst="roundRect">
            <a:avLst>
              <a:gd name="adj" fmla="val 40000"/>
            </a:avLst>
          </a:prstGeom>
          <a:solidFill>
            <a:srgbClr val="2A231B"/>
          </a:solidFill>
          <a:ln w="12700">
            <a:solidFill>
              <a:srgbClr val="5842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315968"/>
            <a:ext cx="13258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FFB020"/>
                </a:solidFill>
                <a:latin typeface="맑은 고딕"/>
                <a:ea typeface="맑은 고딕"/>
                <a:cs typeface="맑은 고딕"/>
              </a:rPr>
              <a:t>상시 가동 24/7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77440" y="4315968"/>
            <a:ext cx="1115568" cy="402336"/>
          </a:xfrm>
          <a:prstGeom prst="roundRect">
            <a:avLst>
              <a:gd name="adj" fmla="val 40000"/>
            </a:avLst>
          </a:prstGeom>
          <a:solidFill>
            <a:srgbClr val="132730"/>
          </a:solidFill>
          <a:ln w="12700">
            <a:solidFill>
              <a:srgbClr val="204B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7440" y="4315968"/>
            <a:ext cx="111556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4ECDC4"/>
                </a:solidFill>
                <a:latin typeface="맑은 고딕"/>
                <a:ea typeface="맑은 고딕"/>
                <a:cs typeface="맑은 고딕"/>
              </a:rPr>
              <a:t>운영 스킬 9종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75887" y="4315968"/>
            <a:ext cx="1431036" cy="402336"/>
          </a:xfrm>
          <a:prstGeom prst="roundRect">
            <a:avLst>
              <a:gd name="adj" fmla="val 40000"/>
            </a:avLst>
          </a:prstGeom>
          <a:solidFill>
            <a:srgbClr val="1D1E38"/>
          </a:solidFill>
          <a:ln w="12700">
            <a:solidFill>
              <a:srgbClr val="38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75887" y="4315968"/>
            <a:ext cx="14310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9B8CFF"/>
                </a:solidFill>
                <a:latin typeface="맑은 고딕"/>
                <a:ea typeface="맑은 고딕"/>
                <a:cs typeface="맑은 고딕"/>
              </a:rPr>
              <a:t>일 6회 자동 브리핑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89804" y="4315968"/>
            <a:ext cx="1536192" cy="402336"/>
          </a:xfrm>
          <a:prstGeom prst="roundRect">
            <a:avLst>
              <a:gd name="adj" fmla="val 40000"/>
            </a:avLst>
          </a:prstGeom>
          <a:solidFill>
            <a:srgbClr val="112928"/>
          </a:solidFill>
          <a:ln w="12700">
            <a:solidFill>
              <a:srgbClr val="1A5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89804" y="4315968"/>
            <a:ext cx="153619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3DDC84"/>
                </a:solidFill>
                <a:latin typeface="맑은 고딕"/>
                <a:ea typeface="맑은 고딕"/>
                <a:cs typeface="맑은 고딕"/>
              </a:rPr>
              <a:t>launchd 잡 8종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870448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5A6377"/>
                </a:solidFill>
                <a:latin typeface="Segoe UI"/>
                <a:ea typeface="맑은 고딕"/>
                <a:cs typeface="Segoe UI"/>
              </a:rPr>
              <a:t>2026-08-20   ·   macOS · Python · Bash · Claude Code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475488"/>
            <a:ext cx="603504" cy="603504"/>
          </a:xfrm>
          <a:prstGeom prst="roundRect">
            <a:avLst>
              <a:gd name="adj" fmla="val 28000"/>
            </a:avLst>
          </a:prstGeom>
          <a:solidFill>
            <a:srgbClr val="2F261B"/>
          </a:solidFill>
          <a:ln w="12700">
            <a:solidFill>
              <a:srgbClr val="5D45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LuGauge-amb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920" y="620328"/>
            <a:ext cx="313822" cy="31382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63040" y="420624"/>
            <a:ext cx="1008857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spc="140">
                <a:solidFill>
                  <a:srgbClr val="FFB020"/>
                </a:solidFill>
                <a:latin typeface="Segoe UI"/>
                <a:ea typeface="맑은 고딕"/>
                <a:cs typeface="Segoe UI"/>
              </a:rPr>
              <a:t>SUMMARY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F2F4F8"/>
                </a:solidFill>
                <a:latin typeface="Segoe UI"/>
                <a:ea typeface="맑은 고딕"/>
                <a:cs typeface="Segoe UI"/>
              </a:rPr>
              <a:t>한눈에 보기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72768"/>
            <a:ext cx="2624328" cy="1874519"/>
          </a:xfrm>
          <a:prstGeom prst="roundRect">
            <a:avLst>
              <a:gd name="adj" fmla="val 5000"/>
            </a:avLst>
          </a:prstGeom>
          <a:solidFill>
            <a:srgbClr val="141A2B"/>
          </a:solidFill>
          <a:ln w="12700">
            <a:solidFill>
              <a:srgbClr val="232B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77824" y="1792224"/>
            <a:ext cx="493776" cy="493776"/>
          </a:xfrm>
          <a:prstGeom prst="roundRect">
            <a:avLst>
              <a:gd name="adj" fmla="val 28000"/>
            </a:avLst>
          </a:prstGeom>
          <a:solidFill>
            <a:srgbClr val="142B34"/>
          </a:solidFill>
          <a:ln w="12700">
            <a:solidFill>
              <a:srgbClr val="214F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8" name="Picture 7" descr="LuActivity-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330" y="1910730"/>
            <a:ext cx="256763" cy="25676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554480" y="1737360"/>
            <a:ext cx="15544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>
                <a:solidFill>
                  <a:srgbClr val="4ECDC4"/>
                </a:solidFill>
                <a:latin typeface="Segoe UI"/>
                <a:ea typeface="맑은 고딕"/>
                <a:cs typeface="Segoe UI"/>
              </a:rPr>
              <a:t>24/7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542032"/>
            <a:ext cx="2148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1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상시 가동 에이전트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8B93A8"/>
                </a:solidFill>
                <a:latin typeface="맑은 고딕"/>
                <a:ea typeface="맑은 고딕"/>
                <a:cs typeface="맑은 고딕"/>
              </a:rPr>
              <a:t>KeepAlive + 5분 헬스체크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01568" y="1572768"/>
            <a:ext cx="2624328" cy="1874519"/>
          </a:xfrm>
          <a:prstGeom prst="roundRect">
            <a:avLst>
              <a:gd name="adj" fmla="val 5000"/>
            </a:avLst>
          </a:prstGeom>
          <a:solidFill>
            <a:srgbClr val="141A2B"/>
          </a:solidFill>
          <a:ln w="12700">
            <a:solidFill>
              <a:srgbClr val="232B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39311" y="1792224"/>
            <a:ext cx="493776" cy="493776"/>
          </a:xfrm>
          <a:prstGeom prst="roundRect">
            <a:avLst>
              <a:gd name="adj" fmla="val 28000"/>
            </a:avLst>
          </a:prstGeom>
          <a:solidFill>
            <a:srgbClr val="2F261B"/>
          </a:solidFill>
          <a:ln w="12700">
            <a:solidFill>
              <a:srgbClr val="5D45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3" name="Picture 12" descr="LuPuzzle-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7818" y="1910730"/>
            <a:ext cx="256763" cy="25676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315968" y="1737360"/>
            <a:ext cx="15544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>
                <a:solidFill>
                  <a:srgbClr val="FFB020"/>
                </a:solidFill>
                <a:latin typeface="Segoe UI"/>
                <a:ea typeface="맑은 고딕"/>
                <a:cs typeface="Segoe UI"/>
              </a:rP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1" y="2542032"/>
            <a:ext cx="2148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1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운영 스킬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8B93A8"/>
                </a:solidFill>
                <a:latin typeface="맑은 고딕"/>
                <a:ea typeface="맑은 고딕"/>
                <a:cs typeface="맑은 고딕"/>
              </a:rPr>
              <a:t>주식 4 · 날씨 3 · 항공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1572768"/>
            <a:ext cx="2624328" cy="1874519"/>
          </a:xfrm>
          <a:prstGeom prst="roundRect">
            <a:avLst>
              <a:gd name="adj" fmla="val 5000"/>
            </a:avLst>
          </a:prstGeom>
          <a:solidFill>
            <a:srgbClr val="141A2B"/>
          </a:solidFill>
          <a:ln w="12700">
            <a:solidFill>
              <a:srgbClr val="232B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0" y="1792224"/>
            <a:ext cx="493776" cy="493776"/>
          </a:xfrm>
          <a:prstGeom prst="roundRect">
            <a:avLst>
              <a:gd name="adj" fmla="val 28000"/>
            </a:avLst>
          </a:prstGeom>
          <a:solidFill>
            <a:srgbClr val="20213C"/>
          </a:solidFill>
          <a:ln w="12700">
            <a:solidFill>
              <a:srgbClr val="3B39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8" name="Picture 17" descr="LuCalendarClock-viol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9306" y="1910730"/>
            <a:ext cx="256763" cy="25676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077456" y="1737360"/>
            <a:ext cx="15544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>
                <a:solidFill>
                  <a:srgbClr val="9B8CFF"/>
                </a:solidFill>
                <a:latin typeface="Segoe UI"/>
                <a:ea typeface="맑은 고딕"/>
                <a:cs typeface="Segoe UI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542032"/>
            <a:ext cx="2148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1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일일 자동 브리핑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8B93A8"/>
                </a:solidFill>
                <a:latin typeface="맑은 고딕"/>
                <a:ea typeface="맑은 고딕"/>
                <a:cs typeface="맑은 고딕"/>
              </a:rPr>
              <a:t>주식 3회(평일) · 날씨 3회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24544" y="1572768"/>
            <a:ext cx="2624328" cy="1874519"/>
          </a:xfrm>
          <a:prstGeom prst="roundRect">
            <a:avLst>
              <a:gd name="adj" fmla="val 5000"/>
            </a:avLst>
          </a:prstGeom>
          <a:solidFill>
            <a:srgbClr val="141A2B"/>
          </a:solidFill>
          <a:ln w="12700">
            <a:solidFill>
              <a:srgbClr val="232B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62288" y="1792224"/>
            <a:ext cx="493776" cy="493776"/>
          </a:xfrm>
          <a:prstGeom prst="roundRect">
            <a:avLst>
              <a:gd name="adj" fmla="val 28000"/>
            </a:avLst>
          </a:prstGeom>
          <a:solidFill>
            <a:srgbClr val="122D2A"/>
          </a:solidFill>
          <a:ln w="12700">
            <a:solidFill>
              <a:srgbClr val="1B5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3" name="Picture 22" descr="LuServer-gree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0794" y="1910730"/>
            <a:ext cx="256763" cy="25676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838944" y="1737360"/>
            <a:ext cx="15544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>
                <a:solidFill>
                  <a:srgbClr val="3DDC84"/>
                </a:solidFill>
                <a:latin typeface="Segoe UI"/>
                <a:ea typeface="맑은 고딕"/>
                <a:cs typeface="Segoe UI"/>
              </a:rPr>
              <a:t>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62288" y="2542032"/>
            <a:ext cx="2148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1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launchd 잡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8B93A8"/>
                </a:solidFill>
                <a:latin typeface="맑은 고딕"/>
                <a:ea typeface="맑은 고딕"/>
                <a:cs typeface="맑은 고딕"/>
              </a:rPr>
              <a:t>상시 2 + 정시 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3675887"/>
            <a:ext cx="6949440" cy="2377440"/>
          </a:xfrm>
          <a:prstGeom prst="roundRect">
            <a:avLst>
              <a:gd name="adj" fmla="val 5000"/>
            </a:avLst>
          </a:prstGeom>
          <a:solidFill>
            <a:srgbClr val="141A2B"/>
          </a:solidFill>
          <a:ln w="12700">
            <a:solidFill>
              <a:srgbClr val="232B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4400" y="3931920"/>
            <a:ext cx="530352" cy="530352"/>
          </a:xfrm>
          <a:prstGeom prst="roundRect">
            <a:avLst>
              <a:gd name="adj" fmla="val 28000"/>
            </a:avLst>
          </a:prstGeom>
          <a:solidFill>
            <a:srgbClr val="2F261B"/>
          </a:solidFill>
          <a:ln w="12700">
            <a:solidFill>
              <a:srgbClr val="5D45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8" name="Picture 27" descr="LuBot-amb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1684" y="4059204"/>
            <a:ext cx="275783" cy="275783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572768" y="3986784"/>
            <a:ext cx="5760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시스템 요약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645152"/>
            <a:ext cx="640080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1150" b="1">
                <a:solidFill>
                  <a:srgbClr val="FFB020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5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Telegram 채널로 24시간 대화·지시를 받는 상시 백그라운드 에이전트</a:t>
            </a: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1150" b="1">
                <a:solidFill>
                  <a:srgbClr val="FFB020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5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주식·날씨 브리핑은 macOS launchd LaunchAgent가 정시에 헤드리스로 실행</a:t>
            </a: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1150" b="1">
                <a:solidFill>
                  <a:srgbClr val="FFB020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5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기능은 스킬 9종으로 모듈화되어 단위별 추가·수정이 가능</a:t>
            </a: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1150" b="1">
                <a:solidFill>
                  <a:srgbClr val="FFB020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5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launchd · 런처 · heartbeat 3중 감시로 종료·행(hang) 시 자동 복구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91271" y="3675887"/>
            <a:ext cx="3657600" cy="2377440"/>
          </a:xfrm>
          <a:prstGeom prst="roundRect">
            <a:avLst>
              <a:gd name="adj" fmla="val 5000"/>
            </a:avLst>
          </a:prstGeom>
          <a:solidFill>
            <a:srgbClr val="141A2B"/>
          </a:solidFill>
          <a:ln w="12700">
            <a:solidFill>
              <a:srgbClr val="232B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165592" y="3931920"/>
            <a:ext cx="530352" cy="530352"/>
          </a:xfrm>
          <a:prstGeom prst="roundRect">
            <a:avLst>
              <a:gd name="adj" fmla="val 28000"/>
            </a:avLst>
          </a:prstGeom>
          <a:solidFill>
            <a:srgbClr val="142B34"/>
          </a:solidFill>
          <a:ln w="12700">
            <a:solidFill>
              <a:srgbClr val="214F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3" name="Picture 32" descr="LuServer-tea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92876" y="4059204"/>
            <a:ext cx="275783" cy="275783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823959" y="3986784"/>
            <a:ext cx="2560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운영 환경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65592" y="4645152"/>
            <a:ext cx="31089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00" b="1">
                <a:solidFill>
                  <a:srgbClr val="8B93A8"/>
                </a:solidFill>
                <a:latin typeface="Segoe UI"/>
                <a:ea typeface="맑은 고딕"/>
                <a:cs typeface="Segoe UI"/>
              </a:rPr>
              <a:t>실행 기반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10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macOS launchd + tmux 세션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00" b="1">
                <a:solidFill>
                  <a:srgbClr val="8B93A8"/>
                </a:solidFill>
                <a:latin typeface="Segoe UI"/>
                <a:ea typeface="맑은 고딕"/>
                <a:cs typeface="Segoe UI"/>
              </a:rPr>
              <a:t>채널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Telegram (MCP 플러그인)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5A6377"/>
                </a:solidFill>
                <a:latin typeface="Segoe UI"/>
                <a:ea typeface="맑은 고딕"/>
                <a:cs typeface="Segoe UI"/>
              </a:rPr>
              <a:t>LMJ Agent  ·  개발 결과 보고 (기술팀)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54335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00" b="1">
                <a:solidFill>
                  <a:srgbClr val="5A6377"/>
                </a:solidFill>
                <a:latin typeface="Segoe UI"/>
                <a:ea typeface="맑은 고딕"/>
                <a:cs typeface="Segoe U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475488"/>
            <a:ext cx="603504" cy="603504"/>
          </a:xfrm>
          <a:prstGeom prst="roundRect">
            <a:avLst>
              <a:gd name="adj" fmla="val 28000"/>
            </a:avLst>
          </a:prstGeom>
          <a:solidFill>
            <a:srgbClr val="2F261B"/>
          </a:solidFill>
          <a:ln w="12700">
            <a:solidFill>
              <a:srgbClr val="5D45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LuFlag-amb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920" y="620328"/>
            <a:ext cx="313822" cy="31382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63040" y="420624"/>
            <a:ext cx="1008857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spc="140">
                <a:solidFill>
                  <a:srgbClr val="FFB020"/>
                </a:solidFill>
                <a:latin typeface="Segoe UI"/>
                <a:ea typeface="맑은 고딕"/>
                <a:cs typeface="Segoe UI"/>
              </a:rPr>
              <a:t>01  OVERVIEW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F2F4F8"/>
                </a:solidFill>
                <a:latin typeface="Segoe UI"/>
                <a:ea typeface="맑은 고딕"/>
                <a:cs typeface="Segoe UI"/>
              </a:rPr>
              <a:t>추진 배경 및 목적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72768"/>
            <a:ext cx="3538728" cy="3310128"/>
          </a:xfrm>
          <a:prstGeom prst="roundRect">
            <a:avLst>
              <a:gd name="adj" fmla="val 5000"/>
            </a:avLst>
          </a:prstGeom>
          <a:solidFill>
            <a:srgbClr val="141A2B"/>
          </a:solidFill>
          <a:ln w="12700">
            <a:solidFill>
              <a:srgbClr val="232B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77824" y="1810512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2F1C26"/>
          </a:solidFill>
          <a:ln w="12700">
            <a:solidFill>
              <a:srgbClr val="5D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8" name="Picture 7" descr="LuTriangleAlert-ro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19" y="1933407"/>
            <a:ext cx="266273" cy="2662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77824" y="246888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450" b="1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배경 (문제 정의)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871215"/>
            <a:ext cx="3063240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50" b="1">
                <a:solidFill>
                  <a:srgbClr val="FF6B6B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5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시황·날씨·항공권 정보를 매번 직접 검색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50" b="1">
                <a:solidFill>
                  <a:srgbClr val="FF6B6B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5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정해진 시간대 반복 작업의 수작업 부담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50" b="1">
                <a:solidFill>
                  <a:srgbClr val="FF6B6B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5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모바일에서 즉시 받아볼 채널 부재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50" b="1">
                <a:solidFill>
                  <a:srgbClr val="FF6B6B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5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24시간 상시 응답하는 비서가 필요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572768"/>
            <a:ext cx="3538728" cy="3310128"/>
          </a:xfrm>
          <a:prstGeom prst="roundRect">
            <a:avLst>
              <a:gd name="adj" fmla="val 5000"/>
            </a:avLst>
          </a:prstGeom>
          <a:solidFill>
            <a:srgbClr val="141A2B"/>
          </a:solidFill>
          <a:ln w="12700">
            <a:solidFill>
              <a:srgbClr val="232B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53712" y="1810512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2F261B"/>
          </a:solidFill>
          <a:ln w="12700">
            <a:solidFill>
              <a:srgbClr val="5D45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3" name="Picture 12" descr="LuTarget-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6607" y="1933407"/>
            <a:ext cx="266273" cy="26627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53712" y="246888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450" b="1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목표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871215"/>
            <a:ext cx="3063240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50" b="1">
                <a:solidFill>
                  <a:srgbClr val="FFB020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5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Telegram으로 대화·지시 가능한 에이전트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50" b="1">
                <a:solidFill>
                  <a:srgbClr val="FFB020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5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정기 브리핑 완전 자동화 (아침/점심/저녁)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50" b="1">
                <a:solidFill>
                  <a:srgbClr val="FFB020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5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스킬 단위로 기능 확장 가능한 구조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50" b="1">
                <a:solidFill>
                  <a:srgbClr val="FFB020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5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장애 시 자동 복구되는 상시 운영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91855" y="1572768"/>
            <a:ext cx="3538728" cy="3310128"/>
          </a:xfrm>
          <a:prstGeom prst="roundRect">
            <a:avLst>
              <a:gd name="adj" fmla="val 5000"/>
            </a:avLst>
          </a:prstGeom>
          <a:solidFill>
            <a:srgbClr val="141A2B"/>
          </a:solidFill>
          <a:ln w="12700">
            <a:solidFill>
              <a:srgbClr val="232B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599" y="1810512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122D2A"/>
          </a:solidFill>
          <a:ln w="12700">
            <a:solidFill>
              <a:srgbClr val="1B5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8" name="Picture 17" descr="LuCircleCheck-g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2495" y="1933407"/>
            <a:ext cx="266273" cy="26627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229599" y="246888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450" b="1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핵심 성과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9" y="2871215"/>
            <a:ext cx="3063240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50" b="1">
                <a:solidFill>
                  <a:srgbClr val="3DDC84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5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상시 백그라운드 에이전트 구축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50" b="1">
                <a:solidFill>
                  <a:srgbClr val="3DDC84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5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스킬 9종 운영 (주식·날씨·항공권)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50" b="1">
                <a:solidFill>
                  <a:srgbClr val="3DDC84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5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일 6회 정기 브리핑 자동 발송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50" b="1">
                <a:solidFill>
                  <a:srgbClr val="3DDC84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5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채널 기반 실시간 대화·요청 처리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50" b="1">
                <a:solidFill>
                  <a:srgbClr val="3DDC84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5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자동 재시작·헬스체크 운영체계 확립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102352"/>
            <a:ext cx="10911535" cy="1024128"/>
          </a:xfrm>
          <a:prstGeom prst="roundRect">
            <a:avLst>
              <a:gd name="adj" fmla="val 5000"/>
            </a:avLst>
          </a:prstGeom>
          <a:solidFill>
            <a:srgbClr val="141A2B"/>
          </a:solidFill>
          <a:ln w="12700">
            <a:solidFill>
              <a:srgbClr val="232B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96112" y="5349240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142B34"/>
          </a:solidFill>
          <a:ln w="12700">
            <a:solidFill>
              <a:srgbClr val="214F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3" name="Picture 22" descr="LuGitBranch-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9007" y="5472135"/>
            <a:ext cx="266273" cy="26627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554480" y="5321808"/>
            <a:ext cx="97228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4ECDC4"/>
                </a:solidFill>
                <a:latin typeface="맑은 고딕"/>
                <a:ea typeface="맑은 고딕"/>
                <a:cs typeface="맑은 고딕"/>
              </a:rPr>
              <a:t>적용 현황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5678424"/>
            <a:ext cx="97228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2026-06 구축 이후 단일 macOS 워크스테이션에서 상시 운영 중  ·  정기 브리핑은 launchd LaunchAgent가 평일/매일 스케줄로 자동 발송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5A6377"/>
                </a:solidFill>
                <a:latin typeface="Segoe UI"/>
                <a:ea typeface="맑은 고딕"/>
                <a:cs typeface="Segoe UI"/>
              </a:rPr>
              <a:t>LMJ Agent  ·  개발 결과 보고 (기술팀)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54335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00" b="1">
                <a:solidFill>
                  <a:srgbClr val="5A6377"/>
                </a:solidFill>
                <a:latin typeface="Segoe UI"/>
                <a:ea typeface="맑은 고딕"/>
                <a:cs typeface="Segoe U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475488"/>
            <a:ext cx="603504" cy="603504"/>
          </a:xfrm>
          <a:prstGeom prst="roundRect">
            <a:avLst>
              <a:gd name="adj" fmla="val 28000"/>
            </a:avLst>
          </a:prstGeom>
          <a:solidFill>
            <a:srgbClr val="142B34"/>
          </a:solidFill>
          <a:ln w="12700">
            <a:solidFill>
              <a:srgbClr val="214F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LuLayers-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920" y="620328"/>
            <a:ext cx="313822" cy="31382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63040" y="420624"/>
            <a:ext cx="1008857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spc="140">
                <a:solidFill>
                  <a:srgbClr val="4ECDC4"/>
                </a:solidFill>
                <a:latin typeface="Segoe UI"/>
                <a:ea typeface="맑은 고딕"/>
                <a:cs typeface="Segoe UI"/>
              </a:rPr>
              <a:t>02  ARCHITECTURE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F2F4F8"/>
                </a:solidFill>
                <a:latin typeface="Segoe UI"/>
                <a:ea typeface="맑은 고딕"/>
                <a:cs typeface="Segoe UI"/>
              </a:rPr>
              <a:t>시스템 아키텍처 — 계층 구조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72768"/>
            <a:ext cx="10911535" cy="786384"/>
          </a:xfrm>
          <a:prstGeom prst="roundRect">
            <a:avLst>
              <a:gd name="adj" fmla="val 5000"/>
            </a:avLst>
          </a:prstGeom>
          <a:solidFill>
            <a:srgbClr val="141A2B"/>
          </a:solidFill>
          <a:ln w="12700">
            <a:solidFill>
              <a:srgbClr val="232B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7" y="1709928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142B34"/>
          </a:solidFill>
          <a:ln w="12700">
            <a:solidFill>
              <a:srgbClr val="214F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8" name="Picture 7" descr="LuMonitorSmartphone-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143" y="1832823"/>
            <a:ext cx="266273" cy="2662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517904" y="1572768"/>
            <a:ext cx="21488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4ECDC4"/>
                </a:solidFill>
                <a:latin typeface="맑은 고딕"/>
                <a:ea typeface="맑은 고딕"/>
                <a:cs typeface="맑은 고딕"/>
              </a:rPr>
              <a:t>사용자 채널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12463" y="1572768"/>
            <a:ext cx="7619695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Telegram · Discord — MCP 플러그인 채널 (인바운드 메시지 / 아웃바운드 발송)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468880"/>
            <a:ext cx="10911535" cy="786384"/>
          </a:xfrm>
          <a:prstGeom prst="roundRect">
            <a:avLst>
              <a:gd name="adj" fmla="val 5000"/>
            </a:avLst>
          </a:prstGeom>
          <a:solidFill>
            <a:srgbClr val="141A2B"/>
          </a:solidFill>
          <a:ln w="12700">
            <a:solidFill>
              <a:srgbClr val="232B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7" y="2606040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2F261B"/>
          </a:solidFill>
          <a:ln w="12700">
            <a:solidFill>
              <a:srgbClr val="5D45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3" name="Picture 12" descr="LuBot-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143" y="2728935"/>
            <a:ext cx="266273" cy="26627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517904" y="2468880"/>
            <a:ext cx="21488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FFB020"/>
                </a:solidFill>
                <a:latin typeface="맑은 고딕"/>
                <a:ea typeface="맑은 고딕"/>
                <a:cs typeface="맑은 고딕"/>
              </a:rPr>
              <a:t>에이전트 코어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12463" y="2468880"/>
            <a:ext cx="7619695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Claude Code (auto-mode) · 스킬 라우팅 · 권한 allowlist · 메모리/파일 접근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364992"/>
            <a:ext cx="10911535" cy="786384"/>
          </a:xfrm>
          <a:prstGeom prst="roundRect">
            <a:avLst>
              <a:gd name="adj" fmla="val 5000"/>
            </a:avLst>
          </a:prstGeom>
          <a:solidFill>
            <a:srgbClr val="141A2B"/>
          </a:solidFill>
          <a:ln w="12700">
            <a:solidFill>
              <a:srgbClr val="232B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7" y="3502152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20213C"/>
          </a:solidFill>
          <a:ln w="12700">
            <a:solidFill>
              <a:srgbClr val="3B39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8" name="Picture 17" descr="LuPuzzle-viol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143" y="3625047"/>
            <a:ext cx="266273" cy="26627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517904" y="3364992"/>
            <a:ext cx="21488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9B8CFF"/>
                </a:solidFill>
                <a:latin typeface="맑은 고딕"/>
                <a:ea typeface="맑은 고딕"/>
                <a:cs typeface="맑은 고딕"/>
              </a:rPr>
              <a:t>스킬 &amp; 도구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12463" y="3364992"/>
            <a:ext cx="7619695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Skills 9종 · shared-scripts (market-fetcher · ticker-fetcher) · Playwright MCP · Web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261104"/>
            <a:ext cx="10911535" cy="786384"/>
          </a:xfrm>
          <a:prstGeom prst="roundRect">
            <a:avLst>
              <a:gd name="adj" fmla="val 5000"/>
            </a:avLst>
          </a:prstGeom>
          <a:solidFill>
            <a:srgbClr val="141A2B"/>
          </a:solidFill>
          <a:ln w="12700">
            <a:solidFill>
              <a:srgbClr val="232B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41247" y="4398264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2F1C26"/>
          </a:solidFill>
          <a:ln w="12700">
            <a:solidFill>
              <a:srgbClr val="5D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3" name="Picture 22" descr="LuDatabase-ro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4143" y="4521159"/>
            <a:ext cx="266273" cy="26627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517904" y="4261104"/>
            <a:ext cx="21488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데이터 · 출력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12463" y="4261104"/>
            <a:ext cx="7619695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시장 / 날씨 / 항공 소스  →  Telegram Bot API (실시간 · 정기 발송)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157216"/>
            <a:ext cx="10911535" cy="786384"/>
          </a:xfrm>
          <a:prstGeom prst="roundRect">
            <a:avLst>
              <a:gd name="adj" fmla="val 5000"/>
            </a:avLst>
          </a:prstGeom>
          <a:solidFill>
            <a:srgbClr val="141A2B"/>
          </a:solidFill>
          <a:ln w="12700">
            <a:solidFill>
              <a:srgbClr val="232B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41247" y="5294376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122D2A"/>
          </a:solidFill>
          <a:ln w="12700">
            <a:solidFill>
              <a:srgbClr val="1B5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8" name="Picture 27" descr="LuServer-gree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4143" y="5417271"/>
            <a:ext cx="266273" cy="266273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517904" y="5157216"/>
            <a:ext cx="21488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3DDC84"/>
                </a:solidFill>
                <a:latin typeface="맑은 고딕"/>
                <a:ea typeface="맑은 고딕"/>
                <a:cs typeface="맑은 고딕"/>
              </a:rPr>
              <a:t>OS 기반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12463" y="5157216"/>
            <a:ext cx="7619695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macOS launchd LaunchAgent 8종 (상시 2 + 정시 6) · tmux 상시 세션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035040"/>
            <a:ext cx="109115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8B93A8"/>
                </a:solidFill>
                <a:latin typeface="맑은 고딕"/>
                <a:ea typeface="맑은 고딕"/>
                <a:cs typeface="맑은 고딕"/>
              </a:rPr>
              <a:t>계층 간 호출은 단방향(위 → 아래)이며, 결과 발송만 채널 계층으로 되돌아온다.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5A6377"/>
                </a:solidFill>
                <a:latin typeface="Segoe UI"/>
                <a:ea typeface="맑은 고딕"/>
                <a:cs typeface="Segoe UI"/>
              </a:rPr>
              <a:t>LMJ Agent  ·  개발 결과 보고 (기술팀)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54335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00" b="1">
                <a:solidFill>
                  <a:srgbClr val="5A6377"/>
                </a:solidFill>
                <a:latin typeface="Segoe UI"/>
                <a:ea typeface="맑은 고딕"/>
                <a:cs typeface="Segoe U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475488"/>
            <a:ext cx="603504" cy="603504"/>
          </a:xfrm>
          <a:prstGeom prst="roundRect">
            <a:avLst>
              <a:gd name="adj" fmla="val 28000"/>
            </a:avLst>
          </a:prstGeom>
          <a:solidFill>
            <a:srgbClr val="142B34"/>
          </a:solidFill>
          <a:ln w="12700">
            <a:solidFill>
              <a:srgbClr val="214F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LuWorkflow-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920" y="620328"/>
            <a:ext cx="313822" cy="31382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63040" y="420624"/>
            <a:ext cx="1008857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spc="140">
                <a:solidFill>
                  <a:srgbClr val="4ECDC4"/>
                </a:solidFill>
                <a:latin typeface="Segoe UI"/>
                <a:ea typeface="맑은 고딕"/>
                <a:cs typeface="Segoe UI"/>
              </a:rPr>
              <a:t>02-1  EXECUTION MODEL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F2F4F8"/>
                </a:solidFill>
                <a:latin typeface="Segoe UI"/>
                <a:ea typeface="맑은 고딕"/>
                <a:cs typeface="Segoe UI"/>
              </a:rPr>
              <a:t>실행 모델 &amp; 데이터 흐름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72768"/>
            <a:ext cx="5303520" cy="3246120"/>
          </a:xfrm>
          <a:prstGeom prst="roundRect">
            <a:avLst>
              <a:gd name="adj" fmla="val 5000"/>
            </a:avLst>
          </a:prstGeom>
          <a:solidFill>
            <a:srgbClr val="141A2B"/>
          </a:solidFill>
          <a:ln w="12700">
            <a:solidFill>
              <a:srgbClr val="232B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77824" y="1810512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142B34"/>
          </a:solidFill>
          <a:ln w="12700">
            <a:solidFill>
              <a:srgbClr val="214F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8" name="Picture 7" descr="LuMessageCircle-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19" y="1933407"/>
            <a:ext cx="266273" cy="2662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77824" y="2468880"/>
            <a:ext cx="48280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450" b="1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① 상시 대화형 에이전트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871215"/>
            <a:ext cx="4828031" cy="1709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50" b="1">
                <a:solidFill>
                  <a:srgbClr val="4ECDC4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5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launchd com.claude.agent — RunAtLoad + KeepAlive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50" b="1">
                <a:solidFill>
                  <a:srgbClr val="4ECDC4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5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→ agent-launcher.sh → tmux 세션(claude-agent)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50" b="1">
                <a:solidFill>
                  <a:srgbClr val="4ECDC4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5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→ claude --enable-auto-mode (Telegram 채널 연결)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50" b="1">
                <a:solidFill>
                  <a:srgbClr val="4ECDC4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5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Telegram / Discord 메시지에 실시간 응답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50" b="1">
                <a:solidFill>
                  <a:srgbClr val="4ECDC4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5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종료·행(hang) 감지 시 자동 재시작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1572768"/>
            <a:ext cx="5303520" cy="3246120"/>
          </a:xfrm>
          <a:prstGeom prst="roundRect">
            <a:avLst>
              <a:gd name="adj" fmla="val 5000"/>
            </a:avLst>
          </a:prstGeom>
          <a:solidFill>
            <a:srgbClr val="141A2B"/>
          </a:solidFill>
          <a:ln w="12700">
            <a:solidFill>
              <a:srgbClr val="232B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83096" y="1810512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2F261B"/>
          </a:solidFill>
          <a:ln w="12700">
            <a:solidFill>
              <a:srgbClr val="5D45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3" name="Picture 12" descr="LuCalendarClock-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5991" y="1933407"/>
            <a:ext cx="266273" cy="26627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83096" y="2468880"/>
            <a:ext cx="48280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450" b="1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② 헤드리스 스케줄 실행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3096" y="2871215"/>
            <a:ext cx="4828031" cy="1709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50" b="1">
                <a:solidFill>
                  <a:srgbClr val="FFB020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5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launchd LaunchAgent 6종 — StartCalendarInterval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50" b="1">
                <a:solidFill>
                  <a:srgbClr val="FFB020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5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→ check-login.sh 프리플라이트 (로그인 점검)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50" b="1">
                <a:solidFill>
                  <a:srgbClr val="FFB020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5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→ claude -p [스킬] (1회성 헤드리스 실행)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50" b="1">
                <a:solidFill>
                  <a:srgbClr val="FFB020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5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→ tg-send.sh → Telegram Bot API 발송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50" b="1">
                <a:solidFill>
                  <a:srgbClr val="FFB020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5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인증 에러 감지 시 텔레그램 알림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956048"/>
            <a:ext cx="10911535" cy="713232"/>
          </a:xfrm>
          <a:prstGeom prst="roundRect">
            <a:avLst>
              <a:gd name="adj" fmla="val 5000"/>
            </a:avLst>
          </a:prstGeom>
          <a:solidFill>
            <a:srgbClr val="141A2B"/>
          </a:solidFill>
          <a:ln w="12700">
            <a:solidFill>
              <a:srgbClr val="232B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" y="4956048"/>
            <a:ext cx="1501314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트리거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91905" y="4956048"/>
            <a:ext cx="1501314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9B8CFF"/>
                </a:solidFill>
                <a:latin typeface="Segoe UI"/>
                <a:ea typeface="맑은 고딕"/>
                <a:cs typeface="Segoe UI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42562" y="4956048"/>
            <a:ext cx="1501314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스킬 실행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93219" y="4956048"/>
            <a:ext cx="1501314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9B8CFF"/>
                </a:solidFill>
                <a:latin typeface="Segoe UI"/>
                <a:ea typeface="맑은 고딕"/>
                <a:cs typeface="Segoe UI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3876" y="4956048"/>
            <a:ext cx="1501314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데이터 수집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4533" y="4956048"/>
            <a:ext cx="1501314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9B8CFF"/>
                </a:solidFill>
                <a:latin typeface="Segoe UI"/>
                <a:ea typeface="맑은 고딕"/>
                <a:cs typeface="Segoe UI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5190" y="4956048"/>
            <a:ext cx="1501314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LLM 가공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5847" y="4956048"/>
            <a:ext cx="1501314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9B8CFF"/>
                </a:solidFill>
                <a:latin typeface="Segoe UI"/>
                <a:ea typeface="맑은 고딕"/>
                <a:cs typeface="Segoe UI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46504" y="4956048"/>
            <a:ext cx="1501314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tg-send.sh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97161" y="4956048"/>
            <a:ext cx="1501314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9B8CFF"/>
                </a:solidFill>
                <a:latin typeface="Segoe UI"/>
                <a:ea typeface="맑은 고딕"/>
                <a:cs typeface="Segoe UI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47818" y="4956048"/>
            <a:ext cx="1501314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Bot API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8475" y="4956048"/>
            <a:ext cx="1501314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9B8CFF"/>
                </a:solidFill>
                <a:latin typeface="Segoe UI"/>
                <a:ea typeface="맑은 고딕"/>
                <a:cs typeface="Segoe UI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49133" y="4956048"/>
            <a:ext cx="1501314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사용자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815584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수집 경로: market-fetcher.py(시장) · Playwright MCP(항공권 렌더링) · WebFetch/Search(폴백·뉴스)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8B93A8"/>
                </a:solidFill>
                <a:latin typeface="맑은 고딕"/>
                <a:ea typeface="맑은 고딕"/>
                <a:cs typeface="맑은 고딕"/>
              </a:rPr>
              <a:t>프로세스: launchd 8종 + tmux   |   설정: env.sh · settings.json · .mcp.json · *.yaml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5A6377"/>
                </a:solidFill>
                <a:latin typeface="Segoe UI"/>
                <a:ea typeface="맑은 고딕"/>
                <a:cs typeface="Segoe UI"/>
              </a:rPr>
              <a:t>LMJ Agent  ·  개발 결과 보고 (기술팀)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54335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00" b="1">
                <a:solidFill>
                  <a:srgbClr val="5A6377"/>
                </a:solidFill>
                <a:latin typeface="Segoe UI"/>
                <a:ea typeface="맑은 고딕"/>
                <a:cs typeface="Segoe U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475488"/>
            <a:ext cx="603504" cy="603504"/>
          </a:xfrm>
          <a:prstGeom prst="roundRect">
            <a:avLst>
              <a:gd name="adj" fmla="val 28000"/>
            </a:avLst>
          </a:prstGeom>
          <a:solidFill>
            <a:srgbClr val="122D2A"/>
          </a:solidFill>
          <a:ln w="12700">
            <a:solidFill>
              <a:srgbClr val="1B5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LuTimer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920" y="620328"/>
            <a:ext cx="313822" cy="31382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63040" y="420624"/>
            <a:ext cx="1008857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spc="140">
                <a:solidFill>
                  <a:srgbClr val="3DDC84"/>
                </a:solidFill>
                <a:latin typeface="Segoe UI"/>
                <a:ea typeface="맑은 고딕"/>
                <a:cs typeface="Segoe UI"/>
              </a:rPr>
              <a:t>03  SCHEDULER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F2F4F8"/>
                </a:solidFill>
                <a:latin typeface="Segoe UI"/>
                <a:ea typeface="맑은 고딕"/>
                <a:cs typeface="Segoe UI"/>
              </a:rPr>
              <a:t>launchd 잡 구성 (8종)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" y="1572768"/>
            <a:ext cx="3520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1" spc="120">
                <a:solidFill>
                  <a:srgbClr val="8B93A8"/>
                </a:solidFill>
                <a:latin typeface="Segoe UI"/>
                <a:ea typeface="맑은 고딕"/>
                <a:cs typeface="Segoe UI"/>
              </a:rPr>
              <a:t>LABEL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9704" y="1572768"/>
            <a:ext cx="23317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1" spc="120">
                <a:solidFill>
                  <a:srgbClr val="8B93A8"/>
                </a:solidFill>
                <a:latin typeface="Segoe UI"/>
                <a:ea typeface="맑은 고딕"/>
                <a:cs typeface="Segoe UI"/>
              </a:rPr>
              <a:t>트리거 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4304" y="1572768"/>
            <a:ext cx="1234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1" spc="120">
                <a:solidFill>
                  <a:srgbClr val="8B93A8"/>
                </a:solidFill>
                <a:latin typeface="Segoe UI"/>
                <a:ea typeface="맑은 고딕"/>
                <a:cs typeface="Segoe UI"/>
              </a:rPr>
              <a:t>주기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21624" y="1572768"/>
            <a:ext cx="30906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1" spc="120">
                <a:solidFill>
                  <a:srgbClr val="8B93A8"/>
                </a:solidFill>
                <a:latin typeface="Segoe UI"/>
                <a:ea typeface="맑은 고딕"/>
                <a:cs typeface="Segoe UI"/>
              </a:rPr>
              <a:t>실행 대상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993392"/>
            <a:ext cx="10911535" cy="402336"/>
          </a:xfrm>
          <a:prstGeom prst="roundRect">
            <a:avLst>
              <a:gd name="adj" fmla="val 6000"/>
            </a:avLst>
          </a:prstGeom>
          <a:solidFill>
            <a:srgbClr val="14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6656" y="2144268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1993392"/>
            <a:ext cx="335584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1">
                <a:solidFill>
                  <a:srgbClr val="F2F4F8"/>
                </a:solidFill>
                <a:latin typeface="Consolas"/>
                <a:ea typeface="맑은 고딕"/>
                <a:cs typeface="Consolas"/>
              </a:rPr>
              <a:t>com.claude.agent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9704" y="1993392"/>
            <a:ext cx="23317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8B93A8"/>
                </a:solidFill>
                <a:latin typeface="Consolas"/>
                <a:ea typeface="맑은 고딕"/>
                <a:cs typeface="Consolas"/>
              </a:rPr>
              <a:t>RunAtLoad + KeepAlive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4304" y="1993392"/>
            <a:ext cx="12344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1">
                <a:solidFill>
                  <a:srgbClr val="4ECDC4"/>
                </a:solidFill>
                <a:latin typeface="Segoe UI"/>
                <a:ea typeface="맑은 고딕"/>
                <a:cs typeface="Segoe UI"/>
              </a:rPr>
              <a:t>상시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21624" y="1993392"/>
            <a:ext cx="309067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F2F4F8"/>
                </a:solidFill>
                <a:latin typeface="Consolas"/>
                <a:ea typeface="맑은 고딕"/>
                <a:cs typeface="Consolas"/>
              </a:rPr>
              <a:t>agent-launcher.sh → tmux → claude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6656" y="2601468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2450592"/>
            <a:ext cx="335584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1">
                <a:solidFill>
                  <a:srgbClr val="F2F4F8"/>
                </a:solidFill>
                <a:latin typeface="Consolas"/>
                <a:ea typeface="맑은 고딕"/>
                <a:cs typeface="Consolas"/>
              </a:rPr>
              <a:t>com.claude.agent.heartbeat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9704" y="2450592"/>
            <a:ext cx="23317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8B93A8"/>
                </a:solidFill>
                <a:latin typeface="Consolas"/>
                <a:ea typeface="맑은 고딕"/>
                <a:cs typeface="Consolas"/>
              </a:rPr>
              <a:t>StartInterval 300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04304" y="2450592"/>
            <a:ext cx="12344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1">
                <a:solidFill>
                  <a:srgbClr val="4ECDC4"/>
                </a:solidFill>
                <a:latin typeface="Segoe UI"/>
                <a:ea typeface="맑은 고딕"/>
                <a:cs typeface="Segoe UI"/>
              </a:rPr>
              <a:t>5분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21624" y="2450592"/>
            <a:ext cx="309067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F2F4F8"/>
                </a:solidFill>
                <a:latin typeface="Consolas"/>
                <a:ea typeface="맑은 고딕"/>
                <a:cs typeface="Consolas"/>
              </a:rPr>
              <a:t>heartbeat.sh (hang 감지·복구)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2907792"/>
            <a:ext cx="10911535" cy="402336"/>
          </a:xfrm>
          <a:prstGeom prst="roundRect">
            <a:avLst>
              <a:gd name="adj" fmla="val 6000"/>
            </a:avLst>
          </a:prstGeom>
          <a:solidFill>
            <a:srgbClr val="14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76656" y="3058668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2907792"/>
            <a:ext cx="335584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1">
                <a:solidFill>
                  <a:srgbClr val="F2F4F8"/>
                </a:solidFill>
                <a:latin typeface="Consolas"/>
                <a:ea typeface="맑은 고딕"/>
                <a:cs typeface="Consolas"/>
              </a:rPr>
              <a:t>com.ghyu.claude.stock.morning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9704" y="2907792"/>
            <a:ext cx="23317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8B93A8"/>
                </a:solidFill>
                <a:latin typeface="Consolas"/>
                <a:ea typeface="맑은 고딕"/>
                <a:cs typeface="Consolas"/>
              </a:rPr>
              <a:t>StartCalendarInterval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04304" y="2907792"/>
            <a:ext cx="12344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1">
                <a:solidFill>
                  <a:srgbClr val="FFB020"/>
                </a:solidFill>
                <a:latin typeface="Segoe UI"/>
                <a:ea typeface="맑은 고딕"/>
                <a:cs typeface="Segoe UI"/>
              </a:rPr>
              <a:t>평일 07:30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21624" y="2907792"/>
            <a:ext cx="309067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F2F4F8"/>
                </a:solidFill>
                <a:latin typeface="Consolas"/>
                <a:ea typeface="맑은 고딕"/>
                <a:cs typeface="Consolas"/>
              </a:rPr>
              <a:t>stock-cron.sh morning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6656" y="3515868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976" y="3364992"/>
            <a:ext cx="335584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1">
                <a:solidFill>
                  <a:srgbClr val="F2F4F8"/>
                </a:solidFill>
                <a:latin typeface="Consolas"/>
                <a:ea typeface="맑은 고딕"/>
                <a:cs typeface="Consolas"/>
              </a:rPr>
              <a:t>com.ghyu.claude.stock.lunch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9704" y="3364992"/>
            <a:ext cx="23317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8B93A8"/>
                </a:solidFill>
                <a:latin typeface="Consolas"/>
                <a:ea typeface="맑은 고딕"/>
                <a:cs typeface="Consolas"/>
              </a:rPr>
              <a:t>StartCalendarInterval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04304" y="3364992"/>
            <a:ext cx="12344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1">
                <a:solidFill>
                  <a:srgbClr val="FFB020"/>
                </a:solidFill>
                <a:latin typeface="Segoe UI"/>
                <a:ea typeface="맑은 고딕"/>
                <a:cs typeface="Segoe UI"/>
              </a:rPr>
              <a:t>평일 12:30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21624" y="3364992"/>
            <a:ext cx="309067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F2F4F8"/>
                </a:solidFill>
                <a:latin typeface="Consolas"/>
                <a:ea typeface="맑은 고딕"/>
                <a:cs typeface="Consolas"/>
              </a:rPr>
              <a:t>stock-cron.sh lunch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3822191"/>
            <a:ext cx="10911535" cy="402336"/>
          </a:xfrm>
          <a:prstGeom prst="roundRect">
            <a:avLst>
              <a:gd name="adj" fmla="val 6000"/>
            </a:avLst>
          </a:prstGeom>
          <a:solidFill>
            <a:srgbClr val="14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76656" y="3973068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0976" y="3822191"/>
            <a:ext cx="335584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1">
                <a:solidFill>
                  <a:srgbClr val="F2F4F8"/>
                </a:solidFill>
                <a:latin typeface="Consolas"/>
                <a:ea typeface="맑은 고딕"/>
                <a:cs typeface="Consolas"/>
              </a:rPr>
              <a:t>com.ghyu.claude.stock.evening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9704" y="3822191"/>
            <a:ext cx="23317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8B93A8"/>
                </a:solidFill>
                <a:latin typeface="Consolas"/>
                <a:ea typeface="맑은 고딕"/>
                <a:cs typeface="Consolas"/>
              </a:rPr>
              <a:t>StartCalendarInterval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04304" y="3822191"/>
            <a:ext cx="12344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1">
                <a:solidFill>
                  <a:srgbClr val="FFB020"/>
                </a:solidFill>
                <a:latin typeface="Segoe UI"/>
                <a:ea typeface="맑은 고딕"/>
                <a:cs typeface="Segoe UI"/>
              </a:rPr>
              <a:t>평일 17:30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21624" y="3822191"/>
            <a:ext cx="309067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F2F4F8"/>
                </a:solidFill>
                <a:latin typeface="Consolas"/>
                <a:ea typeface="맑은 고딕"/>
                <a:cs typeface="Consolas"/>
              </a:rPr>
              <a:t>stock-cron.sh evening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76656" y="4430268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50976" y="4279392"/>
            <a:ext cx="335584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1">
                <a:solidFill>
                  <a:srgbClr val="F2F4F8"/>
                </a:solidFill>
                <a:latin typeface="Consolas"/>
                <a:ea typeface="맑은 고딕"/>
                <a:cs typeface="Consolas"/>
              </a:rPr>
              <a:t>com.ghyu.claude.weather.morning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89704" y="4279392"/>
            <a:ext cx="23317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8B93A8"/>
                </a:solidFill>
                <a:latin typeface="Consolas"/>
                <a:ea typeface="맑은 고딕"/>
                <a:cs typeface="Consolas"/>
              </a:rPr>
              <a:t>StartCalendarInterval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04304" y="4279392"/>
            <a:ext cx="12344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1">
                <a:solidFill>
                  <a:srgbClr val="9B8CFF"/>
                </a:solidFill>
                <a:latin typeface="Segoe UI"/>
                <a:ea typeface="맑은 고딕"/>
                <a:cs typeface="Segoe UI"/>
              </a:rPr>
              <a:t>매일 08:00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21624" y="4279392"/>
            <a:ext cx="309067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F2F4F8"/>
                </a:solidFill>
                <a:latin typeface="Consolas"/>
                <a:ea typeface="맑은 고딕"/>
                <a:cs typeface="Consolas"/>
              </a:rPr>
              <a:t>weather-cron.sh morning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" y="4736592"/>
            <a:ext cx="10911535" cy="402336"/>
          </a:xfrm>
          <a:prstGeom prst="roundRect">
            <a:avLst>
              <a:gd name="adj" fmla="val 6000"/>
            </a:avLst>
          </a:prstGeom>
          <a:solidFill>
            <a:srgbClr val="14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76656" y="4887468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0976" y="4736592"/>
            <a:ext cx="335584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1">
                <a:solidFill>
                  <a:srgbClr val="F2F4F8"/>
                </a:solidFill>
                <a:latin typeface="Consolas"/>
                <a:ea typeface="맑은 고딕"/>
                <a:cs typeface="Consolas"/>
              </a:rPr>
              <a:t>com.ghyu.claude.weather.lunch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89704" y="4736592"/>
            <a:ext cx="23317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8B93A8"/>
                </a:solidFill>
                <a:latin typeface="Consolas"/>
                <a:ea typeface="맑은 고딕"/>
                <a:cs typeface="Consolas"/>
              </a:rPr>
              <a:t>StartCalendarInterval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04304" y="4736592"/>
            <a:ext cx="12344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1">
                <a:solidFill>
                  <a:srgbClr val="9B8CFF"/>
                </a:solidFill>
                <a:latin typeface="Segoe UI"/>
                <a:ea typeface="맑은 고딕"/>
                <a:cs typeface="Segoe UI"/>
              </a:rPr>
              <a:t>매일 12:00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21624" y="4736592"/>
            <a:ext cx="309067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F2F4F8"/>
                </a:solidFill>
                <a:latin typeface="Consolas"/>
                <a:ea typeface="맑은 고딕"/>
                <a:cs typeface="Consolas"/>
              </a:rPr>
              <a:t>weather-cron.sh lunch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76656" y="5344668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50976" y="5193792"/>
            <a:ext cx="335584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1">
                <a:solidFill>
                  <a:srgbClr val="F2F4F8"/>
                </a:solidFill>
                <a:latin typeface="Consolas"/>
                <a:ea typeface="맑은 고딕"/>
                <a:cs typeface="Consolas"/>
              </a:rPr>
              <a:t>com.ghyu.claude.weather.evening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89704" y="5193792"/>
            <a:ext cx="23317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8B93A8"/>
                </a:solidFill>
                <a:latin typeface="Consolas"/>
                <a:ea typeface="맑은 고딕"/>
                <a:cs typeface="Consolas"/>
              </a:rPr>
              <a:t>StartCalendarInterval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04304" y="5193792"/>
            <a:ext cx="12344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1">
                <a:solidFill>
                  <a:srgbClr val="9B8CFF"/>
                </a:solidFill>
                <a:latin typeface="Segoe UI"/>
                <a:ea typeface="맑은 고딕"/>
                <a:cs typeface="Segoe UI"/>
              </a:rPr>
              <a:t>매일 18:00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21624" y="5193792"/>
            <a:ext cx="309067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F2F4F8"/>
                </a:solidFill>
                <a:latin typeface="Consolas"/>
                <a:ea typeface="맑은 고딕"/>
                <a:cs typeface="Consolas"/>
              </a:rPr>
              <a:t>weather-cron.sh evening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" y="5797296"/>
            <a:ext cx="1091153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050" b="0">
                <a:solidFill>
                  <a:srgbClr val="4ECDC4"/>
                </a:solidFill>
                <a:latin typeface="Consolas"/>
                <a:ea typeface="맑은 고딕"/>
                <a:cs typeface="Consolas"/>
              </a:rPr>
              <a:t>수동 즉시 실행:   launchctl kickstart -k gui/$(id -u)/com.ghyu.claude.stock.lunch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5A6377"/>
                </a:solidFill>
                <a:latin typeface="맑은 고딕"/>
                <a:ea typeface="맑은 고딕"/>
                <a:cs typeface="맑은 고딕"/>
              </a:rPr>
              <a:t>* 브리핑 스크립트 파일명은 *-cron.sh 이지만, 실행을 트리거하는 주체는 모두 launchd이다.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5A6377"/>
                </a:solidFill>
                <a:latin typeface="Segoe UI"/>
                <a:ea typeface="맑은 고딕"/>
                <a:cs typeface="Segoe UI"/>
              </a:rPr>
              <a:t>LMJ Agent  ·  개발 결과 보고 (기술팀)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454335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00" b="1">
                <a:solidFill>
                  <a:srgbClr val="5A6377"/>
                </a:solidFill>
                <a:latin typeface="Segoe UI"/>
                <a:ea typeface="맑은 고딕"/>
                <a:cs typeface="Segoe U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475488"/>
            <a:ext cx="603504" cy="603504"/>
          </a:xfrm>
          <a:prstGeom prst="roundRect">
            <a:avLst>
              <a:gd name="adj" fmla="val 28000"/>
            </a:avLst>
          </a:prstGeom>
          <a:solidFill>
            <a:srgbClr val="20213C"/>
          </a:solidFill>
          <a:ln w="12700">
            <a:solidFill>
              <a:srgbClr val="3B39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LuBoxes-viol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920" y="620328"/>
            <a:ext cx="313822" cy="31382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63040" y="420624"/>
            <a:ext cx="1008857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spc="140">
                <a:solidFill>
                  <a:srgbClr val="9B8CFF"/>
                </a:solidFill>
                <a:latin typeface="Segoe UI"/>
                <a:ea typeface="맑은 고딕"/>
                <a:cs typeface="Segoe UI"/>
              </a:rPr>
              <a:t>04  TECH STACK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F2F4F8"/>
                </a:solidFill>
                <a:latin typeface="Segoe UI"/>
                <a:ea typeface="맑은 고딕"/>
                <a:cs typeface="Segoe UI"/>
              </a:rPr>
              <a:t>기술 스택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72768"/>
            <a:ext cx="2624328" cy="2697480"/>
          </a:xfrm>
          <a:prstGeom prst="roundRect">
            <a:avLst>
              <a:gd name="adj" fmla="val 5000"/>
            </a:avLst>
          </a:prstGeom>
          <a:solidFill>
            <a:srgbClr val="141A2B"/>
          </a:solidFill>
          <a:ln w="12700">
            <a:solidFill>
              <a:srgbClr val="232B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77824" y="1810512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2F261B"/>
          </a:solidFill>
          <a:ln w="12700">
            <a:solidFill>
              <a:srgbClr val="5D45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8" name="Picture 7" descr="LuBot-a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19" y="1933407"/>
            <a:ext cx="266273" cy="2662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77824" y="2468880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50" b="1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런타임 / 에이전트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871215"/>
            <a:ext cx="2148840" cy="1161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00" b="1">
                <a:solidFill>
                  <a:srgbClr val="FFB020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0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Claude Code (auto-mode)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00" b="1">
                <a:solidFill>
                  <a:srgbClr val="FFB020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0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Telegram · Discord MCP 채널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00" b="1">
                <a:solidFill>
                  <a:srgbClr val="FFB020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0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Playwright MCP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01568" y="1572768"/>
            <a:ext cx="2624328" cy="2697480"/>
          </a:xfrm>
          <a:prstGeom prst="roundRect">
            <a:avLst>
              <a:gd name="adj" fmla="val 5000"/>
            </a:avLst>
          </a:prstGeom>
          <a:solidFill>
            <a:srgbClr val="141A2B"/>
          </a:solidFill>
          <a:ln w="12700">
            <a:solidFill>
              <a:srgbClr val="232B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39311" y="1810512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142B34"/>
          </a:solidFill>
          <a:ln w="12700">
            <a:solidFill>
              <a:srgbClr val="214F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3" name="Picture 12" descr="LuFileCode-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2207" y="1933407"/>
            <a:ext cx="266273" cy="26627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639311" y="2468880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50" b="1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언어 / 실행환경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1" y="2871215"/>
            <a:ext cx="2148840" cy="1161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00" b="1">
                <a:solidFill>
                  <a:srgbClr val="4ECDC4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0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Python 3.14 (venv)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00" b="1">
                <a:solidFill>
                  <a:srgbClr val="4ECDC4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0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Bash 스크립트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00" b="1">
                <a:solidFill>
                  <a:srgbClr val="4ECDC4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0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Node / npx (MCP)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1572768"/>
            <a:ext cx="2624328" cy="2697480"/>
          </a:xfrm>
          <a:prstGeom prst="roundRect">
            <a:avLst>
              <a:gd name="adj" fmla="val 5000"/>
            </a:avLst>
          </a:prstGeom>
          <a:solidFill>
            <a:srgbClr val="141A2B"/>
          </a:solidFill>
          <a:ln w="12700">
            <a:solidFill>
              <a:srgbClr val="232B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0" y="1810512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122D2A"/>
          </a:solidFill>
          <a:ln w="12700">
            <a:solidFill>
              <a:srgbClr val="1B5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8" name="Picture 17" descr="LuServer-g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3695" y="1933407"/>
            <a:ext cx="266273" cy="26627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400800" y="2468880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50" b="1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프로세스 관리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871215"/>
            <a:ext cx="2148840" cy="1161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00" b="1">
                <a:solidFill>
                  <a:srgbClr val="3DDC84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0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launchd LaunchAgent 8종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00" b="1">
                <a:solidFill>
                  <a:srgbClr val="3DDC84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0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tmux 상시 세션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00" b="1">
                <a:solidFill>
                  <a:srgbClr val="3DDC84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0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heartbeat 헬스체크 (5분)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24544" y="1572768"/>
            <a:ext cx="2624328" cy="2697480"/>
          </a:xfrm>
          <a:prstGeom prst="roundRect">
            <a:avLst>
              <a:gd name="adj" fmla="val 5000"/>
            </a:avLst>
          </a:prstGeom>
          <a:solidFill>
            <a:srgbClr val="141A2B"/>
          </a:solidFill>
          <a:ln w="12700">
            <a:solidFill>
              <a:srgbClr val="232B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62288" y="1810512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20213C"/>
          </a:solidFill>
          <a:ln w="12700">
            <a:solidFill>
              <a:srgbClr val="3B39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3" name="Picture 22" descr="LuNetwork-viol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5183" y="1933407"/>
            <a:ext cx="266273" cy="26627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162288" y="2468880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50" b="1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데이터 수집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62288" y="2871215"/>
            <a:ext cx="2148840" cy="1161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00" b="1">
                <a:solidFill>
                  <a:srgbClr val="9B8CFF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0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WebFetch / WebSearch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00" b="1">
                <a:solidFill>
                  <a:srgbClr val="9B8CFF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0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Playwright (항공권)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00" b="1">
                <a:solidFill>
                  <a:srgbClr val="9B8CFF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0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Yahoo Finance · Finviz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526280"/>
            <a:ext cx="10911535" cy="1188720"/>
          </a:xfrm>
          <a:prstGeom prst="roundRect">
            <a:avLst>
              <a:gd name="adj" fmla="val 5000"/>
            </a:avLst>
          </a:prstGeom>
          <a:solidFill>
            <a:srgbClr val="141A2B"/>
          </a:solidFill>
          <a:ln w="12700">
            <a:solidFill>
              <a:srgbClr val="232B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96112" y="4773168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122D2A"/>
          </a:solidFill>
          <a:ln w="12700">
            <a:solidFill>
              <a:srgbClr val="1B5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8" name="Picture 27" descr="LuCpu-gree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9007" y="4896063"/>
            <a:ext cx="266273" cy="266273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554480" y="4745736"/>
            <a:ext cx="97228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3DDC84"/>
                </a:solidFill>
                <a:latin typeface="맑은 고딕"/>
                <a:ea typeface="맑은 고딕"/>
                <a:cs typeface="맑은 고딕"/>
              </a:rPr>
              <a:t>실행 환경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5102352"/>
            <a:ext cx="97228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단일 macOS 워크스테이션에서 상시 가동  ·  Python 3.14 (venv)  ·  Node 24  ·  tmux 세션  ·  launchd LaunchAgent 8종으로 모든 실행을 관리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5A6377"/>
                </a:solidFill>
                <a:latin typeface="Segoe UI"/>
                <a:ea typeface="맑은 고딕"/>
                <a:cs typeface="Segoe UI"/>
              </a:rPr>
              <a:t>LMJ Agent  ·  개발 결과 보고 (기술팀)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54335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00" b="1">
                <a:solidFill>
                  <a:srgbClr val="5A6377"/>
                </a:solidFill>
                <a:latin typeface="Segoe UI"/>
                <a:ea typeface="맑은 고딕"/>
                <a:cs typeface="Segoe U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475488"/>
            <a:ext cx="603504" cy="603504"/>
          </a:xfrm>
          <a:prstGeom prst="roundRect">
            <a:avLst>
              <a:gd name="adj" fmla="val 28000"/>
            </a:avLst>
          </a:prstGeom>
          <a:solidFill>
            <a:srgbClr val="2F1C26"/>
          </a:solidFill>
          <a:ln w="12700">
            <a:solidFill>
              <a:srgbClr val="5D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LuHeartPulse-r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920" y="620328"/>
            <a:ext cx="313822" cy="31382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63040" y="420624"/>
            <a:ext cx="1008857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spc="140">
                <a:solidFill>
                  <a:srgbClr val="FF6B6B"/>
                </a:solidFill>
                <a:latin typeface="Segoe UI"/>
                <a:ea typeface="맑은 고딕"/>
                <a:cs typeface="Segoe UI"/>
              </a:rPr>
              <a:t>05  RELIABILITY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F2F4F8"/>
                </a:solidFill>
                <a:latin typeface="Segoe UI"/>
                <a:ea typeface="맑은 고딕"/>
                <a:cs typeface="Segoe UI"/>
              </a:rPr>
              <a:t>에이전트 런타임 &amp; 신뢰성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91056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50" b="1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3중 감시 구조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11680"/>
            <a:ext cx="5303520" cy="1298448"/>
          </a:xfrm>
          <a:prstGeom prst="roundRect">
            <a:avLst>
              <a:gd name="adj" fmla="val 5000"/>
            </a:avLst>
          </a:prstGeom>
          <a:solidFill>
            <a:srgbClr val="141A2B"/>
          </a:solidFill>
          <a:ln w="12700">
            <a:solidFill>
              <a:srgbClr val="232B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77824" y="2212848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122D2A"/>
          </a:solidFill>
          <a:ln w="12700">
            <a:solidFill>
              <a:srgbClr val="1B5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LuServer-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941" y="2326965"/>
            <a:ext cx="247253" cy="24725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99616" y="2231136"/>
            <a:ext cx="4206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3DDC84"/>
                </a:solidFill>
                <a:latin typeface="맑은 고딕"/>
                <a:ea typeface="맑은 고딕"/>
                <a:cs typeface="맑은 고딕"/>
              </a:rPr>
              <a:t>1단계  launchd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99616" y="2615184"/>
            <a:ext cx="426110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05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com.claude.agent — KeepAlive:true / ThrottleInterval 10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050" b="0">
                <a:solidFill>
                  <a:srgbClr val="8B93A8"/>
                </a:solidFill>
                <a:latin typeface="맑은 고딕"/>
                <a:ea typeface="맑은 고딕"/>
                <a:cs typeface="맑은 고딕"/>
              </a:rPr>
              <a:t>프로세스가 죽으면 launchd가 즉시 재기동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401568"/>
            <a:ext cx="5303520" cy="1298448"/>
          </a:xfrm>
          <a:prstGeom prst="roundRect">
            <a:avLst>
              <a:gd name="adj" fmla="val 5000"/>
            </a:avLst>
          </a:prstGeom>
          <a:solidFill>
            <a:srgbClr val="141A2B"/>
          </a:solidFill>
          <a:ln w="12700">
            <a:solidFill>
              <a:srgbClr val="232B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77824" y="3602736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2F261B"/>
          </a:solidFill>
          <a:ln w="12700">
            <a:solidFill>
              <a:srgbClr val="5D45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4" name="Picture 13" descr="LuRefreshCw-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941" y="3716853"/>
            <a:ext cx="247253" cy="24725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499616" y="3621024"/>
            <a:ext cx="4206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FFB020"/>
                </a:solidFill>
                <a:latin typeface="맑은 고딕"/>
                <a:ea typeface="맑은 고딕"/>
                <a:cs typeface="맑은 고딕"/>
              </a:rPr>
              <a:t>2단계  agent-launcher.sh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99616" y="4005072"/>
            <a:ext cx="426110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05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30초 주기 헬스체크 · 세션/프로세스 종료 시 재시작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050" b="0">
                <a:solidFill>
                  <a:srgbClr val="8B93A8"/>
                </a:solidFill>
                <a:latin typeface="맑은 고딕"/>
                <a:ea typeface="맑은 고딕"/>
                <a:cs typeface="맑은 고딕"/>
              </a:rPr>
              <a:t>600초 윈도우 내 최대 10회 (재시작 폭주 방지)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791456"/>
            <a:ext cx="5303520" cy="1298448"/>
          </a:xfrm>
          <a:prstGeom prst="roundRect">
            <a:avLst>
              <a:gd name="adj" fmla="val 5000"/>
            </a:avLst>
          </a:prstGeom>
          <a:solidFill>
            <a:srgbClr val="141A2B"/>
          </a:solidFill>
          <a:ln w="12700">
            <a:solidFill>
              <a:srgbClr val="232B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77824" y="4992624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2F1C26"/>
          </a:solidFill>
          <a:ln w="12700">
            <a:solidFill>
              <a:srgbClr val="5D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9" name="Picture 18" descr="LuHeartPulse-r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941" y="5106741"/>
            <a:ext cx="247253" cy="24725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499616" y="5010912"/>
            <a:ext cx="4206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3단계  heartbeat.sh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99616" y="5394960"/>
            <a:ext cx="426110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05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launchd가 5분마다 호출 — 살아있으나 응답 없는 hang 감지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050" b="0">
                <a:solidFill>
                  <a:srgbClr val="8B93A8"/>
                </a:solidFill>
                <a:latin typeface="맑은 고딕"/>
                <a:ea typeface="맑은 고딕"/>
                <a:cs typeface="맑은 고딕"/>
              </a:rPr>
              <a:t>2회 연속(10분) 감지 시 강제 종료 후 재시작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5352" y="1591056"/>
            <a:ext cx="5303520" cy="4480560"/>
          </a:xfrm>
          <a:prstGeom prst="roundRect">
            <a:avLst>
              <a:gd name="adj" fmla="val 5000"/>
            </a:avLst>
          </a:prstGeom>
          <a:solidFill>
            <a:srgbClr val="141A2B"/>
          </a:solidFill>
          <a:ln w="12700">
            <a:solidFill>
              <a:srgbClr val="232B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83096" y="1828800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142B34"/>
          </a:solidFill>
          <a:ln w="12700">
            <a:solidFill>
              <a:srgbClr val="214F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4" name="Picture 23" descr="LuListChecks-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5991" y="1951695"/>
            <a:ext cx="266273" cy="266273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483096" y="2487168"/>
            <a:ext cx="48280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450" b="1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장애 대응 / 운영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83096" y="2889504"/>
            <a:ext cx="4828031" cy="2944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50" b="1">
                <a:solidFill>
                  <a:srgbClr val="4ECDC4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5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로그 10MB 자동 로테이션 (agent.log)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50" b="1">
                <a:solidFill>
                  <a:srgbClr val="4ECDC4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5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로그인 실패 시 5분 주기 재시도 + 텔레그램 알림 (쿨다운 30분)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50" b="1">
                <a:solidFill>
                  <a:srgbClr val="4ECDC4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5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STARTUP_GRACE 30초 — 인증·크리덴셜 로드 대기 후 헬스체크 시작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50" b="1">
                <a:solidFill>
                  <a:srgbClr val="4ECDC4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5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스케줄 잡은 check-login.sh 프리플라이트로 사전 차단 (비용 절감)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50" b="1">
                <a:solidFill>
                  <a:srgbClr val="4ECDC4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5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실행 결과에서 인증 에러 문자열 감지 → 서버측 토큰 무효까지 포착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50" b="1">
                <a:solidFill>
                  <a:srgbClr val="4ECDC4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5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logs/.hang_count 마커로 연속 hang 횟수를 추적·리셋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50" b="1">
                <a:solidFill>
                  <a:srgbClr val="4ECDC4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5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잡별 로그 분리 — agent · heartbeat · stock · weather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50" b="1">
                <a:solidFill>
                  <a:srgbClr val="4ECDC4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5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운영 스크립트: agent-start.sh / agent-stop.sh / agent-attach.sh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5A6377"/>
                </a:solidFill>
                <a:latin typeface="Segoe UI"/>
                <a:ea typeface="맑은 고딕"/>
                <a:cs typeface="Segoe UI"/>
              </a:rPr>
              <a:t>LMJ Agent  ·  개발 결과 보고 (기술팀)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54335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00" b="1">
                <a:solidFill>
                  <a:srgbClr val="5A6377"/>
                </a:solidFill>
                <a:latin typeface="Segoe UI"/>
                <a:ea typeface="맑은 고딕"/>
                <a:cs typeface="Segoe U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475488"/>
            <a:ext cx="603504" cy="603504"/>
          </a:xfrm>
          <a:prstGeom prst="roundRect">
            <a:avLst>
              <a:gd name="adj" fmla="val 28000"/>
            </a:avLst>
          </a:prstGeom>
          <a:solidFill>
            <a:srgbClr val="2F261B"/>
          </a:solidFill>
          <a:ln w="12700">
            <a:solidFill>
              <a:srgbClr val="5D45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LuPuzzle-amb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920" y="620328"/>
            <a:ext cx="313822" cy="31382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63040" y="420624"/>
            <a:ext cx="1008857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spc="140">
                <a:solidFill>
                  <a:srgbClr val="FFB020"/>
                </a:solidFill>
                <a:latin typeface="Segoe UI"/>
                <a:ea typeface="맑은 고딕"/>
                <a:cs typeface="Segoe UI"/>
              </a:rPr>
              <a:t>06  SKILLS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F2F4F8"/>
                </a:solidFill>
                <a:latin typeface="Segoe UI"/>
                <a:ea typeface="맑은 고딕"/>
                <a:cs typeface="Segoe UI"/>
              </a:rPr>
              <a:t>스킬 시스템 (9종)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72768"/>
            <a:ext cx="3538728" cy="3310128"/>
          </a:xfrm>
          <a:prstGeom prst="roundRect">
            <a:avLst>
              <a:gd name="adj" fmla="val 5000"/>
            </a:avLst>
          </a:prstGeom>
          <a:solidFill>
            <a:srgbClr val="141A2B"/>
          </a:solidFill>
          <a:ln w="12700">
            <a:solidFill>
              <a:srgbClr val="232B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77824" y="1810512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2F261B"/>
          </a:solidFill>
          <a:ln w="12700">
            <a:solidFill>
              <a:srgbClr val="5D45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8" name="Picture 7" descr="LuChartCandlestick-a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19" y="1933407"/>
            <a:ext cx="266273" cy="2662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77824" y="246888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450" b="1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주식  (4)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852928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1">
                <a:solidFill>
                  <a:srgbClr val="FFB020"/>
                </a:solidFill>
                <a:latin typeface="Segoe UI"/>
                <a:ea typeface="맑은 고딕"/>
                <a:cs typeface="Segoe UI"/>
              </a:rPr>
              <a:t>STOCK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200400"/>
            <a:ext cx="3063240" cy="1444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50" b="1">
                <a:solidFill>
                  <a:srgbClr val="FFB020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5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stock-morning / lunch / evening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50" b="1">
                <a:solidFill>
                  <a:srgbClr val="FFB020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5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→ 장 시간대별 시황 정기 브리핑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50" b="1">
                <a:solidFill>
                  <a:srgbClr val="FFB020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5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stock-analyze → 단타·스윙 진입 분석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50" b="1">
                <a:solidFill>
                  <a:srgbClr val="FFB020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5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market-fetcher · ticker-fetcher 공통 사용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572768"/>
            <a:ext cx="3538728" cy="3310128"/>
          </a:xfrm>
          <a:prstGeom prst="roundRect">
            <a:avLst>
              <a:gd name="adj" fmla="val 5000"/>
            </a:avLst>
          </a:prstGeom>
          <a:solidFill>
            <a:srgbClr val="141A2B"/>
          </a:solidFill>
          <a:ln w="12700">
            <a:solidFill>
              <a:srgbClr val="232B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53712" y="1810512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142B34"/>
          </a:solidFill>
          <a:ln w="12700">
            <a:solidFill>
              <a:srgbClr val="214F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4" name="Picture 13" descr="LuCloudSun-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6607" y="1933407"/>
            <a:ext cx="266273" cy="26627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53712" y="246888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450" b="1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날씨  (3)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2852928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1">
                <a:solidFill>
                  <a:srgbClr val="4ECDC4"/>
                </a:solidFill>
                <a:latin typeface="Segoe UI"/>
                <a:ea typeface="맑은 고딕"/>
                <a:cs typeface="Segoe UI"/>
              </a:rPr>
              <a:t>WEATHER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712" y="3200400"/>
            <a:ext cx="3063240" cy="1444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50" b="1">
                <a:solidFill>
                  <a:srgbClr val="4ECDC4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5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weather-morning / lunch / evening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50" b="1">
                <a:solidFill>
                  <a:srgbClr val="4ECDC4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5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→ 시간대별 날씨 브리핑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50" b="1">
                <a:solidFill>
                  <a:srgbClr val="4ECDC4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5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저녁 브리핑에 내일 날씨 포함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91855" y="1572768"/>
            <a:ext cx="3538728" cy="3310128"/>
          </a:xfrm>
          <a:prstGeom prst="roundRect">
            <a:avLst>
              <a:gd name="adj" fmla="val 5000"/>
            </a:avLst>
          </a:prstGeom>
          <a:solidFill>
            <a:srgbClr val="141A2B"/>
          </a:solidFill>
          <a:ln w="12700">
            <a:solidFill>
              <a:srgbClr val="232B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599" y="1810512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2F1C26"/>
          </a:solidFill>
          <a:ln w="12700">
            <a:solidFill>
              <a:srgbClr val="5D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0" name="Picture 19" descr="LuPlane-ro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2495" y="1933407"/>
            <a:ext cx="266273" cy="26627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29599" y="246888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450" b="1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항공권  (2)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9" y="2852928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1">
                <a:solidFill>
                  <a:srgbClr val="FF6B6B"/>
                </a:solidFill>
                <a:latin typeface="Segoe UI"/>
                <a:ea typeface="맑은 고딕"/>
                <a:cs typeface="Segoe UI"/>
              </a:rPr>
              <a:t>FLIGHT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599" y="3200400"/>
            <a:ext cx="3063240" cy="1444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50" b="1">
                <a:solidFill>
                  <a:srgbClr val="FF6B6B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5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flight-check → 최저가 실시간 조회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50" b="1">
                <a:solidFill>
                  <a:srgbClr val="FF6B6B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5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flight-watch → 매진편 좌석 감시·알림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50" b="1">
                <a:solidFill>
                  <a:srgbClr val="FF6B6B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5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Playwright MCP로 네이버 항공권 렌더링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102352"/>
            <a:ext cx="10911535" cy="1024128"/>
          </a:xfrm>
          <a:prstGeom prst="roundRect">
            <a:avLst>
              <a:gd name="adj" fmla="val 5000"/>
            </a:avLst>
          </a:prstGeom>
          <a:solidFill>
            <a:srgbClr val="141A2B"/>
          </a:solidFill>
          <a:ln w="12700">
            <a:solidFill>
              <a:srgbClr val="232B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96112" y="5349240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20213C"/>
          </a:solidFill>
          <a:ln w="12700">
            <a:solidFill>
              <a:srgbClr val="3B39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6" name="Picture 25" descr="LuPuzzle-viol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9007" y="5472135"/>
            <a:ext cx="266273" cy="266273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554480" y="5321808"/>
            <a:ext cx="97228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9B8CFF"/>
                </a:solidFill>
                <a:latin typeface="맑은 고딕"/>
                <a:ea typeface="맑은 고딕"/>
                <a:cs typeface="맑은 고딕"/>
              </a:rPr>
              <a:t>공통 구조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5678424"/>
            <a:ext cx="97228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SKILL.md(실행 지침) + shared-scripts(수집 로직) 조합. 스킬 단위로 독립 추가·수정이 가능해 기능 확장 비용이 낮다.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5A6377"/>
                </a:solidFill>
                <a:latin typeface="Segoe UI"/>
                <a:ea typeface="맑은 고딕"/>
                <a:cs typeface="Segoe UI"/>
              </a:rPr>
              <a:t>LMJ Agent  ·  개발 결과 보고 (기술팀)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54335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00" b="1">
                <a:solidFill>
                  <a:srgbClr val="5A6377"/>
                </a:solidFill>
                <a:latin typeface="Segoe UI"/>
                <a:ea typeface="맑은 고딕"/>
                <a:cs typeface="Segoe U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475488"/>
            <a:ext cx="603504" cy="603504"/>
          </a:xfrm>
          <a:prstGeom prst="roundRect">
            <a:avLst>
              <a:gd name="adj" fmla="val 28000"/>
            </a:avLst>
          </a:prstGeom>
          <a:solidFill>
            <a:srgbClr val="2F261B"/>
          </a:solidFill>
          <a:ln w="12700">
            <a:solidFill>
              <a:srgbClr val="5D45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LuZap-amb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920" y="620328"/>
            <a:ext cx="313822" cy="31382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63040" y="420624"/>
            <a:ext cx="1008857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spc="140">
                <a:solidFill>
                  <a:srgbClr val="FFB020"/>
                </a:solidFill>
                <a:latin typeface="Segoe UI"/>
                <a:ea typeface="맑은 고딕"/>
                <a:cs typeface="Segoe UI"/>
              </a:rPr>
              <a:t>07  PIPELINE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F2F4F8"/>
                </a:solidFill>
                <a:latin typeface="Segoe UI"/>
                <a:ea typeface="맑은 고딕"/>
                <a:cs typeface="Segoe UI"/>
              </a:rPr>
              <a:t>주식 브리핑 파이프라인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launchd 정시 트리거  →  스킬 실행  →  데이터 수집  →  메시지 작성  →  Telegram 전송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12848"/>
            <a:ext cx="2624328" cy="2697480"/>
          </a:xfrm>
          <a:prstGeom prst="roundRect">
            <a:avLst>
              <a:gd name="adj" fmla="val 5000"/>
            </a:avLst>
          </a:prstGeom>
          <a:solidFill>
            <a:srgbClr val="141A2B"/>
          </a:solidFill>
          <a:ln w="12700">
            <a:solidFill>
              <a:srgbClr val="232B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77824" y="245059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1281B"/>
          </a:solidFill>
          <a:ln w="12700">
            <a:solidFill>
              <a:srgbClr val="6248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45059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FFB020"/>
                </a:solidFill>
                <a:latin typeface="Segoe UI"/>
                <a:ea typeface="맑은 고딕"/>
                <a:cs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487168"/>
            <a:ext cx="1691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50" b="1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트리거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108960"/>
            <a:ext cx="21488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00" b="1">
                <a:solidFill>
                  <a:srgbClr val="FFB020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0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launchd LaunchAgent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00" b="1">
                <a:solidFill>
                  <a:srgbClr val="FFB020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0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평일 07:30 / 12:30 / 17:30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00" b="1">
                <a:solidFill>
                  <a:srgbClr val="FFB020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0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check-login.sh 프리플라이트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00" b="1">
                <a:solidFill>
                  <a:srgbClr val="FFB020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0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stock-cron.sh 호출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2212848"/>
            <a:ext cx="2624328" cy="2697480"/>
          </a:xfrm>
          <a:prstGeom prst="roundRect">
            <a:avLst>
              <a:gd name="adj" fmla="val 5000"/>
            </a:avLst>
          </a:prstGeom>
          <a:solidFill>
            <a:srgbClr val="141A2B"/>
          </a:solidFill>
          <a:ln w="12700">
            <a:solidFill>
              <a:srgbClr val="232B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39311" y="245059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52D35"/>
          </a:solidFill>
          <a:ln w="12700">
            <a:solidFill>
              <a:srgbClr val="2253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39311" y="245059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4ECDC4"/>
                </a:solidFill>
                <a:latin typeface="Segoe UI"/>
                <a:ea typeface="맑은 고딕"/>
                <a:cs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24528" y="2487168"/>
            <a:ext cx="1691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50" b="1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수집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9311" y="3108960"/>
            <a:ext cx="21488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00" b="1">
                <a:solidFill>
                  <a:srgbClr val="4ECDC4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0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market-fetcher.py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00" b="1">
                <a:solidFill>
                  <a:srgbClr val="4ECDC4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0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지수 · 선물 · 환율 · 섹터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00" b="1">
                <a:solidFill>
                  <a:srgbClr val="4ECDC4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0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배치 API로 일괄 수집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00" b="1">
                <a:solidFill>
                  <a:srgbClr val="4ECDC4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0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실패 시 Web 폴백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3056" y="2212848"/>
            <a:ext cx="2624328" cy="2697480"/>
          </a:xfrm>
          <a:prstGeom prst="roundRect">
            <a:avLst>
              <a:gd name="adj" fmla="val 5000"/>
            </a:avLst>
          </a:prstGeom>
          <a:solidFill>
            <a:srgbClr val="141A2B"/>
          </a:solidFill>
          <a:ln w="12700">
            <a:solidFill>
              <a:srgbClr val="232B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0" y="245059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1223F"/>
          </a:solidFill>
          <a:ln w="12700">
            <a:solidFill>
              <a:srgbClr val="3E3B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45059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9B8CFF"/>
                </a:solidFill>
                <a:latin typeface="Segoe UI"/>
                <a:ea typeface="맑은 고딕"/>
                <a:cs typeface="Segoe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86016" y="2487168"/>
            <a:ext cx="1691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50" b="1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가공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108960"/>
            <a:ext cx="21488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00" b="1">
                <a:solidFill>
                  <a:srgbClr val="9B8CFF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0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주도 테마 TOP3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00" b="1">
                <a:solidFill>
                  <a:srgbClr val="9B8CFF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0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매수 / 매도 종목 선정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00" b="1">
                <a:solidFill>
                  <a:srgbClr val="9B8CFF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0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실명 + 종목코드 표기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00" b="1">
                <a:solidFill>
                  <a:srgbClr val="9B8CFF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0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다음 세션 관전 포인트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24544" y="2212848"/>
            <a:ext cx="2624328" cy="2697480"/>
          </a:xfrm>
          <a:prstGeom prst="roundRect">
            <a:avLst>
              <a:gd name="adj" fmla="val 5000"/>
            </a:avLst>
          </a:prstGeom>
          <a:solidFill>
            <a:srgbClr val="141A2B"/>
          </a:solidFill>
          <a:ln w="12700">
            <a:solidFill>
              <a:srgbClr val="232B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162288" y="245059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22F2B"/>
          </a:solidFill>
          <a:ln w="12700">
            <a:solidFill>
              <a:srgbClr val="1C5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62288" y="245059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3DDC84"/>
                </a:solidFill>
                <a:latin typeface="Segoe UI"/>
                <a:ea typeface="맑은 고딕"/>
                <a:cs typeface="Segoe U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47504" y="2487168"/>
            <a:ext cx="1691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50" b="1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전송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62288" y="3108960"/>
            <a:ext cx="21488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00" b="1">
                <a:solidFill>
                  <a:srgbClr val="3DDC84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0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모바일 가독성 포맷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00" b="1">
                <a:solidFill>
                  <a:srgbClr val="3DDC84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0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표 대신 인라인 구성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00" b="1">
                <a:solidFill>
                  <a:srgbClr val="3DDC84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0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2,000자 이내로 압축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00" b="1">
                <a:solidFill>
                  <a:srgbClr val="3DDC84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0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tg-send.sh → Bot API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120640"/>
            <a:ext cx="10911535" cy="1024128"/>
          </a:xfrm>
          <a:prstGeom prst="roundRect">
            <a:avLst>
              <a:gd name="adj" fmla="val 5000"/>
            </a:avLst>
          </a:prstGeom>
          <a:solidFill>
            <a:srgbClr val="141A2B"/>
          </a:solidFill>
          <a:ln w="12700">
            <a:solidFill>
              <a:srgbClr val="232B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96112" y="5367527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142B34"/>
          </a:solidFill>
          <a:ln w="12700">
            <a:solidFill>
              <a:srgbClr val="214F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9" name="Picture 28" descr="LuCloudSun-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007" y="5490423"/>
            <a:ext cx="266273" cy="266273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554480" y="5340096"/>
            <a:ext cx="97228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4ECDC4"/>
                </a:solidFill>
                <a:latin typeface="맑은 고딕"/>
                <a:ea typeface="맑은 고딕"/>
                <a:cs typeface="맑은 고딕"/>
              </a:rPr>
              <a:t>날씨 파이프라인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5696712"/>
            <a:ext cx="97228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동일한 4단계 구조를 그대로 사용하며, 트리거만 weather LaunchAgent 3종(매일 08:00 / 12:00 / 18:00)으로 바뀐다.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5A6377"/>
                </a:solidFill>
                <a:latin typeface="Segoe UI"/>
                <a:ea typeface="맑은 고딕"/>
                <a:cs typeface="Segoe UI"/>
              </a:rPr>
              <a:t>LMJ Agent  ·  개발 결과 보고 (기술팀)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54335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00" b="1">
                <a:solidFill>
                  <a:srgbClr val="5A6377"/>
                </a:solidFill>
                <a:latin typeface="Segoe UI"/>
                <a:ea typeface="맑은 고딕"/>
                <a:cs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475488"/>
            <a:ext cx="603504" cy="603504"/>
          </a:xfrm>
          <a:prstGeom prst="roundRect">
            <a:avLst>
              <a:gd name="adj" fmla="val 28000"/>
            </a:avLst>
          </a:prstGeom>
          <a:solidFill>
            <a:srgbClr val="142B34"/>
          </a:solidFill>
          <a:ln w="12700">
            <a:solidFill>
              <a:srgbClr val="214F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LuSend-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920" y="620328"/>
            <a:ext cx="313822" cy="31382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63040" y="420624"/>
            <a:ext cx="1008857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spc="140">
                <a:solidFill>
                  <a:srgbClr val="4ECDC4"/>
                </a:solidFill>
                <a:latin typeface="Segoe UI"/>
                <a:ea typeface="맑은 고딕"/>
                <a:cs typeface="Segoe UI"/>
              </a:rPr>
              <a:t>07-1  SCREENSHOT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F2F4F8"/>
                </a:solidFill>
                <a:latin typeface="Segoe UI"/>
                <a:ea typeface="맑은 고딕"/>
                <a:cs typeface="Segoe UI"/>
              </a:rPr>
              <a:t>Telegram 브리핑 — 주식 · 날씨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05350" y="1417319"/>
            <a:ext cx="3555858" cy="4279392"/>
          </a:xfrm>
          <a:prstGeom prst="roundRect">
            <a:avLst>
              <a:gd name="adj" fmla="val 3000"/>
            </a:avLst>
          </a:prstGeom>
          <a:solidFill>
            <a:srgbClr val="141A2B"/>
          </a:solidFill>
          <a:ln w="12700">
            <a:solidFill>
              <a:srgbClr val="232B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7" name="Picture 6" descr="tg-stock-mo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4222" y="1536192"/>
            <a:ext cx="3318114" cy="404164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647688" y="1417319"/>
            <a:ext cx="4261104" cy="3601720"/>
          </a:xfrm>
          <a:prstGeom prst="roundRect">
            <a:avLst>
              <a:gd name="adj" fmla="val 3000"/>
            </a:avLst>
          </a:prstGeom>
          <a:solidFill>
            <a:srgbClr val="141A2B"/>
          </a:solidFill>
          <a:ln w="12700">
            <a:solidFill>
              <a:srgbClr val="232B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tg-weather-morn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1536192"/>
            <a:ext cx="4023360" cy="33639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71600" y="5705856"/>
            <a:ext cx="4023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8B93A8"/>
                </a:solidFill>
                <a:latin typeface="맑은 고딕"/>
                <a:ea typeface="맑은 고딕"/>
                <a:cs typeface="맑은 고딕"/>
              </a:rPr>
              <a:t>▲  주식 모닝 브리핑 (평일 07:30)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5705856"/>
            <a:ext cx="4023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8B93A8"/>
                </a:solidFill>
                <a:latin typeface="맑은 고딕"/>
                <a:ea typeface="맑은 고딕"/>
                <a:cs typeface="맑은 고딕"/>
              </a:rPr>
              <a:t>▲  날씨 모닝 브리핑 (매일 08:00)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053328"/>
            <a:ext cx="109115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5A6377"/>
                </a:solidFill>
                <a:latin typeface="맑은 고딕"/>
                <a:ea typeface="맑은 고딕"/>
                <a:cs typeface="맑은 고딕"/>
              </a:rPr>
              <a:t>* 실제 발송 데이터를 기반으로 재구성한 화면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5A6377"/>
                </a:solidFill>
                <a:latin typeface="Segoe UI"/>
                <a:ea typeface="맑은 고딕"/>
                <a:cs typeface="Segoe UI"/>
              </a:rPr>
              <a:t>LMJ Agent  ·  개발 결과 보고 (기술팀)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54335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00" b="1">
                <a:solidFill>
                  <a:srgbClr val="5A6377"/>
                </a:solidFill>
                <a:latin typeface="Segoe UI"/>
                <a:ea typeface="맑은 고딕"/>
                <a:cs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475488"/>
            <a:ext cx="603504" cy="603504"/>
          </a:xfrm>
          <a:prstGeom prst="roundRect">
            <a:avLst>
              <a:gd name="adj" fmla="val 28000"/>
            </a:avLst>
          </a:prstGeom>
          <a:solidFill>
            <a:srgbClr val="2F1C26"/>
          </a:solidFill>
          <a:ln w="12700">
            <a:solidFill>
              <a:srgbClr val="5D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LuSend-r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920" y="620328"/>
            <a:ext cx="313822" cy="31382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63040" y="420624"/>
            <a:ext cx="1008857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spc="140">
                <a:solidFill>
                  <a:srgbClr val="FF6B6B"/>
                </a:solidFill>
                <a:latin typeface="Segoe UI"/>
                <a:ea typeface="맑은 고딕"/>
                <a:cs typeface="Segoe UI"/>
              </a:rPr>
              <a:t>07-2  SCREENSHOT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F2F4F8"/>
                </a:solidFill>
                <a:latin typeface="Segoe UI"/>
                <a:ea typeface="맑은 고딕"/>
                <a:cs typeface="Segoe UI"/>
              </a:rPr>
              <a:t>Telegram — 항공권 · 종목 분석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52728" y="1417319"/>
            <a:ext cx="4261104" cy="3830828"/>
          </a:xfrm>
          <a:prstGeom prst="roundRect">
            <a:avLst>
              <a:gd name="adj" fmla="val 3000"/>
            </a:avLst>
          </a:prstGeom>
          <a:solidFill>
            <a:srgbClr val="141A2B"/>
          </a:solidFill>
          <a:ln w="12700">
            <a:solidFill>
              <a:srgbClr val="232B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7" name="Picture 6" descr="tg-f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536192"/>
            <a:ext cx="4023360" cy="359308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58633" y="1417319"/>
            <a:ext cx="3839212" cy="4279392"/>
          </a:xfrm>
          <a:prstGeom prst="roundRect">
            <a:avLst>
              <a:gd name="adj" fmla="val 3000"/>
            </a:avLst>
          </a:prstGeom>
          <a:solidFill>
            <a:srgbClr val="141A2B"/>
          </a:solidFill>
          <a:ln w="12700">
            <a:solidFill>
              <a:srgbClr val="232B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tg-stock-analyz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7505" y="1536192"/>
            <a:ext cx="3601468" cy="40416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71600" y="5705856"/>
            <a:ext cx="4023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8B93A8"/>
                </a:solidFill>
                <a:latin typeface="맑은 고딕"/>
                <a:ea typeface="맑은 고딕"/>
                <a:cs typeface="맑은 고딕"/>
              </a:rPr>
              <a:t>▲  항공권 최저가 조회 (flight-check)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5705856"/>
            <a:ext cx="4023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8B93A8"/>
                </a:solidFill>
                <a:latin typeface="맑은 고딕"/>
                <a:ea typeface="맑은 고딕"/>
                <a:cs typeface="맑은 고딕"/>
              </a:rPr>
              <a:t>▲  종목 진입 분석 (stock-analyze)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053328"/>
            <a:ext cx="109115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5A6377"/>
                </a:solidFill>
                <a:latin typeface="맑은 고딕"/>
                <a:ea typeface="맑은 고딕"/>
                <a:cs typeface="맑은 고딕"/>
              </a:rPr>
              <a:t>* 실제 발송 포맷을 기반으로 재구성한 화면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5A6377"/>
                </a:solidFill>
                <a:latin typeface="Segoe UI"/>
                <a:ea typeface="맑은 고딕"/>
                <a:cs typeface="Segoe UI"/>
              </a:rPr>
              <a:t>LMJ Agent  ·  개발 결과 보고 (기술팀)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54335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00" b="1">
                <a:solidFill>
                  <a:srgbClr val="5A6377"/>
                </a:solidFill>
                <a:latin typeface="Segoe UI"/>
                <a:ea typeface="맑은 고딕"/>
                <a:cs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475488"/>
            <a:ext cx="603504" cy="603504"/>
          </a:xfrm>
          <a:prstGeom prst="roundRect">
            <a:avLst>
              <a:gd name="adj" fmla="val 28000"/>
            </a:avLst>
          </a:prstGeom>
          <a:solidFill>
            <a:srgbClr val="20213C"/>
          </a:solidFill>
          <a:ln w="12700">
            <a:solidFill>
              <a:srgbClr val="3B39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LuCalendarCheck-viol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920" y="620328"/>
            <a:ext cx="313822" cy="31382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63040" y="420624"/>
            <a:ext cx="1008857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spc="140">
                <a:solidFill>
                  <a:srgbClr val="9B8CFF"/>
                </a:solidFill>
                <a:latin typeface="Segoe UI"/>
                <a:ea typeface="맑은 고딕"/>
                <a:cs typeface="Segoe UI"/>
              </a:rPr>
              <a:t>08  AUTOMATION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F2F4F8"/>
                </a:solidFill>
                <a:latin typeface="Segoe UI"/>
                <a:ea typeface="맑은 고딕"/>
                <a:cs typeface="Segoe UI"/>
              </a:rPr>
              <a:t>자동화 &amp; 구성 관리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72768"/>
            <a:ext cx="3538728" cy="3310128"/>
          </a:xfrm>
          <a:prstGeom prst="roundRect">
            <a:avLst>
              <a:gd name="adj" fmla="val 5000"/>
            </a:avLst>
          </a:prstGeom>
          <a:solidFill>
            <a:srgbClr val="141A2B"/>
          </a:solidFill>
          <a:ln w="12700">
            <a:solidFill>
              <a:srgbClr val="232B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77824" y="1810512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2F261B"/>
          </a:solidFill>
          <a:ln w="12700">
            <a:solidFill>
              <a:srgbClr val="5D45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8" name="Picture 7" descr="LuClock-a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19" y="1933407"/>
            <a:ext cx="266273" cy="2662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77824" y="246888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450" b="1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스케줄 작업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871215"/>
            <a:ext cx="3063240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50" b="1">
                <a:solidFill>
                  <a:srgbClr val="FFB020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5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주식 브리핑 — 평일 07:30 / 12:30 / 17:30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50" b="1">
                <a:solidFill>
                  <a:srgbClr val="FFB020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5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날씨 브리핑 — 매일 08:00 / 12:00 / 18:00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50" b="1">
                <a:solidFill>
                  <a:srgbClr val="FFB020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5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heartbeat 헬스체크 — 5분 주기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50" b="1">
                <a:solidFill>
                  <a:srgbClr val="FFB020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5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에이전트 상시 구동 · 자동 복구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572768"/>
            <a:ext cx="3538728" cy="3310128"/>
          </a:xfrm>
          <a:prstGeom prst="roundRect">
            <a:avLst>
              <a:gd name="adj" fmla="val 5000"/>
            </a:avLst>
          </a:prstGeom>
          <a:solidFill>
            <a:srgbClr val="141A2B"/>
          </a:solidFill>
          <a:ln w="12700">
            <a:solidFill>
              <a:srgbClr val="232B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53712" y="1810512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122D2A"/>
          </a:solidFill>
          <a:ln w="12700">
            <a:solidFill>
              <a:srgbClr val="1B5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3" name="Picture 12" descr="LuServer-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6607" y="1933407"/>
            <a:ext cx="266273" cy="26627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53712" y="246888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450" b="1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실행 메커니즘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871215"/>
            <a:ext cx="3063240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50" b="1">
                <a:solidFill>
                  <a:srgbClr val="3DDC84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5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launchd — 상시 데몬 + 정시 트리거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50" b="1">
                <a:solidFill>
                  <a:srgbClr val="3DDC84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5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check-login.sh — 실행 전 인증 점검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50" b="1">
                <a:solidFill>
                  <a:srgbClr val="3DDC84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5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tg-send.sh — 공통 Telegram 전송 유틸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50" b="1">
                <a:solidFill>
                  <a:srgbClr val="3DDC84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5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/loop — 감시형 작업 반복 실행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91855" y="1572768"/>
            <a:ext cx="3538728" cy="3310128"/>
          </a:xfrm>
          <a:prstGeom prst="roundRect">
            <a:avLst>
              <a:gd name="adj" fmla="val 5000"/>
            </a:avLst>
          </a:prstGeom>
          <a:solidFill>
            <a:srgbClr val="141A2B"/>
          </a:solidFill>
          <a:ln w="12700">
            <a:solidFill>
              <a:srgbClr val="232B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599" y="1810512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142B34"/>
          </a:solidFill>
          <a:ln w="12700">
            <a:solidFill>
              <a:srgbClr val="214F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8" name="Picture 17" descr="LuSettings-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2495" y="1933407"/>
            <a:ext cx="266273" cy="26627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229599" y="246888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450" b="1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구성 관리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9" y="2871215"/>
            <a:ext cx="3063240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50" b="1">
                <a:solidFill>
                  <a:srgbClr val="4ECDC4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5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.claude/settings.json — 권한 allowlist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50" b="1">
                <a:solidFill>
                  <a:srgbClr val="4ECDC4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5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config/env.sh — 공통 환경변수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50" b="1">
                <a:solidFill>
                  <a:srgbClr val="4ECDC4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5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.mcp.json — Playwright MCP 등록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50" b="1">
                <a:solidFill>
                  <a:srgbClr val="4ECDC4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5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스킬별 SKILL.md — 실행 지침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50" b="1">
                <a:solidFill>
                  <a:srgbClr val="4ECDC4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5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LaunchAgents/*.plist — 잡 정의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102352"/>
            <a:ext cx="10911535" cy="1024128"/>
          </a:xfrm>
          <a:prstGeom prst="roundRect">
            <a:avLst>
              <a:gd name="adj" fmla="val 5000"/>
            </a:avLst>
          </a:prstGeom>
          <a:solidFill>
            <a:srgbClr val="141A2B"/>
          </a:solidFill>
          <a:ln w="12700">
            <a:solidFill>
              <a:srgbClr val="232B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96112" y="5349240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2F261B"/>
          </a:solidFill>
          <a:ln w="12700">
            <a:solidFill>
              <a:srgbClr val="5D45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3" name="Picture 22" descr="LuServer-amb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9007" y="5472135"/>
            <a:ext cx="266273" cy="26627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554480" y="5321808"/>
            <a:ext cx="97228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FFB020"/>
                </a:solidFill>
                <a:latin typeface="맑은 고딕"/>
                <a:ea typeface="맑은 고딕"/>
                <a:cs typeface="맑은 고딕"/>
              </a:rPr>
              <a:t>단일 운영 체계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5678424"/>
            <a:ext cx="97228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정시 실행 · 상시 구동 · 헬스체크가 모두 launchd 한 체계에서 관리되며, 잡 정의는 plist 파일로 버전 관리·재현이 가능하다.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5A6377"/>
                </a:solidFill>
                <a:latin typeface="Segoe UI"/>
                <a:ea typeface="맑은 고딕"/>
                <a:cs typeface="Segoe UI"/>
              </a:rPr>
              <a:t>LMJ Agent  ·  개발 결과 보고 (기술팀)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54335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00" b="1">
                <a:solidFill>
                  <a:srgbClr val="5A6377"/>
                </a:solidFill>
                <a:latin typeface="Segoe UI"/>
                <a:ea typeface="맑은 고딕"/>
                <a:cs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475488"/>
            <a:ext cx="603504" cy="603504"/>
          </a:xfrm>
          <a:prstGeom prst="roundRect">
            <a:avLst>
              <a:gd name="adj" fmla="val 28000"/>
            </a:avLst>
          </a:prstGeom>
          <a:solidFill>
            <a:srgbClr val="2F1C26"/>
          </a:solidFill>
          <a:ln w="12700">
            <a:solidFill>
              <a:srgbClr val="5D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LuShieldAlert-r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920" y="620328"/>
            <a:ext cx="313822" cy="31382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63040" y="420624"/>
            <a:ext cx="1008857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spc="140">
                <a:solidFill>
                  <a:srgbClr val="FF6B6B"/>
                </a:solidFill>
                <a:latin typeface="Segoe UI"/>
                <a:ea typeface="맑은 고딕"/>
                <a:cs typeface="Segoe UI"/>
              </a:rPr>
              <a:t>09  SECURITY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F2F4F8"/>
                </a:solidFill>
                <a:latin typeface="Segoe UI"/>
                <a:ea typeface="맑은 고딕"/>
                <a:cs typeface="Segoe UI"/>
              </a:rPr>
              <a:t>보안 · 운영 고려사항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72768"/>
            <a:ext cx="5303520" cy="3310128"/>
          </a:xfrm>
          <a:prstGeom prst="roundRect">
            <a:avLst>
              <a:gd name="adj" fmla="val 5000"/>
            </a:avLst>
          </a:prstGeom>
          <a:solidFill>
            <a:srgbClr val="141A2B"/>
          </a:solidFill>
          <a:ln w="12700">
            <a:solidFill>
              <a:srgbClr val="232B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77824" y="1810512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142B34"/>
          </a:solidFill>
          <a:ln w="12700">
            <a:solidFill>
              <a:srgbClr val="214F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8" name="Picture 7" descr="LuLock-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19" y="1933407"/>
            <a:ext cx="266273" cy="2662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77824" y="2468880"/>
            <a:ext cx="48280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450" b="1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현재 적용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871215"/>
            <a:ext cx="4828031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50" b="1">
                <a:solidFill>
                  <a:srgbClr val="4ECDC4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5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채널 접근제어 — access 스킬 기반 페어링 승인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50" b="1">
                <a:solidFill>
                  <a:srgbClr val="4ECDC4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5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도구 권한 allowlist (.claude/settings.json)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50" b="1">
                <a:solidFill>
                  <a:srgbClr val="4ECDC4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5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파일 접근 범위를 프로젝트 디렉토리로 제한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50" b="1">
                <a:solidFill>
                  <a:srgbClr val="4ECDC4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5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파괴적 작업(rm · 덮어쓰기) 전 확인 정책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50" b="1">
                <a:solidFill>
                  <a:srgbClr val="4ECDC4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5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launchd plist에서 환경변수·작업디렉토리 고정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1572768"/>
            <a:ext cx="5303520" cy="3310128"/>
          </a:xfrm>
          <a:prstGeom prst="roundRect">
            <a:avLst>
              <a:gd name="adj" fmla="val 5000"/>
            </a:avLst>
          </a:prstGeom>
          <a:solidFill>
            <a:srgbClr val="141A2B"/>
          </a:solidFill>
          <a:ln w="12700">
            <a:solidFill>
              <a:srgbClr val="232B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83096" y="1810512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2F1C26"/>
          </a:solidFill>
          <a:ln w="12700">
            <a:solidFill>
              <a:srgbClr val="5D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3" name="Picture 12" descr="LuScanEye-ro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5991" y="1933407"/>
            <a:ext cx="266273" cy="26627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83096" y="2468880"/>
            <a:ext cx="48280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450" b="1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개선 과제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3096" y="2871215"/>
            <a:ext cx="4828031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50" b="1">
                <a:solidFill>
                  <a:srgbClr val="FF6B6B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5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API 키 평문 저장 → 환경변수 / 시크릿 분리 필요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50" b="1">
                <a:solidFill>
                  <a:srgbClr val="FF6B6B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5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auto-mode · skip-permissions 적용 범위 재점검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50" b="1">
                <a:solidFill>
                  <a:srgbClr val="FF6B6B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5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로그 내 민감정보 마스킹 규칙 부재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50" b="1">
                <a:solidFill>
                  <a:srgbClr val="FF6B6B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5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외부 전송 데이터 검토 프로세스 미비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50" b="1">
                <a:solidFill>
                  <a:srgbClr val="FF6B6B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5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단일 계정 keychain 의존 — 만료 시 전체 스케줄 중단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102352"/>
            <a:ext cx="10911535" cy="1024128"/>
          </a:xfrm>
          <a:prstGeom prst="roundRect">
            <a:avLst>
              <a:gd name="adj" fmla="val 5000"/>
            </a:avLst>
          </a:prstGeom>
          <a:solidFill>
            <a:srgbClr val="141A2B"/>
          </a:solidFill>
          <a:ln w="12700">
            <a:solidFill>
              <a:srgbClr val="232B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96112" y="5349240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2F261B"/>
          </a:solidFill>
          <a:ln w="12700">
            <a:solidFill>
              <a:srgbClr val="5D45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8" name="Picture 17" descr="LuBellRing-amb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007" y="5472135"/>
            <a:ext cx="266273" cy="26627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554480" y="5321808"/>
            <a:ext cx="97228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FFB020"/>
                </a:solidFill>
                <a:latin typeface="맑은 고딕"/>
                <a:ea typeface="맑은 고딕"/>
                <a:cs typeface="맑은 고딕"/>
              </a:rPr>
              <a:t>조치 우선순위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678424"/>
            <a:ext cx="97228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①  시크릿(.env / keychain) 분리   ②  도구 권한 범위 축소   ③  로그 마스킹 규칙 수립   —  keychain 만료 알림이 최우선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5A6377"/>
                </a:solidFill>
                <a:latin typeface="Segoe UI"/>
                <a:ea typeface="맑은 고딕"/>
                <a:cs typeface="Segoe UI"/>
              </a:rPr>
              <a:t>LMJ Agent  ·  개발 결과 보고 (기술팀)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54335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00" b="1">
                <a:solidFill>
                  <a:srgbClr val="5A6377"/>
                </a:solidFill>
                <a:latin typeface="Segoe UI"/>
                <a:ea typeface="맑은 고딕"/>
                <a:cs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475488"/>
            <a:ext cx="603504" cy="603504"/>
          </a:xfrm>
          <a:prstGeom prst="roundRect">
            <a:avLst>
              <a:gd name="adj" fmla="val 28000"/>
            </a:avLst>
          </a:prstGeom>
          <a:solidFill>
            <a:srgbClr val="122D2A"/>
          </a:solidFill>
          <a:ln w="12700">
            <a:solidFill>
              <a:srgbClr val="1B5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LuSparkles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920" y="620328"/>
            <a:ext cx="313822" cy="31382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63040" y="420624"/>
            <a:ext cx="1008857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spc="140">
                <a:solidFill>
                  <a:srgbClr val="3DDC84"/>
                </a:solidFill>
                <a:latin typeface="Segoe UI"/>
                <a:ea typeface="맑은 고딕"/>
                <a:cs typeface="Segoe UI"/>
              </a:rPr>
              <a:t>10  RESULT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F2F4F8"/>
                </a:solidFill>
                <a:latin typeface="Segoe UI"/>
                <a:ea typeface="맑은 고딕"/>
                <a:cs typeface="Segoe UI"/>
              </a:rPr>
              <a:t>성과 · 한계 · 향후 계획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72768"/>
            <a:ext cx="3538728" cy="3310128"/>
          </a:xfrm>
          <a:prstGeom prst="roundRect">
            <a:avLst>
              <a:gd name="adj" fmla="val 5000"/>
            </a:avLst>
          </a:prstGeom>
          <a:solidFill>
            <a:srgbClr val="141A2B"/>
          </a:solidFill>
          <a:ln w="12700">
            <a:solidFill>
              <a:srgbClr val="232B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77824" y="1810512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122D2A"/>
          </a:solidFill>
          <a:ln w="12700">
            <a:solidFill>
              <a:srgbClr val="1B5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8" name="Picture 7" descr="LuCircleCheck-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19" y="1933407"/>
            <a:ext cx="266273" cy="2662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77824" y="246888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450" b="1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성과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871215"/>
            <a:ext cx="3063240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50" b="1">
                <a:solidFill>
                  <a:srgbClr val="3DDC84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5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정기 브리핑 수작업 → 완전 자동화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50" b="1">
                <a:solidFill>
                  <a:srgbClr val="3DDC84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5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모바일에서 즉시 정보 수신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50" b="1">
                <a:solidFill>
                  <a:srgbClr val="3DDC84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5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9개 스킬로 기능 모듈화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50" b="1">
                <a:solidFill>
                  <a:srgbClr val="3DDC84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5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3중 감시로 자동복구 상시 운영 달성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50" b="1">
                <a:solidFill>
                  <a:srgbClr val="3DDC84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5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launchd 단일 체계로 스케줄 운영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572768"/>
            <a:ext cx="3538728" cy="3310128"/>
          </a:xfrm>
          <a:prstGeom prst="roundRect">
            <a:avLst>
              <a:gd name="adj" fmla="val 5000"/>
            </a:avLst>
          </a:prstGeom>
          <a:solidFill>
            <a:srgbClr val="141A2B"/>
          </a:solidFill>
          <a:ln w="12700">
            <a:solidFill>
              <a:srgbClr val="232B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53712" y="1810512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2F261B"/>
          </a:solidFill>
          <a:ln w="12700">
            <a:solidFill>
              <a:srgbClr val="5D45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3" name="Picture 12" descr="LuTriangleAlert-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6607" y="1933407"/>
            <a:ext cx="266273" cy="26627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53712" y="246888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450" b="1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한계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871215"/>
            <a:ext cx="3063240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50" b="1">
                <a:solidFill>
                  <a:srgbClr val="FFB020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5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단일 macOS 머신 의존 (SPOF)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50" b="1">
                <a:solidFill>
                  <a:srgbClr val="FFB020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5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외부 사이트 구조 변경에 취약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50" b="1">
                <a:solidFill>
                  <a:srgbClr val="FFB020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5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보안 강화 필요 (09장 참조)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50" b="1">
                <a:solidFill>
                  <a:srgbClr val="FFB020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5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테스트 · 모니터링 자동화 부족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91855" y="1572768"/>
            <a:ext cx="3538728" cy="3310128"/>
          </a:xfrm>
          <a:prstGeom prst="roundRect">
            <a:avLst>
              <a:gd name="adj" fmla="val 5000"/>
            </a:avLst>
          </a:prstGeom>
          <a:solidFill>
            <a:srgbClr val="141A2B"/>
          </a:solidFill>
          <a:ln w="12700">
            <a:solidFill>
              <a:srgbClr val="232B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599" y="1810512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20213C"/>
          </a:solidFill>
          <a:ln w="12700">
            <a:solidFill>
              <a:srgbClr val="3B39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8" name="Picture 17" descr="LuRocket-viol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2495" y="1933407"/>
            <a:ext cx="266273" cy="26627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229599" y="246888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450" b="1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향후 계획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9" y="2871215"/>
            <a:ext cx="3063240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50" b="1">
                <a:solidFill>
                  <a:srgbClr val="9B8CFF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5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시크릿 관리 체계화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50" b="1">
                <a:solidFill>
                  <a:srgbClr val="9B8CFF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5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스킬 추가 (캘린더 · 메일 등)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50" b="1">
                <a:solidFill>
                  <a:srgbClr val="9B8CFF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5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장애 알림 · 운영 지표 모니터링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50" b="1">
                <a:solidFill>
                  <a:srgbClr val="9B8CFF"/>
                </a:solidFill>
                <a:latin typeface="Segoe UI"/>
                <a:ea typeface="맑은 고딕"/>
                <a:cs typeface="Segoe UI"/>
              </a:rPr>
              <a:t>–  </a:t>
            </a:r>
            <a:r>
              <a:rPr sz="115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배포 / 이중화 검토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102352"/>
            <a:ext cx="10911535" cy="1024128"/>
          </a:xfrm>
          <a:prstGeom prst="roundRect">
            <a:avLst>
              <a:gd name="adj" fmla="val 5000"/>
            </a:avLst>
          </a:prstGeom>
          <a:solidFill>
            <a:srgbClr val="141A2B"/>
          </a:solidFill>
          <a:ln w="12700">
            <a:solidFill>
              <a:srgbClr val="232B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96112" y="5349240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122D2A"/>
          </a:solidFill>
          <a:ln w="12700">
            <a:solidFill>
              <a:srgbClr val="1B5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3" name="Picture 22" descr="LuFlag-gree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9007" y="5472135"/>
            <a:ext cx="266273" cy="26627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554480" y="5321808"/>
            <a:ext cx="97228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3DDC84"/>
                </a:solidFill>
                <a:latin typeface="맑은 고딕"/>
                <a:ea typeface="맑은 고딕"/>
                <a:cs typeface="맑은 고딕"/>
              </a:rPr>
              <a:t>다음 마일스톤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5678424"/>
            <a:ext cx="97228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시크릿 분리와 운영 지표 모니터링을 우선 적용하고, 안정화가 확인되면 이중화(보조 실행 환경)를 검토한다.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5A6377"/>
                </a:solidFill>
                <a:latin typeface="Segoe UI"/>
                <a:ea typeface="맑은 고딕"/>
                <a:cs typeface="Segoe UI"/>
              </a:rPr>
              <a:t>LMJ Agent  ·  개발 결과 보고 (기술팀)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54335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00" b="1">
                <a:solidFill>
                  <a:srgbClr val="5A6377"/>
                </a:solidFill>
                <a:latin typeface="Segoe UI"/>
                <a:ea typeface="맑은 고딕"/>
                <a:cs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732520" y="2148840"/>
            <a:ext cx="2651760" cy="2651760"/>
          </a:xfrm>
          <a:prstGeom prst="roundRect">
            <a:avLst>
              <a:gd name="adj" fmla="val 16000"/>
            </a:avLst>
          </a:prstGeom>
          <a:solidFill>
            <a:srgbClr val="132730"/>
          </a:solidFill>
          <a:ln w="15875">
            <a:solidFill>
              <a:srgbClr val="1E4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LuMessageCircle-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5752" y="2862072"/>
            <a:ext cx="1225296" cy="12252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" y="2468880"/>
            <a:ext cx="7589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 spc="220">
                <a:solidFill>
                  <a:srgbClr val="4ECDC4"/>
                </a:solidFill>
                <a:latin typeface="Segoe UI"/>
                <a:ea typeface="맑은 고딕"/>
                <a:cs typeface="Segoe U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926080"/>
            <a:ext cx="76809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4600" b="1">
                <a:solidFill>
                  <a:srgbClr val="F2F4F8"/>
                </a:solidFill>
                <a:latin typeface="맑은 고딕"/>
                <a:ea typeface="맑은 고딕"/>
                <a:cs typeface="맑은 고딕"/>
              </a:rPr>
              <a:t>감사합니다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>
                <a:solidFill>
                  <a:srgbClr val="8B93A8"/>
                </a:solidFill>
                <a:latin typeface="맑은 고딕"/>
                <a:ea typeface="맑은 고딕"/>
                <a:cs typeface="맑은 고딕"/>
              </a:rPr>
              <a:t>Q &amp; A  ·  실 서비스 데모 시연 가능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870448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5A6377"/>
                </a:solidFill>
                <a:latin typeface="Consolas"/>
                <a:ea typeface="맑은 고딕"/>
                <a:cs typeface="Consolas"/>
              </a:rPr>
              <a:t>~/Repositories/Claude/agent   ·   2026-08-20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