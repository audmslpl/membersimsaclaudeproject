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APP DEVELOPMENT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F3F3F6"/>
                </a:solidFill>
                <a:latin typeface="맑은 고딕"/>
              </a:rPr>
              <a:t>OfficeFit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1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B8B8C4"/>
                </a:solidFill>
                <a:latin typeface="맑은 고딕"/>
              </a:rPr>
              <a:t>말로 시작하는 오프라인 업무일지 · 투두리스트 안드로이드 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035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8B8C4"/>
                </a:solidFill>
                <a:latin typeface="맑은 고딕"/>
              </a:rPr>
              <a:t>개발 과정 공유  ·  2026.07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52044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4206240"/>
          </a:xfrm>
          <a:prstGeom prst="roundRect">
            <a:avLst>
              <a:gd name="adj" fmla="val 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무엇을 만들었나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서버 없이 기기 안에서만 동작하는 오프라인 전용 업무일지 앱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사내 업무 / 개인 스터디·성장 / 일반 할 일, 세 카테고리로 구분 관리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매일 아침 마이크에 대고 오늘 할 일을 쭉 말하면 자동으로 정리되는 것이 핵심 차별점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Room DB가 유일한 데이터 소스 (SSOT) — 동기화 서버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212080" cy="4206240"/>
          </a:xfrm>
          <a:prstGeom prst="roundRect">
            <a:avLst>
              <a:gd name="adj" fmla="val 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기술 스택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Kotlin + Jetpack Compose (Material 3, 다크 모드 기본)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MVVM + Repository 패턴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Room (오프라인 우선 로컬 DB) + Coroutines / Flow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Android SpeechRecognizer (온디바이스 우선 음성 인식)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java.time 대신 java.util.Calendar 사용 — desugaring 설정 없이 단순하게 유지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개발 타임라인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984247"/>
            <a:ext cx="146304" cy="146304"/>
          </a:xfrm>
          <a:prstGeom prst="ellipse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130551"/>
            <a:ext cx="25400" cy="78638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874519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B84B"/>
                </a:solidFill>
                <a:latin typeface="맑은 고딕"/>
              </a:rPr>
              <a:t>07/03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847087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3F6"/>
                </a:solidFill>
                <a:latin typeface="맑은 고딕"/>
              </a:rPr>
              <a:t>기본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847087"/>
            <a:ext cx="6400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B8B8C4"/>
                </a:solidFill>
                <a:latin typeface="맑은 고딕"/>
              </a:rPr>
              <a:t>TodoItem·Category·WeekDay·TimeUtils 등 Room 데이터 모델과 Repository/ViewModel 스켈레톤 작성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916935"/>
            <a:ext cx="146304" cy="146304"/>
          </a:xfrm>
          <a:prstGeom prst="ellipse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3063239"/>
            <a:ext cx="25400" cy="78638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807207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B84B"/>
                </a:solidFill>
                <a:latin typeface="맑은 고딕"/>
              </a:rPr>
              <a:t>07/04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779775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3F6"/>
                </a:solidFill>
                <a:latin typeface="맑은 고딕"/>
              </a:rPr>
              <a:t>모닝 보이스 덤프 + SmartTextParser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779775"/>
            <a:ext cx="6400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B8B8C4"/>
                </a:solidFill>
                <a:latin typeface="맑은 고딕"/>
              </a:rPr>
              <a:t>연속 음성 인식(자동 재세션)과, 받아쓴 텍스트를 카테고리별 마크다운 할 일로 바꾸는 파서 구현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849623"/>
            <a:ext cx="146304" cy="146304"/>
          </a:xfrm>
          <a:prstGeom prst="ellipse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3995927"/>
            <a:ext cx="25400" cy="78638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739895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B84B"/>
                </a:solidFill>
                <a:latin typeface="맑은 고딕"/>
              </a:rPr>
              <a:t>07/04-05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3712463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3F6"/>
                </a:solidFill>
                <a:latin typeface="맑은 고딕"/>
              </a:rPr>
              <a:t>Gradle 스캐폴드 + Compose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712463"/>
            <a:ext cx="6400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B8B8C4"/>
                </a:solidFill>
                <a:latin typeface="맑은 고딕"/>
              </a:rPr>
              <a:t>실제 빌드 가능한 앱으로 전환, 대시보드 화면과 음성 덤프 다이얼로그 완성, 에뮬레이터 실행 검증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782311"/>
            <a:ext cx="146304" cy="146304"/>
          </a:xfrm>
          <a:prstGeom prst="ellipse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4928615"/>
            <a:ext cx="25400" cy="78638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672583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B84B"/>
                </a:solidFill>
                <a:latin typeface="맑은 고딕"/>
              </a:rPr>
              <a:t>07/05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4645151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3F6"/>
                </a:solidFill>
                <a:latin typeface="맑은 고딕"/>
              </a:rPr>
              <a:t>실기기 연동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4645151"/>
            <a:ext cx="6400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B8B8C4"/>
                </a:solidFill>
                <a:latin typeface="맑은 고딕"/>
              </a:rPr>
              <a:t>Galaxy Z Fold5 실기기에 설치, adb 인식 트러블슈팅, 한글 인코딩(CP949) 버그 수정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5714999"/>
            <a:ext cx="146304" cy="146304"/>
          </a:xfrm>
          <a:prstGeom prst="ellipse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605271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B84B"/>
                </a:solidFill>
                <a:latin typeface="맑은 고딕"/>
              </a:rPr>
              <a:t>07/06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557783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3F6"/>
                </a:solidFill>
                <a:latin typeface="맑은 고딕"/>
              </a:rPr>
              <a:t>기능 고도화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5577839"/>
            <a:ext cx="6400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B8B8C4"/>
                </a:solidFill>
                <a:latin typeface="맑은 고딕"/>
              </a:rPr>
              <a:t>말하기 예시 힌트 UI, 할 일 수정/삭제, 일자별 조회 화면, 수동 등록, 'CM' 키워드 추가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아키텍처 — MVVM + Repository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468880" cy="1463040"/>
          </a:xfrm>
          <a:prstGeom prst="roundRect">
            <a:avLst>
              <a:gd name="adj" fmla="val 6000"/>
            </a:avLst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67712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Compose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B8B8C4"/>
                </a:solidFill>
                <a:latin typeface="맑은 고딕"/>
              </a:rPr>
              <a:t>MainDashboardScreen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B8B8C4"/>
                </a:solidFill>
                <a:latin typeface="맑은 고딕"/>
              </a:rPr>
              <a:t>DateTodoListScreen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B8B8C4"/>
                </a:solidFill>
                <a:latin typeface="맑은 고딕"/>
              </a:rPr>
              <a:t>VoiceDumpDialog / EditTodoDialog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36392" y="2724912"/>
            <a:ext cx="265176" cy="219456"/>
          </a:xfrm>
          <a:prstGeom prst="rightArrow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2103120"/>
            <a:ext cx="2468880" cy="1463040"/>
          </a:xfrm>
          <a:prstGeom prst="roundRect">
            <a:avLst>
              <a:gd name="adj" fmla="val 6000"/>
            </a:avLst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267712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ViewModel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670048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B8B8C4"/>
                </a:solidFill>
                <a:latin typeface="맑은 고딕"/>
              </a:rPr>
              <a:t>MainViewModel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B8B8C4"/>
                </a:solidFill>
                <a:latin typeface="맑은 고딕"/>
              </a:rPr>
              <a:t>StateFlow로 화면 상태 관리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B8B8C4"/>
                </a:solidFill>
                <a:latin typeface="맑은 고딕"/>
              </a:rPr>
              <a:t>viewModelScope 코루틴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25312" y="2724912"/>
            <a:ext cx="265176" cy="219456"/>
          </a:xfrm>
          <a:prstGeom prst="rightArrow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2468880" cy="1463040"/>
          </a:xfrm>
          <a:prstGeom prst="roundRect">
            <a:avLst>
              <a:gd name="adj" fmla="val 6000"/>
            </a:avLst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67712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70048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B8B8C4"/>
                </a:solidFill>
                <a:latin typeface="맑은 고딕"/>
              </a:rPr>
              <a:t>TodoRepository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B8B8C4"/>
                </a:solidFill>
                <a:latin typeface="맑은 고딕"/>
              </a:rPr>
              <a:t>DAO 호출을 감싸는 중간 계층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14232" y="2724912"/>
            <a:ext cx="265176" cy="219456"/>
          </a:xfrm>
          <a:prstGeom prst="rightArrow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6840" y="2103120"/>
            <a:ext cx="2468880" cy="1463040"/>
          </a:xfrm>
          <a:prstGeom prst="roundRect">
            <a:avLst>
              <a:gd name="adj" fmla="val 6000"/>
            </a:avLst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267712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Room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670048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B8B8C4"/>
                </a:solidFill>
                <a:latin typeface="맑은 고딕"/>
              </a:rPr>
              <a:t>TodoDao / AppDatabase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B8B8C4"/>
                </a:solidFill>
                <a:latin typeface="맑은 고딕"/>
              </a:rPr>
              <a:t>기기 내 SQLite (SSOT)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77639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33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42231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2B84B"/>
                </a:solidFill>
                <a:latin typeface="맑은 고딕"/>
              </a:rPr>
              <a:t>SmartTextParser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26279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B8B8C4"/>
                </a:solidFill>
                <a:latin typeface="맑은 고딕"/>
              </a:rPr>
              <a:t>음성 인식 원문 → 절 분리 → 시간 추출 → 카테고리 분류 → 마크다운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B8B8C4"/>
                </a:solidFill>
                <a:latin typeface="맑은 고딕"/>
              </a:rPr>
              <a:t>(외부 API 없이 정규식/문자열 처리만으로 동작)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154680" y="3566160"/>
            <a:ext cx="1508760.0" cy="411479"/>
          </a:xfrm>
          <a:prstGeom prst="bentConnector3">
            <a:avLst/>
          </a:prstGeom>
          <a:ln w="19050">
            <a:solidFill>
              <a:srgbClr val="F2B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09360" y="3977639"/>
            <a:ext cx="5212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B8B8C4"/>
                </a:solidFill>
                <a:latin typeface="맑은 고딕"/>
              </a:rPr>
              <a:t>일자별 조회 화면에서는 '+' 버튼으로 특정 날짜에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B8B8C4"/>
                </a:solidFill>
                <a:latin typeface="맑은 고딕"/>
              </a:rPr>
              <a:t>createdAt을 직접 지정해 수동 등록도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KEY FEATURE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모닝 보이스 덤프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마이크를 누르고 오늘 할 일을 끊김 없이 쭉 말하면 자동으로 받아쓴다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SpeechRecognizer는 한 번 말하면 세션이 끝나버리는데, 매번 자동으로 재시작해 '계속 듣는' 느낌을 만든다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온디바이스 인식(createOnDeviceSpeechRecognizer)을 우선 사용해 오프라인에서도 동작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인식이 부정확하다는 피드백을 받아, '이렇게 말하면 더 정확해요' 힌트 카드를 추가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00">
                <a:solidFill>
                  <a:srgbClr val="B8B8C4"/>
                </a:solidFill>
                <a:latin typeface="맑은 고딕"/>
              </a:rPr>
              <a:t>▸  힌트는 실제 파서가 인식하는 접속사·시간표현·업무/스터디 키워드를 그대로 보여줘 안내와 실제 동작이 어긋나지 않는다</a:t>
            </a:r>
          </a:p>
        </p:txBody>
      </p:sp>
      <p:pic>
        <p:nvPicPr>
          <p:cNvPr id="7" name="Picture 6" descr="shot_check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417320"/>
            <a:ext cx="2016575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KEY FEATURE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SmartTextParser — 자동 분류 엔진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600">
                <a:solidFill>
                  <a:srgbClr val="B8B8C4"/>
                </a:solidFill>
                <a:latin typeface="맑은 고딕"/>
              </a:rPr>
              <a:t>▸  "오전 10시에 팀 회의 하고, SQL 코드 검토하고, 오후 3시에 스터디 문서 읽기" 한 문장을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600">
                <a:solidFill>
                  <a:srgbClr val="B8B8C4"/>
                </a:solidFill>
                <a:latin typeface="맑은 고딕"/>
              </a:rPr>
              <a:t>▸  절 단위로 쪼개고, 시간을 뽑아내고, 카테고리를 나눠 마크다운 체크리스트로 바꾼다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94760"/>
            <a:ext cx="3429000" cy="2468880"/>
          </a:xfrm>
          <a:prstGeom prst="roundRect">
            <a:avLst>
              <a:gd name="adj" fmla="val 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023360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① 절 분리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2971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B8B8C4"/>
                </a:solidFill>
                <a:latin typeface="맑은 고딕"/>
              </a:rPr>
              <a:t>"그리고/하고/-고" 등 접속사·연결어미 기준으로 문장을 태스크 단위로 분리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B8B8C4"/>
                </a:solidFill>
                <a:latin typeface="맑은 고딕"/>
              </a:rPr>
              <a:t>(문장 끝의 '-고'는 분리하지 않도록 예외 처리)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3794760"/>
            <a:ext cx="3429000" cy="2468880"/>
          </a:xfrm>
          <a:prstGeom prst="roundRect">
            <a:avLst>
              <a:gd name="adj" fmla="val 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4023360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② 시간 추출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4572000"/>
            <a:ext cx="2971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B8B8C4"/>
                </a:solidFill>
                <a:latin typeface="맑은 고딕"/>
              </a:rPr>
              <a:t>"오후 2시", "저녁 7시 30분" 같은 표현을 24시간제 HH:MM으로 변환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3794760"/>
            <a:ext cx="3429000" cy="2468880"/>
          </a:xfrm>
          <a:prstGeom prst="roundRect">
            <a:avLst>
              <a:gd name="adj" fmla="val 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4023360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③ 카테고리 분류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4572000"/>
            <a:ext cx="2971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B8B8C4"/>
                </a:solidFill>
                <a:latin typeface="맑은 고딕"/>
              </a:rPr>
              <a:t>회의·검토·SQL·CM 등은 업무, 스터디·공부·강의 등은 스터디, 나머지는 일반으로 자동 분류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개발 중 만난 문제와 해결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2B84B"/>
                </a:solidFill>
                <a:latin typeface="맑은 고딕"/>
              </a:rPr>
              <a:t>한글 문자열이 컴파일 시 깨짐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B8C4"/>
                </a:solidFill>
                <a:latin typeface="맑은 고딕"/>
              </a:rPr>
              <a:t>문제: Kotlin 컴파일 데몬이 소스를 플랫폼 기본 인코딩(CP949)으로 읽어 정규식·키워드의 한글이 손상 → 테스트 16개 중 10개 실패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3F6"/>
                </a:solidFill>
                <a:latin typeface="맑은 고딕"/>
              </a:rPr>
              <a:t>해결: gradle.properties에 kotlin.daemon.jvmargs=-Dfile.encoding=UTF-8 추가 + 데몬 재시작으로 해결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290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57016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2B84B"/>
                </a:solidFill>
                <a:latin typeface="맑은 고딕"/>
              </a:rPr>
              <a:t>실기기(Z Fold5)가 adb에 안 잡힘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5935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B8C4"/>
                </a:solidFill>
                <a:latin typeface="맑은 고딕"/>
              </a:rPr>
              <a:t>문제: USB 드라이버 미설치로 Windows 장치관리자에 "Unknown" 상태로만 표시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6168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3F6"/>
                </a:solidFill>
                <a:latin typeface="맑은 고딕"/>
              </a:rPr>
              <a:t>해결: 삼성 USB 드라이버 설치 → USB 연결 모드를 파일 전송으로 변경 → 기기의 디버깅 허용 팝업 승인 순서로 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3776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65776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2B84B"/>
                </a:solidFill>
                <a:latin typeface="맑은 고딕"/>
              </a:rPr>
              <a:t>음성 인식 정확도에 대한 사용자 피드백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6811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B8C4"/>
                </a:solidFill>
                <a:latin typeface="맑은 고딕"/>
              </a:rPr>
              <a:t>문제: 실기기 테스트 중 인식률이 기대만큼 안정적이지 않다는 의견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7044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3F6"/>
                </a:solidFill>
                <a:latin typeface="맑은 고딕"/>
              </a:rPr>
              <a:t>해결: 파서가 실제로 인식하는 문형을 그대로 보여주는 말하기 예시 힌트 UI를 추가해 사용자가 스스로 발화를 맞출 수 있게 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NEW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할 일 수정 · 삭제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50">
                <a:solidFill>
                  <a:srgbClr val="B8B8C4"/>
                </a:solidFill>
                <a:latin typeface="맑은 고딕"/>
              </a:rPr>
              <a:t>▸  할 일 행을 탭하면 내용 / 카테고리 / 시작 시각을 수정하는 다이얼로그가 열림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50">
                <a:solidFill>
                  <a:srgbClr val="B8B8C4"/>
                </a:solidFill>
                <a:latin typeface="맑은 고딕"/>
              </a:rPr>
              <a:t>▸  행 끝의 휴지통 아이콘으로 바로 삭제 요청 가능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50">
                <a:solidFill>
                  <a:srgbClr val="B8B8C4"/>
                </a:solidFill>
                <a:latin typeface="맑은 고딕"/>
              </a:rPr>
              <a:t>▸  실수로 지우는 것을 막기 위해 삭제 전 확인 다이얼로그를 한 번 더 거침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550">
                <a:solidFill>
                  <a:srgbClr val="B8B8C4"/>
                </a:solidFill>
                <a:latin typeface="맑은 고딕"/>
              </a:rPr>
              <a:t>▸  수정/삭제 UI는 대시보드와 일자별 조회 화면이 동일한 컴포넌트를 재사용</a:t>
            </a:r>
          </a:p>
        </p:txBody>
      </p:sp>
      <p:pic>
        <p:nvPicPr>
          <p:cNvPr id="7" name="Picture 6" descr="shot_editdialo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80160"/>
            <a:ext cx="2087958" cy="5349240"/>
          </a:xfrm>
          <a:prstGeom prst="rect">
            <a:avLst/>
          </a:prstGeom>
        </p:spPr>
      </p:pic>
      <p:pic>
        <p:nvPicPr>
          <p:cNvPr id="8" name="Picture 7" descr="shot_delete_di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1280160"/>
            <a:ext cx="2087958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NEW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일자별 조회 &amp; 수동 등록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"날짜별 보기"로 이동해 네이티브 날짜 선택기로 과거/미래 아무 날짜나 조회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오늘을 보고 있을 때만 마이크 버튼 노출 — 음성 덤프는 항상 '지금'을 기준으로 오늘에 저장되기 때문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오늘이 아닐 때는 "오늘로" 버튼으로 화면 이탈 없이 날짜만 되돌릴 수 있음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'+' 버튼은 날짜와 무관하게 항상 노출 — 다른 날짜를 보고 있어도 그 날짜에 바로 할 일을 등록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화면 나가기는 시스템 뒤로가기로 처리, 나갈 때 자동으로 오늘 날짜로 리셋</a:t>
            </a:r>
          </a:p>
        </p:txBody>
      </p:sp>
      <p:pic>
        <p:nvPicPr>
          <p:cNvPr id="7" name="Picture 6" descr="shot_other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80160"/>
            <a:ext cx="2087958" cy="5349240"/>
          </a:xfrm>
          <a:prstGeom prst="rect">
            <a:avLst/>
          </a:prstGeom>
        </p:spPr>
      </p:pic>
      <p:pic>
        <p:nvPicPr>
          <p:cNvPr id="8" name="Picture 7" descr="shot_adddi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1280160"/>
            <a:ext cx="2087958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실기기(Galaxy Z Fold5) 실행 화면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hot_ma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234440"/>
            <a:ext cx="2105804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743200"/>
            <a:ext cx="3566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3F3F6"/>
                </a:solidFill>
                <a:latin typeface="맑은 고딕"/>
              </a:rPr>
              <a:t>메인 대시보드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F3F3F6"/>
                </a:solidFill>
                <a:latin typeface="맑은 고딕"/>
              </a:rPr>
              <a:t>오늘의 할 일이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F3F3F6"/>
                </a:solidFill>
                <a:latin typeface="맑은 고딕"/>
              </a:rPr>
              <a:t>카테고리별로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F3F3F6"/>
                </a:solidFill>
                <a:latin typeface="맑은 고딕"/>
              </a:rPr>
              <a:t>정리되어 보인다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B7CF6"/>
                </a:solidFill>
                <a:latin typeface="맑은 고딕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3F3F6"/>
                </a:solidFill>
                <a:latin typeface="맑은 고딕"/>
              </a:rPr>
              <a:t>정리 및 다음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080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7CF6"/>
                </a:solidFill>
                <a:latin typeface="맑은 고딕"/>
              </a:rPr>
              <a:t>지금까지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Room 기반 오프라인 데이터 모델 + MVVM/Repository 구조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연속 음성 인식 + SmartTextParser 자동 분류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실기기(Z Fold5) 빌드/설치/실행 검증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할 일 수정 · 삭제, 일자별 조회, 날짜 지정 수동 등록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말하기 정확도를 돕는 예시 힌트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74519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2B84B"/>
                </a:solidFill>
                <a:latin typeface="맑은 고딕"/>
              </a:rPr>
              <a:t>앞으로 할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33172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실사용 기반 음성 인식 정확도 개선 (오탐 케이스 수집)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화/목 스터디 같은 주간 반복 일정 전용 UI</a:t>
            </a:r>
          </a:p>
          <a:p>
            <a:pPr>
              <a:lnSpc>
                <a:spcPct val="120000"/>
              </a:lnSpc>
              <a:spcAft>
                <a:spcPts val="864"/>
              </a:spcAft>
            </a:pPr>
            <a:r>
              <a:rPr sz="1450">
                <a:solidFill>
                  <a:srgbClr val="B8B8C4"/>
                </a:solidFill>
                <a:latin typeface="맑은 고딕"/>
              </a:rPr>
              <a:t>▸  카테고리 필터 · 완료 항목 통계/회고 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